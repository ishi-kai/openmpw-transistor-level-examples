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6"/>
  </p:notesMasterIdLst>
  <p:sldIdLst>
    <p:sldId id="256" r:id="rId2"/>
    <p:sldId id="4597" r:id="rId3"/>
    <p:sldId id="4640" r:id="rId4"/>
    <p:sldId id="4639" r:id="rId5"/>
    <p:sldId id="4696" r:id="rId6"/>
    <p:sldId id="4641" r:id="rId7"/>
    <p:sldId id="4575" r:id="rId8"/>
    <p:sldId id="4579" r:id="rId9"/>
    <p:sldId id="4789" r:id="rId10"/>
    <p:sldId id="4585" r:id="rId11"/>
    <p:sldId id="4581" r:id="rId12"/>
    <p:sldId id="4595" r:id="rId13"/>
    <p:sldId id="4614" r:id="rId14"/>
    <p:sldId id="4645" r:id="rId15"/>
    <p:sldId id="4656" r:id="rId16"/>
    <p:sldId id="4649" r:id="rId17"/>
    <p:sldId id="4651" r:id="rId18"/>
    <p:sldId id="4652" r:id="rId19"/>
    <p:sldId id="4646" r:id="rId20"/>
    <p:sldId id="4596" r:id="rId21"/>
    <p:sldId id="4594" r:id="rId22"/>
    <p:sldId id="4637" r:id="rId23"/>
    <p:sldId id="4638" r:id="rId24"/>
    <p:sldId id="4635" r:id="rId25"/>
    <p:sldId id="4653" r:id="rId26"/>
    <p:sldId id="4615" r:id="rId27"/>
    <p:sldId id="4598" r:id="rId28"/>
    <p:sldId id="4784" r:id="rId29"/>
    <p:sldId id="4766" r:id="rId30"/>
    <p:sldId id="4783" r:id="rId31"/>
    <p:sldId id="4765" r:id="rId32"/>
    <p:sldId id="4601" r:id="rId33"/>
    <p:sldId id="4616" r:id="rId34"/>
    <p:sldId id="4589" r:id="rId35"/>
    <p:sldId id="4602" r:id="rId36"/>
    <p:sldId id="4583" r:id="rId37"/>
    <p:sldId id="4622" r:id="rId38"/>
    <p:sldId id="4587" r:id="rId39"/>
    <p:sldId id="4625" r:id="rId40"/>
    <p:sldId id="4628" r:id="rId41"/>
    <p:sldId id="4618" r:id="rId42"/>
    <p:sldId id="4607" r:id="rId43"/>
    <p:sldId id="4608" r:id="rId44"/>
    <p:sldId id="4626" r:id="rId45"/>
    <p:sldId id="4630" r:id="rId46"/>
    <p:sldId id="4632" r:id="rId47"/>
    <p:sldId id="4609" r:id="rId48"/>
    <p:sldId id="4657" r:id="rId49"/>
    <p:sldId id="4642" r:id="rId50"/>
    <p:sldId id="4721" r:id="rId51"/>
    <p:sldId id="4610" r:id="rId52"/>
    <p:sldId id="4658" r:id="rId53"/>
    <p:sldId id="4757" r:id="rId54"/>
    <p:sldId id="4758" r:id="rId55"/>
    <p:sldId id="4754" r:id="rId56"/>
    <p:sldId id="4768" r:id="rId57"/>
    <p:sldId id="4773" r:id="rId58"/>
    <p:sldId id="4774" r:id="rId59"/>
    <p:sldId id="4770" r:id="rId60"/>
    <p:sldId id="4769" r:id="rId61"/>
    <p:sldId id="4771" r:id="rId62"/>
    <p:sldId id="4772" r:id="rId63"/>
    <p:sldId id="4775" r:id="rId64"/>
    <p:sldId id="4593" r:id="rId65"/>
    <p:sldId id="4588" r:id="rId66"/>
    <p:sldId id="4777" r:id="rId67"/>
    <p:sldId id="4778" r:id="rId68"/>
    <p:sldId id="4662" r:id="rId69"/>
    <p:sldId id="4729" r:id="rId70"/>
    <p:sldId id="4767" r:id="rId71"/>
    <p:sldId id="4592" r:id="rId72"/>
    <p:sldId id="4743" r:id="rId73"/>
    <p:sldId id="4750" r:id="rId74"/>
    <p:sldId id="4722" r:id="rId75"/>
    <p:sldId id="4780" r:id="rId76"/>
    <p:sldId id="4781" r:id="rId77"/>
    <p:sldId id="4723" r:id="rId78"/>
    <p:sldId id="4681" r:id="rId79"/>
    <p:sldId id="4730" r:id="rId80"/>
    <p:sldId id="4680" r:id="rId81"/>
    <p:sldId id="4683" r:id="rId82"/>
    <p:sldId id="4659" r:id="rId83"/>
    <p:sldId id="4728" r:id="rId84"/>
    <p:sldId id="4664" r:id="rId85"/>
    <p:sldId id="4746" r:id="rId86"/>
    <p:sldId id="4761" r:id="rId87"/>
    <p:sldId id="4663" r:id="rId88"/>
    <p:sldId id="4751" r:id="rId89"/>
    <p:sldId id="4727" r:id="rId90"/>
    <p:sldId id="4603" r:id="rId91"/>
    <p:sldId id="4604" r:id="rId92"/>
    <p:sldId id="4667" r:id="rId93"/>
    <p:sldId id="4668" r:id="rId94"/>
    <p:sldId id="4669" r:id="rId95"/>
    <p:sldId id="4670" r:id="rId96"/>
    <p:sldId id="4671" r:id="rId97"/>
    <p:sldId id="4674" r:id="rId98"/>
    <p:sldId id="4672" r:id="rId99"/>
    <p:sldId id="4742" r:id="rId100"/>
    <p:sldId id="4605" r:id="rId101"/>
    <p:sldId id="4675" r:id="rId102"/>
    <p:sldId id="4676" r:id="rId103"/>
    <p:sldId id="4684" r:id="rId104"/>
    <p:sldId id="4685" r:id="rId105"/>
    <p:sldId id="4735" r:id="rId106"/>
    <p:sldId id="4686" r:id="rId107"/>
    <p:sldId id="4643" r:id="rId108"/>
    <p:sldId id="4786" r:id="rId109"/>
    <p:sldId id="4687" r:id="rId110"/>
    <p:sldId id="4734" r:id="rId111"/>
    <p:sldId id="4733" r:id="rId112"/>
    <p:sldId id="4691" r:id="rId113"/>
    <p:sldId id="4690" r:id="rId114"/>
    <p:sldId id="4679" r:id="rId115"/>
    <p:sldId id="4693" r:id="rId116"/>
    <p:sldId id="4689" r:id="rId117"/>
    <p:sldId id="4787" r:id="rId118"/>
    <p:sldId id="4788" r:id="rId119"/>
    <p:sldId id="4695" r:id="rId120"/>
    <p:sldId id="4694" r:id="rId121"/>
    <p:sldId id="4703" r:id="rId122"/>
    <p:sldId id="4660" r:id="rId123"/>
    <p:sldId id="4736" r:id="rId124"/>
    <p:sldId id="4737" r:id="rId125"/>
    <p:sldId id="4697" r:id="rId126"/>
    <p:sldId id="4701" r:id="rId127"/>
    <p:sldId id="4699" r:id="rId128"/>
    <p:sldId id="4702" r:id="rId129"/>
    <p:sldId id="4707" r:id="rId130"/>
    <p:sldId id="4706" r:id="rId131"/>
    <p:sldId id="4700" r:id="rId132"/>
    <p:sldId id="4698" r:id="rId133"/>
    <p:sldId id="4711" r:id="rId134"/>
    <p:sldId id="4708" r:id="rId135"/>
    <p:sldId id="4712" r:id="rId136"/>
    <p:sldId id="4713" r:id="rId137"/>
    <p:sldId id="4709" r:id="rId138"/>
    <p:sldId id="4714" r:id="rId139"/>
    <p:sldId id="4752" r:id="rId140"/>
    <p:sldId id="4710" r:id="rId141"/>
    <p:sldId id="4717" r:id="rId142"/>
    <p:sldId id="4738" r:id="rId143"/>
    <p:sldId id="4745" r:id="rId144"/>
    <p:sldId id="4715" r:id="rId145"/>
    <p:sldId id="4718" r:id="rId146"/>
    <p:sldId id="4760" r:id="rId147"/>
    <p:sldId id="4759" r:id="rId148"/>
    <p:sldId id="4716" r:id="rId149"/>
    <p:sldId id="4719" r:id="rId150"/>
    <p:sldId id="4744" r:id="rId151"/>
    <p:sldId id="4739" r:id="rId152"/>
    <p:sldId id="4740" r:id="rId153"/>
    <p:sldId id="4741" r:id="rId154"/>
    <p:sldId id="4790" r:id="rId15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C04F15"/>
    <a:srgbClr val="F5718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750E79-50BC-47A6-B227-9CEADC766C8C}" v="1" dt="2026-08-06T07:55:27.09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8"/>
  </p:normalViewPr>
  <p:slideViewPr>
    <p:cSldViewPr snapToGrid="0">
      <p:cViewPr varScale="1">
        <p:scale>
          <a:sx n="104" d="100"/>
          <a:sy n="104" d="100"/>
        </p:scale>
        <p:origin x="413" y="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342DA2C4-B094-4B86-9045-6AA34CD7B848}"/>
    <pc:docChg chg="modSld">
      <pc:chgData name="Noritsuna Imamura" userId="5b2da16fa1785921" providerId="LiveId" clId="{342DA2C4-B094-4B86-9045-6AA34CD7B848}" dt="2026-08-06T09:31:25.849" v="3" actId="22"/>
      <pc:docMkLst>
        <pc:docMk/>
      </pc:docMkLst>
      <pc:sldChg chg="addSp delSp modSp mod">
        <pc:chgData name="Noritsuna Imamura" userId="5b2da16fa1785921" providerId="LiveId" clId="{342DA2C4-B094-4B86-9045-6AA34CD7B848}" dt="2026-08-06T09:31:25.849" v="3" actId="22"/>
        <pc:sldMkLst>
          <pc:docMk/>
          <pc:sldMk cId="1497131111" sldId="4717"/>
        </pc:sldMkLst>
        <pc:spChg chg="add del mod">
          <ac:chgData name="Noritsuna Imamura" userId="5b2da16fa1785921" providerId="LiveId" clId="{342DA2C4-B094-4B86-9045-6AA34CD7B848}" dt="2026-08-06T07:55:31.056" v="2"/>
          <ac:spMkLst>
            <pc:docMk/>
            <pc:sldMk cId="1497131111" sldId="4717"/>
            <ac:spMk id="4" creationId="{B82A12E7-A899-B04A-78C7-8EE6B2BAA903}"/>
          </ac:spMkLst>
        </pc:spChg>
        <pc:picChg chg="add">
          <ac:chgData name="Noritsuna Imamura" userId="5b2da16fa1785921" providerId="LiveId" clId="{342DA2C4-B094-4B86-9045-6AA34CD7B848}" dt="2026-08-06T09:31:25.849" v="3" actId="22"/>
          <ac:picMkLst>
            <pc:docMk/>
            <pc:sldMk cId="1497131111" sldId="4717"/>
            <ac:picMk id="6" creationId="{B2484EAF-2F7C-DD94-9626-E16A5B9DC742}"/>
          </ac:picMkLst>
        </pc:picChg>
      </pc:sldChg>
    </pc:docChg>
  </pc:docChgLst>
  <pc:docChgLst>
    <pc:chgData name="今村 謙之" userId="bc27a5e0-5669-41a4-865b-584c1eac539e" providerId="ADAL" clId="{342DA2C4-B094-4B86-9045-6AA34CD7B848}"/>
    <pc:docChg chg="undo custSel modSld">
      <pc:chgData name="今村 謙之" userId="bc27a5e0-5669-41a4-865b-584c1eac539e" providerId="ADAL" clId="{342DA2C4-B094-4B86-9045-6AA34CD7B848}" dt="2026-07-20T11:25:08.734" v="126" actId="20577"/>
      <pc:docMkLst>
        <pc:docMk/>
      </pc:docMkLst>
      <pc:sldChg chg="modSp mod">
        <pc:chgData name="今村 謙之" userId="bc27a5e0-5669-41a4-865b-584c1eac539e" providerId="ADAL" clId="{342DA2C4-B094-4B86-9045-6AA34CD7B848}" dt="2026-07-20T11:25:08.734" v="126" actId="20577"/>
        <pc:sldMkLst>
          <pc:docMk/>
          <pc:sldMk cId="703410751" sldId="4575"/>
        </pc:sldMkLst>
        <pc:spChg chg="mod">
          <ac:chgData name="今村 謙之" userId="bc27a5e0-5669-41a4-865b-584c1eac539e" providerId="ADAL" clId="{342DA2C4-B094-4B86-9045-6AA34CD7B848}" dt="2026-07-20T11:25:08.734" v="126" actId="20577"/>
          <ac:spMkLst>
            <pc:docMk/>
            <pc:sldMk cId="703410751" sldId="4575"/>
            <ac:spMk id="3" creationId="{BCBD60B4-9F8C-90F5-96FA-668DAD8F657E}"/>
          </ac:spMkLst>
        </pc:spChg>
      </pc:sldChg>
      <pc:sldChg chg="addSp delSp modSp mod">
        <pc:chgData name="今村 謙之" userId="bc27a5e0-5669-41a4-865b-584c1eac539e" providerId="ADAL" clId="{342DA2C4-B094-4B86-9045-6AA34CD7B848}" dt="2026-07-09T02:25:20.606" v="120" actId="1076"/>
        <pc:sldMkLst>
          <pc:docMk/>
          <pc:sldMk cId="3538621661" sldId="4712"/>
        </pc:sldMkLst>
        <pc:spChg chg="mod">
          <ac:chgData name="今村 謙之" userId="bc27a5e0-5669-41a4-865b-584c1eac539e" providerId="ADAL" clId="{342DA2C4-B094-4B86-9045-6AA34CD7B848}" dt="2026-07-09T02:24:36.042" v="110" actId="26606"/>
          <ac:spMkLst>
            <pc:docMk/>
            <pc:sldMk cId="3538621661" sldId="4712"/>
            <ac:spMk id="2" creationId="{29482393-9A4E-3373-36CA-66A161AA03FC}"/>
          </ac:spMkLst>
        </pc:spChg>
        <pc:spChg chg="mod">
          <ac:chgData name="今村 謙之" userId="bc27a5e0-5669-41a4-865b-584c1eac539e" providerId="ADAL" clId="{342DA2C4-B094-4B86-9045-6AA34CD7B848}" dt="2026-07-09T02:25:02.621" v="114" actId="1076"/>
          <ac:spMkLst>
            <pc:docMk/>
            <pc:sldMk cId="3538621661" sldId="4712"/>
            <ac:spMk id="3" creationId="{4833B8D7-1123-1243-B5EB-9402CDED2647}"/>
          </ac:spMkLst>
        </pc:spChg>
        <pc:spChg chg="mod">
          <ac:chgData name="今村 謙之" userId="bc27a5e0-5669-41a4-865b-584c1eac539e" providerId="ADAL" clId="{342DA2C4-B094-4B86-9045-6AA34CD7B848}" dt="2026-07-09T02:20:40.386" v="91"/>
          <ac:spMkLst>
            <pc:docMk/>
            <pc:sldMk cId="3538621661" sldId="4712"/>
            <ac:spMk id="7" creationId="{0FEB13AB-AFBE-1879-A245-E6E58EAED0D0}"/>
          </ac:spMkLst>
        </pc:spChg>
        <pc:spChg chg="mod">
          <ac:chgData name="今村 謙之" userId="bc27a5e0-5669-41a4-865b-584c1eac539e" providerId="ADAL" clId="{342DA2C4-B094-4B86-9045-6AA34CD7B848}" dt="2026-07-09T02:20:40.386" v="91"/>
          <ac:spMkLst>
            <pc:docMk/>
            <pc:sldMk cId="3538621661" sldId="4712"/>
            <ac:spMk id="8" creationId="{9EBD57CA-D46B-53EE-BB98-643840090B09}"/>
          </ac:spMkLst>
        </pc:spChg>
        <pc:spChg chg="mod">
          <ac:chgData name="今村 謙之" userId="bc27a5e0-5669-41a4-865b-584c1eac539e" providerId="ADAL" clId="{342DA2C4-B094-4B86-9045-6AA34CD7B848}" dt="2026-07-09T02:20:40.386" v="91"/>
          <ac:spMkLst>
            <pc:docMk/>
            <pc:sldMk cId="3538621661" sldId="4712"/>
            <ac:spMk id="9" creationId="{5A621AA4-2E80-5A32-1A86-0BD4AFAEA4C4}"/>
          </ac:spMkLst>
        </pc:spChg>
        <pc:spChg chg="mod">
          <ac:chgData name="今村 謙之" userId="bc27a5e0-5669-41a4-865b-584c1eac539e" providerId="ADAL" clId="{342DA2C4-B094-4B86-9045-6AA34CD7B848}" dt="2026-07-09T02:20:40.386" v="91"/>
          <ac:spMkLst>
            <pc:docMk/>
            <pc:sldMk cId="3538621661" sldId="4712"/>
            <ac:spMk id="10" creationId="{5625856D-6A1D-1E95-A502-C1BAA3750AEB}"/>
          </ac:spMkLst>
        </pc:spChg>
        <pc:spChg chg="mod">
          <ac:chgData name="今村 謙之" userId="bc27a5e0-5669-41a4-865b-584c1eac539e" providerId="ADAL" clId="{342DA2C4-B094-4B86-9045-6AA34CD7B848}" dt="2026-07-09T02:20:40.386" v="91"/>
          <ac:spMkLst>
            <pc:docMk/>
            <pc:sldMk cId="3538621661" sldId="4712"/>
            <ac:spMk id="11" creationId="{6918A942-E1F2-5FC2-08C2-DC0B850C3397}"/>
          </ac:spMkLst>
        </pc:spChg>
        <pc:spChg chg="mod">
          <ac:chgData name="今村 謙之" userId="bc27a5e0-5669-41a4-865b-584c1eac539e" providerId="ADAL" clId="{342DA2C4-B094-4B86-9045-6AA34CD7B848}" dt="2026-07-09T02:20:40.386" v="91"/>
          <ac:spMkLst>
            <pc:docMk/>
            <pc:sldMk cId="3538621661" sldId="4712"/>
            <ac:spMk id="12" creationId="{FEADD62F-0C8A-30C1-BFE7-B920EB4B1D0F}"/>
          </ac:spMkLst>
        </pc:spChg>
        <pc:spChg chg="mod">
          <ac:chgData name="今村 謙之" userId="bc27a5e0-5669-41a4-865b-584c1eac539e" providerId="ADAL" clId="{342DA2C4-B094-4B86-9045-6AA34CD7B848}" dt="2026-07-09T02:20:40.386" v="91"/>
          <ac:spMkLst>
            <pc:docMk/>
            <pc:sldMk cId="3538621661" sldId="4712"/>
            <ac:spMk id="13" creationId="{0976DEFD-C12E-64B5-EFE7-EA6B9328B74F}"/>
          </ac:spMkLst>
        </pc:spChg>
        <pc:spChg chg="mod">
          <ac:chgData name="今村 謙之" userId="bc27a5e0-5669-41a4-865b-584c1eac539e" providerId="ADAL" clId="{342DA2C4-B094-4B86-9045-6AA34CD7B848}" dt="2026-07-09T02:20:40.386" v="91"/>
          <ac:spMkLst>
            <pc:docMk/>
            <pc:sldMk cId="3538621661" sldId="4712"/>
            <ac:spMk id="14" creationId="{EF4900CB-05D1-87C7-9875-5B7996CF2B8B}"/>
          </ac:spMkLst>
        </pc:spChg>
        <pc:spChg chg="add">
          <ac:chgData name="今村 謙之" userId="bc27a5e0-5669-41a4-865b-584c1eac539e" providerId="ADAL" clId="{342DA2C4-B094-4B86-9045-6AA34CD7B848}" dt="2026-07-09T02:24:36.042" v="110" actId="26606"/>
          <ac:spMkLst>
            <pc:docMk/>
            <pc:sldMk cId="3538621661" sldId="4712"/>
            <ac:spMk id="19479" creationId="{058A14AF-9FB5-4CC7-BA35-E8E85D3EDF0E}"/>
          </ac:spMkLst>
        </pc:spChg>
        <pc:spChg chg="add">
          <ac:chgData name="今村 謙之" userId="bc27a5e0-5669-41a4-865b-584c1eac539e" providerId="ADAL" clId="{342DA2C4-B094-4B86-9045-6AA34CD7B848}" dt="2026-07-09T02:24:36.042" v="110" actId="26606"/>
          <ac:spMkLst>
            <pc:docMk/>
            <pc:sldMk cId="3538621661" sldId="4712"/>
            <ac:spMk id="19481" creationId="{3A9A4357-BD1D-4622-A4FE-766E6AB8DE84}"/>
          </ac:spMkLst>
        </pc:spChg>
        <pc:spChg chg="add">
          <ac:chgData name="今村 謙之" userId="bc27a5e0-5669-41a4-865b-584c1eac539e" providerId="ADAL" clId="{342DA2C4-B094-4B86-9045-6AA34CD7B848}" dt="2026-07-09T02:24:36.042" v="110" actId="26606"/>
          <ac:spMkLst>
            <pc:docMk/>
            <pc:sldMk cId="3538621661" sldId="4712"/>
            <ac:spMk id="19483" creationId="{E659831F-0D9A-4C63-9EBB-8435B85A440F}"/>
          </ac:spMkLst>
        </pc:spChg>
        <pc:spChg chg="add">
          <ac:chgData name="今村 謙之" userId="bc27a5e0-5669-41a4-865b-584c1eac539e" providerId="ADAL" clId="{342DA2C4-B094-4B86-9045-6AA34CD7B848}" dt="2026-07-09T02:24:36.042" v="110" actId="26606"/>
          <ac:spMkLst>
            <pc:docMk/>
            <pc:sldMk cId="3538621661" sldId="4712"/>
            <ac:spMk id="19485" creationId="{E6995CE5-F890-4ABA-82A2-26507CE8D2A3}"/>
          </ac:spMkLst>
        </pc:spChg>
        <pc:grpChg chg="add mod">
          <ac:chgData name="今村 謙之" userId="bc27a5e0-5669-41a4-865b-584c1eac539e" providerId="ADAL" clId="{342DA2C4-B094-4B86-9045-6AA34CD7B848}" dt="2026-07-09T02:25:20.606" v="120" actId="1076"/>
          <ac:grpSpMkLst>
            <pc:docMk/>
            <pc:sldMk cId="3538621661" sldId="4712"/>
            <ac:grpSpMk id="4" creationId="{C5C02EB4-1B86-8C9D-E46B-85A584B688C8}"/>
          </ac:grpSpMkLst>
        </pc:grpChg>
        <pc:picChg chg="mod">
          <ac:chgData name="今村 謙之" userId="bc27a5e0-5669-41a4-865b-584c1eac539e" providerId="ADAL" clId="{342DA2C4-B094-4B86-9045-6AA34CD7B848}" dt="2026-07-09T02:20:40.386" v="91"/>
          <ac:picMkLst>
            <pc:docMk/>
            <pc:sldMk cId="3538621661" sldId="4712"/>
            <ac:picMk id="5" creationId="{A286B78E-971C-E4DF-0272-1EFBDE9D6C33}"/>
          </ac:picMkLst>
        </pc:picChg>
        <pc:picChg chg="mod">
          <ac:chgData name="今村 謙之" userId="bc27a5e0-5669-41a4-865b-584c1eac539e" providerId="ADAL" clId="{342DA2C4-B094-4B86-9045-6AA34CD7B848}" dt="2026-07-09T02:20:40.386" v="91"/>
          <ac:picMkLst>
            <pc:docMk/>
            <pc:sldMk cId="3538621661" sldId="4712"/>
            <ac:picMk id="6" creationId="{4B927519-2DBC-8BAF-C5A8-03F451446CA7}"/>
          </ac:picMkLst>
        </pc:picChg>
      </pc:sldChg>
      <pc:sldChg chg="addSp delSp modSp mod">
        <pc:chgData name="今村 謙之" userId="bc27a5e0-5669-41a4-865b-584c1eac539e" providerId="ADAL" clId="{342DA2C4-B094-4B86-9045-6AA34CD7B848}" dt="2026-07-09T02:24:01.196" v="108" actId="14100"/>
        <pc:sldMkLst>
          <pc:docMk/>
          <pc:sldMk cId="1456076250" sldId="4713"/>
        </pc:sldMkLst>
        <pc:spChg chg="mod">
          <ac:chgData name="今村 謙之" userId="bc27a5e0-5669-41a4-865b-584c1eac539e" providerId="ADAL" clId="{342DA2C4-B094-4B86-9045-6AA34CD7B848}" dt="2026-07-09T02:23:44.906" v="103" actId="1076"/>
          <ac:spMkLst>
            <pc:docMk/>
            <pc:sldMk cId="1456076250" sldId="4713"/>
            <ac:spMk id="3" creationId="{4A9559EC-A5AF-BCCA-94C2-15C966F83666}"/>
          </ac:spMkLst>
        </pc:spChg>
        <pc:spChg chg="mod">
          <ac:chgData name="今村 謙之" userId="bc27a5e0-5669-41a4-865b-584c1eac539e" providerId="ADAL" clId="{342DA2C4-B094-4B86-9045-6AA34CD7B848}" dt="2026-07-09T02:21:06.292" v="93"/>
          <ac:spMkLst>
            <pc:docMk/>
            <pc:sldMk cId="1456076250" sldId="4713"/>
            <ac:spMk id="8" creationId="{31167B9C-7EE1-DF1B-3FF0-E96F4B2864F1}"/>
          </ac:spMkLst>
        </pc:spChg>
        <pc:spChg chg="mod">
          <ac:chgData name="今村 謙之" userId="bc27a5e0-5669-41a4-865b-584c1eac539e" providerId="ADAL" clId="{342DA2C4-B094-4B86-9045-6AA34CD7B848}" dt="2026-07-09T02:21:06.292" v="93"/>
          <ac:spMkLst>
            <pc:docMk/>
            <pc:sldMk cId="1456076250" sldId="4713"/>
            <ac:spMk id="9" creationId="{D59DB582-1CFF-7513-307E-7486DD208D62}"/>
          </ac:spMkLst>
        </pc:spChg>
        <pc:spChg chg="add">
          <ac:chgData name="今村 謙之" userId="bc27a5e0-5669-41a4-865b-584c1eac539e" providerId="ADAL" clId="{342DA2C4-B094-4B86-9045-6AA34CD7B848}" dt="2026-07-09T02:23:16.680" v="99" actId="26606"/>
          <ac:spMkLst>
            <pc:docMk/>
            <pc:sldMk cId="1456076250" sldId="4713"/>
            <ac:spMk id="20511" creationId="{058A14AF-9FB5-4CC7-BA35-E8E85D3EDF0E}"/>
          </ac:spMkLst>
        </pc:spChg>
        <pc:spChg chg="add">
          <ac:chgData name="今村 謙之" userId="bc27a5e0-5669-41a4-865b-584c1eac539e" providerId="ADAL" clId="{342DA2C4-B094-4B86-9045-6AA34CD7B848}" dt="2026-07-09T02:23:16.680" v="99" actId="26606"/>
          <ac:spMkLst>
            <pc:docMk/>
            <pc:sldMk cId="1456076250" sldId="4713"/>
            <ac:spMk id="20513" creationId="{3A9A4357-BD1D-4622-A4FE-766E6AB8DE84}"/>
          </ac:spMkLst>
        </pc:spChg>
        <pc:spChg chg="add">
          <ac:chgData name="今村 謙之" userId="bc27a5e0-5669-41a4-865b-584c1eac539e" providerId="ADAL" clId="{342DA2C4-B094-4B86-9045-6AA34CD7B848}" dt="2026-07-09T02:23:16.680" v="99" actId="26606"/>
          <ac:spMkLst>
            <pc:docMk/>
            <pc:sldMk cId="1456076250" sldId="4713"/>
            <ac:spMk id="20515" creationId="{E659831F-0D9A-4C63-9EBB-8435B85A440F}"/>
          </ac:spMkLst>
        </pc:spChg>
        <pc:spChg chg="add">
          <ac:chgData name="今村 謙之" userId="bc27a5e0-5669-41a4-865b-584c1eac539e" providerId="ADAL" clId="{342DA2C4-B094-4B86-9045-6AA34CD7B848}" dt="2026-07-09T02:23:16.680" v="99" actId="26606"/>
          <ac:spMkLst>
            <pc:docMk/>
            <pc:sldMk cId="1456076250" sldId="4713"/>
            <ac:spMk id="20517" creationId="{E6995CE5-F890-4ABA-82A2-26507CE8D2A3}"/>
          </ac:spMkLst>
        </pc:spChg>
        <pc:grpChg chg="add mod">
          <ac:chgData name="今村 謙之" userId="bc27a5e0-5669-41a4-865b-584c1eac539e" providerId="ADAL" clId="{342DA2C4-B094-4B86-9045-6AA34CD7B848}" dt="2026-07-09T02:24:01.196" v="108" actId="14100"/>
          <ac:grpSpMkLst>
            <pc:docMk/>
            <pc:sldMk cId="1456076250" sldId="4713"/>
            <ac:grpSpMk id="4" creationId="{193AA3EF-DC3A-D54A-7408-E630A3FCA22B}"/>
          </ac:grpSpMkLst>
        </pc:grpChg>
        <pc:picChg chg="mod">
          <ac:chgData name="今村 謙之" userId="bc27a5e0-5669-41a4-865b-584c1eac539e" providerId="ADAL" clId="{342DA2C4-B094-4B86-9045-6AA34CD7B848}" dt="2026-07-09T02:21:06.292" v="93"/>
          <ac:picMkLst>
            <pc:docMk/>
            <pc:sldMk cId="1456076250" sldId="4713"/>
            <ac:picMk id="6" creationId="{B97087EE-D332-A53E-87CB-DA4EBCC5BA74}"/>
          </ac:picMkLst>
        </pc:picChg>
        <pc:picChg chg="mod">
          <ac:chgData name="今村 謙之" userId="bc27a5e0-5669-41a4-865b-584c1eac539e" providerId="ADAL" clId="{342DA2C4-B094-4B86-9045-6AA34CD7B848}" dt="2026-07-09T02:21:06.292" v="93"/>
          <ac:picMkLst>
            <pc:docMk/>
            <pc:sldMk cId="1456076250" sldId="4713"/>
            <ac:picMk id="7" creationId="{6D73FAD4-1CEC-761E-6175-FE9BF18238E0}"/>
          </ac:picMkLst>
        </pc:picChg>
      </pc:sldChg>
      <pc:sldChg chg="delSp modSp mod">
        <pc:chgData name="今村 謙之" userId="bc27a5e0-5669-41a4-865b-584c1eac539e" providerId="ADAL" clId="{342DA2C4-B094-4B86-9045-6AA34CD7B848}" dt="2026-07-09T02:18:29.516" v="70" actId="20577"/>
        <pc:sldMkLst>
          <pc:docMk/>
          <pc:sldMk cId="1497131111" sldId="4717"/>
        </pc:sldMkLst>
        <pc:spChg chg="mod">
          <ac:chgData name="今村 謙之" userId="bc27a5e0-5669-41a4-865b-584c1eac539e" providerId="ADAL" clId="{342DA2C4-B094-4B86-9045-6AA34CD7B848}" dt="2026-07-09T02:18:29.516" v="70" actId="20577"/>
          <ac:spMkLst>
            <pc:docMk/>
            <pc:sldMk cId="1497131111" sldId="4717"/>
            <ac:spMk id="3" creationId="{A742CDCF-F3E3-3864-A898-1BAB5A619E8C}"/>
          </ac:spMkLst>
        </pc:spChg>
      </pc:sldChg>
      <pc:sldChg chg="addSp delSp modSp mod">
        <pc:chgData name="今村 謙之" userId="bc27a5e0-5669-41a4-865b-584c1eac539e" providerId="ADAL" clId="{342DA2C4-B094-4B86-9045-6AA34CD7B848}" dt="2026-07-09T02:18:52.845" v="71"/>
        <pc:sldMkLst>
          <pc:docMk/>
          <pc:sldMk cId="2911291555" sldId="4718"/>
        </pc:sldMkLst>
        <pc:spChg chg="mod">
          <ac:chgData name="今村 謙之" userId="bc27a5e0-5669-41a4-865b-584c1eac539e" providerId="ADAL" clId="{342DA2C4-B094-4B86-9045-6AA34CD7B848}" dt="2026-07-09T02:18:52.845" v="71"/>
          <ac:spMkLst>
            <pc:docMk/>
            <pc:sldMk cId="2911291555" sldId="4718"/>
            <ac:spMk id="3" creationId="{692EEA64-BD89-CC05-9E22-30E402B9CC0A}"/>
          </ac:spMkLst>
        </pc:spChg>
        <pc:picChg chg="add">
          <ac:chgData name="今村 謙之" userId="bc27a5e0-5669-41a4-865b-584c1eac539e" providerId="ADAL" clId="{342DA2C4-B094-4B86-9045-6AA34CD7B848}" dt="2026-07-09T02:17:28.167" v="45" actId="22"/>
          <ac:picMkLst>
            <pc:docMk/>
            <pc:sldMk cId="2911291555" sldId="4718"/>
            <ac:picMk id="5" creationId="{6D58374D-4B9B-3B48-01FF-963910D1B806}"/>
          </ac:picMkLst>
        </pc:picChg>
        <pc:picChg chg="add">
          <ac:chgData name="今村 謙之" userId="bc27a5e0-5669-41a4-865b-584c1eac539e" providerId="ADAL" clId="{342DA2C4-B094-4B86-9045-6AA34CD7B848}" dt="2026-07-09T02:17:28.167" v="45" actId="22"/>
          <ac:picMkLst>
            <pc:docMk/>
            <pc:sldMk cId="2911291555" sldId="4718"/>
            <ac:picMk id="7" creationId="{C2B2B794-3912-F95A-4097-784681471A49}"/>
          </ac:picMkLst>
        </pc:picChg>
      </pc:sldChg>
      <pc:sldChg chg="addSp delSp modSp mod">
        <pc:chgData name="今村 謙之" userId="bc27a5e0-5669-41a4-865b-584c1eac539e" providerId="ADAL" clId="{342DA2C4-B094-4B86-9045-6AA34CD7B848}" dt="2026-07-09T02:20:11.348" v="89" actId="26606"/>
        <pc:sldMkLst>
          <pc:docMk/>
          <pc:sldMk cId="3979777593" sldId="4752"/>
        </pc:sldMkLst>
        <pc:spChg chg="mod ord">
          <ac:chgData name="今村 謙之" userId="bc27a5e0-5669-41a4-865b-584c1eac539e" providerId="ADAL" clId="{342DA2C4-B094-4B86-9045-6AA34CD7B848}" dt="2026-07-09T02:20:11.348" v="89" actId="26606"/>
          <ac:spMkLst>
            <pc:docMk/>
            <pc:sldMk cId="3979777593" sldId="4752"/>
            <ac:spMk id="2" creationId="{744A221B-7E0C-F604-EACC-434820EE3B9C}"/>
          </ac:spMkLst>
        </pc:spChg>
        <pc:spChg chg="add del">
          <ac:chgData name="今村 謙之" userId="bc27a5e0-5669-41a4-865b-584c1eac539e" providerId="ADAL" clId="{342DA2C4-B094-4B86-9045-6AA34CD7B848}" dt="2026-07-09T02:20:11.348" v="89" actId="26606"/>
          <ac:spMkLst>
            <pc:docMk/>
            <pc:sldMk cId="3979777593" sldId="4752"/>
            <ac:spMk id="10" creationId="{A4AC5506-6312-4701-8D3C-40187889A947}"/>
          </ac:spMkLst>
        </pc:spChg>
        <pc:picChg chg="add mod">
          <ac:chgData name="今村 謙之" userId="bc27a5e0-5669-41a4-865b-584c1eac539e" providerId="ADAL" clId="{342DA2C4-B094-4B86-9045-6AA34CD7B848}" dt="2026-07-09T02:20:11.348" v="89" actId="26606"/>
          <ac:picMkLst>
            <pc:docMk/>
            <pc:sldMk cId="3979777593" sldId="4752"/>
            <ac:picMk id="7" creationId="{F23F493A-2E6E-5B8B-1CD2-D44C39E80535}"/>
          </ac:picMkLst>
        </pc:picChg>
      </pc:sldChg>
      <pc:sldChg chg="addSp delSp modSp mod">
        <pc:chgData name="今村 謙之" userId="bc27a5e0-5669-41a4-865b-584c1eac539e" providerId="ADAL" clId="{342DA2C4-B094-4B86-9045-6AA34CD7B848}" dt="2026-07-09T02:19:18.116" v="84" actId="20577"/>
        <pc:sldMkLst>
          <pc:docMk/>
          <pc:sldMk cId="5829929" sldId="4759"/>
        </pc:sldMkLst>
        <pc:spChg chg="mod">
          <ac:chgData name="今村 謙之" userId="bc27a5e0-5669-41a4-865b-584c1eac539e" providerId="ADAL" clId="{342DA2C4-B094-4B86-9045-6AA34CD7B848}" dt="2026-07-09T02:16:30.589" v="43" actId="26606"/>
          <ac:spMkLst>
            <pc:docMk/>
            <pc:sldMk cId="5829929" sldId="4759"/>
            <ac:spMk id="2" creationId="{4087CC6E-D578-DA2E-41F6-26D095D844B8}"/>
          </ac:spMkLst>
        </pc:spChg>
        <pc:spChg chg="mod">
          <ac:chgData name="今村 謙之" userId="bc27a5e0-5669-41a4-865b-584c1eac539e" providerId="ADAL" clId="{342DA2C4-B094-4B86-9045-6AA34CD7B848}" dt="2026-07-09T02:19:18.116" v="84" actId="20577"/>
          <ac:spMkLst>
            <pc:docMk/>
            <pc:sldMk cId="5829929" sldId="4759"/>
            <ac:spMk id="3" creationId="{C5A21D8A-A3D8-A86C-CF86-9C79EE8527B7}"/>
          </ac:spMkLst>
        </pc:spChg>
        <pc:spChg chg="mod">
          <ac:chgData name="今村 謙之" userId="bc27a5e0-5669-41a4-865b-584c1eac539e" providerId="ADAL" clId="{342DA2C4-B094-4B86-9045-6AA34CD7B848}" dt="2026-07-09T02:14:44.649" v="41"/>
          <ac:spMkLst>
            <pc:docMk/>
            <pc:sldMk cId="5829929" sldId="4759"/>
            <ac:spMk id="32" creationId="{393970D9-EF3E-A9B8-B83E-5C2887A765B7}"/>
          </ac:spMkLst>
        </pc:spChg>
        <pc:spChg chg="mod">
          <ac:chgData name="今村 謙之" userId="bc27a5e0-5669-41a4-865b-584c1eac539e" providerId="ADAL" clId="{342DA2C4-B094-4B86-9045-6AA34CD7B848}" dt="2026-07-09T02:14:44.649" v="41"/>
          <ac:spMkLst>
            <pc:docMk/>
            <pc:sldMk cId="5829929" sldId="4759"/>
            <ac:spMk id="33" creationId="{810DEFF2-4E21-574F-EF58-4CBE75F1587F}"/>
          </ac:spMkLst>
        </pc:spChg>
        <pc:spChg chg="mod">
          <ac:chgData name="今村 謙之" userId="bc27a5e0-5669-41a4-865b-584c1eac539e" providerId="ADAL" clId="{342DA2C4-B094-4B86-9045-6AA34CD7B848}" dt="2026-07-09T02:14:44.649" v="41"/>
          <ac:spMkLst>
            <pc:docMk/>
            <pc:sldMk cId="5829929" sldId="4759"/>
            <ac:spMk id="34" creationId="{0CE35711-ECA3-DF32-FB2E-EAD074323731}"/>
          </ac:spMkLst>
        </pc:spChg>
        <pc:spChg chg="mod">
          <ac:chgData name="今村 謙之" userId="bc27a5e0-5669-41a4-865b-584c1eac539e" providerId="ADAL" clId="{342DA2C4-B094-4B86-9045-6AA34CD7B848}" dt="2026-07-09T02:14:44.649" v="41"/>
          <ac:spMkLst>
            <pc:docMk/>
            <pc:sldMk cId="5829929" sldId="4759"/>
            <ac:spMk id="35" creationId="{FC19F593-831C-A8CA-67D5-0986C415E2F1}"/>
          </ac:spMkLst>
        </pc:spChg>
        <pc:spChg chg="mod">
          <ac:chgData name="今村 謙之" userId="bc27a5e0-5669-41a4-865b-584c1eac539e" providerId="ADAL" clId="{342DA2C4-B094-4B86-9045-6AA34CD7B848}" dt="2026-07-09T02:14:44.649" v="41"/>
          <ac:spMkLst>
            <pc:docMk/>
            <pc:sldMk cId="5829929" sldId="4759"/>
            <ac:spMk id="36" creationId="{D93B2FF5-137C-9C88-2E51-EBFB69472350}"/>
          </ac:spMkLst>
        </pc:spChg>
        <pc:spChg chg="mod">
          <ac:chgData name="今村 謙之" userId="bc27a5e0-5669-41a4-865b-584c1eac539e" providerId="ADAL" clId="{342DA2C4-B094-4B86-9045-6AA34CD7B848}" dt="2026-07-09T02:14:44.649" v="41"/>
          <ac:spMkLst>
            <pc:docMk/>
            <pc:sldMk cId="5829929" sldId="4759"/>
            <ac:spMk id="37" creationId="{882BA63F-AA54-192D-E564-833163803614}"/>
          </ac:spMkLst>
        </pc:spChg>
        <pc:spChg chg="mod">
          <ac:chgData name="今村 謙之" userId="bc27a5e0-5669-41a4-865b-584c1eac539e" providerId="ADAL" clId="{342DA2C4-B094-4B86-9045-6AA34CD7B848}" dt="2026-07-09T02:14:44.649" v="41"/>
          <ac:spMkLst>
            <pc:docMk/>
            <pc:sldMk cId="5829929" sldId="4759"/>
            <ac:spMk id="38" creationId="{CE917C7B-69A6-ECDC-7FBA-D998AA334D84}"/>
          </ac:spMkLst>
        </pc:spChg>
        <pc:spChg chg="mod">
          <ac:chgData name="今村 謙之" userId="bc27a5e0-5669-41a4-865b-584c1eac539e" providerId="ADAL" clId="{342DA2C4-B094-4B86-9045-6AA34CD7B848}" dt="2026-07-09T02:14:44.649" v="41"/>
          <ac:spMkLst>
            <pc:docMk/>
            <pc:sldMk cId="5829929" sldId="4759"/>
            <ac:spMk id="39" creationId="{831DFDBE-6390-1314-99B3-09ECAA119BED}"/>
          </ac:spMkLst>
        </pc:spChg>
        <pc:spChg chg="add">
          <ac:chgData name="今村 謙之" userId="bc27a5e0-5669-41a4-865b-584c1eac539e" providerId="ADAL" clId="{342DA2C4-B094-4B86-9045-6AA34CD7B848}" dt="2026-07-09T02:16:30.589" v="43" actId="26606"/>
          <ac:spMkLst>
            <pc:docMk/>
            <pc:sldMk cId="5829929" sldId="4759"/>
            <ac:spMk id="44" creationId="{700E0F77-E936-4985-B7B1-B9823486AC33}"/>
          </ac:spMkLst>
        </pc:spChg>
        <pc:spChg chg="add">
          <ac:chgData name="今村 謙之" userId="bc27a5e0-5669-41a4-865b-584c1eac539e" providerId="ADAL" clId="{342DA2C4-B094-4B86-9045-6AA34CD7B848}" dt="2026-07-09T02:16:30.589" v="43" actId="26606"/>
          <ac:spMkLst>
            <pc:docMk/>
            <pc:sldMk cId="5829929" sldId="4759"/>
            <ac:spMk id="46" creationId="{95C8260E-968F-44E8-A823-ABB431311926}"/>
          </ac:spMkLst>
        </pc:spChg>
        <pc:spChg chg="add">
          <ac:chgData name="今村 謙之" userId="bc27a5e0-5669-41a4-865b-584c1eac539e" providerId="ADAL" clId="{342DA2C4-B094-4B86-9045-6AA34CD7B848}" dt="2026-07-09T02:16:30.589" v="43" actId="26606"/>
          <ac:spMkLst>
            <pc:docMk/>
            <pc:sldMk cId="5829929" sldId="4759"/>
            <ac:spMk id="48" creationId="{2C1BBA94-3F40-40AA-8BB9-E69E25E537C1}"/>
          </ac:spMkLst>
        </pc:spChg>
        <pc:spChg chg="add">
          <ac:chgData name="今村 謙之" userId="bc27a5e0-5669-41a4-865b-584c1eac539e" providerId="ADAL" clId="{342DA2C4-B094-4B86-9045-6AA34CD7B848}" dt="2026-07-09T02:16:30.589" v="43" actId="26606"/>
          <ac:spMkLst>
            <pc:docMk/>
            <pc:sldMk cId="5829929" sldId="4759"/>
            <ac:spMk id="50" creationId="{FE43805F-24A6-46A4-B19B-54F28347355C}"/>
          </ac:spMkLst>
        </pc:spChg>
        <pc:grpChg chg="add mod">
          <ac:chgData name="今村 謙之" userId="bc27a5e0-5669-41a4-865b-584c1eac539e" providerId="ADAL" clId="{342DA2C4-B094-4B86-9045-6AA34CD7B848}" dt="2026-07-09T02:16:30.589" v="43" actId="26606"/>
          <ac:grpSpMkLst>
            <pc:docMk/>
            <pc:sldMk cId="5829929" sldId="4759"/>
            <ac:grpSpMk id="29" creationId="{4FDC9AC6-6C55-2B47-E8DF-7F2F3B0248AF}"/>
          </ac:grpSpMkLst>
        </pc:grpChg>
        <pc:picChg chg="mod">
          <ac:chgData name="今村 謙之" userId="bc27a5e0-5669-41a4-865b-584c1eac539e" providerId="ADAL" clId="{342DA2C4-B094-4B86-9045-6AA34CD7B848}" dt="2026-07-09T02:14:44.649" v="41"/>
          <ac:picMkLst>
            <pc:docMk/>
            <pc:sldMk cId="5829929" sldId="4759"/>
            <ac:picMk id="30" creationId="{7125D366-09A3-1087-57F3-60704CDD1E5A}"/>
          </ac:picMkLst>
        </pc:picChg>
        <pc:picChg chg="mod">
          <ac:chgData name="今村 謙之" userId="bc27a5e0-5669-41a4-865b-584c1eac539e" providerId="ADAL" clId="{342DA2C4-B094-4B86-9045-6AA34CD7B848}" dt="2026-07-09T02:14:44.649" v="41"/>
          <ac:picMkLst>
            <pc:docMk/>
            <pc:sldMk cId="5829929" sldId="4759"/>
            <ac:picMk id="31" creationId="{7A0E12CA-CB1B-5E0F-DE8F-843E96D19AE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A31D1-7B3C-4C1E-9467-A729EC7307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04FBA13-404F-4972-9C75-4601149080F5}">
      <dgm:prSet/>
      <dgm:spPr/>
      <dgm:t>
        <a:bodyPr/>
        <a:lstStyle/>
        <a:p>
          <a:r>
            <a:rPr kumimoji="1" lang="ja-JP"/>
            <a:t>一般的スペックとの差異</a:t>
          </a:r>
          <a:endParaRPr lang="en-US"/>
        </a:p>
      </dgm:t>
    </dgm:pt>
    <dgm:pt modelId="{C3711B50-771B-486A-98BF-A8D4D3565590}" type="parTrans" cxnId="{709F64F5-84D0-4038-8AE6-0268400CA801}">
      <dgm:prSet/>
      <dgm:spPr/>
      <dgm:t>
        <a:bodyPr/>
        <a:lstStyle/>
        <a:p>
          <a:endParaRPr lang="en-US"/>
        </a:p>
      </dgm:t>
    </dgm:pt>
    <dgm:pt modelId="{4715EB19-1356-49D3-AF3B-EED55AB445CD}" type="sibTrans" cxnId="{709F64F5-84D0-4038-8AE6-0268400CA801}">
      <dgm:prSet/>
      <dgm:spPr/>
      <dgm:t>
        <a:bodyPr/>
        <a:lstStyle/>
        <a:p>
          <a:endParaRPr lang="en-US"/>
        </a:p>
      </dgm:t>
    </dgm:pt>
    <dgm:pt modelId="{36B83A54-E5C9-47F3-B8DD-48A74457982C}">
      <dgm:prSet/>
      <dgm:spPr/>
      <dgm:t>
        <a:bodyPr/>
        <a:lstStyle/>
        <a:p>
          <a:r>
            <a:rPr kumimoji="1" lang="ja-JP"/>
            <a:t>出力電圧は</a:t>
          </a:r>
          <a:r>
            <a:rPr kumimoji="1" lang="en-US"/>
            <a:t>0-5V</a:t>
          </a:r>
          <a:r>
            <a:rPr kumimoji="1" lang="ja-JP"/>
            <a:t>である</a:t>
          </a:r>
          <a:endParaRPr lang="en-US"/>
        </a:p>
      </dgm:t>
    </dgm:pt>
    <dgm:pt modelId="{741F6EF1-DC31-4FA4-961B-36BA8BB8649A}" type="parTrans" cxnId="{8AE09BA0-29E5-4EE8-8528-C433D422008A}">
      <dgm:prSet/>
      <dgm:spPr/>
      <dgm:t>
        <a:bodyPr/>
        <a:lstStyle/>
        <a:p>
          <a:endParaRPr lang="en-US"/>
        </a:p>
      </dgm:t>
    </dgm:pt>
    <dgm:pt modelId="{524C0C8B-67FE-415B-BB92-2B5D37F78561}" type="sibTrans" cxnId="{8AE09BA0-29E5-4EE8-8528-C433D422008A}">
      <dgm:prSet/>
      <dgm:spPr/>
      <dgm:t>
        <a:bodyPr/>
        <a:lstStyle/>
        <a:p>
          <a:endParaRPr lang="en-US"/>
        </a:p>
      </dgm:t>
    </dgm:pt>
    <dgm:pt modelId="{23842057-AA8A-4D84-9FDB-EF178289F47F}">
      <dgm:prSet/>
      <dgm:spPr/>
      <dgm:t>
        <a:bodyPr/>
        <a:lstStyle/>
        <a:p>
          <a:r>
            <a:rPr lang="en-US"/>
            <a:t>12V</a:t>
          </a:r>
          <a:r>
            <a:rPr lang="ja-JP"/>
            <a:t>とかは非対応</a:t>
          </a:r>
          <a:endParaRPr lang="en-US"/>
        </a:p>
      </dgm:t>
    </dgm:pt>
    <dgm:pt modelId="{58DFE0E7-C4F8-4AA3-9E92-62E7459EC7F0}" type="parTrans" cxnId="{BBA5A0F5-B829-422B-A72A-5CD914EFDB45}">
      <dgm:prSet/>
      <dgm:spPr/>
      <dgm:t>
        <a:bodyPr/>
        <a:lstStyle/>
        <a:p>
          <a:endParaRPr lang="en-US"/>
        </a:p>
      </dgm:t>
    </dgm:pt>
    <dgm:pt modelId="{AB1F8C42-A9E7-4084-90C6-926DD1876F54}" type="sibTrans" cxnId="{BBA5A0F5-B829-422B-A72A-5CD914EFDB45}">
      <dgm:prSet/>
      <dgm:spPr/>
      <dgm:t>
        <a:bodyPr/>
        <a:lstStyle/>
        <a:p>
          <a:endParaRPr lang="en-US"/>
        </a:p>
      </dgm:t>
    </dgm:pt>
    <dgm:pt modelId="{6FBCCCA3-AD31-40D2-B4E2-CDE0F93D431B}">
      <dgm:prSet/>
      <dgm:spPr/>
      <dgm:t>
        <a:bodyPr/>
        <a:lstStyle/>
        <a:p>
          <a:r>
            <a:rPr kumimoji="1" lang="en-US"/>
            <a:t>Rail2Rail</a:t>
          </a:r>
          <a:r>
            <a:rPr kumimoji="1" lang="ja-JP"/>
            <a:t>にしないと、さらに出力範囲は狭い</a:t>
          </a:r>
          <a:r>
            <a:rPr kumimoji="1" lang="ja-JP" altLang="en-US"/>
            <a:t>（</a:t>
          </a:r>
          <a:r>
            <a:rPr kumimoji="1" lang="en-US" altLang="ja-JP"/>
            <a:t>0.5-4V</a:t>
          </a:r>
          <a:r>
            <a:rPr kumimoji="1" lang="ja-JP" altLang="en-US"/>
            <a:t>くらい）</a:t>
          </a:r>
          <a:endParaRPr lang="en-US"/>
        </a:p>
      </dgm:t>
    </dgm:pt>
    <dgm:pt modelId="{D7FE8ECA-D58B-4915-B448-5B9B6B01F7B4}" type="parTrans" cxnId="{E0A284FB-46B6-4AF5-B7A0-9AF0F13C87AD}">
      <dgm:prSet/>
      <dgm:spPr/>
      <dgm:t>
        <a:bodyPr/>
        <a:lstStyle/>
        <a:p>
          <a:endParaRPr lang="en-US"/>
        </a:p>
      </dgm:t>
    </dgm:pt>
    <dgm:pt modelId="{4D603EEC-8D4C-412C-A3A7-532DF714B63C}" type="sibTrans" cxnId="{E0A284FB-46B6-4AF5-B7A0-9AF0F13C87AD}">
      <dgm:prSet/>
      <dgm:spPr/>
      <dgm:t>
        <a:bodyPr/>
        <a:lstStyle/>
        <a:p>
          <a:endParaRPr lang="en-US"/>
        </a:p>
      </dgm:t>
    </dgm:pt>
    <dgm:pt modelId="{9BF4CDAB-871F-4B0C-BFE4-6B2AE0DCBFBC}">
      <dgm:prSet/>
      <dgm:spPr/>
      <dgm:t>
        <a:bodyPr/>
        <a:lstStyle/>
        <a:p>
          <a:r>
            <a:rPr kumimoji="1" lang="ja-JP"/>
            <a:t>出力電流は</a:t>
          </a:r>
          <a:r>
            <a:rPr kumimoji="1" lang="ja-JP" altLang="en-US"/>
            <a:t>数百</a:t>
          </a:r>
          <a:r>
            <a:rPr kumimoji="1" lang="en-US" altLang="ja-JP"/>
            <a:t>uA</a:t>
          </a:r>
          <a:r>
            <a:rPr kumimoji="1" lang="ja-JP" altLang="en-US"/>
            <a:t>～</a:t>
          </a:r>
          <a:r>
            <a:rPr kumimoji="1" lang="ja-JP"/>
            <a:t>数</a:t>
          </a:r>
          <a:r>
            <a:rPr lang="en-US"/>
            <a:t>m</a:t>
          </a:r>
          <a:r>
            <a:rPr kumimoji="1" lang="en-US"/>
            <a:t>A</a:t>
          </a:r>
          <a:r>
            <a:rPr kumimoji="1" lang="ja-JP"/>
            <a:t>である</a:t>
          </a:r>
          <a:endParaRPr lang="en-US"/>
        </a:p>
      </dgm:t>
    </dgm:pt>
    <dgm:pt modelId="{E8D62AC2-8A7E-4031-89F0-3CC8CCE49142}" type="parTrans" cxnId="{DBEC59F8-C8D8-45D0-83A6-830720E7F089}">
      <dgm:prSet/>
      <dgm:spPr/>
      <dgm:t>
        <a:bodyPr/>
        <a:lstStyle/>
        <a:p>
          <a:endParaRPr lang="en-US"/>
        </a:p>
      </dgm:t>
    </dgm:pt>
    <dgm:pt modelId="{6798CD80-30A2-4127-B337-B87902132544}" type="sibTrans" cxnId="{DBEC59F8-C8D8-45D0-83A6-830720E7F089}">
      <dgm:prSet/>
      <dgm:spPr/>
      <dgm:t>
        <a:bodyPr/>
        <a:lstStyle/>
        <a:p>
          <a:endParaRPr lang="en-US"/>
        </a:p>
      </dgm:t>
    </dgm:pt>
    <dgm:pt modelId="{3FA42FDA-2C86-446B-A972-B5EE31AE6A1B}">
      <dgm:prSet/>
      <dgm:spPr/>
      <dgm:t>
        <a:bodyPr/>
        <a:lstStyle/>
        <a:p>
          <a:r>
            <a:rPr lang="ja-JP" altLang="en-US"/>
            <a:t>もう一桁くらいほしいところ</a:t>
          </a:r>
          <a:endParaRPr lang="en-US"/>
        </a:p>
      </dgm:t>
    </dgm:pt>
    <dgm:pt modelId="{B62649C0-6CC8-4AA8-ABC5-44E736A13DAD}" type="parTrans" cxnId="{2903E1C5-B9B8-4166-8C23-7D9508550C44}">
      <dgm:prSet/>
      <dgm:spPr/>
      <dgm:t>
        <a:bodyPr/>
        <a:lstStyle/>
        <a:p>
          <a:endParaRPr lang="en-US"/>
        </a:p>
      </dgm:t>
    </dgm:pt>
    <dgm:pt modelId="{9D5584BF-006C-4759-89A0-3081A35625BD}" type="sibTrans" cxnId="{2903E1C5-B9B8-4166-8C23-7D9508550C44}">
      <dgm:prSet/>
      <dgm:spPr/>
      <dgm:t>
        <a:bodyPr/>
        <a:lstStyle/>
        <a:p>
          <a:endParaRPr lang="en-US"/>
        </a:p>
      </dgm:t>
    </dgm:pt>
    <dgm:pt modelId="{7AE9B44D-4B37-4791-B58A-0892D806D68A}">
      <dgm:prSet/>
      <dgm:spPr/>
      <dgm:t>
        <a:bodyPr/>
        <a:lstStyle/>
        <a:p>
          <a:r>
            <a:rPr lang="ja-JP"/>
            <a:t>出力するにはかなりデカい回路とする必要がある</a:t>
          </a:r>
          <a:endParaRPr lang="en-US"/>
        </a:p>
      </dgm:t>
    </dgm:pt>
    <dgm:pt modelId="{FAC2C562-C0D9-4F78-BD24-36DA1D7AD8D2}" type="parTrans" cxnId="{73C33566-9E2B-4C50-B612-63872496E5CF}">
      <dgm:prSet/>
      <dgm:spPr/>
      <dgm:t>
        <a:bodyPr/>
        <a:lstStyle/>
        <a:p>
          <a:endParaRPr lang="en-US"/>
        </a:p>
      </dgm:t>
    </dgm:pt>
    <dgm:pt modelId="{86B06046-BE69-4A97-A477-4AD3ACB85418}" type="sibTrans" cxnId="{73C33566-9E2B-4C50-B612-63872496E5CF}">
      <dgm:prSet/>
      <dgm:spPr/>
      <dgm:t>
        <a:bodyPr/>
        <a:lstStyle/>
        <a:p>
          <a:endParaRPr lang="en-US"/>
        </a:p>
      </dgm:t>
    </dgm:pt>
    <dgm:pt modelId="{2E4A8E64-902A-4ACC-A3F7-273F9682EAF4}">
      <dgm:prSet/>
      <dgm:spPr/>
      <dgm:t>
        <a:bodyPr/>
        <a:lstStyle/>
        <a:p>
          <a:r>
            <a:rPr lang="ja-JP"/>
            <a:t>最悪は・・・</a:t>
          </a:r>
          <a:endParaRPr lang="en-US"/>
        </a:p>
      </dgm:t>
    </dgm:pt>
    <dgm:pt modelId="{A0D264E2-5D71-4A0A-A8E7-F11409482812}" type="parTrans" cxnId="{F2BBB458-4FFE-48B7-9310-FFEC00529D3E}">
      <dgm:prSet/>
      <dgm:spPr/>
      <dgm:t>
        <a:bodyPr/>
        <a:lstStyle/>
        <a:p>
          <a:endParaRPr lang="en-US"/>
        </a:p>
      </dgm:t>
    </dgm:pt>
    <dgm:pt modelId="{C754B485-3CC3-4F43-9BAA-2BDF7B5A5B55}" type="sibTrans" cxnId="{F2BBB458-4FFE-48B7-9310-FFEC00529D3E}">
      <dgm:prSet/>
      <dgm:spPr/>
      <dgm:t>
        <a:bodyPr/>
        <a:lstStyle/>
        <a:p>
          <a:endParaRPr lang="en-US"/>
        </a:p>
      </dgm:t>
    </dgm:pt>
    <dgm:pt modelId="{6E6E565D-DB08-4622-B83B-E1A6A77B966F}">
      <dgm:prSet/>
      <dgm:spPr/>
      <dgm:t>
        <a:bodyPr/>
        <a:lstStyle/>
        <a:p>
          <a:r>
            <a:rPr kumimoji="1" lang="en-US"/>
            <a:t>PreOPAMP</a:t>
          </a:r>
          <a:r>
            <a:rPr kumimoji="1" lang="ja-JP"/>
            <a:t>として、自作基板にて後段にもう一つ</a:t>
          </a:r>
          <a:r>
            <a:rPr kumimoji="1" lang="en-US"/>
            <a:t>OPAMP</a:t>
          </a:r>
          <a:r>
            <a:rPr kumimoji="1" lang="ja-JP"/>
            <a:t>などをつけて、対応することも検討する</a:t>
          </a:r>
          <a:endParaRPr lang="en-US"/>
        </a:p>
      </dgm:t>
    </dgm:pt>
    <dgm:pt modelId="{4A7F35B7-C2E0-4183-ABD0-16E433472C31}" type="parTrans" cxnId="{551D2450-CDD6-4F8E-A1C2-BBE1CA4DD24A}">
      <dgm:prSet/>
      <dgm:spPr/>
      <dgm:t>
        <a:bodyPr/>
        <a:lstStyle/>
        <a:p>
          <a:endParaRPr lang="en-US"/>
        </a:p>
      </dgm:t>
    </dgm:pt>
    <dgm:pt modelId="{F0CADF8B-FD17-46A4-9ACD-274138AFCB7E}" type="sibTrans" cxnId="{551D2450-CDD6-4F8E-A1C2-BBE1CA4DD24A}">
      <dgm:prSet/>
      <dgm:spPr/>
      <dgm:t>
        <a:bodyPr/>
        <a:lstStyle/>
        <a:p>
          <a:endParaRPr lang="en-US"/>
        </a:p>
      </dgm:t>
    </dgm:pt>
    <dgm:pt modelId="{FA1AAA75-A629-40A4-9B17-228F79569B23}" type="pres">
      <dgm:prSet presAssocID="{6DBA31D1-7B3C-4C1E-9467-A729EC7307DC}" presName="linear" presStyleCnt="0">
        <dgm:presLayoutVars>
          <dgm:dir/>
          <dgm:animLvl val="lvl"/>
          <dgm:resizeHandles val="exact"/>
        </dgm:presLayoutVars>
      </dgm:prSet>
      <dgm:spPr/>
    </dgm:pt>
    <dgm:pt modelId="{61EB4986-9C40-47D1-9AFF-01A7AD3A45AA}" type="pres">
      <dgm:prSet presAssocID="{A04FBA13-404F-4972-9C75-4601149080F5}" presName="parentLin" presStyleCnt="0"/>
      <dgm:spPr/>
    </dgm:pt>
    <dgm:pt modelId="{69534409-66BE-4D3C-9B4F-3A52FB0219E8}" type="pres">
      <dgm:prSet presAssocID="{A04FBA13-404F-4972-9C75-4601149080F5}" presName="parentLeftMargin" presStyleLbl="node1" presStyleIdx="0" presStyleCnt="2"/>
      <dgm:spPr/>
    </dgm:pt>
    <dgm:pt modelId="{271AA2D5-B1F5-4CA2-B426-5A687287DC27}" type="pres">
      <dgm:prSet presAssocID="{A04FBA13-404F-4972-9C75-4601149080F5}" presName="parentText" presStyleLbl="node1" presStyleIdx="0" presStyleCnt="2">
        <dgm:presLayoutVars>
          <dgm:chMax val="0"/>
          <dgm:bulletEnabled val="1"/>
        </dgm:presLayoutVars>
      </dgm:prSet>
      <dgm:spPr/>
    </dgm:pt>
    <dgm:pt modelId="{80C93F5A-84E7-4D2F-AEDC-A07BD5B8F27D}" type="pres">
      <dgm:prSet presAssocID="{A04FBA13-404F-4972-9C75-4601149080F5}" presName="negativeSpace" presStyleCnt="0"/>
      <dgm:spPr/>
    </dgm:pt>
    <dgm:pt modelId="{4BEA0FEF-5BBA-4C49-8901-ADB21B052313}" type="pres">
      <dgm:prSet presAssocID="{A04FBA13-404F-4972-9C75-4601149080F5}" presName="childText" presStyleLbl="conFgAcc1" presStyleIdx="0" presStyleCnt="2">
        <dgm:presLayoutVars>
          <dgm:bulletEnabled val="1"/>
        </dgm:presLayoutVars>
      </dgm:prSet>
      <dgm:spPr/>
    </dgm:pt>
    <dgm:pt modelId="{11568B16-EA1B-487F-980A-C772BCC2CBC2}" type="pres">
      <dgm:prSet presAssocID="{4715EB19-1356-49D3-AF3B-EED55AB445CD}" presName="spaceBetweenRectangles" presStyleCnt="0"/>
      <dgm:spPr/>
    </dgm:pt>
    <dgm:pt modelId="{EBA16492-43C9-485E-B6F0-53D52B6D2065}" type="pres">
      <dgm:prSet presAssocID="{2E4A8E64-902A-4ACC-A3F7-273F9682EAF4}" presName="parentLin" presStyleCnt="0"/>
      <dgm:spPr/>
    </dgm:pt>
    <dgm:pt modelId="{2FD119FC-3952-4084-BDC1-8FAD10D3277A}" type="pres">
      <dgm:prSet presAssocID="{2E4A8E64-902A-4ACC-A3F7-273F9682EAF4}" presName="parentLeftMargin" presStyleLbl="node1" presStyleIdx="0" presStyleCnt="2"/>
      <dgm:spPr/>
    </dgm:pt>
    <dgm:pt modelId="{B615EF7B-807F-4787-A323-F9A2814A9CBA}" type="pres">
      <dgm:prSet presAssocID="{2E4A8E64-902A-4ACC-A3F7-273F9682EAF4}" presName="parentText" presStyleLbl="node1" presStyleIdx="1" presStyleCnt="2">
        <dgm:presLayoutVars>
          <dgm:chMax val="0"/>
          <dgm:bulletEnabled val="1"/>
        </dgm:presLayoutVars>
      </dgm:prSet>
      <dgm:spPr/>
    </dgm:pt>
    <dgm:pt modelId="{8556DFE4-7353-4941-9940-5AC3C0F925F0}" type="pres">
      <dgm:prSet presAssocID="{2E4A8E64-902A-4ACC-A3F7-273F9682EAF4}" presName="negativeSpace" presStyleCnt="0"/>
      <dgm:spPr/>
    </dgm:pt>
    <dgm:pt modelId="{E924A7C2-14DE-49AC-9C1D-DE883F515FBC}" type="pres">
      <dgm:prSet presAssocID="{2E4A8E64-902A-4ACC-A3F7-273F9682EAF4}" presName="childText" presStyleLbl="conFgAcc1" presStyleIdx="1" presStyleCnt="2">
        <dgm:presLayoutVars>
          <dgm:bulletEnabled val="1"/>
        </dgm:presLayoutVars>
      </dgm:prSet>
      <dgm:spPr/>
    </dgm:pt>
  </dgm:ptLst>
  <dgm:cxnLst>
    <dgm:cxn modelId="{59CB270D-B242-44C8-9742-1D0326878589}" type="presOf" srcId="{9BF4CDAB-871F-4B0C-BFE4-6B2AE0DCBFBC}" destId="{4BEA0FEF-5BBA-4C49-8901-ADB21B052313}" srcOrd="0" destOrd="3" presId="urn:microsoft.com/office/officeart/2005/8/layout/list1"/>
    <dgm:cxn modelId="{5AB5C82B-E7BB-454A-A406-592D22FEF356}" type="presOf" srcId="{6E6E565D-DB08-4622-B83B-E1A6A77B966F}" destId="{E924A7C2-14DE-49AC-9C1D-DE883F515FBC}" srcOrd="0" destOrd="0" presId="urn:microsoft.com/office/officeart/2005/8/layout/list1"/>
    <dgm:cxn modelId="{29C52C2C-F9FF-46E2-9F85-D6683187182C}" type="presOf" srcId="{6DBA31D1-7B3C-4C1E-9467-A729EC7307DC}" destId="{FA1AAA75-A629-40A4-9B17-228F79569B23}" srcOrd="0" destOrd="0" presId="urn:microsoft.com/office/officeart/2005/8/layout/list1"/>
    <dgm:cxn modelId="{E5A27239-A3B0-4AC1-AD58-B172123B8027}" type="presOf" srcId="{23842057-AA8A-4D84-9FDB-EF178289F47F}" destId="{4BEA0FEF-5BBA-4C49-8901-ADB21B052313}" srcOrd="0" destOrd="1" presId="urn:microsoft.com/office/officeart/2005/8/layout/list1"/>
    <dgm:cxn modelId="{D52FA43E-E4C6-4128-BD0F-192BC08DD18B}" type="presOf" srcId="{A04FBA13-404F-4972-9C75-4601149080F5}" destId="{69534409-66BE-4D3C-9B4F-3A52FB0219E8}" srcOrd="0" destOrd="0" presId="urn:microsoft.com/office/officeart/2005/8/layout/list1"/>
    <dgm:cxn modelId="{BFAB375D-BA3D-4184-A031-4E21EBD16ACB}" type="presOf" srcId="{2E4A8E64-902A-4ACC-A3F7-273F9682EAF4}" destId="{B615EF7B-807F-4787-A323-F9A2814A9CBA}" srcOrd="1" destOrd="0" presId="urn:microsoft.com/office/officeart/2005/8/layout/list1"/>
    <dgm:cxn modelId="{448F0D63-1D78-49F9-A89B-D27F16049E29}" type="presOf" srcId="{7AE9B44D-4B37-4791-B58A-0892D806D68A}" destId="{4BEA0FEF-5BBA-4C49-8901-ADB21B052313}" srcOrd="0" destOrd="5" presId="urn:microsoft.com/office/officeart/2005/8/layout/list1"/>
    <dgm:cxn modelId="{73C33566-9E2B-4C50-B612-63872496E5CF}" srcId="{9BF4CDAB-871F-4B0C-BFE4-6B2AE0DCBFBC}" destId="{7AE9B44D-4B37-4791-B58A-0892D806D68A}" srcOrd="1" destOrd="0" parTransId="{FAC2C562-C0D9-4F78-BD24-36DA1D7AD8D2}" sibTransId="{86B06046-BE69-4A97-A477-4AD3ACB85418}"/>
    <dgm:cxn modelId="{551D2450-CDD6-4F8E-A1C2-BBE1CA4DD24A}" srcId="{2E4A8E64-902A-4ACC-A3F7-273F9682EAF4}" destId="{6E6E565D-DB08-4622-B83B-E1A6A77B966F}" srcOrd="0" destOrd="0" parTransId="{4A7F35B7-C2E0-4183-ABD0-16E433472C31}" sibTransId="{F0CADF8B-FD17-46A4-9ACD-274138AFCB7E}"/>
    <dgm:cxn modelId="{F2BBB458-4FFE-48B7-9310-FFEC00529D3E}" srcId="{6DBA31D1-7B3C-4C1E-9467-A729EC7307DC}" destId="{2E4A8E64-902A-4ACC-A3F7-273F9682EAF4}" srcOrd="1" destOrd="0" parTransId="{A0D264E2-5D71-4A0A-A8E7-F11409482812}" sibTransId="{C754B485-3CC3-4F43-9BAA-2BDF7B5A5B55}"/>
    <dgm:cxn modelId="{DB0BAF84-8BCD-41C1-847F-ACC43AC75596}" type="presOf" srcId="{36B83A54-E5C9-47F3-B8DD-48A74457982C}" destId="{4BEA0FEF-5BBA-4C49-8901-ADB21B052313}" srcOrd="0" destOrd="0" presId="urn:microsoft.com/office/officeart/2005/8/layout/list1"/>
    <dgm:cxn modelId="{92E8AC8B-386A-47FE-B24D-4E58AFB54280}" type="presOf" srcId="{3FA42FDA-2C86-446B-A972-B5EE31AE6A1B}" destId="{4BEA0FEF-5BBA-4C49-8901-ADB21B052313}" srcOrd="0" destOrd="4" presId="urn:microsoft.com/office/officeart/2005/8/layout/list1"/>
    <dgm:cxn modelId="{8AE09BA0-29E5-4EE8-8528-C433D422008A}" srcId="{A04FBA13-404F-4972-9C75-4601149080F5}" destId="{36B83A54-E5C9-47F3-B8DD-48A74457982C}" srcOrd="0" destOrd="0" parTransId="{741F6EF1-DC31-4FA4-961B-36BA8BB8649A}" sibTransId="{524C0C8B-67FE-415B-BB92-2B5D37F78561}"/>
    <dgm:cxn modelId="{646627A3-46ED-4091-AB1F-EE4E48A09DF8}" type="presOf" srcId="{2E4A8E64-902A-4ACC-A3F7-273F9682EAF4}" destId="{2FD119FC-3952-4084-BDC1-8FAD10D3277A}" srcOrd="0" destOrd="0" presId="urn:microsoft.com/office/officeart/2005/8/layout/list1"/>
    <dgm:cxn modelId="{2903E1C5-B9B8-4166-8C23-7D9508550C44}" srcId="{9BF4CDAB-871F-4B0C-BFE4-6B2AE0DCBFBC}" destId="{3FA42FDA-2C86-446B-A972-B5EE31AE6A1B}" srcOrd="0" destOrd="0" parTransId="{B62649C0-6CC8-4AA8-ABC5-44E736A13DAD}" sibTransId="{9D5584BF-006C-4759-89A0-3081A35625BD}"/>
    <dgm:cxn modelId="{C6886BCB-A695-4493-B035-E9F211EB7A84}" type="presOf" srcId="{A04FBA13-404F-4972-9C75-4601149080F5}" destId="{271AA2D5-B1F5-4CA2-B426-5A687287DC27}" srcOrd="1" destOrd="0" presId="urn:microsoft.com/office/officeart/2005/8/layout/list1"/>
    <dgm:cxn modelId="{140275EB-22CC-4C1D-B662-3AF1D2D11C4D}" type="presOf" srcId="{6FBCCCA3-AD31-40D2-B4E2-CDE0F93D431B}" destId="{4BEA0FEF-5BBA-4C49-8901-ADB21B052313}" srcOrd="0" destOrd="2" presId="urn:microsoft.com/office/officeart/2005/8/layout/list1"/>
    <dgm:cxn modelId="{709F64F5-84D0-4038-8AE6-0268400CA801}" srcId="{6DBA31D1-7B3C-4C1E-9467-A729EC7307DC}" destId="{A04FBA13-404F-4972-9C75-4601149080F5}" srcOrd="0" destOrd="0" parTransId="{C3711B50-771B-486A-98BF-A8D4D3565590}" sibTransId="{4715EB19-1356-49D3-AF3B-EED55AB445CD}"/>
    <dgm:cxn modelId="{BBA5A0F5-B829-422B-A72A-5CD914EFDB45}" srcId="{36B83A54-E5C9-47F3-B8DD-48A74457982C}" destId="{23842057-AA8A-4D84-9FDB-EF178289F47F}" srcOrd="0" destOrd="0" parTransId="{58DFE0E7-C4F8-4AA3-9E92-62E7459EC7F0}" sibTransId="{AB1F8C42-A9E7-4084-90C6-926DD1876F54}"/>
    <dgm:cxn modelId="{DBEC59F8-C8D8-45D0-83A6-830720E7F089}" srcId="{A04FBA13-404F-4972-9C75-4601149080F5}" destId="{9BF4CDAB-871F-4B0C-BFE4-6B2AE0DCBFBC}" srcOrd="1" destOrd="0" parTransId="{E8D62AC2-8A7E-4031-89F0-3CC8CCE49142}" sibTransId="{6798CD80-30A2-4127-B337-B87902132544}"/>
    <dgm:cxn modelId="{E0A284FB-46B6-4AF5-B7A0-9AF0F13C87AD}" srcId="{36B83A54-E5C9-47F3-B8DD-48A74457982C}" destId="{6FBCCCA3-AD31-40D2-B4E2-CDE0F93D431B}" srcOrd="1" destOrd="0" parTransId="{D7FE8ECA-D58B-4915-B448-5B9B6B01F7B4}" sibTransId="{4D603EEC-8D4C-412C-A3A7-532DF714B63C}"/>
    <dgm:cxn modelId="{EAF761BE-2210-4883-AFBC-F5C9B9C3A5D0}" type="presParOf" srcId="{FA1AAA75-A629-40A4-9B17-228F79569B23}" destId="{61EB4986-9C40-47D1-9AFF-01A7AD3A45AA}" srcOrd="0" destOrd="0" presId="urn:microsoft.com/office/officeart/2005/8/layout/list1"/>
    <dgm:cxn modelId="{4B2EA310-5A1E-4FEC-83CA-CF4D79E2751C}" type="presParOf" srcId="{61EB4986-9C40-47D1-9AFF-01A7AD3A45AA}" destId="{69534409-66BE-4D3C-9B4F-3A52FB0219E8}" srcOrd="0" destOrd="0" presId="urn:microsoft.com/office/officeart/2005/8/layout/list1"/>
    <dgm:cxn modelId="{4E18CBF1-444B-40F1-AFAF-138ADEF7E330}" type="presParOf" srcId="{61EB4986-9C40-47D1-9AFF-01A7AD3A45AA}" destId="{271AA2D5-B1F5-4CA2-B426-5A687287DC27}" srcOrd="1" destOrd="0" presId="urn:microsoft.com/office/officeart/2005/8/layout/list1"/>
    <dgm:cxn modelId="{3BBACF30-1E21-46ED-A0EB-11552E25F5F8}" type="presParOf" srcId="{FA1AAA75-A629-40A4-9B17-228F79569B23}" destId="{80C93F5A-84E7-4D2F-AEDC-A07BD5B8F27D}" srcOrd="1" destOrd="0" presId="urn:microsoft.com/office/officeart/2005/8/layout/list1"/>
    <dgm:cxn modelId="{B6D2092F-0DDF-4928-9B73-6885E655C8EE}" type="presParOf" srcId="{FA1AAA75-A629-40A4-9B17-228F79569B23}" destId="{4BEA0FEF-5BBA-4C49-8901-ADB21B052313}" srcOrd="2" destOrd="0" presId="urn:microsoft.com/office/officeart/2005/8/layout/list1"/>
    <dgm:cxn modelId="{43626426-652C-443D-9D44-0F27E7E3D7EA}" type="presParOf" srcId="{FA1AAA75-A629-40A4-9B17-228F79569B23}" destId="{11568B16-EA1B-487F-980A-C772BCC2CBC2}" srcOrd="3" destOrd="0" presId="urn:microsoft.com/office/officeart/2005/8/layout/list1"/>
    <dgm:cxn modelId="{A79B5834-66C5-4551-B2A1-D808B46A1B03}" type="presParOf" srcId="{FA1AAA75-A629-40A4-9B17-228F79569B23}" destId="{EBA16492-43C9-485E-B6F0-53D52B6D2065}" srcOrd="4" destOrd="0" presId="urn:microsoft.com/office/officeart/2005/8/layout/list1"/>
    <dgm:cxn modelId="{E92382AA-C2DF-410B-8CB0-E34BAB3A3865}" type="presParOf" srcId="{EBA16492-43C9-485E-B6F0-53D52B6D2065}" destId="{2FD119FC-3952-4084-BDC1-8FAD10D3277A}" srcOrd="0" destOrd="0" presId="urn:microsoft.com/office/officeart/2005/8/layout/list1"/>
    <dgm:cxn modelId="{BB11B178-1F9C-464C-8C48-11BA58900E2B}" type="presParOf" srcId="{EBA16492-43C9-485E-B6F0-53D52B6D2065}" destId="{B615EF7B-807F-4787-A323-F9A2814A9CBA}" srcOrd="1" destOrd="0" presId="urn:microsoft.com/office/officeart/2005/8/layout/list1"/>
    <dgm:cxn modelId="{F10EA716-C8AA-4856-943A-77BDEF8A9641}" type="presParOf" srcId="{FA1AAA75-A629-40A4-9B17-228F79569B23}" destId="{8556DFE4-7353-4941-9940-5AC3C0F925F0}" srcOrd="5" destOrd="0" presId="urn:microsoft.com/office/officeart/2005/8/layout/list1"/>
    <dgm:cxn modelId="{611ECE98-5A58-44CB-A67F-6D918B8D80CA}" type="presParOf" srcId="{FA1AAA75-A629-40A4-9B17-228F79569B23}" destId="{E924A7C2-14DE-49AC-9C1D-DE883F515FB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A0FEF-5BBA-4C49-8901-ADB21B052313}">
      <dsp:nvSpPr>
        <dsp:cNvPr id="0" name=""/>
        <dsp:cNvSpPr/>
      </dsp:nvSpPr>
      <dsp:spPr>
        <a:xfrm>
          <a:off x="0" y="305468"/>
          <a:ext cx="10515600" cy="257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ja-JP" sz="1600" kern="1200"/>
            <a:t>出力電圧は</a:t>
          </a:r>
          <a:r>
            <a:rPr kumimoji="1" lang="en-US" sz="1600" kern="1200"/>
            <a:t>0-5V</a:t>
          </a:r>
          <a:r>
            <a:rPr kumimoji="1" lang="ja-JP" sz="1600" kern="1200"/>
            <a:t>である</a:t>
          </a:r>
          <a:endParaRPr lang="en-US" sz="1600" kern="1200"/>
        </a:p>
        <a:p>
          <a:pPr marL="342900" lvl="2" indent="-171450" algn="l" defTabSz="711200">
            <a:lnSpc>
              <a:spcPct val="90000"/>
            </a:lnSpc>
            <a:spcBef>
              <a:spcPct val="0"/>
            </a:spcBef>
            <a:spcAft>
              <a:spcPct val="15000"/>
            </a:spcAft>
            <a:buChar char="•"/>
          </a:pPr>
          <a:r>
            <a:rPr lang="en-US" sz="1600" kern="1200"/>
            <a:t>12V</a:t>
          </a:r>
          <a:r>
            <a:rPr lang="ja-JP" sz="1600" kern="1200"/>
            <a:t>とかは非対応</a:t>
          </a:r>
          <a:endParaRPr lang="en-US" sz="1600" kern="1200"/>
        </a:p>
        <a:p>
          <a:pPr marL="342900" lvl="2" indent="-171450" algn="l" defTabSz="711200">
            <a:lnSpc>
              <a:spcPct val="90000"/>
            </a:lnSpc>
            <a:spcBef>
              <a:spcPct val="0"/>
            </a:spcBef>
            <a:spcAft>
              <a:spcPct val="15000"/>
            </a:spcAft>
            <a:buChar char="•"/>
          </a:pPr>
          <a:r>
            <a:rPr kumimoji="1" lang="en-US" sz="1600" kern="1200"/>
            <a:t>Rail2Rail</a:t>
          </a:r>
          <a:r>
            <a:rPr kumimoji="1" lang="ja-JP" sz="1600" kern="1200"/>
            <a:t>にしないと、さらに出力範囲は狭い</a:t>
          </a:r>
          <a:r>
            <a:rPr kumimoji="1" lang="ja-JP" altLang="en-US" sz="1600" kern="1200"/>
            <a:t>（</a:t>
          </a:r>
          <a:r>
            <a:rPr kumimoji="1" lang="en-US" altLang="ja-JP" sz="1600" kern="1200"/>
            <a:t>0.5-4V</a:t>
          </a:r>
          <a:r>
            <a:rPr kumimoji="1" lang="ja-JP" altLang="en-US" sz="1600" kern="1200"/>
            <a:t>くらい）</a:t>
          </a:r>
          <a:endParaRPr lang="en-US" sz="1600" kern="1200"/>
        </a:p>
        <a:p>
          <a:pPr marL="171450" lvl="1" indent="-171450" algn="l" defTabSz="711200">
            <a:lnSpc>
              <a:spcPct val="90000"/>
            </a:lnSpc>
            <a:spcBef>
              <a:spcPct val="0"/>
            </a:spcBef>
            <a:spcAft>
              <a:spcPct val="15000"/>
            </a:spcAft>
            <a:buChar char="•"/>
          </a:pPr>
          <a:r>
            <a:rPr kumimoji="1" lang="ja-JP" sz="1600" kern="1200"/>
            <a:t>出力電流は</a:t>
          </a:r>
          <a:r>
            <a:rPr kumimoji="1" lang="ja-JP" altLang="en-US" sz="1600" kern="1200"/>
            <a:t>数百</a:t>
          </a:r>
          <a:r>
            <a:rPr kumimoji="1" lang="en-US" altLang="ja-JP" sz="1600" kern="1200"/>
            <a:t>uA</a:t>
          </a:r>
          <a:r>
            <a:rPr kumimoji="1" lang="ja-JP" altLang="en-US" sz="1600" kern="1200"/>
            <a:t>～</a:t>
          </a:r>
          <a:r>
            <a:rPr kumimoji="1" lang="ja-JP" sz="1600" kern="1200"/>
            <a:t>数</a:t>
          </a:r>
          <a:r>
            <a:rPr lang="en-US" sz="1600" kern="1200"/>
            <a:t>m</a:t>
          </a:r>
          <a:r>
            <a:rPr kumimoji="1" lang="en-US" sz="1600" kern="1200"/>
            <a:t>A</a:t>
          </a:r>
          <a:r>
            <a:rPr kumimoji="1" lang="ja-JP" sz="1600" kern="1200"/>
            <a:t>である</a:t>
          </a:r>
          <a:endParaRPr lang="en-US" sz="1600" kern="1200"/>
        </a:p>
        <a:p>
          <a:pPr marL="342900" lvl="2" indent="-171450" algn="l" defTabSz="711200">
            <a:lnSpc>
              <a:spcPct val="90000"/>
            </a:lnSpc>
            <a:spcBef>
              <a:spcPct val="0"/>
            </a:spcBef>
            <a:spcAft>
              <a:spcPct val="15000"/>
            </a:spcAft>
            <a:buChar char="•"/>
          </a:pPr>
          <a:r>
            <a:rPr lang="ja-JP" altLang="en-US" sz="1600" kern="1200"/>
            <a:t>もう一桁くらいほしいところ</a:t>
          </a:r>
          <a:endParaRPr lang="en-US" sz="1600" kern="1200"/>
        </a:p>
        <a:p>
          <a:pPr marL="342900" lvl="2" indent="-171450" algn="l" defTabSz="711200">
            <a:lnSpc>
              <a:spcPct val="90000"/>
            </a:lnSpc>
            <a:spcBef>
              <a:spcPct val="0"/>
            </a:spcBef>
            <a:spcAft>
              <a:spcPct val="15000"/>
            </a:spcAft>
            <a:buChar char="•"/>
          </a:pPr>
          <a:r>
            <a:rPr lang="ja-JP" sz="1600" kern="1200"/>
            <a:t>出力するにはかなりデカい回路とする必要がある</a:t>
          </a:r>
          <a:endParaRPr lang="en-US" sz="1600" kern="1200"/>
        </a:p>
      </dsp:txBody>
      <dsp:txXfrm>
        <a:off x="0" y="305468"/>
        <a:ext cx="10515600" cy="2570400"/>
      </dsp:txXfrm>
    </dsp:sp>
    <dsp:sp modelId="{271AA2D5-B1F5-4CA2-B426-5A687287DC27}">
      <dsp:nvSpPr>
        <dsp:cNvPr id="0" name=""/>
        <dsp:cNvSpPr/>
      </dsp:nvSpPr>
      <dsp:spPr>
        <a:xfrm>
          <a:off x="525780" y="69308"/>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kumimoji="1" lang="ja-JP" sz="1600" kern="1200"/>
            <a:t>一般的スペックとの差異</a:t>
          </a:r>
          <a:endParaRPr lang="en-US" sz="1600" kern="1200"/>
        </a:p>
      </dsp:txBody>
      <dsp:txXfrm>
        <a:off x="548837" y="92365"/>
        <a:ext cx="7314806" cy="426206"/>
      </dsp:txXfrm>
    </dsp:sp>
    <dsp:sp modelId="{E924A7C2-14DE-49AC-9C1D-DE883F515FBC}">
      <dsp:nvSpPr>
        <dsp:cNvPr id="0" name=""/>
        <dsp:cNvSpPr/>
      </dsp:nvSpPr>
      <dsp:spPr>
        <a:xfrm>
          <a:off x="0" y="3198429"/>
          <a:ext cx="10515600" cy="10835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en-US" sz="1600" kern="1200"/>
            <a:t>PreOPAMP</a:t>
          </a:r>
          <a:r>
            <a:rPr kumimoji="1" lang="ja-JP" sz="1600" kern="1200"/>
            <a:t>として、自作基板にて後段にもう一つ</a:t>
          </a:r>
          <a:r>
            <a:rPr kumimoji="1" lang="en-US" sz="1600" kern="1200"/>
            <a:t>OPAMP</a:t>
          </a:r>
          <a:r>
            <a:rPr kumimoji="1" lang="ja-JP" sz="1600" kern="1200"/>
            <a:t>などをつけて、対応することも検討する</a:t>
          </a:r>
          <a:endParaRPr lang="en-US" sz="1600" kern="1200"/>
        </a:p>
      </dsp:txBody>
      <dsp:txXfrm>
        <a:off x="0" y="3198429"/>
        <a:ext cx="10515600" cy="1083599"/>
      </dsp:txXfrm>
    </dsp:sp>
    <dsp:sp modelId="{B615EF7B-807F-4787-A323-F9A2814A9CBA}">
      <dsp:nvSpPr>
        <dsp:cNvPr id="0" name=""/>
        <dsp:cNvSpPr/>
      </dsp:nvSpPr>
      <dsp:spPr>
        <a:xfrm>
          <a:off x="525780" y="296226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ja-JP" sz="1600" kern="1200"/>
            <a:t>最悪は・・・</a:t>
          </a:r>
          <a:endParaRPr lang="en-US" sz="1600" kern="1200"/>
        </a:p>
      </dsp:txBody>
      <dsp:txXfrm>
        <a:off x="548837" y="2985326"/>
        <a:ext cx="731480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2026/8/6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C12D1F-438B-987B-0E13-209BF4756154}"/>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2F3850D2-C198-C3DE-5F3E-A90C2CDBAC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CFAF48-9A80-07F4-6313-B54A98BC9D25}"/>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7D37A-2BED-2A6D-3DC1-3366B2B98CB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9E5F7D-DDFE-F9E4-DD54-378E23232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4746527-D040-5443-0177-6E40053F588C}"/>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B0D0907D-4C21-8883-E947-6448A26623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7463B1-60A0-C6E4-E841-3B19AA77BCFC}"/>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6031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59964-01BF-57FB-1CC0-19C0CC158E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02D120-064F-01CF-5AFC-13C874239B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6FE018C-6A77-5633-B8D9-D6CDFFCB4E6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5BCDA-9627-B7A3-BEA8-BD42F6A58C91}"/>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5E46805F-154A-1405-1304-7A49F1C325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D934C6-63F5-13B4-C47C-FE75C55E31A1}"/>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7145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BF59BD-743C-1A3C-1E06-EC0400A6886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3F6E40B-496A-6A6B-A7C4-CF7C222CA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288F5C6-F0BB-14AC-664D-44F4C249F25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F23BAD-5894-849A-FB08-DBAC3B7A7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F7EE4B-E5D2-8485-7D50-9F7EE4A674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497A9B-9487-E362-2EEC-84350C3EBEFD}"/>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8" name="フッター プレースホルダー 7">
            <a:extLst>
              <a:ext uri="{FF2B5EF4-FFF2-40B4-BE49-F238E27FC236}">
                <a16:creationId xmlns:a16="http://schemas.microsoft.com/office/drawing/2014/main" id="{14F98089-AE1C-4D0B-918A-D2F72444B5A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73869A7-0F05-037D-5575-90FA0991883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53603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266B5-A3FD-2F5B-DA35-F62463E85D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EE9F867-0389-BABB-FF08-49CC450DDF6B}"/>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4" name="フッター プレースホルダー 3">
            <a:extLst>
              <a:ext uri="{FF2B5EF4-FFF2-40B4-BE49-F238E27FC236}">
                <a16:creationId xmlns:a16="http://schemas.microsoft.com/office/drawing/2014/main" id="{17FC3487-4C5B-B907-947A-8EA8C83BF3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439496-1F32-61E8-C39A-D45B85527B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346469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C9428BF-1252-6C67-319E-E065E4855A90}"/>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3" name="フッター プレースホルダー 2">
            <a:extLst>
              <a:ext uri="{FF2B5EF4-FFF2-40B4-BE49-F238E27FC236}">
                <a16:creationId xmlns:a16="http://schemas.microsoft.com/office/drawing/2014/main" id="{024461D5-0D80-437B-3694-DDF8E1840C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209D58-D1D3-B05C-8F82-6643571C4A72}"/>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53087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296BB-62CA-F9BF-D33A-BE523E2C4C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C2CE8F-D3F1-84FD-7F58-3624D6960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141728-00DD-F741-C725-5EA588964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BAC48E-17F5-862E-6C47-9E90C5EF907C}"/>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7A234C07-7608-48DC-D31A-4921EB4164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1BA1F6-CAD1-C8B3-4F85-773F4B3F0DD7}"/>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776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22E443-800B-9B00-582A-E7716B7A3A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E6FBA55-244A-22B9-9FBA-3B26EF346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5C9A178-486E-7B9E-98DC-B4F57D3E5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A21B99-B569-1EAF-B3BC-22A8D0A0201C}"/>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6" name="フッター プレースホルダー 5">
            <a:extLst>
              <a:ext uri="{FF2B5EF4-FFF2-40B4-BE49-F238E27FC236}">
                <a16:creationId xmlns:a16="http://schemas.microsoft.com/office/drawing/2014/main" id="{50B9A3BF-6B40-E5BD-F983-7CE7433048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AE6CFA-6006-3095-1000-7B85E874950F}"/>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34096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257FDA-8B10-4222-3F59-DAB8A187DA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089F2-3262-40ED-F06D-E151765163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9F5A08-024F-5D32-D108-70A8B5686917}"/>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FE90CA08-2B2E-4DB2-C52F-6891A4D299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8F03D2-F662-D11F-B767-105EA4B8D4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30218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3D17F1B-6923-610E-A2F0-00E67DDF971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EFECBA-16C2-120C-7835-BFE59680600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C56837-B10D-939E-7AF1-0F15E10B0593}"/>
              </a:ext>
            </a:extLst>
          </p:cNvPr>
          <p:cNvSpPr>
            <a:spLocks noGrp="1"/>
          </p:cNvSpPr>
          <p:nvPr>
            <p:ph type="dt" sz="half" idx="10"/>
          </p:nvPr>
        </p:nvSpPr>
        <p:spPr/>
        <p:txBody>
          <a:body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C8400E88-F4FB-BA69-F430-2AAEFF66A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A45F3F-E688-8178-C24F-80B28234730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277533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3B0B8C-32D5-5533-6AE7-6AD1BFE32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B33F-4E30-40CF-8982-DA02651F1878}" type="datetimeFigureOut">
              <a:rPr kumimoji="1" lang="ja-JP" altLang="en-US" smtClean="0"/>
              <a:t>2026/8/6</a:t>
            </a:fld>
            <a:endParaRPr kumimoji="1" lang="ja-JP" altLang="en-US"/>
          </a:p>
        </p:txBody>
      </p:sp>
      <p:sp>
        <p:nvSpPr>
          <p:cNvPr id="5" name="フッター プレースホルダー 4">
            <a:extLst>
              <a:ext uri="{FF2B5EF4-FFF2-40B4-BE49-F238E27FC236}">
                <a16:creationId xmlns:a16="http://schemas.microsoft.com/office/drawing/2014/main" id="{21D8CDA1-39F0-D06D-1F0F-CAAFD6D2D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BBBAB3-0A47-3C1D-2A1A-5A3441106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thub.com/ishi-kai/openmpw-transistor-level-examples/tree/main/opam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46.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4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8.jpe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9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s>
</file>

<file path=ppt/slides/_rels/slide10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119.png"/><Relationship Id="rId4" Type="http://schemas.openxmlformats.org/officeDocument/2006/relationships/image" Target="../media/image118.png"/></Relationships>
</file>

<file path=ppt/slides/_rels/slide10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105.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3" Type="http://schemas.openxmlformats.org/officeDocument/2006/relationships/image" Target="../media/image127.png"/><Relationship Id="rId7" Type="http://schemas.openxmlformats.org/officeDocument/2006/relationships/image" Target="../media/image131.png"/><Relationship Id="rId12" Type="http://schemas.openxmlformats.org/officeDocument/2006/relationships/image" Target="../media/image136.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35.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10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github.com/3zki/lsi1_analog1/blob/main/analog_tutorial_jp.pdf" TargetMode="External"/><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bookfest.org/product/3W7W1ukgkMrX6ENeBJaaYn" TargetMode="External"/><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139.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182.png"/></Relationships>
</file>

<file path=ppt/slides/_rels/slide153.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2.xml"/><Relationship Id="rId4" Type="http://schemas.openxmlformats.org/officeDocument/2006/relationships/image" Target="../media/image18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kumimoji="1" lang="en-US" altLang="ja-JP" sz="8000" dirty="0">
                <a:solidFill>
                  <a:schemeClr val="bg1"/>
                </a:solidFill>
              </a:rPr>
              <a:t>OPAMP</a:t>
            </a:r>
            <a:r>
              <a:rPr kumimoji="1" lang="ja-JP" altLang="en-US" sz="8000" dirty="0">
                <a:solidFill>
                  <a:schemeClr val="bg1"/>
                </a:solidFill>
              </a:rPr>
              <a:t>設計（</a:t>
            </a:r>
            <a:r>
              <a:rPr lang="en-US" altLang="ja-JP" sz="8000" dirty="0">
                <a:solidFill>
                  <a:schemeClr val="bg1"/>
                </a:solidFill>
              </a:rPr>
              <a:t>OpenSUSI-TR10</a:t>
            </a:r>
            <a:r>
              <a:rPr kumimoji="1" lang="ja-JP" altLang="en-US" sz="8000" dirty="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dirty="0">
                <a:solidFill>
                  <a:schemeClr val="bg1"/>
                </a:solidFill>
              </a:rPr>
              <a:t>ISHI</a:t>
            </a:r>
            <a:r>
              <a:rPr lang="zh-TW" altLang="en-US" dirty="0">
                <a:solidFill>
                  <a:schemeClr val="bg1"/>
                </a:solidFill>
              </a:rPr>
              <a:t>会</a:t>
            </a:r>
            <a:endParaRPr lang="en-US" altLang="zh-TW" dirty="0">
              <a:solidFill>
                <a:schemeClr val="bg1"/>
              </a:solidFill>
            </a:endParaRPr>
          </a:p>
          <a:p>
            <a:r>
              <a:rPr lang="en-US" altLang="zh-TW" dirty="0">
                <a:solidFill>
                  <a:schemeClr val="bg1"/>
                </a:solidFill>
                <a:hlinkClick r:id="rId3"/>
              </a:rPr>
              <a:t>https://ishi-kai.org/</a:t>
            </a:r>
            <a:endParaRPr lang="en-US" altLang="zh-TW" dirty="0">
              <a:solidFill>
                <a:schemeClr val="bg1"/>
              </a:solidFill>
            </a:endParaRPr>
          </a:p>
          <a:p>
            <a:r>
              <a:rPr lang="en-US" altLang="zh-TW" dirty="0">
                <a:solidFill>
                  <a:schemeClr val="bg1"/>
                </a:solidFill>
              </a:rPr>
              <a:t>Mail: info@ishi-kai.org</a:t>
            </a: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48C19C7-F7F2-77FE-BD4A-9F0B2F8C6BF9}"/>
              </a:ext>
            </a:extLst>
          </p:cNvPr>
          <p:cNvSpPr>
            <a:spLocks noGrp="1"/>
          </p:cNvSpPr>
          <p:nvPr>
            <p:ph type="title"/>
          </p:nvPr>
        </p:nvSpPr>
        <p:spPr>
          <a:xfrm>
            <a:off x="645065" y="1463040"/>
            <a:ext cx="4161920" cy="2690949"/>
          </a:xfrm>
        </p:spPr>
        <p:txBody>
          <a:bodyPr anchor="t">
            <a:normAutofit fontScale="90000"/>
          </a:bodyPr>
          <a:lstStyle/>
          <a:p>
            <a:r>
              <a:rPr lang="ja-JP" altLang="en-US" sz="4800"/>
              <a:t>もくじ：</a:t>
            </a:r>
            <a:br>
              <a:rPr lang="en-US" altLang="ja-JP" sz="4800"/>
            </a:br>
            <a:r>
              <a:rPr lang="ja-JP" altLang="en-US" sz="4800"/>
              <a:t>トランジスタ編</a:t>
            </a:r>
            <a:br>
              <a:rPr lang="en-US" altLang="ja-JP" sz="4800"/>
            </a:br>
            <a:endParaRPr kumimoji="1" lang="ja-JP" alt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89638F-D16C-498F-A321-DFA1B5ECD8EE}"/>
              </a:ext>
            </a:extLst>
          </p:cNvPr>
          <p:cNvSpPr>
            <a:spLocks noGrp="1"/>
          </p:cNvSpPr>
          <p:nvPr>
            <p:ph idx="1"/>
          </p:nvPr>
        </p:nvSpPr>
        <p:spPr>
          <a:xfrm>
            <a:off x="5656218" y="1463039"/>
            <a:ext cx="5542387" cy="4300447"/>
          </a:xfrm>
        </p:spPr>
        <p:txBody>
          <a:bodyPr anchor="t">
            <a:normAutofit/>
          </a:bodyPr>
          <a:lstStyle/>
          <a:p>
            <a:r>
              <a:rPr lang="ja-JP" altLang="en-US"/>
              <a:t>トランジスタの素性を調べる</a:t>
            </a:r>
            <a:endParaRPr lang="en-US" altLang="ja-JP"/>
          </a:p>
          <a:p>
            <a:r>
              <a:rPr lang="ja-JP" altLang="en-US"/>
              <a:t>飽和領域</a:t>
            </a:r>
            <a:endParaRPr lang="en-US" altLang="ja-JP"/>
          </a:p>
          <a:p>
            <a:r>
              <a:rPr lang="ja-JP" altLang="en-US"/>
              <a:t>短チャネル効果</a:t>
            </a:r>
            <a:endParaRPr lang="en-US" altLang="ja-JP"/>
          </a:p>
          <a:p>
            <a:r>
              <a:rPr lang="ja-JP" altLang="en-US"/>
              <a:t>オーバードライブ電圧</a:t>
            </a:r>
            <a:endParaRPr lang="en-US" altLang="ja-JP"/>
          </a:p>
          <a:p>
            <a:r>
              <a:rPr lang="ja-JP" altLang="en-US"/>
              <a:t>実測</a:t>
            </a:r>
            <a:endParaRPr lang="en-US" altLang="ja-JP"/>
          </a:p>
        </p:txBody>
      </p:sp>
    </p:spTree>
    <p:extLst>
      <p:ext uri="{BB962C8B-B14F-4D97-AF65-F5344CB8AC3E}">
        <p14:creationId xmlns:p14="http://schemas.microsoft.com/office/powerpoint/2010/main" val="311050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9BA1A-186F-8B17-4F19-C0CE8F32B9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1DF24-D3E3-2541-069C-F00067308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F7482D2-9343-0B35-645F-4463E4974212}"/>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基本回路編</a:t>
            </a:r>
            <a:endParaRPr kumimoji="1" lang="ja-JP" altLang="en-US" sz="4800"/>
          </a:p>
        </p:txBody>
      </p:sp>
      <p:grpSp>
        <p:nvGrpSpPr>
          <p:cNvPr id="10" name="Group 9">
            <a:extLst>
              <a:ext uri="{FF2B5EF4-FFF2-40B4-BE49-F238E27FC236}">
                <a16:creationId xmlns:a16="http://schemas.microsoft.com/office/drawing/2014/main" id="{D567F574-2D74-733E-6B4B-B90F464C50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5BBBB470-2E14-E1B5-D1FB-DFE5A8882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3BAF79D-7594-79EF-99CA-2F0E69C26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1A26299D-1E7E-8DAB-AF39-75DC08C0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8BB70F6-F81F-B5EE-F8EC-21B4DB0D7688}"/>
              </a:ext>
            </a:extLst>
          </p:cNvPr>
          <p:cNvSpPr>
            <a:spLocks noGrp="1"/>
          </p:cNvSpPr>
          <p:nvPr>
            <p:ph idx="1"/>
          </p:nvPr>
        </p:nvSpPr>
        <p:spPr>
          <a:xfrm>
            <a:off x="5656218" y="1463039"/>
            <a:ext cx="5542387" cy="4300447"/>
          </a:xfrm>
        </p:spPr>
        <p:txBody>
          <a:bodyPr anchor="t">
            <a:normAutofit/>
          </a:bodyPr>
          <a:lstStyle/>
          <a:p>
            <a:r>
              <a:rPr lang="en-US" altLang="ja-JP"/>
              <a:t>Ibias</a:t>
            </a:r>
            <a:r>
              <a:rPr lang="ja-JP" altLang="en-US"/>
              <a:t>（バイアス電流）</a:t>
            </a:r>
            <a:endParaRPr lang="en-US" altLang="ja-JP"/>
          </a:p>
          <a:p>
            <a:r>
              <a:rPr kumimoji="1" lang="ja-JP" altLang="en-US"/>
              <a:t>カレントミラー</a:t>
            </a:r>
            <a:endParaRPr kumimoji="1" lang="en-US" altLang="ja-JP"/>
          </a:p>
          <a:p>
            <a:r>
              <a:rPr lang="ja-JP" altLang="en-US"/>
              <a:t>カスコード接続</a:t>
            </a:r>
            <a:endParaRPr lang="en-US" altLang="ja-JP"/>
          </a:p>
        </p:txBody>
      </p:sp>
    </p:spTree>
    <p:extLst>
      <p:ext uri="{BB962C8B-B14F-4D97-AF65-F5344CB8AC3E}">
        <p14:creationId xmlns:p14="http://schemas.microsoft.com/office/powerpoint/2010/main" val="7241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6B8AF0-EC74-F24D-9D93-E2C0273574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87BC6E-C7C9-2C24-7B0D-B371891F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5688E49-1753-54DD-2F01-1CE3DBE77D60}"/>
              </a:ext>
            </a:extLst>
          </p:cNvPr>
          <p:cNvSpPr>
            <a:spLocks noGrp="1"/>
          </p:cNvSpPr>
          <p:nvPr>
            <p:ph type="title"/>
          </p:nvPr>
        </p:nvSpPr>
        <p:spPr>
          <a:xfrm>
            <a:off x="645064" y="1463040"/>
            <a:ext cx="4253871" cy="2690949"/>
          </a:xfrm>
        </p:spPr>
        <p:txBody>
          <a:bodyPr anchor="t">
            <a:normAutofit/>
          </a:bodyPr>
          <a:lstStyle/>
          <a:p>
            <a:r>
              <a:rPr lang="ja-JP" altLang="en-US" sz="4800"/>
              <a:t>もくじ：</a:t>
            </a:r>
            <a:br>
              <a:rPr lang="en-US" altLang="ja-JP" sz="4800"/>
            </a:br>
            <a:r>
              <a:rPr lang="en-US" altLang="ja-JP" sz="4800"/>
              <a:t>OPAMP</a:t>
            </a:r>
            <a:r>
              <a:rPr lang="ja-JP" altLang="en-US" sz="4800"/>
              <a:t>編</a:t>
            </a:r>
            <a:endParaRPr kumimoji="1" lang="ja-JP" altLang="en-US" sz="4800"/>
          </a:p>
        </p:txBody>
      </p:sp>
      <p:grpSp>
        <p:nvGrpSpPr>
          <p:cNvPr id="10" name="Group 9">
            <a:extLst>
              <a:ext uri="{FF2B5EF4-FFF2-40B4-BE49-F238E27FC236}">
                <a16:creationId xmlns:a16="http://schemas.microsoft.com/office/drawing/2014/main" id="{E855859D-0B1D-5B83-2C1A-553DEC3E9C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73E08E8E-6DE3-C9A1-B5C4-A7AA16A4B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DEC2EEA-5CB3-E641-1274-2C5B5E3B14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C9095A80-1EA1-5CCC-2B1C-46D223E0E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0674156-9E4E-FBF5-5B12-6D9F0030E1E4}"/>
              </a:ext>
            </a:extLst>
          </p:cNvPr>
          <p:cNvSpPr>
            <a:spLocks noGrp="1"/>
          </p:cNvSpPr>
          <p:nvPr>
            <p:ph idx="1"/>
          </p:nvPr>
        </p:nvSpPr>
        <p:spPr>
          <a:xfrm>
            <a:off x="5656218" y="1463039"/>
            <a:ext cx="5542387" cy="4300447"/>
          </a:xfrm>
        </p:spPr>
        <p:txBody>
          <a:bodyPr anchor="t">
            <a:normAutofit/>
          </a:bodyPr>
          <a:lstStyle/>
          <a:p>
            <a:r>
              <a:rPr lang="ja-JP" altLang="en-US"/>
              <a:t>電流源（カレントミラー）</a:t>
            </a:r>
            <a:endParaRPr lang="en-US" altLang="ja-JP"/>
          </a:p>
          <a:p>
            <a:r>
              <a:rPr lang="ja-JP" altLang="en-US"/>
              <a:t>ソース接地増幅段</a:t>
            </a:r>
            <a:endParaRPr lang="en-US" altLang="ja-JP"/>
          </a:p>
          <a:p>
            <a:r>
              <a:rPr kumimoji="1" lang="ja-JP" altLang="en-US"/>
              <a:t>差動増幅段</a:t>
            </a:r>
            <a:endParaRPr kumimoji="1" lang="en-US" altLang="ja-JP"/>
          </a:p>
          <a:p>
            <a:r>
              <a:rPr lang="ja-JP" altLang="en-US"/>
              <a:t>負荷設計</a:t>
            </a:r>
            <a:endParaRPr lang="en-US" altLang="ja-JP"/>
          </a:p>
          <a:p>
            <a:r>
              <a:rPr kumimoji="1" lang="ja-JP" altLang="en-US"/>
              <a:t>位相補償</a:t>
            </a:r>
            <a:endParaRPr kumimoji="1" lang="en-US" altLang="ja-JP"/>
          </a:p>
          <a:p>
            <a:r>
              <a:rPr lang="ja-JP" altLang="en-US"/>
              <a:t>バイアスレプリカ</a:t>
            </a:r>
            <a:endParaRPr kumimoji="1" lang="ja-JP" altLang="en-US"/>
          </a:p>
        </p:txBody>
      </p:sp>
    </p:spTree>
    <p:extLst>
      <p:ext uri="{BB962C8B-B14F-4D97-AF65-F5344CB8AC3E}">
        <p14:creationId xmlns:p14="http://schemas.microsoft.com/office/powerpoint/2010/main" val="101772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3D043E-7601-0961-3388-58A59958F1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F8E66C-71BF-3DCA-EBAF-2AEF1C432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C0B02F8-F539-6FBF-87B7-453C7335678B}"/>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a:br>
            <a:r>
              <a:rPr lang="ja-JP" altLang="en-US" sz="4800"/>
              <a:t>性能評価編</a:t>
            </a:r>
            <a:endParaRPr kumimoji="1" lang="ja-JP" altLang="en-US" sz="4800"/>
          </a:p>
        </p:txBody>
      </p:sp>
      <p:grpSp>
        <p:nvGrpSpPr>
          <p:cNvPr id="10" name="Group 9">
            <a:extLst>
              <a:ext uri="{FF2B5EF4-FFF2-40B4-BE49-F238E27FC236}">
                <a16:creationId xmlns:a16="http://schemas.microsoft.com/office/drawing/2014/main" id="{CE82C774-E746-E7BF-C8CB-FD482B6B4A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23E2DBE-B7F8-DD21-091D-A5BE759B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8FD9858B-172F-591D-2AB4-928E05CA8A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BD413DC7-3BD7-1B87-02FD-3320CD984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D3E5B1A-3834-B4F3-7A70-DE72867430B0}"/>
              </a:ext>
            </a:extLst>
          </p:cNvPr>
          <p:cNvSpPr>
            <a:spLocks noGrp="1"/>
          </p:cNvSpPr>
          <p:nvPr>
            <p:ph idx="1"/>
          </p:nvPr>
        </p:nvSpPr>
        <p:spPr>
          <a:xfrm>
            <a:off x="5656218" y="1463039"/>
            <a:ext cx="5542387" cy="4300447"/>
          </a:xfrm>
        </p:spPr>
        <p:txBody>
          <a:bodyPr anchor="t">
            <a:normAutofit/>
          </a:bodyPr>
          <a:lstStyle/>
          <a:p>
            <a:r>
              <a:rPr lang="ja-JP" altLang="en-US"/>
              <a:t>プロセスコーナー</a:t>
            </a:r>
            <a:endParaRPr lang="en-US" altLang="ja-JP"/>
          </a:p>
          <a:p>
            <a:r>
              <a:rPr lang="ja-JP" altLang="en-US"/>
              <a:t>オープンループ特性</a:t>
            </a:r>
            <a:endParaRPr kumimoji="1" lang="en-US" altLang="ja-JP"/>
          </a:p>
          <a:p>
            <a:r>
              <a:rPr lang="ja-JP" altLang="en-US"/>
              <a:t>スルーレート</a:t>
            </a:r>
            <a:endParaRPr lang="en-US" altLang="ja-JP"/>
          </a:p>
          <a:p>
            <a:r>
              <a:rPr lang="en-US" altLang="ja-JP"/>
              <a:t>CMRR</a:t>
            </a:r>
          </a:p>
          <a:p>
            <a:r>
              <a:rPr kumimoji="1" lang="en-US" altLang="ja-JP"/>
              <a:t>PSRR</a:t>
            </a:r>
          </a:p>
          <a:p>
            <a:r>
              <a:rPr kumimoji="1" lang="ja-JP" altLang="en-US"/>
              <a:t>温度</a:t>
            </a:r>
            <a:r>
              <a:rPr lang="ja-JP" altLang="en-US"/>
              <a:t>解析</a:t>
            </a:r>
            <a:endParaRPr kumimoji="1" lang="ja-JP" altLang="en-US"/>
          </a:p>
        </p:txBody>
      </p:sp>
    </p:spTree>
    <p:extLst>
      <p:ext uri="{BB962C8B-B14F-4D97-AF65-F5344CB8AC3E}">
        <p14:creationId xmlns:p14="http://schemas.microsoft.com/office/powerpoint/2010/main" val="283767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7C024A-1363-0229-7F65-EE6B8B3AFB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E42BE-7F96-615C-A047-554C01933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B086DA0-9EA4-E336-E67D-9F93401B9142}"/>
              </a:ext>
            </a:extLst>
          </p:cNvPr>
          <p:cNvSpPr>
            <a:spLocks noGrp="1"/>
          </p:cNvSpPr>
          <p:nvPr>
            <p:ph type="title"/>
          </p:nvPr>
        </p:nvSpPr>
        <p:spPr>
          <a:xfrm>
            <a:off x="645064" y="1463040"/>
            <a:ext cx="4167029" cy="2690949"/>
          </a:xfrm>
        </p:spPr>
        <p:txBody>
          <a:bodyPr anchor="t">
            <a:normAutofit/>
          </a:bodyPr>
          <a:lstStyle/>
          <a:p>
            <a:r>
              <a:rPr lang="ja-JP" altLang="en-US" sz="4800"/>
              <a:t>もくじ：</a:t>
            </a:r>
            <a:br>
              <a:rPr lang="en-US" altLang="ja-JP" sz="4800"/>
            </a:br>
            <a:r>
              <a:rPr lang="ja-JP" altLang="en-US" sz="4800"/>
              <a:t>レイアウト</a:t>
            </a:r>
            <a:br>
              <a:rPr lang="en-US" altLang="ja-JP" sz="4800"/>
            </a:br>
            <a:r>
              <a:rPr lang="ja-JP" altLang="en-US" sz="4800"/>
              <a:t>テクニック編</a:t>
            </a:r>
            <a:endParaRPr kumimoji="1" lang="ja-JP" altLang="en-US" sz="4800"/>
          </a:p>
        </p:txBody>
      </p:sp>
      <p:grpSp>
        <p:nvGrpSpPr>
          <p:cNvPr id="10" name="Group 9">
            <a:extLst>
              <a:ext uri="{FF2B5EF4-FFF2-40B4-BE49-F238E27FC236}">
                <a16:creationId xmlns:a16="http://schemas.microsoft.com/office/drawing/2014/main" id="{6AAB7251-16C9-BCED-7CFC-E37F2713FE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DE6B8C0B-EF33-5379-4D28-9759FBD34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1966606-E25E-0ABD-5B34-1019F8BC99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AF469E8-E513-86C7-D028-703A14769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91F0600-A6EB-D680-79C1-AE561DEEB67C}"/>
              </a:ext>
            </a:extLst>
          </p:cNvPr>
          <p:cNvSpPr>
            <a:spLocks noGrp="1"/>
          </p:cNvSpPr>
          <p:nvPr>
            <p:ph idx="1"/>
          </p:nvPr>
        </p:nvSpPr>
        <p:spPr>
          <a:xfrm>
            <a:off x="5656218" y="1463039"/>
            <a:ext cx="5842745" cy="5040002"/>
          </a:xfrm>
        </p:spPr>
        <p:txBody>
          <a:bodyPr anchor="t">
            <a:normAutofit fontScale="92500" lnSpcReduction="10000"/>
          </a:bodyPr>
          <a:lstStyle/>
          <a:p>
            <a:r>
              <a:rPr lang="en-US" altLang="ja-JP"/>
              <a:t>schematic to place</a:t>
            </a:r>
            <a:r>
              <a:rPr lang="ja-JP" altLang="en-US"/>
              <a:t>レイアウト</a:t>
            </a:r>
            <a:endParaRPr lang="en-US" altLang="ja-JP"/>
          </a:p>
          <a:p>
            <a:r>
              <a:rPr lang="en-US" altLang="ja-JP"/>
              <a:t>Cell</a:t>
            </a:r>
            <a:r>
              <a:rPr lang="ja-JP" altLang="en-US"/>
              <a:t>（セル）単位でのレイアウト</a:t>
            </a:r>
            <a:endParaRPr lang="en-US" altLang="ja-JP"/>
          </a:p>
          <a:p>
            <a:r>
              <a:rPr lang="en-US" altLang="ja-JP"/>
              <a:t>VDD/VSS</a:t>
            </a:r>
            <a:r>
              <a:rPr lang="ja-JP" altLang="en-US"/>
              <a:t>セル</a:t>
            </a:r>
            <a:endParaRPr lang="en-US" altLang="ja-JP"/>
          </a:p>
          <a:p>
            <a:r>
              <a:rPr lang="ja-JP" altLang="en-US"/>
              <a:t>ダミーポリシリコン</a:t>
            </a:r>
            <a:endParaRPr lang="en-US" altLang="ja-JP"/>
          </a:p>
          <a:p>
            <a:r>
              <a:rPr lang="ja-JP" altLang="en-US"/>
              <a:t>コモンセントロイド</a:t>
            </a:r>
            <a:endParaRPr lang="en-US" altLang="ja-JP"/>
          </a:p>
          <a:p>
            <a:r>
              <a:rPr lang="ja-JP" altLang="en-US"/>
              <a:t>ガードリング</a:t>
            </a:r>
            <a:endParaRPr lang="en-US" altLang="ja-JP"/>
          </a:p>
          <a:p>
            <a:r>
              <a:rPr lang="ja-JP" altLang="en-US"/>
              <a:t>ラッチアップ</a:t>
            </a:r>
            <a:endParaRPr lang="en-US" altLang="ja-JP"/>
          </a:p>
          <a:p>
            <a:r>
              <a:rPr lang="ja-JP" altLang="en-US"/>
              <a:t>ダブル</a:t>
            </a:r>
            <a:r>
              <a:rPr lang="en-US" altLang="ja-JP"/>
              <a:t>VIA/</a:t>
            </a:r>
            <a:r>
              <a:rPr lang="ja-JP" altLang="en-US"/>
              <a:t>コンタクト</a:t>
            </a:r>
            <a:endParaRPr lang="en-US" altLang="ja-JP"/>
          </a:p>
          <a:p>
            <a:r>
              <a:rPr lang="en-US" altLang="ja-JP"/>
              <a:t>N-Well</a:t>
            </a:r>
            <a:r>
              <a:rPr lang="ja-JP" altLang="en-US"/>
              <a:t>電位</a:t>
            </a:r>
            <a:endParaRPr lang="en-US" altLang="ja-JP"/>
          </a:p>
          <a:p>
            <a:r>
              <a:rPr kumimoji="1" lang="en-US" altLang="ja-JP"/>
              <a:t>ESD</a:t>
            </a:r>
          </a:p>
          <a:p>
            <a:r>
              <a:rPr lang="en-US" altLang="ja-JP"/>
              <a:t>PDK</a:t>
            </a:r>
            <a:r>
              <a:rPr lang="ja-JP" altLang="en-US"/>
              <a:t>の</a:t>
            </a:r>
            <a:r>
              <a:rPr lang="en-US" altLang="ja-JP"/>
              <a:t>Cell</a:t>
            </a:r>
            <a:r>
              <a:rPr lang="ja-JP" altLang="en-US"/>
              <a:t>の使い方</a:t>
            </a:r>
            <a:endParaRPr lang="en-US" altLang="ja-JP"/>
          </a:p>
        </p:txBody>
      </p:sp>
    </p:spTree>
    <p:extLst>
      <p:ext uri="{BB962C8B-B14F-4D97-AF65-F5344CB8AC3E}">
        <p14:creationId xmlns:p14="http://schemas.microsoft.com/office/powerpoint/2010/main" val="382076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D30C17-64FB-BDE8-7876-AA218C967E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EC570266-F5A9-AEFD-C63D-7C9E35B7B5A2}"/>
              </a:ext>
            </a:extLst>
          </p:cNvPr>
          <p:cNvSpPr>
            <a:spLocks noGrp="1"/>
          </p:cNvSpPr>
          <p:nvPr>
            <p:ph type="title"/>
          </p:nvPr>
        </p:nvSpPr>
        <p:spPr>
          <a:xfrm>
            <a:off x="838200" y="365125"/>
            <a:ext cx="10515600" cy="1325563"/>
          </a:xfrm>
        </p:spPr>
        <p:txBody>
          <a:bodyPr>
            <a:normAutofit/>
          </a:bodyPr>
          <a:lstStyle/>
          <a:p>
            <a:r>
              <a:rPr kumimoji="1" lang="en-US" altLang="ja-JP"/>
              <a:t>OPAMP</a:t>
            </a:r>
            <a:r>
              <a:rPr kumimoji="1" lang="ja-JP" altLang="en-US"/>
              <a:t>の構造</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CBD60B4-9F8C-90F5-96FA-668DAD8F657E}"/>
              </a:ext>
            </a:extLst>
          </p:cNvPr>
          <p:cNvSpPr>
            <a:spLocks noGrp="1"/>
          </p:cNvSpPr>
          <p:nvPr>
            <p:ph idx="1"/>
          </p:nvPr>
        </p:nvSpPr>
        <p:spPr>
          <a:xfrm>
            <a:off x="725390" y="1825624"/>
            <a:ext cx="11105618" cy="5448709"/>
          </a:xfrm>
        </p:spPr>
        <p:txBody>
          <a:bodyPr>
            <a:normAutofit fontScale="92500" lnSpcReduction="20000"/>
          </a:bodyPr>
          <a:lstStyle/>
          <a:p>
            <a:r>
              <a:rPr kumimoji="1" lang="ja-JP" altLang="en-US" dirty="0"/>
              <a:t>差動増幅＋ソース接地</a:t>
            </a:r>
            <a:endParaRPr kumimoji="1" lang="en-US" altLang="ja-JP" dirty="0"/>
          </a:p>
          <a:p>
            <a:pPr lvl="1"/>
            <a:r>
              <a:rPr lang="en-US" altLang="ja-JP" dirty="0"/>
              <a:t>Nifty-Fifty</a:t>
            </a:r>
          </a:p>
          <a:p>
            <a:pPr lvl="2"/>
            <a:r>
              <a:rPr lang="en-US" altLang="ja-JP" dirty="0"/>
              <a:t>2</a:t>
            </a:r>
            <a:r>
              <a:rPr lang="ja-JP" altLang="en-US" dirty="0"/>
              <a:t>つの</a:t>
            </a:r>
            <a:r>
              <a:rPr lang="en-US" altLang="ja-JP" dirty="0"/>
              <a:t>FET</a:t>
            </a:r>
            <a:r>
              <a:rPr lang="ja-JP" altLang="en-US" dirty="0"/>
              <a:t>の組み合わせで</a:t>
            </a:r>
            <a:endParaRPr lang="en-US" altLang="ja-JP" dirty="0"/>
          </a:p>
          <a:p>
            <a:pPr marL="914400" lvl="2" indent="0">
              <a:buNone/>
            </a:pPr>
            <a:r>
              <a:rPr lang="ja-JP" altLang="en-US" dirty="0"/>
              <a:t>　回路ができているという</a:t>
            </a:r>
            <a:endParaRPr lang="en-US" altLang="ja-JP" dirty="0"/>
          </a:p>
          <a:p>
            <a:pPr marL="914400" lvl="2" indent="0">
              <a:buNone/>
            </a:pPr>
            <a:r>
              <a:rPr lang="ja-JP" altLang="en-US" dirty="0"/>
              <a:t>　論文</a:t>
            </a:r>
            <a:endParaRPr lang="en-US" altLang="ja-JP" dirty="0"/>
          </a:p>
          <a:p>
            <a:pPr lvl="1"/>
            <a:endParaRPr lang="en-US" altLang="ja-JP" dirty="0"/>
          </a:p>
          <a:p>
            <a:pPr lvl="1"/>
            <a:endParaRPr lang="en-US" altLang="ja-JP" dirty="0"/>
          </a:p>
          <a:p>
            <a:pPr lvl="1"/>
            <a:endParaRPr lang="en-US" altLang="ja-JP" dirty="0"/>
          </a:p>
          <a:p>
            <a:pPr lvl="1"/>
            <a:endParaRPr lang="en-US" altLang="ja-JP" dirty="0"/>
          </a:p>
          <a:p>
            <a:pPr marL="457200" lvl="1" indent="0">
              <a:buNone/>
            </a:pPr>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r>
              <a:rPr kumimoji="1" lang="en-US" altLang="ja-JP" dirty="0"/>
              <a:t>https://www.researchgate.net/publication/354364068_Fifty_Nifty_Variations_of_Two-Transistor_Circuits_A_tribute_to_the_versatility_of_MOSFETs</a:t>
            </a:r>
          </a:p>
        </p:txBody>
      </p:sp>
      <p:pic>
        <p:nvPicPr>
          <p:cNvPr id="1026" name="Picture 2">
            <a:extLst>
              <a:ext uri="{FF2B5EF4-FFF2-40B4-BE49-F238E27FC236}">
                <a16:creationId xmlns:a16="http://schemas.microsoft.com/office/drawing/2014/main" id="{30D46E2B-6B83-FB22-45F7-817C92AB9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24" y="3492048"/>
            <a:ext cx="4714847" cy="2483275"/>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A952A26C-EFD0-0538-99B4-EF7A71D08833}"/>
              </a:ext>
            </a:extLst>
          </p:cNvPr>
          <p:cNvPicPr>
            <a:picLocks noChangeAspect="1"/>
          </p:cNvPicPr>
          <p:nvPr/>
        </p:nvPicPr>
        <p:blipFill>
          <a:blip r:embed="rId3"/>
          <a:stretch>
            <a:fillRect/>
          </a:stretch>
        </p:blipFill>
        <p:spPr>
          <a:xfrm>
            <a:off x="4845677" y="1491659"/>
            <a:ext cx="7294837" cy="4352346"/>
          </a:xfrm>
          <a:prstGeom prst="rect">
            <a:avLst/>
          </a:prstGeom>
        </p:spPr>
      </p:pic>
      <p:sp>
        <p:nvSpPr>
          <p:cNvPr id="4" name="テキスト ボックス 3">
            <a:extLst>
              <a:ext uri="{FF2B5EF4-FFF2-40B4-BE49-F238E27FC236}">
                <a16:creationId xmlns:a16="http://schemas.microsoft.com/office/drawing/2014/main" id="{528273AB-0496-F73C-8C6B-1E2394B0992C}"/>
              </a:ext>
            </a:extLst>
          </p:cNvPr>
          <p:cNvSpPr txBox="1"/>
          <p:nvPr/>
        </p:nvSpPr>
        <p:spPr>
          <a:xfrm>
            <a:off x="10078314" y="5258619"/>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0341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A604EB9-5A71-B971-4868-6BEB583BFAD0}"/>
              </a:ext>
            </a:extLst>
          </p:cNvPr>
          <p:cNvSpPr>
            <a:spLocks noGrp="1"/>
          </p:cNvSpPr>
          <p:nvPr>
            <p:ph type="title"/>
          </p:nvPr>
        </p:nvSpPr>
        <p:spPr>
          <a:xfrm>
            <a:off x="1371599" y="5510253"/>
            <a:ext cx="9895951" cy="1033669"/>
          </a:xfrm>
        </p:spPr>
        <p:txBody>
          <a:bodyPr>
            <a:normAutofit/>
          </a:bodyPr>
          <a:lstStyle/>
          <a:p>
            <a:r>
              <a:rPr kumimoji="1" lang="en-US" altLang="ja-JP" sz="4000">
                <a:solidFill>
                  <a:srgbClr val="FFFFFF"/>
                </a:solidFill>
              </a:rPr>
              <a:t>OPAMP</a:t>
            </a:r>
            <a:r>
              <a:rPr kumimoji="1" lang="ja-JP" altLang="en-US" sz="4000">
                <a:solidFill>
                  <a:srgbClr val="FFFFFF"/>
                </a:solidFill>
              </a:rPr>
              <a:t>の</a:t>
            </a:r>
            <a:r>
              <a:rPr lang="ja-JP" altLang="en-US" sz="4000">
                <a:solidFill>
                  <a:srgbClr val="FFFFFF"/>
                </a:solidFill>
              </a:rPr>
              <a:t>サンプル</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588FC0CE-6050-00F0-D6E1-9AC539C8D804}"/>
              </a:ext>
            </a:extLst>
          </p:cNvPr>
          <p:cNvSpPr>
            <a:spLocks noGrp="1"/>
          </p:cNvSpPr>
          <p:nvPr>
            <p:ph idx="1"/>
          </p:nvPr>
        </p:nvSpPr>
        <p:spPr>
          <a:xfrm>
            <a:off x="8168783" y="5349091"/>
            <a:ext cx="4036548" cy="1513889"/>
          </a:xfrm>
        </p:spPr>
        <p:txBody>
          <a:bodyPr anchor="ctr">
            <a:normAutofit fontScale="92500" lnSpcReduction="20000"/>
          </a:bodyPr>
          <a:lstStyle/>
          <a:p>
            <a:r>
              <a:rPr lang="en-US" altLang="ja-JP" sz="2400">
                <a:solidFill>
                  <a:schemeClr val="bg1"/>
                </a:solidFill>
              </a:rPr>
              <a:t>2</a:t>
            </a:r>
            <a:r>
              <a:rPr lang="ja-JP" altLang="en-US" sz="2400">
                <a:solidFill>
                  <a:schemeClr val="bg1"/>
                </a:solidFill>
              </a:rPr>
              <a:t>段増幅回路</a:t>
            </a:r>
            <a:endParaRPr lang="en-US" altLang="ja-JP" sz="2400">
              <a:solidFill>
                <a:schemeClr val="bg1"/>
              </a:solidFill>
            </a:endParaRPr>
          </a:p>
          <a:p>
            <a:pPr lvl="1"/>
            <a:r>
              <a:rPr lang="ja-JP" altLang="en-US" sz="2000">
                <a:solidFill>
                  <a:schemeClr val="bg1"/>
                </a:solidFill>
              </a:rPr>
              <a:t>差動増幅回路</a:t>
            </a:r>
            <a:endParaRPr lang="en-US" altLang="ja-JP" sz="2000">
              <a:solidFill>
                <a:schemeClr val="bg1"/>
              </a:solidFill>
            </a:endParaRPr>
          </a:p>
          <a:p>
            <a:pPr lvl="1"/>
            <a:r>
              <a:rPr lang="ja-JP" altLang="en-US" sz="2000">
                <a:solidFill>
                  <a:schemeClr val="bg1"/>
                </a:solidFill>
              </a:rPr>
              <a:t>ソース接地増幅回路</a:t>
            </a:r>
            <a:endParaRPr lang="en-US" altLang="ja-JP" sz="2000">
              <a:solidFill>
                <a:schemeClr val="bg1"/>
              </a:solidFill>
            </a:endParaRPr>
          </a:p>
          <a:p>
            <a:pPr lvl="1"/>
            <a:r>
              <a:rPr lang="ja-JP" altLang="en-US" sz="2000">
                <a:solidFill>
                  <a:schemeClr val="bg1"/>
                </a:solidFill>
              </a:rPr>
              <a:t>位相保証回路</a:t>
            </a:r>
            <a:endParaRPr lang="en-US" altLang="ja-JP" sz="2000">
              <a:solidFill>
                <a:schemeClr val="bg1"/>
              </a:solidFill>
            </a:endParaRPr>
          </a:p>
          <a:p>
            <a:pPr lvl="1"/>
            <a:r>
              <a:rPr lang="ja-JP" altLang="en-US" sz="2000">
                <a:solidFill>
                  <a:schemeClr val="bg1"/>
                </a:solidFill>
              </a:rPr>
              <a:t>バイアスレプリカ回路</a:t>
            </a:r>
            <a:endParaRPr lang="en-US" altLang="ja-JP" sz="2000">
              <a:solidFill>
                <a:schemeClr val="bg1"/>
              </a:solidFill>
            </a:endParaRPr>
          </a:p>
        </p:txBody>
      </p:sp>
      <p:sp>
        <p:nvSpPr>
          <p:cNvPr id="6" name="テキスト ボックス 5">
            <a:extLst>
              <a:ext uri="{FF2B5EF4-FFF2-40B4-BE49-F238E27FC236}">
                <a16:creationId xmlns:a16="http://schemas.microsoft.com/office/drawing/2014/main" id="{41B6D545-54C1-3E3B-CFBC-9A710C93D632}"/>
              </a:ext>
            </a:extLst>
          </p:cNvPr>
          <p:cNvSpPr txBox="1"/>
          <p:nvPr/>
        </p:nvSpPr>
        <p:spPr>
          <a:xfrm>
            <a:off x="107302" y="6236573"/>
            <a:ext cx="8061481" cy="276999"/>
          </a:xfrm>
          <a:prstGeom prst="rect">
            <a:avLst/>
          </a:prstGeom>
          <a:noFill/>
        </p:spPr>
        <p:txBody>
          <a:bodyPr wrap="square" rtlCol="0">
            <a:spAutoFit/>
          </a:bodyPr>
          <a:lstStyle/>
          <a:p>
            <a:r>
              <a:rPr kumimoji="1" lang="en-US" altLang="ja-JP" sz="1200" dirty="0">
                <a:solidFill>
                  <a:schemeClr val="bg1"/>
                </a:solidFill>
              </a:rPr>
              <a:t>https://github.com/ishi-kai/openmpw-transistor-level-examples/tree/main/</a:t>
            </a:r>
            <a:r>
              <a:rPr lang="en-US" altLang="ja-JP" sz="1200" dirty="0">
                <a:solidFill>
                  <a:schemeClr val="bg1"/>
                </a:solidFill>
              </a:rPr>
              <a:t>OpenSUSI-TR10</a:t>
            </a:r>
            <a:r>
              <a:rPr kumimoji="1" lang="en-US" altLang="ja-JP" sz="1200" dirty="0">
                <a:solidFill>
                  <a:schemeClr val="bg1"/>
                </a:solidFill>
              </a:rPr>
              <a:t>/opamp</a:t>
            </a:r>
            <a:endParaRPr kumimoji="1" lang="ja-JP" altLang="en-US" sz="1200" dirty="0">
              <a:solidFill>
                <a:schemeClr val="bg1"/>
              </a:solidFill>
            </a:endParaRPr>
          </a:p>
        </p:txBody>
      </p:sp>
      <p:pic>
        <p:nvPicPr>
          <p:cNvPr id="5" name="図 4">
            <a:extLst>
              <a:ext uri="{FF2B5EF4-FFF2-40B4-BE49-F238E27FC236}">
                <a16:creationId xmlns:a16="http://schemas.microsoft.com/office/drawing/2014/main" id="{9E5AAFEC-FA6F-E85C-C0F1-8781A859B604}"/>
              </a:ext>
            </a:extLst>
          </p:cNvPr>
          <p:cNvPicPr>
            <a:picLocks noChangeAspect="1"/>
          </p:cNvPicPr>
          <p:nvPr/>
        </p:nvPicPr>
        <p:blipFill>
          <a:blip r:embed="rId2"/>
          <a:stretch>
            <a:fillRect/>
          </a:stretch>
        </p:blipFill>
        <p:spPr>
          <a:xfrm>
            <a:off x="0" y="1362167"/>
            <a:ext cx="12192000" cy="2685365"/>
          </a:xfrm>
          <a:prstGeom prst="rect">
            <a:avLst/>
          </a:prstGeom>
        </p:spPr>
      </p:pic>
    </p:spTree>
    <p:extLst>
      <p:ext uri="{BB962C8B-B14F-4D97-AF65-F5344CB8AC3E}">
        <p14:creationId xmlns:p14="http://schemas.microsoft.com/office/powerpoint/2010/main" val="3124218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F1D2E98-D203-115B-6B28-8C1B993AFC9F}"/>
              </a:ext>
            </a:extLst>
          </p:cNvPr>
          <p:cNvSpPr>
            <a:spLocks noGrp="1"/>
          </p:cNvSpPr>
          <p:nvPr>
            <p:ph idx="1"/>
          </p:nvPr>
        </p:nvSpPr>
        <p:spPr>
          <a:xfrm>
            <a:off x="4810259" y="649480"/>
            <a:ext cx="6555347" cy="5546047"/>
          </a:xfrm>
        </p:spPr>
        <p:txBody>
          <a:bodyPr anchor="ctr">
            <a:normAutofit/>
          </a:bodyPr>
          <a:lstStyle/>
          <a:p>
            <a:r>
              <a:rPr lang="ja-JP" altLang="en-US" sz="2000" dirty="0"/>
              <a:t>仕様</a:t>
            </a:r>
            <a:endParaRPr lang="en-US" altLang="ja-JP" sz="2000" dirty="0"/>
          </a:p>
          <a:p>
            <a:pPr lvl="1"/>
            <a:r>
              <a:rPr lang="en-US" altLang="ja-JP" sz="2000" dirty="0"/>
              <a:t>600um x 200um</a:t>
            </a:r>
            <a:r>
              <a:rPr lang="ja-JP" altLang="en-US" sz="2000" dirty="0"/>
              <a:t>まで</a:t>
            </a:r>
            <a:endParaRPr lang="en-US" altLang="ja-JP" sz="2000" dirty="0"/>
          </a:p>
          <a:p>
            <a:pPr lvl="1"/>
            <a:r>
              <a:rPr kumimoji="1" lang="en-US" altLang="ja-JP" sz="2000" dirty="0"/>
              <a:t>5</a:t>
            </a:r>
            <a:r>
              <a:rPr kumimoji="1" lang="ja-JP" altLang="en-US" sz="2000" dirty="0"/>
              <a:t>ピンまで（</a:t>
            </a:r>
            <a:r>
              <a:rPr kumimoji="1" lang="en-US" altLang="ja-JP" sz="2000" dirty="0"/>
              <a:t>VSS</a:t>
            </a:r>
            <a:r>
              <a:rPr kumimoji="1" lang="ja-JP" altLang="en-US" sz="2000" dirty="0"/>
              <a:t>は除く）</a:t>
            </a:r>
            <a:endParaRPr kumimoji="1" lang="en-US" altLang="ja-JP" sz="2000" dirty="0"/>
          </a:p>
          <a:p>
            <a:r>
              <a:rPr lang="ja-JP" altLang="en-US" sz="2000" dirty="0"/>
              <a:t>提出物</a:t>
            </a:r>
            <a:endParaRPr lang="en-US" altLang="ja-JP" sz="2000" dirty="0"/>
          </a:p>
          <a:p>
            <a:pPr lvl="1"/>
            <a:r>
              <a:rPr kumimoji="1" lang="ja-JP" altLang="en-US" sz="2000" dirty="0"/>
              <a:t>全ての回路図</a:t>
            </a:r>
            <a:endParaRPr kumimoji="1" lang="en-US" altLang="ja-JP" sz="2000" dirty="0"/>
          </a:p>
          <a:p>
            <a:pPr lvl="1"/>
            <a:r>
              <a:rPr lang="ja-JP" altLang="en-US" sz="2000" dirty="0"/>
              <a:t>全てのテストベンチ</a:t>
            </a:r>
            <a:endParaRPr lang="en-US" altLang="ja-JP" sz="2000" dirty="0"/>
          </a:p>
          <a:p>
            <a:pPr lvl="1"/>
            <a:r>
              <a:rPr kumimoji="1" lang="ja-JP" altLang="en-US" sz="2000" dirty="0"/>
              <a:t>レイアウト（一週間後までに）</a:t>
            </a:r>
            <a:endParaRPr kumimoji="1" lang="en-US" altLang="ja-JP" sz="2000" dirty="0"/>
          </a:p>
          <a:p>
            <a:pPr lvl="1"/>
            <a:r>
              <a:rPr lang="ja-JP" altLang="en-US" sz="2000" dirty="0"/>
              <a:t>説明文</a:t>
            </a:r>
            <a:endParaRPr lang="en-US" altLang="ja-JP" sz="2000" dirty="0"/>
          </a:p>
          <a:p>
            <a:pPr lvl="2"/>
            <a:r>
              <a:rPr lang="ja-JP" altLang="en-US" dirty="0"/>
              <a:t>設計の説明</a:t>
            </a:r>
            <a:endParaRPr lang="en-US" altLang="ja-JP" dirty="0"/>
          </a:p>
          <a:p>
            <a:pPr lvl="2"/>
            <a:r>
              <a:rPr kumimoji="1" lang="ja-JP" altLang="en-US" dirty="0"/>
              <a:t>工夫したポイント</a:t>
            </a:r>
            <a:endParaRPr kumimoji="1" lang="en-US" altLang="ja-JP" dirty="0"/>
          </a:p>
          <a:p>
            <a:pPr lvl="2"/>
            <a:r>
              <a:rPr lang="ja-JP" altLang="en-US" dirty="0"/>
              <a:t>苦労したポイント</a:t>
            </a:r>
            <a:endParaRPr lang="en-US" altLang="ja-JP" dirty="0"/>
          </a:p>
          <a:p>
            <a:r>
              <a:rPr lang="ja-JP" altLang="en-US" sz="2000" dirty="0"/>
              <a:t>提出先</a:t>
            </a:r>
            <a:endParaRPr lang="en-US" altLang="ja-JP" sz="2000" dirty="0"/>
          </a:p>
          <a:p>
            <a:pPr lvl="1"/>
            <a:r>
              <a:rPr lang="en-US" altLang="ja-JP" sz="2000" dirty="0"/>
              <a:t>ISHI</a:t>
            </a:r>
            <a:r>
              <a:rPr lang="ja-JP" altLang="en-US" sz="2000" dirty="0"/>
              <a:t>会</a:t>
            </a:r>
            <a:r>
              <a:rPr lang="en-US" altLang="ja-JP" sz="2000" dirty="0"/>
              <a:t>Discord</a:t>
            </a:r>
            <a:r>
              <a:rPr lang="ja-JP" altLang="en-US" sz="2000" dirty="0"/>
              <a:t>内の所定のチャンネル</a:t>
            </a:r>
            <a:endParaRPr lang="ja-JP" altLang="en-US" dirty="0"/>
          </a:p>
        </p:txBody>
      </p:sp>
      <p:sp>
        <p:nvSpPr>
          <p:cNvPr id="6" name="タイトル 1">
            <a:extLst>
              <a:ext uri="{FF2B5EF4-FFF2-40B4-BE49-F238E27FC236}">
                <a16:creationId xmlns:a16="http://schemas.microsoft.com/office/drawing/2014/main" id="{F0ABCE79-D0F2-376E-41D0-D5472A097B0F}"/>
              </a:ext>
            </a:extLst>
          </p:cNvPr>
          <p:cNvSpPr txBox="1">
            <a:spLocks/>
          </p:cNvSpPr>
          <p:nvPr/>
        </p:nvSpPr>
        <p:spPr>
          <a:xfrm>
            <a:off x="215901" y="586855"/>
            <a:ext cx="3685072" cy="467094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r>
              <a:rPr lang="ja-JP" altLang="en-US" sz="4000">
                <a:solidFill>
                  <a:srgbClr val="FFFFFF"/>
                </a:solidFill>
              </a:rPr>
              <a:t>提出物</a:t>
            </a:r>
            <a:br>
              <a:rPr lang="en-US" altLang="ja-JP" sz="4000">
                <a:solidFill>
                  <a:srgbClr val="FFFFFF"/>
                </a:solidFill>
              </a:rPr>
            </a:br>
            <a:br>
              <a:rPr lang="en-US" altLang="ja-JP" sz="4000">
                <a:solidFill>
                  <a:srgbClr val="FFFFFF"/>
                </a:solidFill>
              </a:rPr>
            </a:br>
            <a:r>
              <a:rPr lang="ja-JP" altLang="en-US" sz="4000">
                <a:solidFill>
                  <a:srgbClr val="FFFFFF"/>
                </a:solidFill>
              </a:rPr>
              <a:t>（ハンズオン</a:t>
            </a:r>
            <a:br>
              <a:rPr lang="en-US" altLang="ja-JP" sz="4000">
                <a:solidFill>
                  <a:srgbClr val="FFFFFF"/>
                </a:solidFill>
              </a:rPr>
            </a:br>
            <a:r>
              <a:rPr lang="ja-JP" altLang="en-US" sz="4000">
                <a:solidFill>
                  <a:srgbClr val="FFFFFF"/>
                </a:solidFill>
              </a:rPr>
              <a:t>参加者向け）</a:t>
            </a:r>
          </a:p>
        </p:txBody>
      </p:sp>
    </p:spTree>
    <p:extLst>
      <p:ext uri="{BB962C8B-B14F-4D97-AF65-F5344CB8AC3E}">
        <p14:creationId xmlns:p14="http://schemas.microsoft.com/office/powerpoint/2010/main" val="358787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34F36D0-AA73-294F-A4FD-D06EDE7FC385}"/>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トランジスタの素性編</a:t>
            </a:r>
          </a:p>
        </p:txBody>
      </p:sp>
    </p:spTree>
    <p:extLst>
      <p:ext uri="{BB962C8B-B14F-4D97-AF65-F5344CB8AC3E}">
        <p14:creationId xmlns:p14="http://schemas.microsoft.com/office/powerpoint/2010/main" val="206189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07B998B-80AA-2375-9414-E629C07EED45}"/>
              </a:ext>
            </a:extLst>
          </p:cNvPr>
          <p:cNvSpPr>
            <a:spLocks noGrp="1"/>
          </p:cNvSpPr>
          <p:nvPr>
            <p:ph type="title"/>
          </p:nvPr>
        </p:nvSpPr>
        <p:spPr>
          <a:xfrm>
            <a:off x="1153618" y="1239927"/>
            <a:ext cx="4942382" cy="4680583"/>
          </a:xfrm>
        </p:spPr>
        <p:txBody>
          <a:bodyPr anchor="ctr">
            <a:normAutofit/>
          </a:bodyPr>
          <a:lstStyle/>
          <a:p>
            <a:r>
              <a:rPr kumimoji="1" lang="ja-JP" altLang="en-US" sz="5200"/>
              <a:t>トランジスタの素性を調べる</a:t>
            </a:r>
          </a:p>
        </p:txBody>
      </p:sp>
      <p:sp>
        <p:nvSpPr>
          <p:cNvPr id="3" name="コンテンツ プレースホルダー 2">
            <a:extLst>
              <a:ext uri="{FF2B5EF4-FFF2-40B4-BE49-F238E27FC236}">
                <a16:creationId xmlns:a16="http://schemas.microsoft.com/office/drawing/2014/main" id="{84C314F9-B054-FCCB-6970-947BB060E5BE}"/>
              </a:ext>
            </a:extLst>
          </p:cNvPr>
          <p:cNvSpPr>
            <a:spLocks noGrp="1"/>
          </p:cNvSpPr>
          <p:nvPr>
            <p:ph idx="1"/>
          </p:nvPr>
        </p:nvSpPr>
        <p:spPr>
          <a:xfrm>
            <a:off x="6291922" y="1239927"/>
            <a:ext cx="5560465" cy="4680583"/>
          </a:xfrm>
        </p:spPr>
        <p:txBody>
          <a:bodyPr anchor="ctr">
            <a:normAutofit/>
          </a:bodyPr>
          <a:lstStyle/>
          <a:p>
            <a:r>
              <a:rPr lang="ja-JP" altLang="en-US"/>
              <a:t>アナログ回路設計で重要なのは</a:t>
            </a:r>
          </a:p>
          <a:p>
            <a:pPr lvl="1"/>
            <a:r>
              <a:rPr lang="ja-JP" altLang="en-US" sz="2800"/>
              <a:t>ドレイン電流 </a:t>
            </a:r>
            <a:r>
              <a:rPr lang="en-US" altLang="ja-JP" sz="2800"/>
              <a:t>Id</a:t>
            </a:r>
          </a:p>
          <a:p>
            <a:pPr lvl="1"/>
            <a:r>
              <a:rPr lang="ja-JP" altLang="en-US" sz="2800"/>
              <a:t>しきい値電圧 </a:t>
            </a:r>
            <a:r>
              <a:rPr lang="en-US" altLang="ja-JP" sz="2800"/>
              <a:t>Vth</a:t>
            </a:r>
          </a:p>
          <a:p>
            <a:pPr lvl="1"/>
            <a:r>
              <a:rPr lang="ja-JP" altLang="en-US" sz="2800"/>
              <a:t>相互コンダクタンス </a:t>
            </a:r>
            <a:r>
              <a:rPr lang="en-US" altLang="ja-JP" sz="2800"/>
              <a:t>gm</a:t>
            </a:r>
          </a:p>
          <a:p>
            <a:pPr lvl="1"/>
            <a:r>
              <a:rPr lang="ja-JP" altLang="en-US" sz="2800"/>
              <a:t>出力抵抗 </a:t>
            </a:r>
            <a:r>
              <a:rPr lang="en-US" altLang="ja-JP" sz="2800"/>
              <a:t>Rds (1/gds)</a:t>
            </a:r>
          </a:p>
        </p:txBody>
      </p:sp>
    </p:spTree>
    <p:extLst>
      <p:ext uri="{BB962C8B-B14F-4D97-AF65-F5344CB8AC3E}">
        <p14:creationId xmlns:p14="http://schemas.microsoft.com/office/powerpoint/2010/main" val="2561869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0D9782E-EC40-2B06-78D5-DC9216105D6E}"/>
              </a:ext>
            </a:extLst>
          </p:cNvPr>
          <p:cNvSpPr>
            <a:spLocks noGrp="1"/>
          </p:cNvSpPr>
          <p:nvPr>
            <p:ph type="title"/>
          </p:nvPr>
        </p:nvSpPr>
        <p:spPr>
          <a:xfrm>
            <a:off x="1043631" y="809898"/>
            <a:ext cx="9942716" cy="1554480"/>
          </a:xfrm>
        </p:spPr>
        <p:txBody>
          <a:bodyPr anchor="ctr">
            <a:normAutofit/>
          </a:bodyPr>
          <a:lstStyle/>
          <a:p>
            <a:r>
              <a:rPr kumimoji="1" lang="ja-JP" altLang="en-US" sz="4800"/>
              <a:t>トランジスタとは？</a:t>
            </a:r>
          </a:p>
        </p:txBody>
      </p:sp>
      <p:sp>
        <p:nvSpPr>
          <p:cNvPr id="3" name="コンテンツ プレースホルダー 2">
            <a:extLst>
              <a:ext uri="{FF2B5EF4-FFF2-40B4-BE49-F238E27FC236}">
                <a16:creationId xmlns:a16="http://schemas.microsoft.com/office/drawing/2014/main" id="{D6D3327A-1F05-7B6A-4365-19ABF7B1BC17}"/>
              </a:ext>
            </a:extLst>
          </p:cNvPr>
          <p:cNvSpPr>
            <a:spLocks noGrp="1"/>
          </p:cNvSpPr>
          <p:nvPr>
            <p:ph idx="1"/>
          </p:nvPr>
        </p:nvSpPr>
        <p:spPr>
          <a:xfrm>
            <a:off x="1045028" y="3017522"/>
            <a:ext cx="9941319" cy="3124658"/>
          </a:xfrm>
        </p:spPr>
        <p:txBody>
          <a:bodyPr anchor="ctr">
            <a:normAutofit fontScale="92500" lnSpcReduction="20000"/>
          </a:bodyPr>
          <a:lstStyle/>
          <a:p>
            <a:r>
              <a:rPr lang="ja-JP" altLang="en-US"/>
              <a:t>デジタル的には</a:t>
            </a:r>
            <a:endParaRPr lang="en-US" altLang="ja-JP"/>
          </a:p>
          <a:p>
            <a:pPr lvl="1"/>
            <a:r>
              <a:rPr lang="ja-JP" altLang="en-US"/>
              <a:t>ゲート電圧で</a:t>
            </a:r>
            <a:r>
              <a:rPr lang="en-US" altLang="ja-JP"/>
              <a:t>ON</a:t>
            </a:r>
            <a:r>
              <a:rPr lang="ja-JP" altLang="en-US"/>
              <a:t>したり</a:t>
            </a:r>
            <a:r>
              <a:rPr lang="en-US" altLang="ja-JP"/>
              <a:t>OFF</a:t>
            </a:r>
            <a:r>
              <a:rPr lang="ja-JP" altLang="en-US"/>
              <a:t>したりする</a:t>
            </a:r>
            <a:r>
              <a:rPr lang="ja-JP" altLang="en-US">
                <a:solidFill>
                  <a:srgbClr val="FF0000"/>
                </a:solidFill>
              </a:rPr>
              <a:t>スイッチ</a:t>
            </a:r>
            <a:endParaRPr lang="en-US" altLang="ja-JP">
              <a:solidFill>
                <a:srgbClr val="FF0000"/>
              </a:solidFill>
            </a:endParaRPr>
          </a:p>
          <a:p>
            <a:pPr lvl="1"/>
            <a:r>
              <a:rPr lang="en-US" altLang="ja-JP"/>
              <a:t>ON</a:t>
            </a:r>
            <a:r>
              <a:rPr lang="ja-JP" altLang="en-US"/>
              <a:t>のときに抵抗が小さい </a:t>
            </a:r>
            <a:r>
              <a:rPr lang="en-US" altLang="ja-JP"/>
              <a:t>=</a:t>
            </a:r>
            <a:r>
              <a:rPr lang="ja-JP" altLang="en-US"/>
              <a:t> たくさん電流が流せる</a:t>
            </a:r>
            <a:endParaRPr lang="en-US" altLang="ja-JP"/>
          </a:p>
          <a:p>
            <a:pPr lvl="1"/>
            <a:r>
              <a:rPr lang="en-US" altLang="ja-JP"/>
              <a:t>OFF</a:t>
            </a:r>
            <a:r>
              <a:rPr lang="ja-JP" altLang="en-US"/>
              <a:t>のときにちゃんと</a:t>
            </a:r>
            <a:r>
              <a:rPr lang="en-US" altLang="ja-JP"/>
              <a:t>OFF</a:t>
            </a:r>
            <a:r>
              <a:rPr lang="ja-JP" altLang="en-US"/>
              <a:t>する</a:t>
            </a:r>
            <a:endParaRPr lang="en-US" altLang="ja-JP"/>
          </a:p>
          <a:p>
            <a:r>
              <a:rPr lang="ja-JP" altLang="en-US"/>
              <a:t>アナログ的には</a:t>
            </a:r>
            <a:endParaRPr lang="en-US" altLang="ja-JP"/>
          </a:p>
          <a:p>
            <a:pPr lvl="1"/>
            <a:r>
              <a:rPr lang="ja-JP" altLang="en-US"/>
              <a:t>ゲート電圧で電流が変わる</a:t>
            </a:r>
            <a:r>
              <a:rPr lang="ja-JP" altLang="en-US">
                <a:solidFill>
                  <a:srgbClr val="FF0000"/>
                </a:solidFill>
              </a:rPr>
              <a:t>電圧制御電流源</a:t>
            </a:r>
            <a:endParaRPr lang="en-US" altLang="ja-JP">
              <a:solidFill>
                <a:srgbClr val="FF0000"/>
              </a:solidFill>
            </a:endParaRPr>
          </a:p>
          <a:p>
            <a:pPr lvl="1"/>
            <a:r>
              <a:rPr lang="ja-JP" altLang="en-US">
                <a:solidFill>
                  <a:srgbClr val="FF0000"/>
                </a:solidFill>
              </a:rPr>
              <a:t>電圧 → 電流 → 電圧の変換で振幅</a:t>
            </a:r>
            <a:r>
              <a:rPr lang="ja-JP" altLang="en-US"/>
              <a:t>を上げる </a:t>
            </a:r>
            <a:r>
              <a:rPr lang="en-US" altLang="ja-JP"/>
              <a:t>(</a:t>
            </a:r>
            <a:r>
              <a:rPr lang="ja-JP" altLang="en-US"/>
              <a:t>増幅</a:t>
            </a:r>
            <a:r>
              <a:rPr lang="en-US" altLang="ja-JP"/>
              <a:t>)</a:t>
            </a:r>
          </a:p>
          <a:p>
            <a:pPr lvl="1"/>
            <a:r>
              <a:rPr lang="ja-JP" altLang="en-US"/>
              <a:t>変換の倍率が高いほどよい</a:t>
            </a:r>
            <a:endParaRPr lang="en-US" altLang="ja-JP"/>
          </a:p>
          <a:p>
            <a:pPr lvl="1"/>
            <a:r>
              <a:rPr lang="ja-JP" altLang="en-US"/>
              <a:t>理想電流源に近い </a:t>
            </a:r>
            <a:r>
              <a:rPr lang="en-US" altLang="ja-JP"/>
              <a:t>=</a:t>
            </a:r>
            <a:r>
              <a:rPr lang="ja-JP" altLang="en-US"/>
              <a:t> </a:t>
            </a:r>
            <a:r>
              <a:rPr lang="ja-JP" altLang="en-US">
                <a:solidFill>
                  <a:srgbClr val="FF0000"/>
                </a:solidFill>
              </a:rPr>
              <a:t>内部抵抗が大きい</a:t>
            </a:r>
            <a:r>
              <a:rPr lang="ja-JP" altLang="en-US"/>
              <a:t>ほどよい</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30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281FF4B-1188-58E4-1968-4BC184A88AB5}"/>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E16D323-6846-0337-0D93-BA798A2217A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飽和領域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68154470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8D90AA-98EE-C40A-484B-AAA94404C2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053CAC-3493-D663-2BE4-19F2541D9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B10CD2A-4F9E-2CC2-93BF-448F84E00E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EDA13257-CBCF-0E0C-6B72-0CD43D501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2E742F-3E6B-F035-806A-19F8F07733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4BC886-5F4C-FEA0-E870-74A999F70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066ED52-D431-695B-4886-A144B35AB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2A77670-5182-AA40-F39B-B19ED067A82D}"/>
              </a:ext>
            </a:extLst>
          </p:cNvPr>
          <p:cNvSpPr>
            <a:spLocks noGrp="1"/>
          </p:cNvSpPr>
          <p:nvPr>
            <p:ph type="title"/>
          </p:nvPr>
        </p:nvSpPr>
        <p:spPr>
          <a:xfrm>
            <a:off x="1043631" y="809898"/>
            <a:ext cx="9942716" cy="1554480"/>
          </a:xfrm>
        </p:spPr>
        <p:txBody>
          <a:bodyPr anchor="ctr">
            <a:normAutofit/>
          </a:bodyPr>
          <a:lstStyle/>
          <a:p>
            <a:r>
              <a:rPr lang="en-US" altLang="ja-JP" sz="4800"/>
              <a:t>Vgs–Id</a:t>
            </a:r>
            <a:r>
              <a:rPr lang="ja-JP" altLang="en-US" sz="4800"/>
              <a:t>カーブ</a:t>
            </a:r>
            <a:endParaRPr kumimoji="1" lang="ja-JP" altLang="en-US" sz="4800"/>
          </a:p>
        </p:txBody>
      </p:sp>
      <p:sp>
        <p:nvSpPr>
          <p:cNvPr id="3" name="コンテンツ プレースホルダー 2">
            <a:extLst>
              <a:ext uri="{FF2B5EF4-FFF2-40B4-BE49-F238E27FC236}">
                <a16:creationId xmlns:a16="http://schemas.microsoft.com/office/drawing/2014/main" id="{EE15FC77-9980-7CD6-B31B-C43DF1889D3D}"/>
              </a:ext>
            </a:extLst>
          </p:cNvPr>
          <p:cNvSpPr>
            <a:spLocks noGrp="1"/>
          </p:cNvSpPr>
          <p:nvPr>
            <p:ph idx="1"/>
          </p:nvPr>
        </p:nvSpPr>
        <p:spPr>
          <a:xfrm>
            <a:off x="1045028" y="3017522"/>
            <a:ext cx="9941319" cy="3124658"/>
          </a:xfrm>
        </p:spPr>
        <p:txBody>
          <a:bodyPr anchor="ctr">
            <a:normAutofit/>
          </a:bodyPr>
          <a:lstStyle/>
          <a:p>
            <a:r>
              <a:rPr lang="ja-JP" altLang="en-US"/>
              <a:t>詳しくは下記を参照のこと！</a:t>
            </a:r>
            <a:endParaRPr kumimoji="1" lang="en-US" altLang="ja-JP"/>
          </a:p>
          <a:p>
            <a:pPr lvl="1"/>
            <a:r>
              <a:rPr kumimoji="1" lang="en-US" altLang="ja-JP" sz="2800">
                <a:hlinkClick r:id="rId2"/>
              </a:rPr>
              <a:t>https://github.com/3zki/lsi1_analog1/blob/main/analog_tutorial_jp.pdf</a:t>
            </a:r>
            <a:endParaRPr lang="en-US" altLang="ja-JP" sz="2800"/>
          </a:p>
        </p:txBody>
      </p:sp>
      <p:cxnSp>
        <p:nvCxnSpPr>
          <p:cNvPr id="17" name="Straight Connector 16">
            <a:extLst>
              <a:ext uri="{FF2B5EF4-FFF2-40B4-BE49-F238E27FC236}">
                <a16:creationId xmlns:a16="http://schemas.microsoft.com/office/drawing/2014/main" id="{CEE690AD-AE21-9B6F-176B-9FBBB661C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861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565D28-8818-E77C-59DD-DEACEC5ADC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55DD1-6160-1E92-767D-3A0670FD6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2C4B6CD-FD2B-8003-8094-BF4D88202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8D8F8ED4-D37E-A2DD-7D3D-A7B1AFD75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CDEE20-D9E5-C28F-03BF-07A5082A1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CCE5FC4-9128-14D2-425A-D778A1D53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493CBA75-0F7F-8AF8-FF6C-4E50D9C62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898AA69-6BEF-4B95-9A75-AAAF73171C60}"/>
              </a:ext>
            </a:extLst>
          </p:cNvPr>
          <p:cNvSpPr>
            <a:spLocks noGrp="1"/>
          </p:cNvSpPr>
          <p:nvPr>
            <p:ph type="title"/>
          </p:nvPr>
        </p:nvSpPr>
        <p:spPr>
          <a:xfrm>
            <a:off x="1043631" y="809898"/>
            <a:ext cx="9942716" cy="1554480"/>
          </a:xfrm>
        </p:spPr>
        <p:txBody>
          <a:bodyPr anchor="ctr">
            <a:normAutofit/>
          </a:bodyPr>
          <a:lstStyle/>
          <a:p>
            <a:r>
              <a:rPr lang="ja-JP" altLang="en-US" sz="4800"/>
              <a:t>飽和領域</a:t>
            </a:r>
            <a:r>
              <a:rPr lang="en-US" altLang="ja-JP" sz="4800"/>
              <a:t>&amp;Vds–Id</a:t>
            </a:r>
            <a:r>
              <a:rPr lang="ja-JP" altLang="en-US" sz="4800"/>
              <a:t>カーブ</a:t>
            </a:r>
            <a:endParaRPr kumimoji="1" lang="ja-JP" altLang="en-US" sz="4800"/>
          </a:p>
        </p:txBody>
      </p:sp>
      <p:sp>
        <p:nvSpPr>
          <p:cNvPr id="3" name="コンテンツ プレースホルダー 2">
            <a:extLst>
              <a:ext uri="{FF2B5EF4-FFF2-40B4-BE49-F238E27FC236}">
                <a16:creationId xmlns:a16="http://schemas.microsoft.com/office/drawing/2014/main" id="{F49870D9-A848-0DD4-E9A6-1BF44BFEC9A3}"/>
              </a:ext>
            </a:extLst>
          </p:cNvPr>
          <p:cNvSpPr>
            <a:spLocks noGrp="1"/>
          </p:cNvSpPr>
          <p:nvPr>
            <p:ph idx="1"/>
          </p:nvPr>
        </p:nvSpPr>
        <p:spPr>
          <a:xfrm>
            <a:off x="855371" y="3205649"/>
            <a:ext cx="7389221" cy="2544409"/>
          </a:xfrm>
        </p:spPr>
        <p:txBody>
          <a:bodyPr anchor="ctr">
            <a:normAutofit/>
          </a:bodyPr>
          <a:lstStyle/>
          <a:p>
            <a:r>
              <a:rPr lang="en-US" altLang="ja-JP"/>
              <a:t>|Vds| </a:t>
            </a:r>
            <a:r>
              <a:rPr lang="ja-JP" altLang="en-US"/>
              <a:t>≧ </a:t>
            </a:r>
            <a:r>
              <a:rPr lang="en-US" altLang="ja-JP"/>
              <a:t>|Vgs|​−Vth </a:t>
            </a:r>
            <a:r>
              <a:rPr lang="ja-JP" altLang="en-US"/>
              <a:t> かつ </a:t>
            </a:r>
            <a:r>
              <a:rPr lang="en-US" altLang="ja-JP"/>
              <a:t>|Vgs|​−Vth </a:t>
            </a:r>
            <a:r>
              <a:rPr lang="ja-JP" altLang="en-US"/>
              <a:t>≧</a:t>
            </a:r>
            <a:r>
              <a:rPr lang="en-US" altLang="ja-JP"/>
              <a:t> 0 ​</a:t>
            </a:r>
          </a:p>
          <a:p>
            <a:pPr lvl="1"/>
            <a:r>
              <a:rPr lang="ja-JP" altLang="en-US"/>
              <a:t>トランジスタが十分な電圧利得を発揮するために</a:t>
            </a:r>
            <a:r>
              <a:rPr lang="ja-JP" altLang="en-US">
                <a:solidFill>
                  <a:srgbClr val="FF0000"/>
                </a:solidFill>
              </a:rPr>
              <a:t>重要な動作領域</a:t>
            </a:r>
            <a:r>
              <a:rPr lang="en-US" altLang="ja-JP"/>
              <a:t> </a:t>
            </a:r>
          </a:p>
        </p:txBody>
      </p:sp>
      <p:cxnSp>
        <p:nvCxnSpPr>
          <p:cNvPr id="17" name="Straight Connector 16">
            <a:extLst>
              <a:ext uri="{FF2B5EF4-FFF2-40B4-BE49-F238E27FC236}">
                <a16:creationId xmlns:a16="http://schemas.microsoft.com/office/drawing/2014/main" id="{FC47791D-7F83-EC4E-7F27-D34A5E582A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1" name="グループ化 40">
            <a:extLst>
              <a:ext uri="{FF2B5EF4-FFF2-40B4-BE49-F238E27FC236}">
                <a16:creationId xmlns:a16="http://schemas.microsoft.com/office/drawing/2014/main" id="{170AFFBB-D78F-1AFD-2946-3027435D4C2E}"/>
              </a:ext>
            </a:extLst>
          </p:cNvPr>
          <p:cNvGrpSpPr/>
          <p:nvPr/>
        </p:nvGrpSpPr>
        <p:grpSpPr>
          <a:xfrm>
            <a:off x="6890752" y="2837864"/>
            <a:ext cx="4862504" cy="2727565"/>
            <a:chOff x="6006466" y="3428682"/>
            <a:chExt cx="4862504" cy="2727565"/>
          </a:xfrm>
        </p:grpSpPr>
        <p:pic>
          <p:nvPicPr>
            <p:cNvPr id="22" name="Picture 4" descr="nMOS の Id/Vds のgm">
              <a:extLst>
                <a:ext uri="{FF2B5EF4-FFF2-40B4-BE49-F238E27FC236}">
                  <a16:creationId xmlns:a16="http://schemas.microsoft.com/office/drawing/2014/main" id="{D542D32D-94FF-96DD-2C5E-FEF94D2285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9681" y="3575074"/>
              <a:ext cx="3363091"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直線コネクタ 22">
              <a:extLst>
                <a:ext uri="{FF2B5EF4-FFF2-40B4-BE49-F238E27FC236}">
                  <a16:creationId xmlns:a16="http://schemas.microsoft.com/office/drawing/2014/main" id="{8D395395-C495-F0C2-A0C7-86EAC6ACA1F6}"/>
                </a:ext>
              </a:extLst>
            </p:cNvPr>
            <p:cNvCxnSpPr>
              <a:cxnSpLocks/>
            </p:cNvCxnSpPr>
            <p:nvPr/>
          </p:nvCxnSpPr>
          <p:spPr>
            <a:xfrm>
              <a:off x="7940313" y="4210752"/>
              <a:ext cx="0" cy="1649312"/>
            </a:xfrm>
            <a:prstGeom prst="line">
              <a:avLst/>
            </a:prstGeom>
            <a:ln w="38100">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2A9473CA-2EC0-F372-26E1-33BB16CBF6A4}"/>
                    </a:ext>
                  </a:extLst>
                </p:cNvPr>
                <p:cNvSpPr txBox="1"/>
                <p:nvPr/>
              </p:nvSpPr>
              <p:spPr>
                <a:xfrm>
                  <a:off x="6006466" y="3428682"/>
                  <a:ext cx="1968809" cy="830997"/>
                </a:xfrm>
                <a:prstGeom prst="rect">
                  <a:avLst/>
                </a:prstGeom>
                <a:solidFill>
                  <a:schemeClr val="bg1"/>
                </a:solidFill>
              </p:spPr>
              <p:txBody>
                <a:bodyPr wrap="none" rtlCol="0">
                  <a:spAutoFit/>
                </a:bodyPr>
                <a:lstStyle/>
                <a:p>
                  <a:pPr algn="l"/>
                  <a:r>
                    <a:rPr lang="en-US" altLang="ja-JP" sz="1600" b="1"/>
                    <a:t>Id</a:t>
                  </a:r>
                  <a14:m>
                    <m:oMath xmlns:m="http://schemas.openxmlformats.org/officeDocument/2006/math">
                      <m:r>
                        <a:rPr lang="ja-JP" altLang="en-US" sz="1600" b="1" i="1">
                          <a:latin typeface="Cambria Math" panose="02040503050406030204" pitchFamily="18" charset="0"/>
                        </a:rPr>
                        <m:t>と</m:t>
                      </m:r>
                      <m:r>
                        <a:rPr lang="en-US" altLang="ja-JP" sz="1600" b="1" i="0" smtClean="0">
                          <a:latin typeface="Cambria Math" panose="02040503050406030204" pitchFamily="18" charset="0"/>
                        </a:rPr>
                        <m:t>𝐕𝐝𝐬</m:t>
                      </m:r>
                    </m:oMath>
                  </a14:m>
                  <a:r>
                    <a:rPr kumimoji="1" lang="ja-JP" altLang="en-US" sz="1600"/>
                    <a:t>が比例関係</a:t>
                  </a:r>
                  <a:endParaRPr kumimoji="1" lang="en-US" altLang="ja-JP" sz="1600"/>
                </a:p>
                <a:p>
                  <a:pPr algn="l"/>
                  <a:r>
                    <a:rPr kumimoji="1" lang="en-US" altLang="ja-JP" sz="1600"/>
                    <a:t>=</a:t>
                  </a:r>
                  <a:r>
                    <a:rPr kumimoji="1" lang="ja-JP" altLang="en-US" sz="1600"/>
                    <a:t> 抵抗として動作</a:t>
                  </a:r>
                  <a:endParaRPr kumimoji="1" lang="en-US" altLang="ja-JP" sz="1600"/>
                </a:p>
                <a:p>
                  <a:pPr algn="l"/>
                  <a:r>
                    <a:rPr kumimoji="1" lang="ja-JP" altLang="en-US" sz="1600">
                      <a:solidFill>
                        <a:srgbClr val="FF0000"/>
                      </a:solidFill>
                    </a:rPr>
                    <a:t>線形領域</a:t>
                  </a:r>
                </a:p>
              </p:txBody>
            </p:sp>
          </mc:Choice>
          <mc:Fallback xmlns="">
            <p:sp>
              <p:nvSpPr>
                <p:cNvPr id="24" name="テキスト ボックス 23">
                  <a:extLst>
                    <a:ext uri="{FF2B5EF4-FFF2-40B4-BE49-F238E27FC236}">
                      <a16:creationId xmlns:a16="http://schemas.microsoft.com/office/drawing/2014/main" id="{2A9473CA-2EC0-F372-26E1-33BB16CBF6A4}"/>
                    </a:ext>
                  </a:extLst>
                </p:cNvPr>
                <p:cNvSpPr txBox="1">
                  <a:spLocks noRot="1" noChangeAspect="1" noMove="1" noResize="1" noEditPoints="1" noAdjustHandles="1" noChangeArrowheads="1" noChangeShapeType="1" noTextEdit="1"/>
                </p:cNvSpPr>
                <p:nvPr/>
              </p:nvSpPr>
              <p:spPr>
                <a:xfrm>
                  <a:off x="6006466" y="3428682"/>
                  <a:ext cx="1968809" cy="830997"/>
                </a:xfrm>
                <a:prstGeom prst="rect">
                  <a:avLst/>
                </a:prstGeom>
                <a:blipFill>
                  <a:blip r:embed="rId3"/>
                  <a:stretch>
                    <a:fillRect l="-1548" t="-2206" b="-8824"/>
                  </a:stretch>
                </a:blipFill>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4FA84B4F-1880-CCFC-F281-3629ADC9ABCB}"/>
                </a:ext>
              </a:extLst>
            </p:cNvPr>
            <p:cNvSpPr txBox="1"/>
            <p:nvPr/>
          </p:nvSpPr>
          <p:spPr>
            <a:xfrm>
              <a:off x="9185496" y="4044779"/>
              <a:ext cx="1683474" cy="861774"/>
            </a:xfrm>
            <a:prstGeom prst="rect">
              <a:avLst/>
            </a:prstGeom>
            <a:noFill/>
          </p:spPr>
          <p:txBody>
            <a:bodyPr wrap="none" rtlCol="0">
              <a:spAutoFit/>
            </a:bodyPr>
            <a:lstStyle/>
            <a:p>
              <a:pPr algn="l"/>
              <a:r>
                <a:rPr kumimoji="1" lang="ja-JP" altLang="en-US" sz="1600">
                  <a:solidFill>
                    <a:schemeClr val="bg1"/>
                  </a:solidFill>
                </a:rPr>
                <a:t>傾き </a:t>
              </a:r>
              <a:r>
                <a:rPr kumimoji="1" lang="en-US" altLang="ja-JP" sz="1600">
                  <a:solidFill>
                    <a:schemeClr val="bg1"/>
                  </a:solidFill>
                </a:rPr>
                <a:t>=</a:t>
              </a:r>
              <a:r>
                <a:rPr kumimoji="1" lang="ja-JP" altLang="en-US" sz="1600">
                  <a:solidFill>
                    <a:schemeClr val="bg1"/>
                  </a:solidFill>
                </a:rPr>
                <a:t> 内部抵抗</a:t>
              </a:r>
              <a:endParaRPr kumimoji="1" lang="en-US" altLang="ja-JP" sz="1600">
                <a:solidFill>
                  <a:schemeClr val="bg1"/>
                </a:solidFill>
              </a:endParaRPr>
            </a:p>
            <a:p>
              <a:pPr algn="l"/>
              <a:r>
                <a:rPr kumimoji="1" lang="ja-JP" altLang="en-US" sz="1600">
                  <a:solidFill>
                    <a:schemeClr val="bg1"/>
                  </a:solidFill>
                </a:rPr>
                <a:t>傾いているほど</a:t>
              </a:r>
              <a:endParaRPr kumimoji="1" lang="en-US" altLang="ja-JP" sz="1600">
                <a:solidFill>
                  <a:schemeClr val="bg1"/>
                </a:solidFill>
              </a:endParaRPr>
            </a:p>
            <a:p>
              <a:pPr algn="l"/>
              <a:r>
                <a:rPr kumimoji="1" lang="ja-JP" altLang="en-US" sz="1600">
                  <a:solidFill>
                    <a:schemeClr val="bg1"/>
                  </a:solidFill>
                </a:rPr>
                <a:t>ショボイ</a:t>
              </a: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D1F07156-437E-FE69-40F1-647786DB3CD6}"/>
                    </a:ext>
                  </a:extLst>
                </p:cNvPr>
                <p:cNvSpPr txBox="1"/>
                <p:nvPr/>
              </p:nvSpPr>
              <p:spPr>
                <a:xfrm>
                  <a:off x="8408083" y="4915009"/>
                  <a:ext cx="2374368" cy="830997"/>
                </a:xfrm>
                <a:prstGeom prst="rect">
                  <a:avLst/>
                </a:prstGeom>
                <a:solidFill>
                  <a:schemeClr val="bg1"/>
                </a:solidFill>
              </p:spPr>
              <p:txBody>
                <a:bodyPr wrap="none" rtlCol="0">
                  <a:spAutoFit/>
                </a:bodyPr>
                <a:lstStyle/>
                <a:p>
                  <a:r>
                    <a:rPr kumimoji="1" lang="en-US" altLang="ja-JP" sz="1600" b="1"/>
                    <a:t>I</a:t>
                  </a:r>
                  <a:r>
                    <a:rPr lang="en-US" altLang="ja-JP" sz="1600" b="1"/>
                    <a:t>d</a:t>
                  </a:r>
                  <a14:m>
                    <m:oMath xmlns:m="http://schemas.openxmlformats.org/officeDocument/2006/math">
                      <m:r>
                        <a:rPr lang="ja-JP" altLang="en-US" sz="1600" b="1" i="1">
                          <a:latin typeface="Cambria Math" panose="02040503050406030204" pitchFamily="18" charset="0"/>
                        </a:rPr>
                        <m:t>と</m:t>
                      </m:r>
                      <m:r>
                        <a:rPr lang="en-US" altLang="ja-JP" sz="1600" b="1" i="1">
                          <a:latin typeface="Cambria Math" panose="02040503050406030204" pitchFamily="18" charset="0"/>
                        </a:rPr>
                        <m:t>𝐕𝐝𝐬</m:t>
                      </m:r>
                    </m:oMath>
                  </a14:m>
                  <a:r>
                    <a:rPr kumimoji="1" lang="ja-JP" altLang="en-US" sz="1600"/>
                    <a:t>に関わらず一定</a:t>
                  </a:r>
                  <a:endParaRPr kumimoji="1" lang="en-US" altLang="ja-JP" sz="1600"/>
                </a:p>
                <a:p>
                  <a:pPr algn="l"/>
                  <a:r>
                    <a:rPr kumimoji="1" lang="en-US" altLang="ja-JP" sz="1600"/>
                    <a:t>=</a:t>
                  </a:r>
                  <a:r>
                    <a:rPr kumimoji="1" lang="ja-JP" altLang="en-US" sz="1600"/>
                    <a:t> 電流源として動作</a:t>
                  </a:r>
                  <a:endParaRPr kumimoji="1" lang="en-US" altLang="ja-JP" sz="1600"/>
                </a:p>
                <a:p>
                  <a:pPr algn="l"/>
                  <a:r>
                    <a:rPr kumimoji="1" lang="ja-JP" altLang="en-US" sz="1600">
                      <a:solidFill>
                        <a:srgbClr val="FF0000"/>
                      </a:solidFill>
                    </a:rPr>
                    <a:t>飽和領域</a:t>
                  </a:r>
                </a:p>
              </p:txBody>
            </p:sp>
          </mc:Choice>
          <mc:Fallback xmlns="">
            <p:sp>
              <p:nvSpPr>
                <p:cNvPr id="39" name="テキスト ボックス 38">
                  <a:extLst>
                    <a:ext uri="{FF2B5EF4-FFF2-40B4-BE49-F238E27FC236}">
                      <a16:creationId xmlns:a16="http://schemas.microsoft.com/office/drawing/2014/main" id="{D1F07156-437E-FE69-40F1-647786DB3CD6}"/>
                    </a:ext>
                  </a:extLst>
                </p:cNvPr>
                <p:cNvSpPr txBox="1">
                  <a:spLocks noRot="1" noChangeAspect="1" noMove="1" noResize="1" noEditPoints="1" noAdjustHandles="1" noChangeArrowheads="1" noChangeShapeType="1" noTextEdit="1"/>
                </p:cNvSpPr>
                <p:nvPr/>
              </p:nvSpPr>
              <p:spPr>
                <a:xfrm>
                  <a:off x="8408083" y="4915009"/>
                  <a:ext cx="2374368" cy="830997"/>
                </a:xfrm>
                <a:prstGeom prst="rect">
                  <a:avLst/>
                </a:prstGeom>
                <a:blipFill>
                  <a:blip r:embed="rId4"/>
                  <a:stretch>
                    <a:fillRect l="-1282" t="-2190" b="-8029"/>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315567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B71EDC-524E-5509-C08E-941BB1A0DB59}"/>
            </a:ext>
          </a:extLst>
        </p:cNvPr>
        <p:cNvGrpSpPr/>
        <p:nvPr/>
      </p:nvGrpSpPr>
      <p:grpSpPr>
        <a:xfrm>
          <a:off x="0" y="0"/>
          <a:ext cx="0" cy="0"/>
          <a:chOff x="0" y="0"/>
          <a:chExt cx="0" cy="0"/>
        </a:xfrm>
      </p:grpSpPr>
      <p:sp useBgFill="1">
        <p:nvSpPr>
          <p:cNvPr id="29" name="Rectangle 21">
            <a:extLst>
              <a:ext uri="{FF2B5EF4-FFF2-40B4-BE49-F238E27FC236}">
                <a16:creationId xmlns:a16="http://schemas.microsoft.com/office/drawing/2014/main" id="{B430338F-E2FD-4573-B0B7-E2EB12CC9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42F3B41-D252-046D-8CFE-3652385D2BCB}"/>
              </a:ext>
            </a:extLst>
          </p:cNvPr>
          <p:cNvSpPr>
            <a:spLocks noGrp="1"/>
          </p:cNvSpPr>
          <p:nvPr>
            <p:ph type="title"/>
          </p:nvPr>
        </p:nvSpPr>
        <p:spPr>
          <a:xfrm>
            <a:off x="532015" y="4495568"/>
            <a:ext cx="3861960" cy="1905232"/>
          </a:xfrm>
        </p:spPr>
        <p:txBody>
          <a:bodyPr anchor="ctr">
            <a:normAutofit/>
          </a:bodyPr>
          <a:lstStyle/>
          <a:p>
            <a:r>
              <a:rPr lang="ja-JP" altLang="en-US" sz="3200"/>
              <a:t>飽和領域</a:t>
            </a:r>
            <a:endParaRPr kumimoji="1" lang="ja-JP" altLang="en-US" sz="3200"/>
          </a:p>
        </p:txBody>
      </p:sp>
      <p:sp>
        <p:nvSpPr>
          <p:cNvPr id="30" name="Rectangle 2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A6EE97A8-B540-8C04-9AB0-8F53FB90E166}"/>
              </a:ext>
            </a:extLst>
          </p:cNvPr>
          <p:cNvPicPr>
            <a:picLocks noChangeAspect="1"/>
          </p:cNvPicPr>
          <p:nvPr/>
        </p:nvPicPr>
        <p:blipFill>
          <a:blip r:embed="rId2"/>
          <a:srcRect l="5553" r="-1" b="-1"/>
          <a:stretch>
            <a:fillRect/>
          </a:stretch>
        </p:blipFill>
        <p:spPr>
          <a:xfrm>
            <a:off x="838200" y="364143"/>
            <a:ext cx="5136795" cy="3426462"/>
          </a:xfrm>
          <a:prstGeom prst="rect">
            <a:avLst/>
          </a:prstGeom>
        </p:spPr>
      </p:pic>
      <p:pic>
        <p:nvPicPr>
          <p:cNvPr id="6" name="図 5">
            <a:extLst>
              <a:ext uri="{FF2B5EF4-FFF2-40B4-BE49-F238E27FC236}">
                <a16:creationId xmlns:a16="http://schemas.microsoft.com/office/drawing/2014/main" id="{C4568C9D-15F1-AC7E-AA81-7BC85F4E5130}"/>
              </a:ext>
            </a:extLst>
          </p:cNvPr>
          <p:cNvPicPr>
            <a:picLocks noChangeAspect="1"/>
          </p:cNvPicPr>
          <p:nvPr/>
        </p:nvPicPr>
        <p:blipFill>
          <a:blip r:embed="rId3"/>
          <a:srcRect r="9302"/>
          <a:stretch>
            <a:fillRect/>
          </a:stretch>
        </p:blipFill>
        <p:spPr>
          <a:xfrm>
            <a:off x="6297264" y="364142"/>
            <a:ext cx="5136795" cy="3426462"/>
          </a:xfrm>
          <a:prstGeom prst="rect">
            <a:avLst/>
          </a:prstGeom>
        </p:spPr>
      </p:pic>
      <p:sp>
        <p:nvSpPr>
          <p:cNvPr id="32" name="Rectangle 2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コンテンツ プレースホルダー 2">
            <a:extLst>
              <a:ext uri="{FF2B5EF4-FFF2-40B4-BE49-F238E27FC236}">
                <a16:creationId xmlns:a16="http://schemas.microsoft.com/office/drawing/2014/main" id="{16322051-55F0-F11D-2CBB-6D01738D3CAA}"/>
              </a:ext>
            </a:extLst>
          </p:cNvPr>
          <p:cNvSpPr>
            <a:spLocks noGrp="1"/>
          </p:cNvSpPr>
          <p:nvPr>
            <p:ph idx="1"/>
          </p:nvPr>
        </p:nvSpPr>
        <p:spPr>
          <a:xfrm>
            <a:off x="5162719" y="4495568"/>
            <a:ext cx="6586915" cy="1905232"/>
          </a:xfrm>
        </p:spPr>
        <p:txBody>
          <a:bodyPr anchor="ctr">
            <a:normAutofit/>
          </a:bodyPr>
          <a:lstStyle/>
          <a:p>
            <a:r>
              <a:rPr lang="ja-JP" altLang="en-US" sz="1800"/>
              <a:t>非線形デバイスで線形デバイスとして利用できる部分</a:t>
            </a:r>
          </a:p>
        </p:txBody>
      </p:sp>
      <p:sp>
        <p:nvSpPr>
          <p:cNvPr id="14" name="テキスト ボックス 13">
            <a:extLst>
              <a:ext uri="{FF2B5EF4-FFF2-40B4-BE49-F238E27FC236}">
                <a16:creationId xmlns:a16="http://schemas.microsoft.com/office/drawing/2014/main" id="{50F4BB63-5CB8-C07B-FAD7-C7BB0BC1B6DE}"/>
              </a:ext>
            </a:extLst>
          </p:cNvPr>
          <p:cNvSpPr txBox="1"/>
          <p:nvPr/>
        </p:nvSpPr>
        <p:spPr>
          <a:xfrm>
            <a:off x="10634023" y="3864954"/>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92957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EC6271-A28C-E908-3EF0-CB53CF7C3797}"/>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5EE05C7-8CEF-0DD0-D3E8-EFC8380F5F7E}"/>
              </a:ext>
            </a:extLst>
          </p:cNvPr>
          <p:cNvSpPr>
            <a:spLocks noGrp="1"/>
          </p:cNvSpPr>
          <p:nvPr>
            <p:ph type="title"/>
          </p:nvPr>
        </p:nvSpPr>
        <p:spPr>
          <a:xfrm>
            <a:off x="741066" y="881688"/>
            <a:ext cx="5514382" cy="1035781"/>
          </a:xfrm>
        </p:spPr>
        <p:txBody>
          <a:bodyPr anchor="ctr">
            <a:normAutofit fontScale="90000"/>
          </a:bodyPr>
          <a:lstStyle/>
          <a:p>
            <a:r>
              <a:rPr lang="ja-JP" altLang="en-US" sz="3300"/>
              <a:t>相互コンダクタンス：</a:t>
            </a:r>
            <a:r>
              <a:rPr kumimoji="1" lang="en-US" altLang="ja-JP" sz="3300"/>
              <a:t>gm[S]</a:t>
            </a:r>
            <a:br>
              <a:rPr kumimoji="1" lang="en-US" altLang="ja-JP" sz="3300"/>
            </a:br>
            <a:r>
              <a:rPr kumimoji="1" lang="ja-JP" altLang="en-US" sz="3300"/>
              <a:t>と</a:t>
            </a:r>
            <a:r>
              <a:rPr lang="en-US" altLang="ja-JP" sz="3600"/>
              <a:t>Vgs–Id</a:t>
            </a:r>
            <a:r>
              <a:rPr lang="ja-JP" altLang="en-US" sz="3600"/>
              <a:t>カーブ</a:t>
            </a:r>
            <a:endParaRPr kumimoji="1" lang="ja-JP" altLang="en-US" sz="3300"/>
          </a:p>
        </p:txBody>
      </p:sp>
      <p:sp>
        <p:nvSpPr>
          <p:cNvPr id="3" name="コンテンツ プレースホルダー 2">
            <a:extLst>
              <a:ext uri="{FF2B5EF4-FFF2-40B4-BE49-F238E27FC236}">
                <a16:creationId xmlns:a16="http://schemas.microsoft.com/office/drawing/2014/main" id="{2D070646-C6F5-B92A-2308-2C01DD9EF631}"/>
              </a:ext>
            </a:extLst>
          </p:cNvPr>
          <p:cNvSpPr>
            <a:spLocks noGrp="1"/>
          </p:cNvSpPr>
          <p:nvPr>
            <p:ph idx="1"/>
          </p:nvPr>
        </p:nvSpPr>
        <p:spPr>
          <a:xfrm>
            <a:off x="1045029" y="2524721"/>
            <a:ext cx="4991629" cy="3677123"/>
          </a:xfrm>
        </p:spPr>
        <p:txBody>
          <a:bodyPr anchor="ctr">
            <a:normAutofit/>
          </a:bodyPr>
          <a:lstStyle/>
          <a:p>
            <a:r>
              <a:rPr lang="ja-JP" altLang="en-US" sz="1800"/>
              <a:t>電圧電流特性を線形近似する際に用いられる最重要パラメータ</a:t>
            </a:r>
            <a:endParaRPr lang="en-US" altLang="ja-JP" sz="1400"/>
          </a:p>
          <a:p>
            <a:pPr lvl="1"/>
            <a:r>
              <a:rPr lang="ja-JP" altLang="en-US" sz="1800"/>
              <a:t>電圧利得</a:t>
            </a:r>
          </a:p>
          <a:p>
            <a:pPr lvl="1"/>
            <a:r>
              <a:rPr lang="ja-JP" altLang="en-US" sz="1800"/>
              <a:t>ノイズ特性</a:t>
            </a:r>
          </a:p>
          <a:p>
            <a:pPr lvl="1"/>
            <a:r>
              <a:rPr lang="ja-JP" altLang="en-US" sz="1800"/>
              <a:t>周波数特性</a:t>
            </a:r>
          </a:p>
          <a:p>
            <a:pPr marL="457200" lvl="1" indent="0">
              <a:buNone/>
            </a:pPr>
            <a:endParaRPr lang="en-US" altLang="ja-JP" sz="1800"/>
          </a:p>
          <a:p>
            <a:pPr lvl="1"/>
            <a:r>
              <a:rPr lang="en-US" altLang="ja-JP" sz="1800"/>
              <a:t>Ron(</a:t>
            </a:r>
            <a:r>
              <a:rPr lang="ja-JP" altLang="en-US" sz="1800"/>
              <a:t>オン抵抗</a:t>
            </a:r>
            <a:r>
              <a:rPr lang="en-US" altLang="ja-JP" sz="1800"/>
              <a:t>)</a:t>
            </a:r>
          </a:p>
          <a:p>
            <a:pPr lvl="2"/>
            <a:r>
              <a:rPr lang="ja-JP" altLang="en-US" sz="1400"/>
              <a:t>スイッチングデバイス＝デジタルデバイスとして使用されるトランジスタが「オン」状態、つまり電流を流しているときに示す抵抗値</a:t>
            </a:r>
            <a:endParaRPr lang="en-US" altLang="ja-JP" sz="1400"/>
          </a:p>
          <a:p>
            <a:pPr lvl="3"/>
            <a:r>
              <a:rPr lang="en-US" altLang="ja-JP" sz="1200">
                <a:hlinkClick r:id="rId2"/>
              </a:rPr>
              <a:t>https://github.com/3zki/lsi1_analog1/blob/main/analog_tutorial_jp.pdf</a:t>
            </a:r>
            <a:endParaRPr lang="en-US" altLang="ja-JP" sz="1200"/>
          </a:p>
          <a:p>
            <a:pPr marL="457200" lvl="1" indent="0">
              <a:buNone/>
            </a:pPr>
            <a:endParaRPr lang="en-US" altLang="ja-JP" sz="1800"/>
          </a:p>
          <a:p>
            <a:endParaRPr kumimoji="1" lang="en-US" altLang="ja-JP" sz="1800"/>
          </a:p>
        </p:txBody>
      </p:sp>
      <p:sp>
        <p:nvSpPr>
          <p:cNvPr id="3088" name="Rectangle 308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308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MOS の Id/Vds のgm">
            <a:extLst>
              <a:ext uri="{FF2B5EF4-FFF2-40B4-BE49-F238E27FC236}">
                <a16:creationId xmlns:a16="http://schemas.microsoft.com/office/drawing/2014/main" id="{5B006C92-B311-4D62-D915-38ABD7E367A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84456" y="3703659"/>
            <a:ext cx="3019124" cy="2317178"/>
          </a:xfrm>
          <a:prstGeom prst="rect">
            <a:avLst/>
          </a:prstGeom>
          <a:noFill/>
          <a:extLst>
            <a:ext uri="{909E8E84-426E-40DD-AFC4-6F175D3DCCD1}">
              <a14:hiddenFill xmlns:a14="http://schemas.microsoft.com/office/drawing/2010/main">
                <a:solidFill>
                  <a:srgbClr val="FFFFFF"/>
                </a:solidFill>
              </a14:hiddenFill>
            </a:ext>
          </a:extLst>
        </p:spPr>
      </p:pic>
      <p:cxnSp>
        <p:nvCxnSpPr>
          <p:cNvPr id="3092" name="Straight Connector 309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BAC2B5A9-5985-CA8E-8083-06CAC9EE3650}"/>
              </a:ext>
            </a:extLst>
          </p:cNvPr>
          <p:cNvGrpSpPr/>
          <p:nvPr/>
        </p:nvGrpSpPr>
        <p:grpSpPr>
          <a:xfrm>
            <a:off x="7487853" y="841905"/>
            <a:ext cx="3012331" cy="2317178"/>
            <a:chOff x="7463465" y="774285"/>
            <a:chExt cx="3355524" cy="2581173"/>
          </a:xfrm>
        </p:grpSpPr>
        <p:pic>
          <p:nvPicPr>
            <p:cNvPr id="5" name="Picture 2" descr="グラフ, 折れ線グラフ&#10;&#10;AI 生成コンテンツは誤りを含む可能性があります。">
              <a:extLst>
                <a:ext uri="{FF2B5EF4-FFF2-40B4-BE49-F238E27FC236}">
                  <a16:creationId xmlns:a16="http://schemas.microsoft.com/office/drawing/2014/main" id="{C233B309-925D-672D-1A96-C37E0A993D0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463465" y="774285"/>
              <a:ext cx="3355524"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DA2EF1E0-04C8-F005-20FE-2CC58F51B232}"/>
                </a:ext>
              </a:extLst>
            </p:cNvPr>
            <p:cNvCxnSpPr/>
            <p:nvPr/>
          </p:nvCxnSpPr>
          <p:spPr>
            <a:xfrm>
              <a:off x="8248171" y="2335881"/>
              <a:ext cx="0" cy="74022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46E5E76-9E14-7923-0F7A-89CF26E41936}"/>
                    </a:ext>
                  </a:extLst>
                </p:cNvPr>
                <p:cNvSpPr txBox="1"/>
                <p:nvPr/>
              </p:nvSpPr>
              <p:spPr>
                <a:xfrm>
                  <a:off x="7992744" y="1849792"/>
                  <a:ext cx="566057"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𝑡h</m:t>
                            </m:r>
                          </m:sub>
                        </m:sSub>
                      </m:oMath>
                    </m:oMathPara>
                  </a14:m>
                  <a:endParaRPr kumimoji="1" lang="ja-JP" altLang="en-US">
                    <a:solidFill>
                      <a:srgbClr val="FFFF00"/>
                    </a:solidFill>
                  </a:endParaRPr>
                </a:p>
              </p:txBody>
            </p:sp>
          </mc:Choice>
          <mc:Fallback xmlns="">
            <p:sp>
              <p:nvSpPr>
                <p:cNvPr id="7" name="テキスト ボックス 6">
                  <a:extLst>
                    <a:ext uri="{FF2B5EF4-FFF2-40B4-BE49-F238E27FC236}">
                      <a16:creationId xmlns:a16="http://schemas.microsoft.com/office/drawing/2014/main" id="{F46E5E76-9E14-7923-0F7A-89CF26E41936}"/>
                    </a:ext>
                  </a:extLst>
                </p:cNvPr>
                <p:cNvSpPr txBox="1">
                  <a:spLocks noRot="1" noChangeAspect="1" noMove="1" noResize="1" noEditPoints="1" noAdjustHandles="1" noChangeArrowheads="1" noChangeShapeType="1" noTextEdit="1"/>
                </p:cNvSpPr>
                <p:nvPr/>
              </p:nvSpPr>
              <p:spPr>
                <a:xfrm>
                  <a:off x="7992744" y="1849792"/>
                  <a:ext cx="566057" cy="463193"/>
                </a:xfrm>
                <a:prstGeom prst="rect">
                  <a:avLst/>
                </a:prstGeom>
                <a:blipFill>
                  <a:blip r:embed="rId5"/>
                  <a:stretch>
                    <a:fillRect/>
                  </a:stretch>
                </a:blipFill>
              </p:spPr>
              <p:txBody>
                <a:bodyPr/>
                <a:lstStyle/>
                <a:p>
                  <a:r>
                    <a:rPr lang="ja-JP" altLang="en-US">
                      <a:noFill/>
                    </a:rPr>
                    <a:t> </a:t>
                  </a:r>
                </a:p>
              </p:txBody>
            </p:sp>
          </mc:Fallback>
        </mc:AlternateContent>
        <p:sp>
          <p:nvSpPr>
            <p:cNvPr id="9" name="二等辺三角形 12">
              <a:extLst>
                <a:ext uri="{FF2B5EF4-FFF2-40B4-BE49-F238E27FC236}">
                  <a16:creationId xmlns:a16="http://schemas.microsoft.com/office/drawing/2014/main" id="{07DBEDD3-B568-5C60-4FC7-865FD0545C98}"/>
                </a:ext>
              </a:extLst>
            </p:cNvPr>
            <p:cNvSpPr/>
            <p:nvPr/>
          </p:nvSpPr>
          <p:spPr>
            <a:xfrm>
              <a:off x="8937350" y="1551133"/>
              <a:ext cx="1059334" cy="1192280"/>
            </a:xfrm>
            <a:prstGeom prst="triangle">
              <a:avLst>
                <a:gd name="adj" fmla="val 100000"/>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96444469-29C7-1579-16C4-BDA86D118C0C}"/>
                    </a:ext>
                  </a:extLst>
                </p:cNvPr>
                <p:cNvSpPr txBox="1"/>
                <p:nvPr/>
              </p:nvSpPr>
              <p:spPr>
                <a:xfrm>
                  <a:off x="9317091" y="2759788"/>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𝐺𝑆</m:t>
                            </m:r>
                          </m:sub>
                        </m:sSub>
                      </m:oMath>
                    </m:oMathPara>
                  </a14:m>
                  <a:endParaRPr kumimoji="1" lang="ja-JP" altLang="en-US">
                    <a:solidFill>
                      <a:srgbClr val="FFFF00"/>
                    </a:solidFill>
                  </a:endParaRPr>
                </a:p>
              </p:txBody>
            </p:sp>
          </mc:Choice>
          <mc:Fallback xmlns="">
            <p:sp>
              <p:nvSpPr>
                <p:cNvPr id="14" name="テキスト ボックス 13">
                  <a:extLst>
                    <a:ext uri="{FF2B5EF4-FFF2-40B4-BE49-F238E27FC236}">
                      <a16:creationId xmlns:a16="http://schemas.microsoft.com/office/drawing/2014/main" id="{96444469-29C7-1579-16C4-BDA86D118C0C}"/>
                    </a:ext>
                  </a:extLst>
                </p:cNvPr>
                <p:cNvSpPr txBox="1">
                  <a:spLocks noRot="1" noChangeAspect="1" noMove="1" noResize="1" noEditPoints="1" noAdjustHandles="1" noChangeArrowheads="1" noChangeShapeType="1" noTextEdit="1"/>
                </p:cNvSpPr>
                <p:nvPr/>
              </p:nvSpPr>
              <p:spPr>
                <a:xfrm>
                  <a:off x="9317091" y="2759788"/>
                  <a:ext cx="642522" cy="46319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0FCF61B7-EF25-1864-0653-73A953121CB9}"/>
                    </a:ext>
                  </a:extLst>
                </p:cNvPr>
                <p:cNvSpPr txBox="1"/>
                <p:nvPr/>
              </p:nvSpPr>
              <p:spPr>
                <a:xfrm>
                  <a:off x="9944289" y="2069141"/>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𝐼</m:t>
                            </m:r>
                          </m:e>
                          <m:sub>
                            <m:r>
                              <a:rPr kumimoji="1" lang="en-US" altLang="ja-JP" sz="1602" i="1" kern="1200">
                                <a:solidFill>
                                  <a:srgbClr val="FFFF00"/>
                                </a:solidFill>
                                <a:latin typeface="Cambria Math" panose="02040503050406030204" pitchFamily="18" charset="0"/>
                                <a:ea typeface="+mn-ea"/>
                                <a:cs typeface="+mn-cs"/>
                              </a:rPr>
                              <m:t>𝐷𝑆</m:t>
                            </m:r>
                          </m:sub>
                        </m:sSub>
                      </m:oMath>
                    </m:oMathPara>
                  </a14:m>
                  <a:endParaRPr kumimoji="1" lang="ja-JP" altLang="en-US">
                    <a:solidFill>
                      <a:srgbClr val="FFFF00"/>
                    </a:solidFill>
                  </a:endParaRPr>
                </a:p>
              </p:txBody>
            </p:sp>
          </mc:Choice>
          <mc:Fallback xmlns="">
            <p:sp>
              <p:nvSpPr>
                <p:cNvPr id="16" name="テキスト ボックス 15">
                  <a:extLst>
                    <a:ext uri="{FF2B5EF4-FFF2-40B4-BE49-F238E27FC236}">
                      <a16:creationId xmlns:a16="http://schemas.microsoft.com/office/drawing/2014/main" id="{0FCF61B7-EF25-1864-0653-73A953121CB9}"/>
                    </a:ext>
                  </a:extLst>
                </p:cNvPr>
                <p:cNvSpPr txBox="1">
                  <a:spLocks noRot="1" noChangeAspect="1" noMove="1" noResize="1" noEditPoints="1" noAdjustHandles="1" noChangeArrowheads="1" noChangeShapeType="1" noTextEdit="1"/>
                </p:cNvSpPr>
                <p:nvPr/>
              </p:nvSpPr>
              <p:spPr>
                <a:xfrm>
                  <a:off x="9944289" y="2069141"/>
                  <a:ext cx="642522" cy="463193"/>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F3722FFD-61E9-DF29-3B6D-996F1A6A93BB}"/>
                    </a:ext>
                  </a:extLst>
                </p:cNvPr>
                <p:cNvSpPr txBox="1"/>
                <p:nvPr/>
              </p:nvSpPr>
              <p:spPr>
                <a:xfrm>
                  <a:off x="8923218" y="1770770"/>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𝑔</m:t>
                            </m:r>
                          </m:e>
                          <m:sub>
                            <m:r>
                              <a:rPr kumimoji="1" lang="en-US" altLang="ja-JP" sz="1602" i="1" kern="1200">
                                <a:solidFill>
                                  <a:srgbClr val="FFFF00"/>
                                </a:solidFill>
                                <a:latin typeface="Cambria Math" panose="02040503050406030204" pitchFamily="18" charset="0"/>
                                <a:ea typeface="+mn-ea"/>
                                <a:cs typeface="+mn-cs"/>
                              </a:rPr>
                              <m:t>𝑚</m:t>
                            </m:r>
                          </m:sub>
                        </m:sSub>
                      </m:oMath>
                    </m:oMathPara>
                  </a14:m>
                  <a:endParaRPr kumimoji="1" lang="ja-JP" altLang="en-US">
                    <a:solidFill>
                      <a:srgbClr val="FFFF00"/>
                    </a:solidFill>
                  </a:endParaRPr>
                </a:p>
              </p:txBody>
            </p:sp>
          </mc:Choice>
          <mc:Fallback xmlns="">
            <p:sp>
              <p:nvSpPr>
                <p:cNvPr id="18" name="テキスト ボックス 17">
                  <a:extLst>
                    <a:ext uri="{FF2B5EF4-FFF2-40B4-BE49-F238E27FC236}">
                      <a16:creationId xmlns:a16="http://schemas.microsoft.com/office/drawing/2014/main" id="{F3722FFD-61E9-DF29-3B6D-996F1A6A93BB}"/>
                    </a:ext>
                  </a:extLst>
                </p:cNvPr>
                <p:cNvSpPr txBox="1">
                  <a:spLocks noRot="1" noChangeAspect="1" noMove="1" noResize="1" noEditPoints="1" noAdjustHandles="1" noChangeArrowheads="1" noChangeShapeType="1" noTextEdit="1"/>
                </p:cNvSpPr>
                <p:nvPr/>
              </p:nvSpPr>
              <p:spPr>
                <a:xfrm>
                  <a:off x="8923218" y="1770770"/>
                  <a:ext cx="642522" cy="463193"/>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CF8FAAF2-6C82-7D5C-444B-102E952D8820}"/>
                    </a:ext>
                  </a:extLst>
                </p:cNvPr>
                <p:cNvSpPr txBox="1"/>
                <p:nvPr/>
              </p:nvSpPr>
              <p:spPr>
                <a:xfrm>
                  <a:off x="9754321" y="845587"/>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𝑅</m:t>
                            </m:r>
                          </m:e>
                          <m:sub>
                            <m:r>
                              <a:rPr kumimoji="1" lang="en-US" altLang="ja-JP" sz="1602" i="1" kern="1200">
                                <a:solidFill>
                                  <a:srgbClr val="FFFF00"/>
                                </a:solidFill>
                                <a:latin typeface="Cambria Math" panose="02040503050406030204" pitchFamily="18" charset="0"/>
                                <a:ea typeface="+mn-ea"/>
                                <a:cs typeface="+mn-cs"/>
                              </a:rPr>
                              <m:t>𝑜𝑛</m:t>
                            </m:r>
                          </m:sub>
                        </m:sSub>
                      </m:oMath>
                    </m:oMathPara>
                  </a14:m>
                  <a:endParaRPr kumimoji="1" lang="ja-JP" altLang="en-US">
                    <a:solidFill>
                      <a:srgbClr val="FFFF00"/>
                    </a:solidFill>
                  </a:endParaRPr>
                </a:p>
              </p:txBody>
            </p:sp>
          </mc:Choice>
          <mc:Fallback xmlns="">
            <p:sp>
              <p:nvSpPr>
                <p:cNvPr id="19" name="テキスト ボックス 18">
                  <a:extLst>
                    <a:ext uri="{FF2B5EF4-FFF2-40B4-BE49-F238E27FC236}">
                      <a16:creationId xmlns:a16="http://schemas.microsoft.com/office/drawing/2014/main" id="{CF8FAAF2-6C82-7D5C-444B-102E952D8820}"/>
                    </a:ext>
                  </a:extLst>
                </p:cNvPr>
                <p:cNvSpPr txBox="1">
                  <a:spLocks noRot="1" noChangeAspect="1" noMove="1" noResize="1" noEditPoints="1" noAdjustHandles="1" noChangeArrowheads="1" noChangeShapeType="1" noTextEdit="1"/>
                </p:cNvSpPr>
                <p:nvPr/>
              </p:nvSpPr>
              <p:spPr>
                <a:xfrm>
                  <a:off x="9754321" y="845587"/>
                  <a:ext cx="642522" cy="463193"/>
                </a:xfrm>
                <a:prstGeom prst="rect">
                  <a:avLst/>
                </a:prstGeom>
                <a:blipFill>
                  <a:blip r:embed="rId9"/>
                  <a:stretch>
                    <a:fillRect/>
                  </a:stretch>
                </a:blipFill>
              </p:spPr>
              <p:txBody>
                <a:bodyPr/>
                <a:lstStyle/>
                <a:p>
                  <a:r>
                    <a:rPr lang="ja-JP" altLang="en-US">
                      <a:noFill/>
                    </a:rPr>
                    <a:t> </a:t>
                  </a:r>
                </a:p>
              </p:txBody>
            </p:sp>
          </mc:Fallback>
        </mc:AlternateContent>
        <p:sp>
          <p:nvSpPr>
            <p:cNvPr id="20" name="楕円 18">
              <a:extLst>
                <a:ext uri="{FF2B5EF4-FFF2-40B4-BE49-F238E27FC236}">
                  <a16:creationId xmlns:a16="http://schemas.microsoft.com/office/drawing/2014/main" id="{27292735-F456-85CE-5843-56C979939185}"/>
                </a:ext>
              </a:extLst>
            </p:cNvPr>
            <p:cNvSpPr/>
            <p:nvPr/>
          </p:nvSpPr>
          <p:spPr>
            <a:xfrm>
              <a:off x="9997751" y="1247816"/>
              <a:ext cx="155662" cy="15566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4244221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2A6CB4-3619-4CDC-83EC-810286CE8B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5F8CB1-8911-A8BD-5D18-54155B91C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685EFCA-6454-1F2C-DA41-4F4F7FA1B5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C96BDE-5A7F-D865-2582-0DB139883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0B7075-4414-4330-56F6-330ABB149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DA58E2-217A-1A10-E2C8-916DB1F91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B9F01B24-9193-3BDD-7695-0D348A058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1D33E46-E091-B815-8604-AF1A21E21554}"/>
              </a:ext>
            </a:extLst>
          </p:cNvPr>
          <p:cNvSpPr>
            <a:spLocks noGrp="1"/>
          </p:cNvSpPr>
          <p:nvPr>
            <p:ph type="title"/>
          </p:nvPr>
        </p:nvSpPr>
        <p:spPr>
          <a:xfrm>
            <a:off x="1043631" y="809898"/>
            <a:ext cx="9942716" cy="1554480"/>
          </a:xfrm>
        </p:spPr>
        <p:txBody>
          <a:bodyPr anchor="ctr">
            <a:normAutofit/>
          </a:bodyPr>
          <a:lstStyle/>
          <a:p>
            <a:r>
              <a:rPr kumimoji="1" lang="ja-JP" altLang="en-US" sz="4800"/>
              <a:t>出力抵抗</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8F37E4-ACDF-BA88-1183-11B23385E901}"/>
                  </a:ext>
                </a:extLst>
              </p:cNvPr>
              <p:cNvSpPr>
                <a:spLocks noGrp="1"/>
              </p:cNvSpPr>
              <p:nvPr>
                <p:ph idx="1"/>
              </p:nvPr>
            </p:nvSpPr>
            <p:spPr>
              <a:xfrm>
                <a:off x="1045028" y="3017522"/>
                <a:ext cx="9941319" cy="3124658"/>
              </a:xfrm>
            </p:spPr>
            <p:txBody>
              <a:bodyPr anchor="ctr">
                <a:normAutofit/>
              </a:bodyPr>
              <a:lstStyle/>
              <a:p>
                <a:r>
                  <a:rPr lang="en-US" altLang="ja-JP"/>
                  <a:t>Rds​=</a:t>
                </a:r>
                <a14:m>
                  <m:oMath xmlns:m="http://schemas.openxmlformats.org/officeDocument/2006/math">
                    <m:f>
                      <m:fPr>
                        <m:ctrlPr>
                          <a:rPr lang="en-US" altLang="ja-JP" i="1">
                            <a:latin typeface="Cambria Math" panose="02040503050406030204" pitchFamily="18" charset="0"/>
                          </a:rPr>
                        </m:ctrlPr>
                      </m:fPr>
                      <m:num>
                        <m:r>
                          <a:rPr lang="en-US" altLang="ja-JP" i="1">
                            <a:latin typeface="Cambria Math" panose="02040503050406030204" pitchFamily="18" charset="0"/>
                          </a:rPr>
                          <m:t>𝜕</m:t>
                        </m:r>
                        <m:r>
                          <a:rPr lang="en-US" altLang="ja-JP" i="1">
                            <a:latin typeface="Cambria Math" panose="02040503050406030204" pitchFamily="18" charset="0"/>
                          </a:rPr>
                          <m:t>𝑉𝑜𝑢𝑡</m:t>
                        </m:r>
                      </m:num>
                      <m:den>
                        <m:r>
                          <a:rPr lang="en-US" altLang="ja-JP" i="1">
                            <a:latin typeface="Cambria Math" panose="02040503050406030204" pitchFamily="18" charset="0"/>
                          </a:rPr>
                          <m:t>𝜕</m:t>
                        </m:r>
                        <m:r>
                          <m:rPr>
                            <m:sty m:val="p"/>
                          </m:rPr>
                          <a:rPr lang="en-US" altLang="ja-JP" i="1">
                            <a:latin typeface="Cambria Math" panose="02040503050406030204" pitchFamily="18" charset="0"/>
                          </a:rPr>
                          <m:t>Iout</m:t>
                        </m:r>
                      </m:den>
                    </m:f>
                  </m:oMath>
                </a14:m>
                <a:r>
                  <a:rPr lang="en-US" altLang="ja-JP"/>
                  <a:t>​​ </a:t>
                </a:r>
              </a:p>
              <a:p>
                <a:endParaRPr lang="en-US" altLang="ja-JP"/>
              </a:p>
              <a:p>
                <a:pPr lvl="1"/>
                <a:r>
                  <a:rPr lang="ja-JP" altLang="en-US"/>
                  <a:t>「飽和領域」で動作しているときに示す抵抗値</a:t>
                </a:r>
                <a:r>
                  <a:rPr lang="en-US" altLang="ja-JP"/>
                  <a:t>(</a:t>
                </a:r>
                <a:r>
                  <a:rPr lang="ja-JP" altLang="en-US"/>
                  <a:t>≒内部抵抗</a:t>
                </a:r>
                <a:r>
                  <a:rPr lang="en-US" altLang="ja-JP"/>
                  <a:t>)</a:t>
                </a:r>
              </a:p>
              <a:p>
                <a:pPr lvl="2"/>
                <a:r>
                  <a:rPr lang="ja-JP" altLang="en-US" b="1"/>
                  <a:t>電流源</a:t>
                </a:r>
                <a:r>
                  <a:rPr lang="ja-JP" altLang="en-US"/>
                  <a:t>としてどれだけ理想に近いかを示す指標</a:t>
                </a:r>
                <a:endParaRPr lang="en-US" altLang="ja-JP"/>
              </a:p>
              <a:p>
                <a:pPr lvl="3"/>
                <a:r>
                  <a:rPr lang="ja-JP" altLang="en-US"/>
                  <a:t>理想的な電流源の内部抵抗は無限大</a:t>
                </a:r>
                <a:endParaRPr lang="en-US" altLang="ja-JP"/>
              </a:p>
              <a:p>
                <a:pPr lvl="1"/>
                <a:endParaRPr lang="en-US" altLang="ja-JP"/>
              </a:p>
            </p:txBody>
          </p:sp>
        </mc:Choice>
        <mc:Fallback xmlns="">
          <p:sp>
            <p:nvSpPr>
              <p:cNvPr id="3" name="コンテンツ プレースホルダー 2">
                <a:extLst>
                  <a:ext uri="{FF2B5EF4-FFF2-40B4-BE49-F238E27FC236}">
                    <a16:creationId xmlns:a16="http://schemas.microsoft.com/office/drawing/2014/main" id="{2F8F37E4-ACDF-BA88-1183-11B23385E90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04"/>
                </a:stretch>
              </a:blipFill>
            </p:spPr>
            <p:txBody>
              <a:bodyPr/>
              <a:lstStyle/>
              <a:p>
                <a:r>
                  <a:rPr lang="ja-JP" altLang="en-US">
                    <a:noFill/>
                  </a:rPr>
                  <a:t> </a:t>
                </a:r>
              </a:p>
            </p:txBody>
          </p:sp>
        </mc:Fallback>
      </mc:AlternateContent>
      <p:cxnSp>
        <p:nvCxnSpPr>
          <p:cNvPr id="17" name="Straight Connector 16">
            <a:extLst>
              <a:ext uri="{FF2B5EF4-FFF2-40B4-BE49-F238E27FC236}">
                <a16:creationId xmlns:a16="http://schemas.microsoft.com/office/drawing/2014/main" id="{76AA80CD-E72A-4607-58D4-66879DFC2D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530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B54BAF-4350-1066-D9E1-0A0C1D87D479}"/>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88520C64-1E15-8C6A-3727-9F31D0BD7C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7C9EE41-FCAB-BE17-C5EF-F1A323F364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9128628C-1152-BD67-3D1E-5D6243BC78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2DA48337-2B7E-49B3-63C6-151D1B03C7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7ED5657-5427-25E3-A3CB-056EF5534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7E15A46-F1F0-94B4-3940-F5532A3636E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短チャネル効果</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71805048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2D0F7F-55E1-2C3C-2442-DBDB25E61CA2}"/>
              </a:ext>
            </a:extLst>
          </p:cNvPr>
          <p:cNvSpPr>
            <a:spLocks noGrp="1"/>
          </p:cNvSpPr>
          <p:nvPr>
            <p:ph type="title"/>
          </p:nvPr>
        </p:nvSpPr>
        <p:spPr>
          <a:xfrm>
            <a:off x="1043631" y="809898"/>
            <a:ext cx="9942716" cy="1554480"/>
          </a:xfrm>
        </p:spPr>
        <p:txBody>
          <a:bodyPr anchor="ctr">
            <a:normAutofit/>
          </a:bodyPr>
          <a:lstStyle/>
          <a:p>
            <a:r>
              <a:rPr lang="ja-JP" altLang="en-US" sz="4800"/>
              <a:t>短</a:t>
            </a:r>
            <a:r>
              <a:rPr kumimoji="1" lang="ja-JP" altLang="en-US" sz="4800"/>
              <a:t>チャネル効果</a:t>
            </a:r>
          </a:p>
        </p:txBody>
      </p:sp>
      <p:sp>
        <p:nvSpPr>
          <p:cNvPr id="3" name="コンテンツ プレースホルダー 2">
            <a:extLst>
              <a:ext uri="{FF2B5EF4-FFF2-40B4-BE49-F238E27FC236}">
                <a16:creationId xmlns:a16="http://schemas.microsoft.com/office/drawing/2014/main" id="{9302FFBF-C3D5-679C-4CE6-7D43DC15A936}"/>
              </a:ext>
            </a:extLst>
          </p:cNvPr>
          <p:cNvSpPr>
            <a:spLocks noGrp="1"/>
          </p:cNvSpPr>
          <p:nvPr>
            <p:ph idx="1"/>
          </p:nvPr>
        </p:nvSpPr>
        <p:spPr>
          <a:xfrm>
            <a:off x="1045028" y="3017522"/>
            <a:ext cx="9941319" cy="3124658"/>
          </a:xfrm>
        </p:spPr>
        <p:txBody>
          <a:bodyPr anchor="ctr">
            <a:normAutofit/>
          </a:bodyPr>
          <a:lstStyle/>
          <a:p>
            <a:r>
              <a:rPr lang="ja-JP" altLang="en-US" sz="1900"/>
              <a:t>ソースとドレイン間の距離（チャネル長）が短くなることで発生</a:t>
            </a:r>
            <a:endParaRPr lang="en-US" altLang="ja-JP" sz="1900"/>
          </a:p>
          <a:p>
            <a:pPr lvl="1"/>
            <a:endParaRPr lang="ja-JP" altLang="en-US" sz="1900"/>
          </a:p>
          <a:p>
            <a:pPr lvl="1"/>
            <a:r>
              <a:rPr lang="ja-JP" altLang="en-US" sz="1900"/>
              <a:t>事象</a:t>
            </a:r>
            <a:endParaRPr lang="en-US" altLang="ja-JP" sz="1900"/>
          </a:p>
          <a:p>
            <a:pPr lvl="2"/>
            <a:r>
              <a:rPr lang="ja-JP" altLang="en-US" sz="1900"/>
              <a:t>しきい値電圧 </a:t>
            </a:r>
            <a:r>
              <a:rPr lang="en-US" altLang="ja-JP" sz="1900"/>
              <a:t>(</a:t>
            </a:r>
            <a:r>
              <a:rPr lang="en" altLang="ja-JP" sz="1900"/>
              <a:t>Vth) </a:t>
            </a:r>
            <a:r>
              <a:rPr lang="ja-JP" altLang="en-US" sz="1900"/>
              <a:t>の低下（</a:t>
            </a:r>
            <a:r>
              <a:rPr lang="en" altLang="ja-JP" sz="1900"/>
              <a:t>Vth</a:t>
            </a:r>
            <a:r>
              <a:rPr lang="ja-JP" altLang="en-US" sz="1900"/>
              <a:t>ロールオフ）など</a:t>
            </a:r>
            <a:endParaRPr lang="en-US" altLang="ja-JP" sz="1900"/>
          </a:p>
          <a:p>
            <a:pPr lvl="3"/>
            <a:r>
              <a:rPr lang="ja-JP" altLang="en-US" sz="1900"/>
              <a:t>要は「想定の電流値ではなくなる（ずれる）」！！！</a:t>
            </a:r>
            <a:endParaRPr lang="en-US" altLang="ja-JP" sz="190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698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35B13F9-8838-B539-8E4F-10E672FBB852}"/>
              </a:ext>
            </a:extLst>
          </p:cNvPr>
          <p:cNvSpPr>
            <a:spLocks noGrp="1"/>
          </p:cNvSpPr>
          <p:nvPr>
            <p:ph type="title"/>
          </p:nvPr>
        </p:nvSpPr>
        <p:spPr>
          <a:xfrm>
            <a:off x="517889" y="4883544"/>
            <a:ext cx="4386156" cy="1556907"/>
          </a:xfrm>
        </p:spPr>
        <p:txBody>
          <a:bodyPr anchor="ctr">
            <a:normAutofit/>
          </a:bodyPr>
          <a:lstStyle/>
          <a:p>
            <a:r>
              <a:rPr lang="ja-JP" altLang="en-US" sz="3200"/>
              <a:t>短チャネル長変調効果</a:t>
            </a:r>
            <a:endParaRPr kumimoji="1" lang="ja-JP" altLang="en-US" sz="3200"/>
          </a:p>
        </p:txBody>
      </p:sp>
      <p:sp>
        <p:nvSpPr>
          <p:cNvPr id="1033" name="Rectangle 103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DED56D8-8269-0FCD-5314-65A4ABED631C}"/>
              </a:ext>
            </a:extLst>
          </p:cNvPr>
          <p:cNvSpPr>
            <a:spLocks noGrp="1"/>
          </p:cNvSpPr>
          <p:nvPr>
            <p:ph idx="1"/>
          </p:nvPr>
        </p:nvSpPr>
        <p:spPr>
          <a:xfrm>
            <a:off x="5162719" y="4883544"/>
            <a:ext cx="6586915" cy="1705146"/>
          </a:xfrm>
        </p:spPr>
        <p:txBody>
          <a:bodyPr anchor="ctr">
            <a:normAutofit/>
          </a:bodyPr>
          <a:lstStyle/>
          <a:p>
            <a:r>
              <a:rPr lang="en-US" altLang="ja-JP" sz="1800"/>
              <a:t>TR10</a:t>
            </a:r>
            <a:r>
              <a:rPr lang="ja-JP" altLang="en-US" sz="1800"/>
              <a:t>の状況</a:t>
            </a:r>
            <a:endParaRPr lang="en-US" altLang="ja-JP" sz="1800"/>
          </a:p>
          <a:p>
            <a:pPr lvl="1"/>
            <a:r>
              <a:rPr lang="en-US" altLang="ja-JP" sz="1800"/>
              <a:t>1um</a:t>
            </a:r>
            <a:r>
              <a:rPr lang="ja-JP" altLang="en-US" sz="1800"/>
              <a:t>なので起きないと思いきや、起きるので注意！！！</a:t>
            </a:r>
            <a:endParaRPr lang="en-US" altLang="ja-JP" sz="1800"/>
          </a:p>
          <a:p>
            <a:pPr lvl="2"/>
            <a:r>
              <a:rPr kumimoji="1" lang="en-US" altLang="ja-JP" sz="1800"/>
              <a:t>4um</a:t>
            </a:r>
            <a:r>
              <a:rPr kumimoji="1" lang="ja-JP" altLang="en-US" sz="1800"/>
              <a:t>でも起きている</a:t>
            </a:r>
            <a:r>
              <a:rPr lang="ja-JP" altLang="en-US" sz="1800"/>
              <a:t>ので</a:t>
            </a:r>
            <a:r>
              <a:rPr kumimoji="1" lang="ja-JP" altLang="en-US" sz="1800"/>
              <a:t>注意</a:t>
            </a:r>
            <a:endParaRPr kumimoji="1" lang="en-US" altLang="ja-JP" sz="1800"/>
          </a:p>
          <a:p>
            <a:pPr lvl="3"/>
            <a:r>
              <a:rPr kumimoji="1" lang="en-US" altLang="ja-JP" sz="1600"/>
              <a:t>short_channel.sch</a:t>
            </a:r>
            <a:endParaRPr kumimoji="1" lang="ja-JP" altLang="en-US" sz="1600"/>
          </a:p>
        </p:txBody>
      </p:sp>
      <p:pic>
        <p:nvPicPr>
          <p:cNvPr id="5" name="図 4">
            <a:extLst>
              <a:ext uri="{FF2B5EF4-FFF2-40B4-BE49-F238E27FC236}">
                <a16:creationId xmlns:a16="http://schemas.microsoft.com/office/drawing/2014/main" id="{D7E4E6B4-7986-2591-9F58-18A5D3720CFA}"/>
              </a:ext>
            </a:extLst>
          </p:cNvPr>
          <p:cNvPicPr>
            <a:picLocks noChangeAspect="1"/>
          </p:cNvPicPr>
          <p:nvPr/>
        </p:nvPicPr>
        <p:blipFill>
          <a:blip r:embed="rId2"/>
          <a:stretch>
            <a:fillRect/>
          </a:stretch>
        </p:blipFill>
        <p:spPr>
          <a:xfrm>
            <a:off x="0" y="464409"/>
            <a:ext cx="12192000" cy="3660448"/>
          </a:xfrm>
          <a:prstGeom prst="rect">
            <a:avLst/>
          </a:prstGeom>
        </p:spPr>
      </p:pic>
    </p:spTree>
    <p:extLst>
      <p:ext uri="{BB962C8B-B14F-4D97-AF65-F5344CB8AC3E}">
        <p14:creationId xmlns:p14="http://schemas.microsoft.com/office/powerpoint/2010/main" val="882250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69D2AC7-57B2-C6A7-4F92-327E8BC14ABC}"/>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3A0A5C51-4FA0-6469-070F-84A979105B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1FB8228-9F3E-14A8-AEBC-69153F43A58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325416DA-479E-8AAD-E920-065A308F937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170256A-C977-F0C7-D225-060F1AB205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763C82A0-996D-B31C-935C-A5F22183D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43B671A-4197-0FEE-EE34-C8D12FD0334B}"/>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オーバードライブ電圧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6632095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7E37E9-469A-0F46-D7AC-3E00A7ECE831}"/>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6" name="Rectangle 3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93A5604-618B-E935-C364-9F2F2D0C5B90}"/>
              </a:ext>
            </a:extLst>
          </p:cNvPr>
          <p:cNvSpPr>
            <a:spLocks noGrp="1"/>
          </p:cNvSpPr>
          <p:nvPr>
            <p:ph type="title"/>
          </p:nvPr>
        </p:nvSpPr>
        <p:spPr>
          <a:xfrm>
            <a:off x="1043631" y="809898"/>
            <a:ext cx="9942716" cy="1554480"/>
          </a:xfrm>
        </p:spPr>
        <p:txBody>
          <a:bodyPr anchor="ctr">
            <a:normAutofit/>
          </a:bodyPr>
          <a:lstStyle/>
          <a:p>
            <a:r>
              <a:rPr kumimoji="1" lang="ja-JP" altLang="en-US" sz="4800"/>
              <a:t>オーバードライブ電圧：</a:t>
            </a:r>
            <a:r>
              <a:rPr lang="en-US" altLang="ja-JP" sz="4800" dirty="0"/>
              <a:t> </a:t>
            </a:r>
            <a:r>
              <a:rPr lang="en-US" altLang="ja-JP" sz="4800" dirty="0" err="1"/>
              <a:t>Vod</a:t>
            </a:r>
            <a:endParaRPr kumimoji="1" lang="ja-JP" altLang="en-US" sz="480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33B7E8C-8398-1B17-CDEC-B33AD5C52211}"/>
                  </a:ext>
                </a:extLst>
              </p:cNvPr>
              <p:cNvSpPr>
                <a:spLocks noGrp="1"/>
              </p:cNvSpPr>
              <p:nvPr>
                <p:ph idx="1"/>
              </p:nvPr>
            </p:nvSpPr>
            <p:spPr>
              <a:xfrm>
                <a:off x="1045028" y="3017522"/>
                <a:ext cx="9941319" cy="3124658"/>
              </a:xfrm>
            </p:spPr>
            <p:txBody>
              <a:bodyPr anchor="ctr">
                <a:normAutofit/>
              </a:bodyPr>
              <a:lstStyle/>
              <a:p>
                <a:r>
                  <a:rPr lang="ja-JP" altLang="en-US" sz="2400" b="1"/>
                  <a:t>ゲート</a:t>
                </a:r>
                <a:r>
                  <a:rPr lang="en-US" altLang="ja-JP" sz="2400" b="1" dirty="0"/>
                  <a:t>-</a:t>
                </a:r>
                <a:r>
                  <a:rPr lang="ja-JP" altLang="en-US" sz="2400" b="1"/>
                  <a:t>ソース間電圧 </a:t>
                </a:r>
                <a:r>
                  <a:rPr lang="en-US" altLang="ja-JP" sz="2400" b="1" dirty="0" err="1"/>
                  <a:t>Vgs</a:t>
                </a:r>
                <a:r>
                  <a:rPr lang="ja-JP" altLang="en-US" sz="2400" b="1"/>
                  <a:t> がしきい値電圧 </a:t>
                </a:r>
                <a:r>
                  <a:rPr lang="en-US" altLang="ja-JP" sz="2400" b="1" dirty="0"/>
                  <a:t>Vth</a:t>
                </a:r>
                <a:r>
                  <a:rPr lang="ja-JP" altLang="en-US" sz="2400" b="1"/>
                  <a:t> をどれだけ上回っているか</a:t>
                </a:r>
                <a:r>
                  <a:rPr lang="ja-JP" altLang="en-US" sz="2400"/>
                  <a:t>を示す電圧差</a:t>
                </a:r>
                <a:endParaRPr lang="en-US" altLang="ja-JP" sz="2400" dirty="0"/>
              </a:p>
              <a:p>
                <a:pPr lvl="1"/>
                <a:r>
                  <a:rPr lang="en-US" altLang="ja-JP" dirty="0" err="1"/>
                  <a:t>Vod</a:t>
                </a:r>
                <a:r>
                  <a:rPr lang="en-US" altLang="ja-JP" dirty="0"/>
                  <a:t>​=|</a:t>
                </a:r>
                <a:r>
                  <a:rPr lang="en-US" altLang="ja-JP" dirty="0" err="1"/>
                  <a:t>Vgs</a:t>
                </a:r>
                <a:r>
                  <a:rPr lang="en-US" altLang="ja-JP" dirty="0"/>
                  <a:t>|​−Vth</a:t>
                </a:r>
              </a:p>
              <a:p>
                <a:pPr lvl="2"/>
                <a:r>
                  <a:rPr lang="en-US" altLang="ja-JP" dirty="0" err="1"/>
                  <a:t>Vod</a:t>
                </a:r>
                <a:r>
                  <a:rPr lang="en-US" altLang="ja-JP" dirty="0"/>
                  <a:t> </a:t>
                </a:r>
                <a:r>
                  <a:rPr lang="ja-JP" altLang="en-US"/>
                  <a:t>≧</a:t>
                </a:r>
                <a:r>
                  <a:rPr lang="en-US" altLang="ja-JP" dirty="0"/>
                  <a:t> 0</a:t>
                </a:r>
                <a:r>
                  <a:rPr lang="en-US" altLang="ja-JP" baseline="-25000" dirty="0"/>
                  <a:t> </a:t>
                </a:r>
                <a:r>
                  <a:rPr lang="ja-JP" altLang="en-US"/>
                  <a:t>かつ </a:t>
                </a:r>
                <a:r>
                  <a:rPr lang="en-US" altLang="ja-JP" dirty="0"/>
                  <a:t>|</a:t>
                </a:r>
                <a:r>
                  <a:rPr lang="en-US" altLang="ja-JP" dirty="0" err="1"/>
                  <a:t>Vds</a:t>
                </a:r>
                <a:r>
                  <a:rPr lang="en-US" altLang="ja-JP" dirty="0"/>
                  <a:t>| </a:t>
                </a:r>
                <a:r>
                  <a:rPr lang="ja-JP" altLang="en-US"/>
                  <a:t>≧</a:t>
                </a:r>
                <a:r>
                  <a:rPr lang="en-US" altLang="ja-JP" dirty="0"/>
                  <a:t> </a:t>
                </a:r>
                <a:r>
                  <a:rPr lang="en-US" altLang="ja-JP" dirty="0" err="1"/>
                  <a:t>Vod</a:t>
                </a:r>
                <a:r>
                  <a:rPr lang="en-US" altLang="ja-JP" dirty="0"/>
                  <a:t>​ </a:t>
                </a:r>
                <a:r>
                  <a:rPr lang="ja-JP" altLang="en-US"/>
                  <a:t>が「飽和領域」</a:t>
                </a:r>
                <a:endParaRPr lang="en-US" altLang="ja-JP" dirty="0"/>
              </a:p>
              <a:p>
                <a:endParaRPr lang="en-US" altLang="ja-JP" dirty="0"/>
              </a:p>
              <a:p>
                <a:r>
                  <a:rPr lang="ja-JP" altLang="en-US"/>
                  <a:t>電流駆動能力に影響</a:t>
                </a:r>
                <a:endParaRPr lang="en-US" altLang="ja-JP" dirty="0"/>
              </a:p>
              <a:p>
                <a:pPr lvl="1"/>
                <a:r>
                  <a:rPr lang="en" altLang="ja-JP" dirty="0"/>
                  <a:t>Id=</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2</m:t>
                        </m:r>
                      </m:den>
                    </m:f>
                  </m:oMath>
                </a14:m>
                <a:r>
                  <a:rPr lang="en" altLang="ja-JP" dirty="0"/>
                  <a:t>​</a:t>
                </a:r>
                <a:r>
                  <a:rPr lang="el-GR" altLang="ja-JP" dirty="0"/>
                  <a:t>μ</a:t>
                </a:r>
                <a:r>
                  <a:rPr lang="en" altLang="ja-JP" dirty="0"/>
                  <a:t>Cox​(</a:t>
                </a:r>
                <a14:m>
                  <m:oMath xmlns:m="http://schemas.openxmlformats.org/officeDocument/2006/math">
                    <m:f>
                      <m:fPr>
                        <m:ctrlPr>
                          <a:rPr lang="en" altLang="ja-JP" i="1">
                            <a:latin typeface="Cambria Math" panose="02040503050406030204" pitchFamily="18" charset="0"/>
                          </a:rPr>
                        </m:ctrlPr>
                      </m:fPr>
                      <m:num>
                        <m:r>
                          <a:rPr lang="en-US" altLang="ja-JP" i="1">
                            <a:latin typeface="Cambria Math" panose="02040503050406030204" pitchFamily="18" charset="0"/>
                          </a:rPr>
                          <m:t>𝑊</m:t>
                        </m:r>
                      </m:num>
                      <m:den>
                        <m:r>
                          <a:rPr lang="en-US" altLang="ja-JP" i="1">
                            <a:latin typeface="Cambria Math" panose="02040503050406030204" pitchFamily="18" charset="0"/>
                          </a:rPr>
                          <m:t>𝐿</m:t>
                        </m:r>
                      </m:den>
                    </m:f>
                  </m:oMath>
                </a14:m>
                <a:r>
                  <a:rPr lang="en" altLang="ja-JP" dirty="0"/>
                  <a:t>​)(V</a:t>
                </a:r>
                <a:r>
                  <a:rPr lang="en-US" altLang="ja-JP" baseline="-25000" dirty="0"/>
                  <a:t>Od</a:t>
                </a:r>
                <a:r>
                  <a:rPr lang="en" altLang="ja-JP" dirty="0"/>
                  <a:t>)</a:t>
                </a:r>
                <a:r>
                  <a:rPr lang="en" altLang="ja-JP" baseline="30000" dirty="0"/>
                  <a:t>2</a:t>
                </a:r>
                <a:r>
                  <a:rPr lang="en" altLang="ja-JP" dirty="0"/>
                  <a:t> </a:t>
                </a:r>
              </a:p>
            </p:txBody>
          </p:sp>
        </mc:Choice>
        <mc:Fallback xmlns="">
          <p:sp>
            <p:nvSpPr>
              <p:cNvPr id="3" name="コンテンツ プレースホルダー 2">
                <a:extLst>
                  <a:ext uri="{FF2B5EF4-FFF2-40B4-BE49-F238E27FC236}">
                    <a16:creationId xmlns:a16="http://schemas.microsoft.com/office/drawing/2014/main" id="{F33B7E8C-8398-1B17-CDEC-B33AD5C5221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49" t="-1619" r="-383" b="-1215"/>
                </a:stretch>
              </a:blipFill>
            </p:spPr>
            <p:txBody>
              <a:bodyPr/>
              <a:lstStyle/>
              <a:p>
                <a:r>
                  <a:rPr lang="ja-JP" altLang="en-US">
                    <a:noFill/>
                  </a:rPr>
                  <a:t> </a:t>
                </a:r>
              </a:p>
            </p:txBody>
          </p:sp>
        </mc:Fallback>
      </mc:AlternateContent>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72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35B682-17B2-196E-850E-FD4965403556}"/>
              </a:ext>
            </a:extLst>
          </p:cNvPr>
          <p:cNvSpPr>
            <a:spLocks noGrp="1"/>
          </p:cNvSpPr>
          <p:nvPr>
            <p:ph type="title"/>
          </p:nvPr>
        </p:nvSpPr>
        <p:spPr>
          <a:xfrm>
            <a:off x="1043631" y="809898"/>
            <a:ext cx="9942716" cy="1554480"/>
          </a:xfrm>
        </p:spPr>
        <p:txBody>
          <a:bodyPr anchor="ctr">
            <a:normAutofit/>
          </a:bodyPr>
          <a:lstStyle/>
          <a:p>
            <a:r>
              <a:rPr lang="el-GR" altLang="ja-JP" sz="4800"/>
              <a:t>μ</a:t>
            </a:r>
            <a:r>
              <a:rPr lang="en-US" altLang="ja-JP" sz="4800"/>
              <a:t>Cox​</a:t>
            </a:r>
            <a:endParaRPr kumimoji="1" lang="ja-JP" altLang="en-US" sz="4800"/>
          </a:p>
        </p:txBody>
      </p:sp>
      <p:sp>
        <p:nvSpPr>
          <p:cNvPr id="3" name="コンテンツ プレースホルダー 2">
            <a:extLst>
              <a:ext uri="{FF2B5EF4-FFF2-40B4-BE49-F238E27FC236}">
                <a16:creationId xmlns:a16="http://schemas.microsoft.com/office/drawing/2014/main" id="{EBBAE91E-A67D-A709-15BD-262406151C22}"/>
              </a:ext>
            </a:extLst>
          </p:cNvPr>
          <p:cNvSpPr>
            <a:spLocks noGrp="1"/>
          </p:cNvSpPr>
          <p:nvPr>
            <p:ph idx="1"/>
          </p:nvPr>
        </p:nvSpPr>
        <p:spPr>
          <a:xfrm>
            <a:off x="1045028" y="3017521"/>
            <a:ext cx="9941319" cy="3424145"/>
          </a:xfrm>
        </p:spPr>
        <p:txBody>
          <a:bodyPr anchor="ctr">
            <a:normAutofit lnSpcReduction="10000"/>
          </a:bodyPr>
          <a:lstStyle/>
          <a:p>
            <a:r>
              <a:rPr lang="en-US" altLang="ja-JP" sz="2000"/>
              <a:t>μ (</a:t>
            </a:r>
            <a:r>
              <a:rPr lang="ja-JP" altLang="en-US" sz="2000"/>
              <a:t>ミュー</a:t>
            </a:r>
            <a:r>
              <a:rPr lang="en-US" altLang="ja-JP" sz="2000"/>
              <a:t>): </a:t>
            </a:r>
            <a:r>
              <a:rPr lang="ja-JP" altLang="en-US" sz="2000"/>
              <a:t>キャリア移動度（</a:t>
            </a:r>
            <a:r>
              <a:rPr lang="en-US" altLang="ja-JP" sz="2000"/>
              <a:t>Mobility</a:t>
            </a:r>
            <a:r>
              <a:rPr lang="ja-JP" altLang="en-US" sz="2000"/>
              <a:t>）</a:t>
            </a:r>
            <a:r>
              <a:rPr lang="en-US" altLang="ja-JP" sz="2000"/>
              <a:t> [cm2/V⋅s] </a:t>
            </a:r>
            <a:endParaRPr lang="ja-JP" altLang="en-US" sz="2000"/>
          </a:p>
          <a:p>
            <a:pPr lvl="1"/>
            <a:r>
              <a:rPr lang="ja-JP" altLang="en-US" sz="2000"/>
              <a:t>半導体材料中を電荷キャリア（電子または正孔）がどれだけ容易に移動できるかを示す量</a:t>
            </a:r>
            <a:endParaRPr lang="en-US" altLang="ja-JP" sz="2000"/>
          </a:p>
          <a:p>
            <a:r>
              <a:rPr lang="en-US" altLang="ja-JP" sz="2000"/>
              <a:t>Cox​ (</a:t>
            </a:r>
            <a:r>
              <a:rPr lang="ja-JP" altLang="en-US" sz="2000"/>
              <a:t>シーオックス</a:t>
            </a:r>
            <a:r>
              <a:rPr lang="en-US" altLang="ja-JP" sz="2000"/>
              <a:t>): </a:t>
            </a:r>
            <a:r>
              <a:rPr lang="ja-JP" altLang="en-US" sz="2000"/>
              <a:t>単位面積あたりのゲート酸化膜容量（</a:t>
            </a:r>
            <a:r>
              <a:rPr lang="en-US" altLang="ja-JP" sz="2000"/>
              <a:t>Gate Oxide Capacitance per unit area</a:t>
            </a:r>
            <a:r>
              <a:rPr lang="ja-JP" altLang="en-US" sz="2000"/>
              <a:t>） </a:t>
            </a:r>
            <a:r>
              <a:rPr lang="en-US" altLang="ja-JP" sz="2000"/>
              <a:t>[F/cm2]</a:t>
            </a:r>
          </a:p>
          <a:p>
            <a:pPr lvl="1"/>
            <a:r>
              <a:rPr lang="ja-JP" altLang="en-US" sz="2000"/>
              <a:t>ゲート電極、ゲート絶縁膜、半導体基板の</a:t>
            </a:r>
            <a:r>
              <a:rPr lang="en-US" altLang="ja-JP" sz="2000"/>
              <a:t>3</a:t>
            </a:r>
            <a:r>
              <a:rPr lang="ja-JP" altLang="en-US" sz="2000"/>
              <a:t>層構造で形成される</a:t>
            </a:r>
            <a:r>
              <a:rPr lang="en-US" altLang="ja-JP" sz="2000"/>
              <a:t>MOS</a:t>
            </a:r>
            <a:r>
              <a:rPr lang="ja-JP" altLang="en-US" sz="2000"/>
              <a:t>キャパシタの単位面積あたりの容量</a:t>
            </a:r>
          </a:p>
          <a:p>
            <a:pPr lvl="1"/>
            <a:endParaRPr lang="ja-JP" altLang="en-US" sz="2000"/>
          </a:p>
          <a:p>
            <a:r>
              <a:rPr kumimoji="1" lang="en-US" altLang="ja-JP" sz="2000"/>
              <a:t>PDK</a:t>
            </a:r>
            <a:r>
              <a:rPr kumimoji="1" lang="ja-JP" altLang="en-US" sz="2000"/>
              <a:t>により提供され</a:t>
            </a:r>
            <a:r>
              <a:rPr lang="ja-JP" altLang="en-US" sz="2000"/>
              <a:t>、</a:t>
            </a:r>
            <a:r>
              <a:rPr lang="en-US" altLang="ja-JP" sz="2000"/>
              <a:t>gm</a:t>
            </a:r>
            <a:r>
              <a:rPr lang="ja-JP" altLang="en-US" sz="2000"/>
              <a:t>が電圧に依存するので、電圧に依存しない定数</a:t>
            </a:r>
            <a:r>
              <a:rPr lang="en-US" altLang="ja-JP" sz="2000"/>
              <a:t>=μCox (W/L)</a:t>
            </a:r>
            <a:r>
              <a:rPr lang="ja-JP" altLang="en-US" sz="2000"/>
              <a:t>にするために利用する</a:t>
            </a:r>
            <a:endParaRPr kumimoji="1" lang="en-US" altLang="ja-JP" sz="1600"/>
          </a:p>
          <a:p>
            <a:pPr lvl="1"/>
            <a:r>
              <a:rPr lang="en-US" altLang="ja-JP" sz="1600">
                <a:hlinkClick r:id="rId2"/>
              </a:rPr>
              <a:t>https://github.com/3zki/lsi1_analog1/blob/main/analog_tutorial_jp.pdf</a:t>
            </a:r>
            <a:endParaRPr kumimoji="1" lang="en-US" altLang="ja-JP" sz="16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185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EDB2362-0742-F94D-143F-DBC3CFD907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940719"/>
            <a:ext cx="5291666" cy="2976561"/>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ACB8E462-B283-A953-39CA-A2098BCDB9AC}"/>
              </a:ext>
            </a:extLst>
          </p:cNvPr>
          <p:cNvPicPr>
            <a:picLocks noChangeAspect="1"/>
          </p:cNvPicPr>
          <p:nvPr/>
        </p:nvPicPr>
        <p:blipFill>
          <a:blip r:embed="rId3"/>
          <a:stretch>
            <a:fillRect/>
          </a:stretch>
        </p:blipFill>
        <p:spPr>
          <a:xfrm>
            <a:off x="6256865" y="1940719"/>
            <a:ext cx="5291667" cy="2976562"/>
          </a:xfrm>
          <a:prstGeom prst="rect">
            <a:avLst/>
          </a:prstGeom>
        </p:spPr>
      </p:pic>
    </p:spTree>
    <p:extLst>
      <p:ext uri="{BB962C8B-B14F-4D97-AF65-F5344CB8AC3E}">
        <p14:creationId xmlns:p14="http://schemas.microsoft.com/office/powerpoint/2010/main" val="311252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19ED624-8015-C1CD-8205-6B5F45FCABA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9BF331E-C233-D2F5-C94C-9346AC3F626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実測</a:t>
            </a:r>
          </a:p>
        </p:txBody>
      </p:sp>
    </p:spTree>
    <p:extLst>
      <p:ext uri="{BB962C8B-B14F-4D97-AF65-F5344CB8AC3E}">
        <p14:creationId xmlns:p14="http://schemas.microsoft.com/office/powerpoint/2010/main" val="664724381"/>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1BB0DE-85AE-2C14-6463-90981BFC0DA2}"/>
              </a:ext>
            </a:extLst>
          </p:cNvPr>
          <p:cNvSpPr>
            <a:spLocks noGrp="1"/>
          </p:cNvSpPr>
          <p:nvPr>
            <p:ph type="title"/>
          </p:nvPr>
        </p:nvSpPr>
        <p:spPr>
          <a:xfrm>
            <a:off x="517889" y="4883544"/>
            <a:ext cx="3876086" cy="1556907"/>
          </a:xfrm>
        </p:spPr>
        <p:txBody>
          <a:bodyPr anchor="ctr">
            <a:normAutofit/>
          </a:bodyPr>
          <a:lstStyle/>
          <a:p>
            <a:r>
              <a:rPr kumimoji="1" lang="ja-JP" altLang="en-US" sz="3200"/>
              <a:t>対象</a:t>
            </a:r>
          </a:p>
        </p:txBody>
      </p:sp>
      <p:sp>
        <p:nvSpPr>
          <p:cNvPr id="5129" name="Rectangle 5128">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8E00954-A865-E9A7-04BE-6164370F837C}"/>
              </a:ext>
            </a:extLst>
          </p:cNvPr>
          <p:cNvSpPr>
            <a:spLocks noGrp="1"/>
          </p:cNvSpPr>
          <p:nvPr>
            <p:ph idx="1"/>
          </p:nvPr>
        </p:nvSpPr>
        <p:spPr>
          <a:xfrm>
            <a:off x="5162719" y="4883544"/>
            <a:ext cx="6586915" cy="1556907"/>
          </a:xfrm>
        </p:spPr>
        <p:txBody>
          <a:bodyPr anchor="ctr">
            <a:normAutofit/>
          </a:bodyPr>
          <a:lstStyle/>
          <a:p>
            <a:r>
              <a:rPr kumimoji="1" lang="en-US" altLang="ja-JP" sz="1800" dirty="0" err="1"/>
              <a:t>pMOS,nMOS</a:t>
            </a:r>
            <a:endParaRPr kumimoji="1" lang="en-US" altLang="ja-JP" sz="1800" dirty="0"/>
          </a:p>
          <a:p>
            <a:pPr lvl="1"/>
            <a:r>
              <a:rPr lang="ja-JP" altLang="en-US" sz="1800" dirty="0"/>
              <a:t>チャネル長 </a:t>
            </a:r>
            <a:r>
              <a:rPr lang="en" altLang="ja-JP" sz="1800" dirty="0"/>
              <a:t>L </a:t>
            </a:r>
            <a:r>
              <a:rPr lang="ja-JP" altLang="en-US" sz="1800" dirty="0"/>
              <a:t>を最小の </a:t>
            </a:r>
            <a:r>
              <a:rPr lang="en-US" altLang="ja-JP" sz="1800" dirty="0"/>
              <a:t>1 </a:t>
            </a:r>
            <a:r>
              <a:rPr lang="en" altLang="ja-JP" sz="1800" dirty="0"/>
              <a:t>um</a:t>
            </a:r>
            <a:r>
              <a:rPr lang="ja-JP" altLang="en" sz="1800" dirty="0"/>
              <a:t>、</a:t>
            </a:r>
            <a:r>
              <a:rPr lang="en" altLang="ja-JP" sz="1800" dirty="0"/>
              <a:t>MOS</a:t>
            </a:r>
            <a:r>
              <a:rPr lang="ja-JP" altLang="en-US" sz="1800" dirty="0"/>
              <a:t>のサイズは</a:t>
            </a:r>
            <a:r>
              <a:rPr lang="en" altLang="ja-JP" sz="1800" dirty="0"/>
              <a:t>W/L=10</a:t>
            </a:r>
          </a:p>
          <a:p>
            <a:pPr lvl="2"/>
            <a:r>
              <a:rPr lang="en" altLang="ja-JP" sz="1400" dirty="0">
                <a:hlinkClick r:id="rId2"/>
              </a:rPr>
              <a:t>https://github.com/ishi-kai/openmpw-transistor-level-examples/tree/main/</a:t>
            </a:r>
            <a:r>
              <a:rPr lang="en-US" altLang="ja-JP" sz="1400" dirty="0">
                <a:hlinkClick r:id="rId2"/>
              </a:rPr>
              <a:t>OpenSUSI-TR10</a:t>
            </a:r>
            <a:r>
              <a:rPr lang="en" altLang="ja-JP" sz="1400" dirty="0">
                <a:hlinkClick r:id="rId2"/>
              </a:rPr>
              <a:t>/opamp</a:t>
            </a:r>
            <a:endParaRPr lang="en" altLang="ja-JP" sz="1400" dirty="0"/>
          </a:p>
        </p:txBody>
      </p:sp>
      <p:pic>
        <p:nvPicPr>
          <p:cNvPr id="6" name="図 5" descr="ダイアグラム&#10;&#10;AI 生成コンテンツは誤りを含む可能性があります。">
            <a:extLst>
              <a:ext uri="{FF2B5EF4-FFF2-40B4-BE49-F238E27FC236}">
                <a16:creationId xmlns:a16="http://schemas.microsoft.com/office/drawing/2014/main" id="{66C9F937-55EB-2F8D-6433-65E2C4E7D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578" y="123517"/>
            <a:ext cx="7477452" cy="4318174"/>
          </a:xfrm>
          <a:prstGeom prst="rect">
            <a:avLst/>
          </a:prstGeom>
        </p:spPr>
      </p:pic>
      <p:sp>
        <p:nvSpPr>
          <p:cNvPr id="4" name="吹き出し: 角を丸めた四角形 3">
            <a:extLst>
              <a:ext uri="{FF2B5EF4-FFF2-40B4-BE49-F238E27FC236}">
                <a16:creationId xmlns:a16="http://schemas.microsoft.com/office/drawing/2014/main" id="{CE2A8A95-725E-B822-C1F2-6B76FEB21386}"/>
              </a:ext>
            </a:extLst>
          </p:cNvPr>
          <p:cNvSpPr/>
          <p:nvPr/>
        </p:nvSpPr>
        <p:spPr>
          <a:xfrm>
            <a:off x="75523" y="1974456"/>
            <a:ext cx="2568055" cy="1054813"/>
          </a:xfrm>
          <a:prstGeom prst="wedgeRoundRectCallout">
            <a:avLst>
              <a:gd name="adj1" fmla="val 54687"/>
              <a:gd name="adj2" fmla="val 9675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600"/>
              <a:t>M1</a:t>
            </a:r>
            <a:r>
              <a:rPr kumimoji="1" lang="ja-JP" altLang="en-US" sz="1600"/>
              <a:t>などのデバイスに</a:t>
            </a:r>
            <a:endParaRPr kumimoji="1" lang="en-US" altLang="ja-JP" sz="1600"/>
          </a:p>
          <a:p>
            <a:pPr algn="ctr"/>
            <a:r>
              <a:rPr kumimoji="1" lang="ja-JP" altLang="en-US" sz="1600"/>
              <a:t>設定されたパラメータを</a:t>
            </a:r>
            <a:endParaRPr kumimoji="1" lang="en-US" altLang="ja-JP" sz="1600"/>
          </a:p>
          <a:p>
            <a:pPr algn="ctr"/>
            <a:r>
              <a:rPr kumimoji="1" lang="ja-JP" altLang="en-US" sz="1600"/>
              <a:t>指定する方法</a:t>
            </a:r>
          </a:p>
        </p:txBody>
      </p:sp>
    </p:spTree>
    <p:extLst>
      <p:ext uri="{BB962C8B-B14F-4D97-AF65-F5344CB8AC3E}">
        <p14:creationId xmlns:p14="http://schemas.microsoft.com/office/powerpoint/2010/main" val="1917807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39B986-6D28-5FFB-94DD-DE17B2A71B7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1422-11DC-E110-D589-4F69692EC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0FEFD56-69EA-570C-43CA-4A32F38ADBAF}"/>
              </a:ext>
            </a:extLst>
          </p:cNvPr>
          <p:cNvSpPr>
            <a:spLocks noGrp="1"/>
          </p:cNvSpPr>
          <p:nvPr>
            <p:ph type="title"/>
          </p:nvPr>
        </p:nvSpPr>
        <p:spPr>
          <a:xfrm>
            <a:off x="532015" y="4495568"/>
            <a:ext cx="3861960" cy="1905232"/>
          </a:xfrm>
        </p:spPr>
        <p:txBody>
          <a:bodyPr anchor="ctr">
            <a:normAutofit/>
          </a:bodyPr>
          <a:lstStyle/>
          <a:p>
            <a:r>
              <a:rPr kumimoji="1" lang="en-US" altLang="ja-JP" sz="3200"/>
              <a:t>pMOS</a:t>
            </a:r>
            <a:r>
              <a:rPr kumimoji="1" lang="ja-JP" altLang="en-US" sz="3200"/>
              <a:t>回路サンプル</a:t>
            </a:r>
          </a:p>
        </p:txBody>
      </p:sp>
      <p:sp>
        <p:nvSpPr>
          <p:cNvPr id="16" name="Rectangle 15">
            <a:extLst>
              <a:ext uri="{FF2B5EF4-FFF2-40B4-BE49-F238E27FC236}">
                <a16:creationId xmlns:a16="http://schemas.microsoft.com/office/drawing/2014/main" id="{AEF9F872-EAAF-1FE1-880F-07AB224CA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53479C-A2D6-F9B6-878C-C0873F44F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descr="ダイアグラム&#10;&#10;AI 生成コンテンツは誤りを含む可能性があります。">
            <a:extLst>
              <a:ext uri="{FF2B5EF4-FFF2-40B4-BE49-F238E27FC236}">
                <a16:creationId xmlns:a16="http://schemas.microsoft.com/office/drawing/2014/main" id="{BFDA887A-C2A2-D442-2556-62AC67DDE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940" y="606967"/>
            <a:ext cx="5136795" cy="2940814"/>
          </a:xfrm>
          <a:prstGeom prst="rect">
            <a:avLst/>
          </a:prstGeom>
        </p:spPr>
      </p:pic>
      <p:pic>
        <p:nvPicPr>
          <p:cNvPr id="9" name="図 8" descr="ダイアグラム が含まれている画像&#10;&#10;AI 生成コンテンツは誤りを含む可能性があります。">
            <a:extLst>
              <a:ext uri="{FF2B5EF4-FFF2-40B4-BE49-F238E27FC236}">
                <a16:creationId xmlns:a16="http://schemas.microsoft.com/office/drawing/2014/main" id="{601CC206-BF00-7C39-ECC8-41CE030A1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4883" y="606968"/>
            <a:ext cx="5601551" cy="2940814"/>
          </a:xfrm>
          <a:prstGeom prst="rect">
            <a:avLst/>
          </a:prstGeom>
        </p:spPr>
      </p:pic>
      <p:sp>
        <p:nvSpPr>
          <p:cNvPr id="20" name="Rectangle 19">
            <a:extLst>
              <a:ext uri="{FF2B5EF4-FFF2-40B4-BE49-F238E27FC236}">
                <a16:creationId xmlns:a16="http://schemas.microsoft.com/office/drawing/2014/main" id="{459B77F6-A4BB-8BD1-D55D-72021A929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6D58324-0044-EE65-1623-2D73BCE744B8}"/>
              </a:ext>
            </a:extLst>
          </p:cNvPr>
          <p:cNvSpPr>
            <a:spLocks noGrp="1"/>
          </p:cNvSpPr>
          <p:nvPr>
            <p:ph idx="1"/>
          </p:nvPr>
        </p:nvSpPr>
        <p:spPr>
          <a:xfrm>
            <a:off x="5162719" y="4495568"/>
            <a:ext cx="6586915" cy="1905232"/>
          </a:xfrm>
        </p:spPr>
        <p:txBody>
          <a:bodyPr anchor="ctr">
            <a:normAutofit/>
          </a:bodyPr>
          <a:lstStyle/>
          <a:p>
            <a:r>
              <a:rPr lang="en-US" altLang="ja-JP" sz="1800"/>
              <a:t>op</a:t>
            </a:r>
            <a:r>
              <a:rPr lang="ja-JP" altLang="en-US" sz="1800"/>
              <a:t>コマンドで詳細を確認する</a:t>
            </a:r>
            <a:endParaRPr lang="en-US" altLang="ja-JP" sz="1800"/>
          </a:p>
          <a:p>
            <a:r>
              <a:rPr lang="ja-JP" altLang="en-US" sz="1800"/>
              <a:t>数値の理由</a:t>
            </a:r>
            <a:endParaRPr lang="en-US" altLang="ja-JP" sz="1800"/>
          </a:p>
          <a:p>
            <a:pPr lvl="1"/>
            <a:r>
              <a:rPr lang="en-US" altLang="ja-JP" sz="1400" err="1"/>
              <a:t>Vds</a:t>
            </a:r>
            <a:r>
              <a:rPr lang="en-US" altLang="ja-JP" sz="1400"/>
              <a:t>=2.5V</a:t>
            </a:r>
          </a:p>
          <a:p>
            <a:pPr lvl="1"/>
            <a:r>
              <a:rPr lang="en-US" altLang="ja-JP" sz="1400" err="1"/>
              <a:t>Vgs</a:t>
            </a:r>
            <a:r>
              <a:rPr lang="en-US" altLang="ja-JP" sz="1400"/>
              <a:t>=0.9V</a:t>
            </a:r>
          </a:p>
        </p:txBody>
      </p:sp>
      <p:sp>
        <p:nvSpPr>
          <p:cNvPr id="10" name="テキスト ボックス 9">
            <a:extLst>
              <a:ext uri="{FF2B5EF4-FFF2-40B4-BE49-F238E27FC236}">
                <a16:creationId xmlns:a16="http://schemas.microsoft.com/office/drawing/2014/main" id="{3CCDF4FA-1A06-B5F6-71D3-F41D39E90160}"/>
              </a:ext>
            </a:extLst>
          </p:cNvPr>
          <p:cNvSpPr txBox="1"/>
          <p:nvPr/>
        </p:nvSpPr>
        <p:spPr>
          <a:xfrm>
            <a:off x="8283197" y="3607259"/>
            <a:ext cx="1164921" cy="381403"/>
          </a:xfrm>
          <a:prstGeom prst="rect">
            <a:avLst/>
          </a:prstGeom>
          <a:noFill/>
        </p:spPr>
        <p:txBody>
          <a:bodyPr wrap="square" rtlCol="0">
            <a:spAutoFit/>
          </a:bodyPr>
          <a:lstStyle/>
          <a:p>
            <a:r>
              <a:rPr kumimoji="1" lang="en-US" altLang="ja-JP"/>
              <a:t>Id/Vds</a:t>
            </a:r>
            <a:endParaRPr kumimoji="1" lang="ja-JP" altLang="en-US"/>
          </a:p>
        </p:txBody>
      </p:sp>
      <p:sp>
        <p:nvSpPr>
          <p:cNvPr id="11" name="テキスト ボックス 10">
            <a:extLst>
              <a:ext uri="{FF2B5EF4-FFF2-40B4-BE49-F238E27FC236}">
                <a16:creationId xmlns:a16="http://schemas.microsoft.com/office/drawing/2014/main" id="{10DA66C9-8A3A-C9BC-E495-7424E7487929}"/>
              </a:ext>
            </a:extLst>
          </p:cNvPr>
          <p:cNvSpPr txBox="1"/>
          <p:nvPr/>
        </p:nvSpPr>
        <p:spPr>
          <a:xfrm>
            <a:off x="2743882" y="3648901"/>
            <a:ext cx="1164921" cy="381403"/>
          </a:xfrm>
          <a:prstGeom prst="rect">
            <a:avLst/>
          </a:prstGeom>
          <a:noFill/>
        </p:spPr>
        <p:txBody>
          <a:bodyPr wrap="square" rtlCol="0">
            <a:spAutoFit/>
          </a:bodyPr>
          <a:lstStyle/>
          <a:p>
            <a:r>
              <a:rPr kumimoji="1" lang="en-US" altLang="ja-JP"/>
              <a:t>Id/Vgs</a:t>
            </a:r>
            <a:endParaRPr kumimoji="1" lang="ja-JP" altLang="en-US"/>
          </a:p>
        </p:txBody>
      </p:sp>
    </p:spTree>
    <p:extLst>
      <p:ext uri="{BB962C8B-B14F-4D97-AF65-F5344CB8AC3E}">
        <p14:creationId xmlns:p14="http://schemas.microsoft.com/office/powerpoint/2010/main" val="138447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図 10" descr="グラフ&#10;&#10;AI 生成コンテンツは誤りを含む可能性があります。">
            <a:extLst>
              <a:ext uri="{FF2B5EF4-FFF2-40B4-BE49-F238E27FC236}">
                <a16:creationId xmlns:a16="http://schemas.microsoft.com/office/drawing/2014/main" id="{252FE288-EBDF-724A-8647-8188D7CD6E31}"/>
              </a:ext>
            </a:extLst>
          </p:cNvPr>
          <p:cNvPicPr>
            <a:picLocks noChangeAspect="1"/>
          </p:cNvPicPr>
          <p:nvPr/>
        </p:nvPicPr>
        <p:blipFill>
          <a:blip r:embed="rId2">
            <a:extLst>
              <a:ext uri="{28A0092B-C50C-407E-A947-70E740481C1C}">
                <a14:useLocalDpi xmlns:a14="http://schemas.microsoft.com/office/drawing/2010/main" val="0"/>
              </a:ext>
            </a:extLst>
          </a:blip>
          <a:srcRect t="20499" r="-1" b="21055"/>
          <a:stretch>
            <a:fillRect/>
          </a:stretch>
        </p:blipFill>
        <p:spPr>
          <a:xfrm>
            <a:off x="462343" y="453918"/>
            <a:ext cx="4425623" cy="1868815"/>
          </a:xfrm>
          <a:prstGeom prst="rect">
            <a:avLst/>
          </a:prstGeom>
        </p:spPr>
      </p:pic>
      <p:pic>
        <p:nvPicPr>
          <p:cNvPr id="9" name="図 8" descr="グラフ&#10;&#10;AI 生成コンテンツは誤りを含む可能性があります。">
            <a:extLst>
              <a:ext uri="{FF2B5EF4-FFF2-40B4-BE49-F238E27FC236}">
                <a16:creationId xmlns:a16="http://schemas.microsoft.com/office/drawing/2014/main" id="{8956D267-7E79-0271-BA16-63563D5B87D6}"/>
              </a:ext>
            </a:extLst>
          </p:cNvPr>
          <p:cNvPicPr>
            <a:picLocks noChangeAspect="1"/>
          </p:cNvPicPr>
          <p:nvPr/>
        </p:nvPicPr>
        <p:blipFill>
          <a:blip r:embed="rId3">
            <a:extLst>
              <a:ext uri="{28A0092B-C50C-407E-A947-70E740481C1C}">
                <a14:useLocalDpi xmlns:a14="http://schemas.microsoft.com/office/drawing/2010/main" val="0"/>
              </a:ext>
            </a:extLst>
          </a:blip>
          <a:srcRect l="1231" r="17446" b="1"/>
          <a:stretch>
            <a:fillRect/>
          </a:stretch>
        </p:blipFill>
        <p:spPr>
          <a:xfrm>
            <a:off x="455134" y="2482591"/>
            <a:ext cx="4425623" cy="3918209"/>
          </a:xfrm>
          <a:prstGeom prst="rect">
            <a:avLst/>
          </a:prstGeom>
        </p:spPr>
      </p:pic>
      <p:pic>
        <p:nvPicPr>
          <p:cNvPr id="13" name="図 12" descr="ダイアグラム が含まれている画像&#10;&#10;AI 生成コンテンツは誤りを含む可能性があります。">
            <a:extLst>
              <a:ext uri="{FF2B5EF4-FFF2-40B4-BE49-F238E27FC236}">
                <a16:creationId xmlns:a16="http://schemas.microsoft.com/office/drawing/2014/main" id="{908100A1-7239-2B90-84A6-F3D978D11AEE}"/>
              </a:ext>
            </a:extLst>
          </p:cNvPr>
          <p:cNvPicPr>
            <a:picLocks noChangeAspect="1"/>
          </p:cNvPicPr>
          <p:nvPr/>
        </p:nvPicPr>
        <p:blipFill>
          <a:blip r:embed="rId4">
            <a:extLst>
              <a:ext uri="{28A0092B-C50C-407E-A947-70E740481C1C}">
                <a14:useLocalDpi xmlns:a14="http://schemas.microsoft.com/office/drawing/2010/main" val="0"/>
              </a:ext>
            </a:extLst>
          </a:blip>
          <a:srcRect t="12561" r="2" b="2"/>
          <a:stretch>
            <a:fillRect/>
          </a:stretch>
        </p:blipFill>
        <p:spPr>
          <a:xfrm>
            <a:off x="5039581" y="455276"/>
            <a:ext cx="2128524" cy="3918209"/>
          </a:xfrm>
          <a:prstGeom prst="rect">
            <a:avLst/>
          </a:prstGeom>
        </p:spPr>
      </p:pic>
      <p:sp>
        <p:nvSpPr>
          <p:cNvPr id="24" name="Rectangle 19">
            <a:extLst>
              <a:ext uri="{FF2B5EF4-FFF2-40B4-BE49-F238E27FC236}">
                <a16:creationId xmlns:a16="http://schemas.microsoft.com/office/drawing/2014/main" id="{3634A21A-3D5D-4DFA-99F4-16A031986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1624" y="453918"/>
            <a:ext cx="4413176" cy="3918209"/>
          </a:xfrm>
          <a:prstGeom prst="rect">
            <a:avLst/>
          </a:prstGeom>
          <a:solidFill>
            <a:srgbClr val="572E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5AAF1985-2D11-7356-1CAD-A2AFAE0C74A2}"/>
              </a:ext>
            </a:extLst>
          </p:cNvPr>
          <p:cNvSpPr>
            <a:spLocks noGrp="1"/>
          </p:cNvSpPr>
          <p:nvPr>
            <p:ph type="title"/>
          </p:nvPr>
        </p:nvSpPr>
        <p:spPr>
          <a:xfrm>
            <a:off x="7578164" y="717176"/>
            <a:ext cx="3890683" cy="1424775"/>
          </a:xfrm>
        </p:spPr>
        <p:txBody>
          <a:bodyPr vert="horz" lIns="91440" tIns="45720" rIns="91440" bIns="45720" rtlCol="0" anchor="b">
            <a:normAutofit/>
          </a:bodyPr>
          <a:lstStyle/>
          <a:p>
            <a:r>
              <a:rPr lang="en-US" altLang="ja-JP" sz="4800">
                <a:solidFill>
                  <a:srgbClr val="FFFFFF"/>
                </a:solidFill>
              </a:rPr>
              <a:t>p</a:t>
            </a:r>
            <a:r>
              <a:rPr lang="en-US" altLang="ja-JP" sz="4800" kern="1200">
                <a:solidFill>
                  <a:srgbClr val="FFFFFF"/>
                </a:solidFill>
                <a:latin typeface="+mj-lt"/>
                <a:ea typeface="+mj-ea"/>
                <a:cs typeface="+mj-cs"/>
              </a:rPr>
              <a:t>MOS </a:t>
            </a:r>
            <a:br>
              <a:rPr lang="en-US" altLang="ja-JP" sz="4800" kern="1200">
                <a:solidFill>
                  <a:srgbClr val="FFFFFF"/>
                </a:solidFill>
                <a:latin typeface="+mj-lt"/>
                <a:ea typeface="+mj-ea"/>
                <a:cs typeface="+mj-cs"/>
              </a:rPr>
            </a:br>
            <a:endParaRPr kumimoji="1" lang="en-US" altLang="ja-JP" sz="3100" kern="1200">
              <a:solidFill>
                <a:srgbClr val="FFFFFF"/>
              </a:solidFill>
              <a:latin typeface="+mj-lt"/>
              <a:ea typeface="+mj-ea"/>
              <a:cs typeface="+mj-cs"/>
            </a:endParaRPr>
          </a:p>
        </p:txBody>
      </p:sp>
      <p:pic>
        <p:nvPicPr>
          <p:cNvPr id="7" name="図 6" descr="グラフ, 折れ線グラフ&#10;&#10;AI 生成コンテンツは誤りを含む可能性があります。">
            <a:extLst>
              <a:ext uri="{FF2B5EF4-FFF2-40B4-BE49-F238E27FC236}">
                <a16:creationId xmlns:a16="http://schemas.microsoft.com/office/drawing/2014/main" id="{3A8A96CB-181A-5F81-3ADE-A77425E86C87}"/>
              </a:ext>
            </a:extLst>
          </p:cNvPr>
          <p:cNvPicPr>
            <a:picLocks noChangeAspect="1"/>
          </p:cNvPicPr>
          <p:nvPr/>
        </p:nvPicPr>
        <p:blipFill>
          <a:blip r:embed="rId5">
            <a:extLst>
              <a:ext uri="{28A0092B-C50C-407E-A947-70E740481C1C}">
                <a14:useLocalDpi xmlns:a14="http://schemas.microsoft.com/office/drawing/2010/main" val="0"/>
              </a:ext>
            </a:extLst>
          </a:blip>
          <a:srcRect l="1907" r="15774" b="7"/>
          <a:stretch>
            <a:fillRect/>
          </a:stretch>
        </p:blipFill>
        <p:spPr>
          <a:xfrm>
            <a:off x="5035056" y="4533661"/>
            <a:ext cx="2133050" cy="1865533"/>
          </a:xfrm>
          <a:prstGeom prst="rect">
            <a:avLst/>
          </a:prstGeom>
        </p:spPr>
      </p:pic>
      <p:pic>
        <p:nvPicPr>
          <p:cNvPr id="15" name="図 14" descr="グラフ, 折れ線グラフ&#10;&#10;AI 生成コンテンツは誤りを含む可能性があります。">
            <a:extLst>
              <a:ext uri="{FF2B5EF4-FFF2-40B4-BE49-F238E27FC236}">
                <a16:creationId xmlns:a16="http://schemas.microsoft.com/office/drawing/2014/main" id="{0D2EA0A7-8066-5861-0A1A-E1E323E97101}"/>
              </a:ext>
            </a:extLst>
          </p:cNvPr>
          <p:cNvPicPr>
            <a:picLocks noChangeAspect="1"/>
          </p:cNvPicPr>
          <p:nvPr/>
        </p:nvPicPr>
        <p:blipFill>
          <a:blip r:embed="rId6">
            <a:extLst>
              <a:ext uri="{28A0092B-C50C-407E-A947-70E740481C1C}">
                <a14:useLocalDpi xmlns:a14="http://schemas.microsoft.com/office/drawing/2010/main" val="0"/>
              </a:ext>
            </a:extLst>
          </a:blip>
          <a:srcRect l="1157" r="16394" b="7"/>
          <a:stretch>
            <a:fillRect/>
          </a:stretch>
        </p:blipFill>
        <p:spPr>
          <a:xfrm>
            <a:off x="7318437" y="4535267"/>
            <a:ext cx="2136433" cy="1865533"/>
          </a:xfrm>
          <a:prstGeom prst="rect">
            <a:avLst/>
          </a:prstGeom>
        </p:spPr>
      </p:pic>
      <p:pic>
        <p:nvPicPr>
          <p:cNvPr id="5" name="コンテンツ プレースホルダー 4" descr="グラフ&#10;&#10;AI 生成コンテンツは誤りを含む可能性があります。">
            <a:extLst>
              <a:ext uri="{FF2B5EF4-FFF2-40B4-BE49-F238E27FC236}">
                <a16:creationId xmlns:a16="http://schemas.microsoft.com/office/drawing/2014/main" id="{F5594D4B-76FF-7BB3-C7DB-9217570D462A}"/>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l="80" r="17887" b="7"/>
          <a:stretch>
            <a:fillRect/>
          </a:stretch>
        </p:blipFill>
        <p:spPr>
          <a:xfrm>
            <a:off x="9609170" y="4535267"/>
            <a:ext cx="2125631" cy="1865533"/>
          </a:xfrm>
          <a:prstGeom prst="rect">
            <a:avLst/>
          </a:prstGeom>
        </p:spPr>
      </p:pic>
      <p:sp>
        <p:nvSpPr>
          <p:cNvPr id="17" name="コンテンツ プレースホルダー 2">
            <a:extLst>
              <a:ext uri="{FF2B5EF4-FFF2-40B4-BE49-F238E27FC236}">
                <a16:creationId xmlns:a16="http://schemas.microsoft.com/office/drawing/2014/main" id="{FB1A87C6-CB3C-6DC7-DED7-0DBE7AECCD37}"/>
              </a:ext>
            </a:extLst>
          </p:cNvPr>
          <p:cNvSpPr txBox="1">
            <a:spLocks/>
          </p:cNvSpPr>
          <p:nvPr/>
        </p:nvSpPr>
        <p:spPr>
          <a:xfrm>
            <a:off x="7537244" y="1923116"/>
            <a:ext cx="3607930" cy="24490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a:solidFill>
                  <a:srgbClr val="FFFFFF"/>
                </a:solidFill>
              </a:rPr>
              <a:t>Id Vgs</a:t>
            </a:r>
          </a:p>
          <a:p>
            <a:pPr lvl="1"/>
            <a:r>
              <a:rPr lang="ja-JP" altLang="en-US" sz="1800">
                <a:solidFill>
                  <a:srgbClr val="FFFFFF"/>
                </a:solidFill>
              </a:rPr>
              <a:t>サンプル：</a:t>
            </a:r>
            <a:r>
              <a:rPr lang="en-US" altLang="ja-JP" sz="1400">
                <a:solidFill>
                  <a:srgbClr val="FFFFFF"/>
                </a:solidFill>
              </a:rPr>
              <a:t>nfet_idbgs.sch</a:t>
            </a:r>
          </a:p>
          <a:p>
            <a:r>
              <a:rPr lang="en-US" altLang="ja-JP" sz="2400">
                <a:solidFill>
                  <a:srgbClr val="FFFFFF"/>
                </a:solidFill>
              </a:rPr>
              <a:t>Id Vds</a:t>
            </a:r>
          </a:p>
          <a:p>
            <a:pPr lvl="1"/>
            <a:r>
              <a:rPr lang="ja-JP" altLang="en-US" sz="1800">
                <a:solidFill>
                  <a:srgbClr val="FFFFFF"/>
                </a:solidFill>
              </a:rPr>
              <a:t>サンプル：</a:t>
            </a:r>
            <a:r>
              <a:rPr lang="en-US" altLang="ja-JP" sz="1400">
                <a:solidFill>
                  <a:srgbClr val="FFFFFF"/>
                </a:solidFill>
              </a:rPr>
              <a:t>nfet_idvds.sch</a:t>
            </a:r>
          </a:p>
        </p:txBody>
      </p:sp>
    </p:spTree>
    <p:extLst>
      <p:ext uri="{BB962C8B-B14F-4D97-AF65-F5344CB8AC3E}">
        <p14:creationId xmlns:p14="http://schemas.microsoft.com/office/powerpoint/2010/main" val="2638400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D2BB5CC-D19B-9652-CCB3-22B63EF04B5E}"/>
              </a:ext>
            </a:extLst>
          </p:cNvPr>
          <p:cNvSpPr>
            <a:spLocks noGrp="1"/>
          </p:cNvSpPr>
          <p:nvPr>
            <p:ph type="title"/>
          </p:nvPr>
        </p:nvSpPr>
        <p:spPr>
          <a:xfrm>
            <a:off x="532015" y="4495568"/>
            <a:ext cx="3861960" cy="1905232"/>
          </a:xfrm>
        </p:spPr>
        <p:txBody>
          <a:bodyPr anchor="ctr">
            <a:normAutofit/>
          </a:bodyPr>
          <a:lstStyle/>
          <a:p>
            <a:r>
              <a:rPr kumimoji="1" lang="en-US" altLang="ja-JP" sz="3200"/>
              <a:t>nMOS</a:t>
            </a:r>
            <a:r>
              <a:rPr kumimoji="1" lang="ja-JP" altLang="en-US" sz="3200"/>
              <a:t>回路サンプル</a:t>
            </a:r>
          </a:p>
        </p:txBody>
      </p:sp>
      <p:sp>
        <p:nvSpPr>
          <p:cNvPr id="16" name="Rectangle 1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AEDC682-0850-BEA0-F6B0-AD5F70BCBEAB}"/>
              </a:ext>
            </a:extLst>
          </p:cNvPr>
          <p:cNvSpPr>
            <a:spLocks noGrp="1"/>
          </p:cNvSpPr>
          <p:nvPr>
            <p:ph idx="1"/>
          </p:nvPr>
        </p:nvSpPr>
        <p:spPr>
          <a:xfrm>
            <a:off x="5162719" y="4495568"/>
            <a:ext cx="6586915" cy="1905232"/>
          </a:xfrm>
        </p:spPr>
        <p:txBody>
          <a:bodyPr anchor="ctr">
            <a:normAutofit/>
          </a:bodyPr>
          <a:lstStyle/>
          <a:p>
            <a:r>
              <a:rPr kumimoji="1" lang="en-US" altLang="ja-JP" sz="1800"/>
              <a:t>op</a:t>
            </a:r>
            <a:r>
              <a:rPr kumimoji="1" lang="ja-JP" altLang="en-US" sz="1800"/>
              <a:t>コマンドで詳細を確認する</a:t>
            </a:r>
            <a:endParaRPr kumimoji="1" lang="en-US" altLang="ja-JP" sz="1800"/>
          </a:p>
          <a:p>
            <a:r>
              <a:rPr lang="ja-JP" altLang="en-US" sz="1800"/>
              <a:t>数値の理由</a:t>
            </a:r>
            <a:endParaRPr lang="en-US" altLang="ja-JP" sz="1800"/>
          </a:p>
          <a:p>
            <a:pPr lvl="1"/>
            <a:r>
              <a:rPr lang="en-US" altLang="ja-JP" sz="1400" err="1"/>
              <a:t>Vds</a:t>
            </a:r>
            <a:r>
              <a:rPr lang="en-US" altLang="ja-JP" sz="1400"/>
              <a:t>=2.5V</a:t>
            </a:r>
          </a:p>
          <a:p>
            <a:pPr lvl="1"/>
            <a:r>
              <a:rPr lang="en-US" altLang="ja-JP" sz="1400" err="1"/>
              <a:t>Vgs</a:t>
            </a:r>
            <a:r>
              <a:rPr lang="en-US" altLang="ja-JP" sz="1400"/>
              <a:t>=0.9V</a:t>
            </a:r>
          </a:p>
        </p:txBody>
      </p:sp>
      <p:sp>
        <p:nvSpPr>
          <p:cNvPr id="10" name="テキスト ボックス 9">
            <a:extLst>
              <a:ext uri="{FF2B5EF4-FFF2-40B4-BE49-F238E27FC236}">
                <a16:creationId xmlns:a16="http://schemas.microsoft.com/office/drawing/2014/main" id="{C5E16D97-6C74-EA7E-1846-FF3169F054EF}"/>
              </a:ext>
            </a:extLst>
          </p:cNvPr>
          <p:cNvSpPr txBox="1"/>
          <p:nvPr/>
        </p:nvSpPr>
        <p:spPr>
          <a:xfrm>
            <a:off x="8283197" y="3607259"/>
            <a:ext cx="1164921" cy="381403"/>
          </a:xfrm>
          <a:prstGeom prst="rect">
            <a:avLst/>
          </a:prstGeom>
          <a:noFill/>
        </p:spPr>
        <p:txBody>
          <a:bodyPr wrap="square" rtlCol="0">
            <a:spAutoFit/>
          </a:bodyPr>
          <a:lstStyle/>
          <a:p>
            <a:r>
              <a:rPr kumimoji="1" lang="en-US" altLang="ja-JP"/>
              <a:t>Id/Vds</a:t>
            </a:r>
            <a:endParaRPr kumimoji="1" lang="ja-JP" altLang="en-US"/>
          </a:p>
        </p:txBody>
      </p:sp>
      <p:sp>
        <p:nvSpPr>
          <p:cNvPr id="11" name="テキスト ボックス 10">
            <a:extLst>
              <a:ext uri="{FF2B5EF4-FFF2-40B4-BE49-F238E27FC236}">
                <a16:creationId xmlns:a16="http://schemas.microsoft.com/office/drawing/2014/main" id="{760544FD-E8FB-204F-111E-BC932F3F373C}"/>
              </a:ext>
            </a:extLst>
          </p:cNvPr>
          <p:cNvSpPr txBox="1"/>
          <p:nvPr/>
        </p:nvSpPr>
        <p:spPr>
          <a:xfrm>
            <a:off x="2743882" y="3648901"/>
            <a:ext cx="1164921" cy="381403"/>
          </a:xfrm>
          <a:prstGeom prst="rect">
            <a:avLst/>
          </a:prstGeom>
          <a:noFill/>
        </p:spPr>
        <p:txBody>
          <a:bodyPr wrap="square" rtlCol="0">
            <a:spAutoFit/>
          </a:bodyPr>
          <a:lstStyle/>
          <a:p>
            <a:r>
              <a:rPr kumimoji="1" lang="en-US" altLang="ja-JP"/>
              <a:t>Id/Vgs</a:t>
            </a:r>
            <a:endParaRPr kumimoji="1" lang="ja-JP" altLang="en-US"/>
          </a:p>
        </p:txBody>
      </p:sp>
      <p:pic>
        <p:nvPicPr>
          <p:cNvPr id="13" name="図 12" descr="ダイアグラム が含まれている画像&#10;&#10;AI 生成コンテンツは誤りを含む可能性があります。">
            <a:extLst>
              <a:ext uri="{FF2B5EF4-FFF2-40B4-BE49-F238E27FC236}">
                <a16:creationId xmlns:a16="http://schemas.microsoft.com/office/drawing/2014/main" id="{5742F79B-A8EE-0C9F-5169-6DCAC2267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456" y="313245"/>
            <a:ext cx="5309614" cy="2946414"/>
          </a:xfrm>
          <a:prstGeom prst="rect">
            <a:avLst/>
          </a:prstGeom>
        </p:spPr>
      </p:pic>
      <p:pic>
        <p:nvPicPr>
          <p:cNvPr id="17" name="図 16" descr="ダイアグラム&#10;&#10;AI 生成コンテンツは誤りを含む可能性があります。">
            <a:extLst>
              <a:ext uri="{FF2B5EF4-FFF2-40B4-BE49-F238E27FC236}">
                <a16:creationId xmlns:a16="http://schemas.microsoft.com/office/drawing/2014/main" id="{1AD71CA4-366A-1D93-64E6-CC8945E34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0568" y="313244"/>
            <a:ext cx="5102080" cy="2946414"/>
          </a:xfrm>
          <a:prstGeom prst="rect">
            <a:avLst/>
          </a:prstGeom>
        </p:spPr>
      </p:pic>
    </p:spTree>
    <p:extLst>
      <p:ext uri="{BB962C8B-B14F-4D97-AF65-F5344CB8AC3E}">
        <p14:creationId xmlns:p14="http://schemas.microsoft.com/office/powerpoint/2010/main" val="14929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6" name="Rectangle 17">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19">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FBCC89BF-5557-64F6-9DCE-8C8C5CD4AE72}"/>
              </a:ext>
            </a:extLst>
          </p:cNvPr>
          <p:cNvSpPr>
            <a:spLocks noGrp="1"/>
          </p:cNvSpPr>
          <p:nvPr>
            <p:ph type="title"/>
          </p:nvPr>
        </p:nvSpPr>
        <p:spPr>
          <a:xfrm>
            <a:off x="798257" y="637523"/>
            <a:ext cx="3608896" cy="1690993"/>
          </a:xfrm>
        </p:spPr>
        <p:txBody>
          <a:bodyPr anchor="b">
            <a:normAutofit/>
          </a:bodyPr>
          <a:lstStyle/>
          <a:p>
            <a:r>
              <a:rPr lang="en-US" altLang="ja-JP" sz="3600">
                <a:solidFill>
                  <a:srgbClr val="FFFFFF"/>
                </a:solidFill>
              </a:rPr>
              <a:t>nMOS</a:t>
            </a:r>
            <a:endParaRPr kumimoji="1" lang="ja-JP" altLang="en-US" sz="3600">
              <a:solidFill>
                <a:srgbClr val="FFFFFF"/>
              </a:solidFill>
            </a:endParaRPr>
          </a:p>
        </p:txBody>
      </p:sp>
      <p:pic>
        <p:nvPicPr>
          <p:cNvPr id="11" name="図 10" descr="テーブル&#10;&#10;AI 生成コンテンツは誤りを含む可能性があります。">
            <a:extLst>
              <a:ext uri="{FF2B5EF4-FFF2-40B4-BE49-F238E27FC236}">
                <a16:creationId xmlns:a16="http://schemas.microsoft.com/office/drawing/2014/main" id="{48EBED1F-F1D2-9591-87B8-6D11AA686891}"/>
              </a:ext>
            </a:extLst>
          </p:cNvPr>
          <p:cNvPicPr>
            <a:picLocks noChangeAspect="1"/>
          </p:cNvPicPr>
          <p:nvPr/>
        </p:nvPicPr>
        <p:blipFill>
          <a:blip r:embed="rId2">
            <a:extLst>
              <a:ext uri="{28A0092B-C50C-407E-A947-70E740481C1C}">
                <a14:useLocalDpi xmlns:a14="http://schemas.microsoft.com/office/drawing/2010/main" val="0"/>
              </a:ext>
            </a:extLst>
          </a:blip>
          <a:srcRect t="39229" b="17593"/>
          <a:stretch>
            <a:fillRect/>
          </a:stretch>
        </p:blipFill>
        <p:spPr>
          <a:xfrm>
            <a:off x="4968250" y="325905"/>
            <a:ext cx="2249424" cy="2002611"/>
          </a:xfrm>
          <a:prstGeom prst="rect">
            <a:avLst/>
          </a:prstGeom>
        </p:spPr>
      </p:pic>
      <p:sp>
        <p:nvSpPr>
          <p:cNvPr id="3" name="コンテンツ プレースホルダー 2">
            <a:extLst>
              <a:ext uri="{FF2B5EF4-FFF2-40B4-BE49-F238E27FC236}">
                <a16:creationId xmlns:a16="http://schemas.microsoft.com/office/drawing/2014/main" id="{00B8DF21-3B2A-662A-3025-034E7D63EBD3}"/>
              </a:ext>
            </a:extLst>
          </p:cNvPr>
          <p:cNvSpPr>
            <a:spLocks noGrp="1"/>
          </p:cNvSpPr>
          <p:nvPr>
            <p:ph idx="1"/>
          </p:nvPr>
        </p:nvSpPr>
        <p:spPr>
          <a:xfrm>
            <a:off x="798256" y="2474260"/>
            <a:ext cx="3607930" cy="3677158"/>
          </a:xfrm>
        </p:spPr>
        <p:txBody>
          <a:bodyPr anchor="t">
            <a:normAutofit/>
          </a:bodyPr>
          <a:lstStyle/>
          <a:p>
            <a:r>
              <a:rPr lang="en-US" altLang="ja-JP">
                <a:solidFill>
                  <a:srgbClr val="FFFFFF"/>
                </a:solidFill>
              </a:rPr>
              <a:t>Id Vgs</a:t>
            </a:r>
          </a:p>
          <a:p>
            <a:pPr lvl="1"/>
            <a:r>
              <a:rPr lang="ja-JP" altLang="en-US" sz="2000">
                <a:solidFill>
                  <a:srgbClr val="FFFFFF"/>
                </a:solidFill>
              </a:rPr>
              <a:t>サンプル：</a:t>
            </a:r>
            <a:r>
              <a:rPr lang="en-US" altLang="ja-JP" sz="1600">
                <a:solidFill>
                  <a:srgbClr val="FFFFFF"/>
                </a:solidFill>
              </a:rPr>
              <a:t>nfet_idbgs.sch</a:t>
            </a:r>
          </a:p>
          <a:p>
            <a:r>
              <a:rPr lang="en-US" altLang="ja-JP">
                <a:solidFill>
                  <a:srgbClr val="FFFFFF"/>
                </a:solidFill>
              </a:rPr>
              <a:t>Id Vds</a:t>
            </a:r>
          </a:p>
          <a:p>
            <a:pPr lvl="1"/>
            <a:r>
              <a:rPr lang="ja-JP" altLang="en-US" sz="2000">
                <a:solidFill>
                  <a:srgbClr val="FFFFFF"/>
                </a:solidFill>
              </a:rPr>
              <a:t>サンプル：</a:t>
            </a:r>
            <a:r>
              <a:rPr lang="en-US" altLang="ja-JP" sz="1600">
                <a:solidFill>
                  <a:srgbClr val="FFFFFF"/>
                </a:solidFill>
              </a:rPr>
              <a:t>nfet_idvds.sch</a:t>
            </a:r>
          </a:p>
        </p:txBody>
      </p:sp>
      <p:pic>
        <p:nvPicPr>
          <p:cNvPr id="13" name="図 12" descr="テーブル&#10;&#10;AI 生成コンテンツは誤りを含む可能性があります。">
            <a:extLst>
              <a:ext uri="{FF2B5EF4-FFF2-40B4-BE49-F238E27FC236}">
                <a16:creationId xmlns:a16="http://schemas.microsoft.com/office/drawing/2014/main" id="{0DEDD1C3-1D8A-FD6A-A0F7-FA393FC785B9}"/>
              </a:ext>
            </a:extLst>
          </p:cNvPr>
          <p:cNvPicPr>
            <a:picLocks noChangeAspect="1"/>
          </p:cNvPicPr>
          <p:nvPr/>
        </p:nvPicPr>
        <p:blipFill>
          <a:blip r:embed="rId3">
            <a:extLst>
              <a:ext uri="{28A0092B-C50C-407E-A947-70E740481C1C}">
                <a14:useLocalDpi xmlns:a14="http://schemas.microsoft.com/office/drawing/2010/main" val="0"/>
              </a:ext>
            </a:extLst>
          </a:blip>
          <a:srcRect r="19410" b="4"/>
          <a:stretch>
            <a:fillRect/>
          </a:stretch>
        </p:blipFill>
        <p:spPr>
          <a:xfrm>
            <a:off x="4968251" y="2419956"/>
            <a:ext cx="2249424" cy="2002611"/>
          </a:xfrm>
          <a:prstGeom prst="rect">
            <a:avLst/>
          </a:prstGeom>
        </p:spPr>
      </p:pic>
      <p:pic>
        <p:nvPicPr>
          <p:cNvPr id="7" name="図 6" descr="グラフ, 折れ線グラフ&#10;&#10;AI 生成コンテンツは誤りを含む可能性があります。">
            <a:extLst>
              <a:ext uri="{FF2B5EF4-FFF2-40B4-BE49-F238E27FC236}">
                <a16:creationId xmlns:a16="http://schemas.microsoft.com/office/drawing/2014/main" id="{ED90376F-13EC-16BD-A7B2-DDC4DE6137F8}"/>
              </a:ext>
            </a:extLst>
          </p:cNvPr>
          <p:cNvPicPr>
            <a:picLocks noChangeAspect="1"/>
          </p:cNvPicPr>
          <p:nvPr/>
        </p:nvPicPr>
        <p:blipFill>
          <a:blip r:embed="rId4">
            <a:extLst>
              <a:ext uri="{28A0092B-C50C-407E-A947-70E740481C1C}">
                <a14:useLocalDpi xmlns:a14="http://schemas.microsoft.com/office/drawing/2010/main" val="0"/>
              </a:ext>
            </a:extLst>
          </a:blip>
          <a:srcRect t="4950" r="3" b="2221"/>
          <a:stretch>
            <a:fillRect/>
          </a:stretch>
        </p:blipFill>
        <p:spPr>
          <a:xfrm>
            <a:off x="7295203" y="325904"/>
            <a:ext cx="4570677" cy="3065565"/>
          </a:xfrm>
          <a:prstGeom prst="rect">
            <a:avLst/>
          </a:prstGeom>
        </p:spPr>
      </p:pic>
      <p:pic>
        <p:nvPicPr>
          <p:cNvPr id="5" name="図 4" descr="グラフ, 折れ線グラフ&#10;&#10;AI 生成コンテンツは誤りを含む可能性があります。">
            <a:extLst>
              <a:ext uri="{FF2B5EF4-FFF2-40B4-BE49-F238E27FC236}">
                <a16:creationId xmlns:a16="http://schemas.microsoft.com/office/drawing/2014/main" id="{6387C56C-C176-5A4E-5A31-A3292B368559}"/>
              </a:ext>
            </a:extLst>
          </p:cNvPr>
          <p:cNvPicPr>
            <a:picLocks noChangeAspect="1"/>
          </p:cNvPicPr>
          <p:nvPr/>
        </p:nvPicPr>
        <p:blipFill>
          <a:blip r:embed="rId5">
            <a:extLst>
              <a:ext uri="{28A0092B-C50C-407E-A947-70E740481C1C}">
                <a14:useLocalDpi xmlns:a14="http://schemas.microsoft.com/office/drawing/2010/main" val="0"/>
              </a:ext>
            </a:extLst>
          </a:blip>
          <a:srcRect l="2830" r="16010" b="-3"/>
          <a:stretch>
            <a:fillRect/>
          </a:stretch>
        </p:blipFill>
        <p:spPr>
          <a:xfrm>
            <a:off x="4976656" y="4511800"/>
            <a:ext cx="2249424" cy="2002536"/>
          </a:xfrm>
          <a:prstGeom prst="rect">
            <a:avLst/>
          </a:prstGeom>
        </p:spPr>
      </p:pic>
      <p:pic>
        <p:nvPicPr>
          <p:cNvPr id="9" name="図 8" descr="グラフ, 折れ線グラフ&#10;&#10;AI 生成コンテンツは誤りを含む可能性があります。">
            <a:extLst>
              <a:ext uri="{FF2B5EF4-FFF2-40B4-BE49-F238E27FC236}">
                <a16:creationId xmlns:a16="http://schemas.microsoft.com/office/drawing/2014/main" id="{BF20C799-BA5C-CCF8-E579-D6F123E6B120}"/>
              </a:ext>
            </a:extLst>
          </p:cNvPr>
          <p:cNvPicPr>
            <a:picLocks noChangeAspect="1"/>
          </p:cNvPicPr>
          <p:nvPr/>
        </p:nvPicPr>
        <p:blipFill>
          <a:blip r:embed="rId6">
            <a:extLst>
              <a:ext uri="{28A0092B-C50C-407E-A947-70E740481C1C}">
                <a14:useLocalDpi xmlns:a14="http://schemas.microsoft.com/office/drawing/2010/main" val="0"/>
              </a:ext>
            </a:extLst>
          </a:blip>
          <a:srcRect t="6890" r="3" b="3"/>
          <a:stretch>
            <a:fillRect/>
          </a:stretch>
        </p:blipFill>
        <p:spPr>
          <a:xfrm>
            <a:off x="7295203" y="3474720"/>
            <a:ext cx="4570677" cy="3053487"/>
          </a:xfrm>
          <a:prstGeom prst="rect">
            <a:avLst/>
          </a:prstGeom>
        </p:spPr>
      </p:pic>
    </p:spTree>
    <p:extLst>
      <p:ext uri="{BB962C8B-B14F-4D97-AF65-F5344CB8AC3E}">
        <p14:creationId xmlns:p14="http://schemas.microsoft.com/office/powerpoint/2010/main" val="3072263305"/>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1">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3" name="Straight Connector 12">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15">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A8B86A5-1C3C-DDDB-B2F9-78122C2E95E0}"/>
              </a:ext>
            </a:extLst>
          </p:cNvPr>
          <p:cNvSpPr>
            <a:spLocks noGrp="1"/>
          </p:cNvSpPr>
          <p:nvPr>
            <p:ph type="title"/>
          </p:nvPr>
        </p:nvSpPr>
        <p:spPr>
          <a:xfrm>
            <a:off x="1060232" y="3941205"/>
            <a:ext cx="10071536" cy="929750"/>
          </a:xfrm>
        </p:spPr>
        <p:txBody>
          <a:bodyPr vert="horz" lIns="91440" tIns="45720" rIns="91440" bIns="45720" rtlCol="0" anchor="b">
            <a:normAutofit/>
          </a:bodyPr>
          <a:lstStyle/>
          <a:p>
            <a:pPr algn="ctr"/>
            <a:r>
              <a:rPr kumimoji="1" lang="ja-JP" altLang="en-US" sz="5200"/>
              <a:t>結果</a:t>
            </a:r>
          </a:p>
        </p:txBody>
      </p:sp>
      <p:graphicFrame>
        <p:nvGraphicFramePr>
          <p:cNvPr id="4" name="表 3">
            <a:extLst>
              <a:ext uri="{FF2B5EF4-FFF2-40B4-BE49-F238E27FC236}">
                <a16:creationId xmlns:a16="http://schemas.microsoft.com/office/drawing/2014/main" id="{4A78FF4B-6E47-25AD-7EDE-DB871C1371A4}"/>
              </a:ext>
            </a:extLst>
          </p:cNvPr>
          <p:cNvGraphicFramePr>
            <a:graphicFrameLocks noGrp="1"/>
          </p:cNvGraphicFramePr>
          <p:nvPr>
            <p:extLst>
              <p:ext uri="{D42A27DB-BD31-4B8C-83A1-F6EECF244321}">
                <p14:modId xmlns:p14="http://schemas.microsoft.com/office/powerpoint/2010/main" val="1398050126"/>
              </p:ext>
            </p:extLst>
          </p:nvPr>
        </p:nvGraphicFramePr>
        <p:xfrm>
          <a:off x="2688860" y="875859"/>
          <a:ext cx="6496048" cy="2553141"/>
        </p:xfrm>
        <a:graphic>
          <a:graphicData uri="http://schemas.openxmlformats.org/drawingml/2006/table">
            <a:tbl>
              <a:tblPr firstRow="1" bandRow="1">
                <a:tableStyleId>{EB9631B5-78F2-41C9-869B-9F39066F8104}</a:tableStyleId>
              </a:tblPr>
              <a:tblGrid>
                <a:gridCol w="2914650">
                  <a:extLst>
                    <a:ext uri="{9D8B030D-6E8A-4147-A177-3AD203B41FA5}">
                      <a16:colId xmlns:a16="http://schemas.microsoft.com/office/drawing/2014/main" val="1265108887"/>
                    </a:ext>
                  </a:extLst>
                </a:gridCol>
                <a:gridCol w="1828800">
                  <a:extLst>
                    <a:ext uri="{9D8B030D-6E8A-4147-A177-3AD203B41FA5}">
                      <a16:colId xmlns:a16="http://schemas.microsoft.com/office/drawing/2014/main" val="4056179011"/>
                    </a:ext>
                  </a:extLst>
                </a:gridCol>
                <a:gridCol w="1752598">
                  <a:extLst>
                    <a:ext uri="{9D8B030D-6E8A-4147-A177-3AD203B41FA5}">
                      <a16:colId xmlns:a16="http://schemas.microsoft.com/office/drawing/2014/main" val="1776177236"/>
                    </a:ext>
                  </a:extLst>
                </a:gridCol>
              </a:tblGrid>
              <a:tr h="419116">
                <a:tc>
                  <a:txBody>
                    <a:bodyPr/>
                    <a:lstStyle/>
                    <a:p>
                      <a:r>
                        <a:rPr kumimoji="1" lang="en-US" altLang="ja-JP"/>
                        <a:t>L=1um</a:t>
                      </a:r>
                      <a:endParaRPr kumimoji="1" lang="ja-JP" altLang="en-US"/>
                    </a:p>
                  </a:txBody>
                  <a:tcPr/>
                </a:tc>
                <a:tc>
                  <a:txBody>
                    <a:bodyPr/>
                    <a:lstStyle/>
                    <a:p>
                      <a:r>
                        <a:rPr kumimoji="1" lang="en-US" altLang="ja-JP" err="1"/>
                        <a:t>pMOS</a:t>
                      </a:r>
                      <a:endParaRPr kumimoji="1" lang="ja-JP" altLang="en-US"/>
                    </a:p>
                  </a:txBody>
                  <a:tcPr/>
                </a:tc>
                <a:tc>
                  <a:txBody>
                    <a:bodyPr/>
                    <a:lstStyle/>
                    <a:p>
                      <a:r>
                        <a:rPr kumimoji="1" lang="en-US" altLang="ja-JP" err="1"/>
                        <a:t>nMOS</a:t>
                      </a:r>
                      <a:endParaRPr kumimoji="1" lang="ja-JP" altLang="en-US"/>
                    </a:p>
                  </a:txBody>
                  <a:tcPr/>
                </a:tc>
                <a:extLst>
                  <a:ext uri="{0D108BD9-81ED-4DB2-BD59-A6C34878D82A}">
                    <a16:rowId xmlns:a16="http://schemas.microsoft.com/office/drawing/2014/main" val="2430515928"/>
                  </a:ext>
                </a:extLst>
              </a:tr>
              <a:tr h="419116">
                <a:tc>
                  <a:txBody>
                    <a:bodyPr/>
                    <a:lstStyle/>
                    <a:p>
                      <a:r>
                        <a:rPr kumimoji="1" lang="en-US" altLang="ja-JP"/>
                        <a:t>Vth</a:t>
                      </a:r>
                      <a:endParaRPr kumimoji="1" lang="ja-JP" altLang="en-US"/>
                    </a:p>
                  </a:txBody>
                  <a:tcPr/>
                </a:tc>
                <a:tc>
                  <a:txBody>
                    <a:bodyPr/>
                    <a:lstStyle/>
                    <a:p>
                      <a:r>
                        <a:rPr kumimoji="1" lang="en-US" altLang="ja-JP"/>
                        <a:t>800mV</a:t>
                      </a:r>
                      <a:endParaRPr kumimoji="1" lang="ja-JP" altLang="en-US"/>
                    </a:p>
                  </a:txBody>
                  <a:tcPr/>
                </a:tc>
                <a:tc>
                  <a:txBody>
                    <a:bodyPr/>
                    <a:lstStyle/>
                    <a:p>
                      <a:r>
                        <a:rPr kumimoji="1" lang="en-US" altLang="ja-JP"/>
                        <a:t>784mV</a:t>
                      </a:r>
                      <a:endParaRPr kumimoji="1" lang="ja-JP" altLang="en-US"/>
                    </a:p>
                  </a:txBody>
                  <a:tcPr/>
                </a:tc>
                <a:extLst>
                  <a:ext uri="{0D108BD9-81ED-4DB2-BD59-A6C34878D82A}">
                    <a16:rowId xmlns:a16="http://schemas.microsoft.com/office/drawing/2014/main" val="2126469270"/>
                  </a:ext>
                </a:extLst>
              </a:tr>
              <a:tr h="419116">
                <a:tc>
                  <a:txBody>
                    <a:bodyPr/>
                    <a:lstStyle/>
                    <a:p>
                      <a:r>
                        <a:rPr kumimoji="1" lang="en-US" altLang="ja-JP"/>
                        <a:t>Id</a:t>
                      </a:r>
                      <a:endParaRPr kumimoji="1" lang="ja-JP" altLang="en-US"/>
                    </a:p>
                  </a:txBody>
                  <a:tcPr/>
                </a:tc>
                <a:tc>
                  <a:txBody>
                    <a:bodyPr/>
                    <a:lstStyle/>
                    <a:p>
                      <a:r>
                        <a:rPr kumimoji="1" lang="en-US" altLang="ja-JP"/>
                        <a:t>1.5uA</a:t>
                      </a:r>
                      <a:endParaRPr kumimoji="1" lang="ja-JP" altLang="en-US"/>
                    </a:p>
                  </a:txBody>
                  <a:tcPr/>
                </a:tc>
                <a:tc>
                  <a:txBody>
                    <a:bodyPr/>
                    <a:lstStyle/>
                    <a:p>
                      <a:r>
                        <a:rPr kumimoji="1" lang="en-US" altLang="ja-JP"/>
                        <a:t>5uA</a:t>
                      </a:r>
                      <a:endParaRPr kumimoji="1" lang="ja-JP" altLang="en-US"/>
                    </a:p>
                  </a:txBody>
                  <a:tcPr/>
                </a:tc>
                <a:extLst>
                  <a:ext uri="{0D108BD9-81ED-4DB2-BD59-A6C34878D82A}">
                    <a16:rowId xmlns:a16="http://schemas.microsoft.com/office/drawing/2014/main" val="3932683534"/>
                  </a:ext>
                </a:extLst>
              </a:tr>
              <a:tr h="419116">
                <a:tc>
                  <a:txBody>
                    <a:bodyPr/>
                    <a:lstStyle/>
                    <a:p>
                      <a:r>
                        <a:rPr kumimoji="1" lang="en-US" altLang="ja-JP"/>
                        <a:t>gm</a:t>
                      </a:r>
                      <a:endParaRPr kumimoji="1" lang="ja-JP" altLang="en-US"/>
                    </a:p>
                  </a:txBody>
                  <a:tcPr/>
                </a:tc>
                <a:tc>
                  <a:txBody>
                    <a:bodyPr/>
                    <a:lstStyle/>
                    <a:p>
                      <a:r>
                        <a:rPr kumimoji="1" lang="en-US" altLang="ja-JP"/>
                        <a:t>16.0uS</a:t>
                      </a:r>
                      <a:endParaRPr kumimoji="1" lang="ja-JP" altLang="en-US"/>
                    </a:p>
                  </a:txBody>
                  <a:tcPr/>
                </a:tc>
                <a:tc>
                  <a:txBody>
                    <a:bodyPr/>
                    <a:lstStyle/>
                    <a:p>
                      <a:r>
                        <a:rPr kumimoji="1" lang="en-US" altLang="ja-JP"/>
                        <a:t>53.7uS</a:t>
                      </a:r>
                      <a:endParaRPr kumimoji="1" lang="ja-JP" altLang="en-US"/>
                    </a:p>
                  </a:txBody>
                  <a:tcPr/>
                </a:tc>
                <a:extLst>
                  <a:ext uri="{0D108BD9-81ED-4DB2-BD59-A6C34878D82A}">
                    <a16:rowId xmlns:a16="http://schemas.microsoft.com/office/drawing/2014/main" val="1647943436"/>
                  </a:ext>
                </a:extLst>
              </a:tr>
              <a:tr h="419116">
                <a:tc>
                  <a:txBody>
                    <a:bodyPr/>
                    <a:lstStyle/>
                    <a:p>
                      <a:r>
                        <a:rPr kumimoji="1" lang="en-US" altLang="ja-JP" err="1"/>
                        <a:t>rds</a:t>
                      </a:r>
                      <a:endParaRPr kumimoji="1" lang="ja-JP" altLang="en-US"/>
                    </a:p>
                  </a:txBody>
                  <a:tcPr/>
                </a:tc>
                <a:tc>
                  <a:txBody>
                    <a:bodyPr/>
                    <a:lstStyle/>
                    <a:p>
                      <a:r>
                        <a:rPr kumimoji="1" lang="en-US" altLang="ja-JP"/>
                        <a:t>13.0MΩ</a:t>
                      </a:r>
                      <a:endParaRPr kumimoji="1" lang="ja-JP" altLang="en-US"/>
                    </a:p>
                  </a:txBody>
                  <a:tcPr/>
                </a:tc>
                <a:tc>
                  <a:txBody>
                    <a:bodyPr/>
                    <a:lstStyle/>
                    <a:p>
                      <a:r>
                        <a:rPr kumimoji="1" lang="en-US" altLang="ja-JP"/>
                        <a:t>3.8MΩ</a:t>
                      </a:r>
                      <a:endParaRPr kumimoji="1" lang="ja-JP" altLang="en-US"/>
                    </a:p>
                  </a:txBody>
                  <a:tcPr/>
                </a:tc>
                <a:extLst>
                  <a:ext uri="{0D108BD9-81ED-4DB2-BD59-A6C34878D82A}">
                    <a16:rowId xmlns:a16="http://schemas.microsoft.com/office/drawing/2014/main" val="344665083"/>
                  </a:ext>
                </a:extLst>
              </a:tr>
              <a:tr h="457561">
                <a:tc>
                  <a:txBody>
                    <a:bodyPr/>
                    <a:lstStyle/>
                    <a:p>
                      <a:r>
                        <a:rPr kumimoji="1" lang="en-US" altLang="ja-JP"/>
                        <a:t>gm*</a:t>
                      </a:r>
                      <a:r>
                        <a:rPr kumimoji="1" lang="en-US" altLang="ja-JP" err="1"/>
                        <a:t>rds</a:t>
                      </a:r>
                      <a:r>
                        <a:rPr kumimoji="1" lang="en-US" altLang="ja-JP"/>
                        <a:t>(</a:t>
                      </a:r>
                      <a:r>
                        <a:rPr kumimoji="1" lang="en-US" altLang="ja-JP" err="1"/>
                        <a:t>Instrinsic</a:t>
                      </a:r>
                      <a:r>
                        <a:rPr kumimoji="1" lang="en-US" altLang="ja-JP"/>
                        <a:t> gain)</a:t>
                      </a:r>
                      <a:endParaRPr kumimoji="1" lang="ja-JP" altLang="en-US"/>
                    </a:p>
                  </a:txBody>
                  <a:tcPr/>
                </a:tc>
                <a:tc>
                  <a:txBody>
                    <a:bodyPr/>
                    <a:lstStyle/>
                    <a:p>
                      <a:r>
                        <a:rPr kumimoji="1" lang="en-US" altLang="ja-JP"/>
                        <a:t>208.0</a:t>
                      </a:r>
                      <a:endParaRPr kumimoji="1" lang="ja-JP" altLang="en-US"/>
                    </a:p>
                  </a:txBody>
                  <a:tcPr/>
                </a:tc>
                <a:tc>
                  <a:txBody>
                    <a:bodyPr/>
                    <a:lstStyle/>
                    <a:p>
                      <a:r>
                        <a:rPr kumimoji="1" lang="en-US" altLang="ja-JP"/>
                        <a:t>204.1</a:t>
                      </a:r>
                      <a:endParaRPr kumimoji="1" lang="ja-JP" altLang="en-US"/>
                    </a:p>
                  </a:txBody>
                  <a:tcPr/>
                </a:tc>
                <a:extLst>
                  <a:ext uri="{0D108BD9-81ED-4DB2-BD59-A6C34878D82A}">
                    <a16:rowId xmlns:a16="http://schemas.microsoft.com/office/drawing/2014/main" val="531155418"/>
                  </a:ext>
                </a:extLst>
              </a:tr>
            </a:tbl>
          </a:graphicData>
        </a:graphic>
      </p:graphicFrame>
    </p:spTree>
    <p:extLst>
      <p:ext uri="{BB962C8B-B14F-4D97-AF65-F5344CB8AC3E}">
        <p14:creationId xmlns:p14="http://schemas.microsoft.com/office/powerpoint/2010/main" val="1654275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6EBABB-D2DF-E470-6211-8C6743B3732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399E52-8A84-5834-BFDD-C4022AE5D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9DDA0EF-F1BF-4174-0AD4-5299FA4E71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B7923E1-D0A1-7CE5-2B11-1170CDE125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C41D42F-71F6-1D74-5010-0E54D663E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7EF41BF-7339-9EC5-F31E-D79ECBE7E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5DA10F8-F772-D629-5CB3-5B1D596DE354}"/>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ja-JP" altLang="en-US" sz="6600"/>
              <a:t>基本回路</a:t>
            </a:r>
            <a:r>
              <a:rPr kumimoji="1" lang="ja-JP" altLang="en-US" sz="6600" kern="1200">
                <a:solidFill>
                  <a:schemeClr val="tx1"/>
                </a:solidFill>
                <a:latin typeface="+mj-lt"/>
                <a:ea typeface="+mj-ea"/>
                <a:cs typeface="+mj-cs"/>
              </a:rPr>
              <a:t>編</a:t>
            </a:r>
          </a:p>
        </p:txBody>
      </p:sp>
    </p:spTree>
    <p:extLst>
      <p:ext uri="{BB962C8B-B14F-4D97-AF65-F5344CB8AC3E}">
        <p14:creationId xmlns:p14="http://schemas.microsoft.com/office/powerpoint/2010/main" val="1462326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3C5E9C1-6325-9D56-8D62-473686C4FC1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D6DAAAB-A3F2-0534-F6A0-5BCC5205E0F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Ibias(</a:t>
            </a:r>
            <a:r>
              <a:rPr lang="ja-JP" altLang="en-US" sz="4000">
                <a:solidFill>
                  <a:schemeClr val="bg2"/>
                </a:solidFill>
              </a:rPr>
              <a:t>バイアス電流</a:t>
            </a:r>
            <a:r>
              <a:rPr lang="en-US" altLang="ja-JP" sz="4000">
                <a:solidFill>
                  <a:schemeClr val="bg2"/>
                </a:solidFill>
              </a:rPr>
              <a:t>)</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804645791"/>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00" name="Picture 4" descr="2段オペアンプ回路図">
            <a:extLst>
              <a:ext uri="{FF2B5EF4-FFF2-40B4-BE49-F238E27FC236}">
                <a16:creationId xmlns:a16="http://schemas.microsoft.com/office/drawing/2014/main" id="{59A91F27-7403-657E-9FED-F44F97BCF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4" y="1780298"/>
            <a:ext cx="12192000" cy="4425950"/>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0D354D0-4E34-7465-31FC-117DC25F14F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よくある</a:t>
            </a:r>
            <a:r>
              <a:rPr kumimoji="1" lang="en-US" altLang="ja-JP" sz="3200" kern="1200">
                <a:solidFill>
                  <a:schemeClr val="bg1"/>
                </a:solidFill>
                <a:latin typeface="+mj-lt"/>
                <a:ea typeface="+mj-ea"/>
                <a:cs typeface="+mj-cs"/>
              </a:rPr>
              <a:t>2</a:t>
            </a:r>
            <a:r>
              <a:rPr kumimoji="1" lang="ja-JP" altLang="en-US" sz="3200" kern="1200">
                <a:solidFill>
                  <a:schemeClr val="bg1"/>
                </a:solidFill>
                <a:latin typeface="+mj-lt"/>
                <a:ea typeface="+mj-ea"/>
                <a:cs typeface="+mj-cs"/>
              </a:rPr>
              <a:t>段差動増幅</a:t>
            </a:r>
            <a:r>
              <a:rPr kumimoji="1" lang="en-US" altLang="ja-JP" sz="3200" kern="1200">
                <a:solidFill>
                  <a:schemeClr val="bg1"/>
                </a:solidFill>
                <a:latin typeface="+mj-lt"/>
                <a:ea typeface="+mj-ea"/>
                <a:cs typeface="+mj-cs"/>
              </a:rPr>
              <a:t>OPAMP</a:t>
            </a:r>
          </a:p>
        </p:txBody>
      </p:sp>
      <p:sp>
        <p:nvSpPr>
          <p:cNvPr id="8" name="角丸四角形吹き出し 7">
            <a:extLst>
              <a:ext uri="{FF2B5EF4-FFF2-40B4-BE49-F238E27FC236}">
                <a16:creationId xmlns:a16="http://schemas.microsoft.com/office/drawing/2014/main" id="{59AD377E-1A32-356B-C070-D9B4E5F1ECC0}"/>
              </a:ext>
            </a:extLst>
          </p:cNvPr>
          <p:cNvSpPr/>
          <p:nvPr/>
        </p:nvSpPr>
        <p:spPr>
          <a:xfrm>
            <a:off x="34017" y="3650373"/>
            <a:ext cx="1045029" cy="685799"/>
          </a:xfrm>
          <a:prstGeom prst="wedgeRoundRectCallout">
            <a:avLst>
              <a:gd name="adj1" fmla="val -14583"/>
              <a:gd name="adj2" fmla="val 7812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a:t>これが基準</a:t>
            </a:r>
          </a:p>
        </p:txBody>
      </p:sp>
    </p:spTree>
    <p:extLst>
      <p:ext uri="{BB962C8B-B14F-4D97-AF65-F5344CB8AC3E}">
        <p14:creationId xmlns:p14="http://schemas.microsoft.com/office/powerpoint/2010/main" val="2325935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86BE85D-C720-5165-CB32-991D985F1AD1}"/>
              </a:ext>
            </a:extLst>
          </p:cNvPr>
          <p:cNvSpPr>
            <a:spLocks noGrp="1"/>
          </p:cNvSpPr>
          <p:nvPr>
            <p:ph type="title"/>
          </p:nvPr>
        </p:nvSpPr>
        <p:spPr>
          <a:xfrm>
            <a:off x="1043631" y="873940"/>
            <a:ext cx="5052369" cy="1035781"/>
          </a:xfrm>
        </p:spPr>
        <p:txBody>
          <a:bodyPr anchor="ctr">
            <a:normAutofit/>
          </a:bodyPr>
          <a:lstStyle/>
          <a:p>
            <a:r>
              <a:rPr kumimoji="1" lang="en-US" altLang="ja-JP" sz="3600"/>
              <a:t>Ibias(</a:t>
            </a:r>
            <a:r>
              <a:rPr kumimoji="1" lang="ja-JP" altLang="en-US" sz="3600"/>
              <a:t>バイアス電流</a:t>
            </a:r>
            <a:r>
              <a:rPr kumimoji="1" lang="en-US" altLang="ja-JP" sz="3600"/>
              <a:t>)</a:t>
            </a:r>
            <a:endParaRPr kumimoji="1" lang="ja-JP" altLang="en-US" sz="3600"/>
          </a:p>
        </p:txBody>
      </p:sp>
      <p:sp>
        <p:nvSpPr>
          <p:cNvPr id="3" name="コンテンツ プレースホルダー 2">
            <a:extLst>
              <a:ext uri="{FF2B5EF4-FFF2-40B4-BE49-F238E27FC236}">
                <a16:creationId xmlns:a16="http://schemas.microsoft.com/office/drawing/2014/main" id="{6638A375-9A48-5DDC-DF58-4DACE3521B0F}"/>
              </a:ext>
            </a:extLst>
          </p:cNvPr>
          <p:cNvSpPr>
            <a:spLocks noGrp="1"/>
          </p:cNvSpPr>
          <p:nvPr>
            <p:ph idx="1"/>
          </p:nvPr>
        </p:nvSpPr>
        <p:spPr>
          <a:xfrm>
            <a:off x="1045029" y="2524721"/>
            <a:ext cx="4991629" cy="3677123"/>
          </a:xfrm>
        </p:spPr>
        <p:txBody>
          <a:bodyPr anchor="ctr">
            <a:normAutofit/>
          </a:bodyPr>
          <a:lstStyle/>
          <a:p>
            <a:r>
              <a:rPr lang="en" altLang="ja-JP" sz="1500"/>
              <a:t>Ibias</a:t>
            </a:r>
            <a:r>
              <a:rPr lang="ja-JP" altLang="en-US" sz="1500"/>
              <a:t>が回路の設計目標を達成するための鍵！</a:t>
            </a:r>
          </a:p>
          <a:p>
            <a:pPr lvl="1"/>
            <a:r>
              <a:rPr lang="ja-JP" altLang="en-US" sz="1500"/>
              <a:t>デバイスの性能を決定し、安定した動作を保証するための要素</a:t>
            </a:r>
            <a:endParaRPr lang="en-US" altLang="ja-JP" sz="1500"/>
          </a:p>
          <a:p>
            <a:pPr lvl="2"/>
            <a:r>
              <a:rPr lang="ja-JP" altLang="en-US" sz="1500"/>
              <a:t>ゲイン</a:t>
            </a:r>
            <a:endParaRPr lang="en-US" altLang="ja-JP" sz="1500"/>
          </a:p>
          <a:p>
            <a:pPr lvl="2"/>
            <a:r>
              <a:rPr lang="ja-JP" altLang="en-US" sz="1500"/>
              <a:t>帯域幅</a:t>
            </a:r>
            <a:endParaRPr lang="en-US" altLang="ja-JP" sz="1500"/>
          </a:p>
          <a:p>
            <a:pPr lvl="2"/>
            <a:r>
              <a:rPr lang="ja-JP" altLang="en-US" sz="1500"/>
              <a:t>ノイズ</a:t>
            </a:r>
            <a:endParaRPr lang="en-US" altLang="ja-JP" sz="1500"/>
          </a:p>
          <a:p>
            <a:pPr lvl="2"/>
            <a:r>
              <a:rPr lang="ja-JP" altLang="en-US" sz="1500"/>
              <a:t>歪み</a:t>
            </a:r>
            <a:endParaRPr lang="en-US" altLang="ja-JP" sz="1500"/>
          </a:p>
          <a:p>
            <a:pPr lvl="2"/>
            <a:r>
              <a:rPr lang="ja-JP" altLang="en-US" sz="1500"/>
              <a:t>消費電力</a:t>
            </a:r>
            <a:endParaRPr lang="en-US" altLang="ja-JP" sz="1500"/>
          </a:p>
          <a:p>
            <a:r>
              <a:rPr lang="ja-JP" altLang="en-US" sz="1500"/>
              <a:t>役割</a:t>
            </a:r>
            <a:endParaRPr lang="en-US" altLang="ja-JP" sz="1500"/>
          </a:p>
          <a:p>
            <a:pPr lvl="1"/>
            <a:r>
              <a:rPr lang="ja-JP" altLang="en-US" sz="1500"/>
              <a:t>線形領域の中央付近に動作点を置き、入力信号が印加された際に素子が飽和したりカットオフしたりせず、安定して信号を増幅できるようにする</a:t>
            </a:r>
          </a:p>
          <a:p>
            <a:pPr lvl="1"/>
            <a:endParaRPr lang="ja-JP" altLang="en-US" sz="1500"/>
          </a:p>
        </p:txBody>
      </p:sp>
      <p:sp>
        <p:nvSpPr>
          <p:cNvPr id="36" name="Rectangle 35">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C29BF2F7-8CCE-8174-7CFC-D6161C18108E}"/>
              </a:ext>
            </a:extLst>
          </p:cNvPr>
          <p:cNvPicPr>
            <a:picLocks noChangeAspect="1"/>
          </p:cNvPicPr>
          <p:nvPr/>
        </p:nvPicPr>
        <p:blipFill>
          <a:blip r:embed="rId2"/>
          <a:stretch>
            <a:fillRect/>
          </a:stretch>
        </p:blipFill>
        <p:spPr>
          <a:xfrm>
            <a:off x="6930493" y="1595633"/>
            <a:ext cx="4223252" cy="3727018"/>
          </a:xfrm>
          <a:prstGeom prst="rect">
            <a:avLst/>
          </a:prstGeom>
        </p:spPr>
      </p:pic>
      <p:cxnSp>
        <p:nvCxnSpPr>
          <p:cNvPr id="38" name="Straight Connector 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986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920A9B8-24B5-847B-D2D6-0688F3A7A3D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F3D4613-DEA0-DD76-BC62-010944263E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42B5FCA-83A4-A93B-DE86-CD3624196B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E2772774-078F-B4A9-2318-819F2AC2FE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66D5AAC5-74BE-7A7C-EA42-8E29CD9F2B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2D61C8E-6D28-9ECA-3DC6-64A332619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858E54D-05D2-BD15-BF31-EF0C11D850D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カレントミラー</a:t>
            </a:r>
          </a:p>
        </p:txBody>
      </p:sp>
    </p:spTree>
    <p:extLst>
      <p:ext uri="{BB962C8B-B14F-4D97-AF65-F5344CB8AC3E}">
        <p14:creationId xmlns:p14="http://schemas.microsoft.com/office/powerpoint/2010/main" val="424542419"/>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D8ED42-550D-B09D-9AC6-887418A0DE81}"/>
              </a:ext>
            </a:extLst>
          </p:cNvPr>
          <p:cNvSpPr>
            <a:spLocks noGrp="1"/>
          </p:cNvSpPr>
          <p:nvPr>
            <p:ph type="title"/>
          </p:nvPr>
        </p:nvSpPr>
        <p:spPr>
          <a:xfrm>
            <a:off x="589560" y="856180"/>
            <a:ext cx="4560584" cy="1128068"/>
          </a:xfrm>
        </p:spPr>
        <p:txBody>
          <a:bodyPr anchor="ctr">
            <a:normAutofit/>
          </a:bodyPr>
          <a:lstStyle/>
          <a:p>
            <a:r>
              <a:rPr kumimoji="1" lang="ja-JP" altLang="en-US" sz="4000"/>
              <a:t>カレントミラー</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B2FC171-C168-3D91-0CD9-E58EFC74F218}"/>
              </a:ext>
            </a:extLst>
          </p:cNvPr>
          <p:cNvSpPr>
            <a:spLocks noGrp="1"/>
          </p:cNvSpPr>
          <p:nvPr>
            <p:ph idx="1"/>
          </p:nvPr>
        </p:nvSpPr>
        <p:spPr>
          <a:xfrm>
            <a:off x="590719" y="2330505"/>
            <a:ext cx="4951873" cy="3979585"/>
          </a:xfrm>
        </p:spPr>
        <p:txBody>
          <a:bodyPr anchor="ctr">
            <a:normAutofit/>
          </a:bodyPr>
          <a:lstStyle/>
          <a:p>
            <a:r>
              <a:rPr lang="ja-JP" altLang="en-US"/>
              <a:t>役割・機能</a:t>
            </a:r>
            <a:endParaRPr kumimoji="1" lang="en-US" altLang="ja-JP"/>
          </a:p>
          <a:p>
            <a:pPr lvl="1"/>
            <a:r>
              <a:rPr lang="ja-JP" altLang="en-US" sz="2000"/>
              <a:t>その名の通り、ある基準となる電流（参照電流）を「鏡（ミラー）」のように複製し、別の回路ブロックに供給する役割</a:t>
            </a:r>
            <a:endParaRPr lang="en-US" altLang="ja-JP" sz="2000"/>
          </a:p>
          <a:p>
            <a:pPr lvl="2"/>
            <a:r>
              <a:rPr lang="ja-JP" altLang="en-US" sz="1600"/>
              <a:t>回路内の複数の箇所に正確で安定した電流を供給する</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descr="ダイアグラム, 概略図&#10;&#10;AI 生成コンテンツは誤りを含む可能性があります。">
            <a:extLst>
              <a:ext uri="{FF2B5EF4-FFF2-40B4-BE49-F238E27FC236}">
                <a16:creationId xmlns:a16="http://schemas.microsoft.com/office/drawing/2014/main" id="{9ED7508E-A6C5-1C74-657E-25979F7EFAEB}"/>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823831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A7D41E-2982-ABF5-55A8-2A12588C3E38}"/>
              </a:ext>
            </a:extLst>
          </p:cNvPr>
          <p:cNvSpPr>
            <a:spLocks noGrp="1"/>
          </p:cNvSpPr>
          <p:nvPr>
            <p:ph type="title"/>
          </p:nvPr>
        </p:nvSpPr>
        <p:spPr>
          <a:xfrm>
            <a:off x="645064" y="525982"/>
            <a:ext cx="4282983" cy="1200361"/>
          </a:xfrm>
        </p:spPr>
        <p:txBody>
          <a:bodyPr anchor="b">
            <a:normAutofit/>
          </a:bodyPr>
          <a:lstStyle/>
          <a:p>
            <a:r>
              <a:rPr kumimoji="1" lang="ja-JP" altLang="en-US" sz="3600"/>
              <a:t>動作内容</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6EF264-9144-3E29-D5B1-3A662BA43A16}"/>
              </a:ext>
            </a:extLst>
          </p:cNvPr>
          <p:cNvSpPr>
            <a:spLocks noGrp="1"/>
          </p:cNvSpPr>
          <p:nvPr>
            <p:ph idx="1"/>
          </p:nvPr>
        </p:nvSpPr>
        <p:spPr>
          <a:xfrm>
            <a:off x="645066" y="2031101"/>
            <a:ext cx="4282984" cy="3511943"/>
          </a:xfrm>
        </p:spPr>
        <p:txBody>
          <a:bodyPr anchor="ctr">
            <a:normAutofit/>
          </a:bodyPr>
          <a:lstStyle/>
          <a:p>
            <a:r>
              <a:rPr lang="ja-JP" altLang="en-US" sz="1500">
                <a:latin typeface="+mn-ea"/>
              </a:rPr>
              <a:t>マスター側（</a:t>
            </a:r>
            <a:r>
              <a:rPr lang="en-US" altLang="ja-JP" sz="1500">
                <a:latin typeface="+mn-ea"/>
              </a:rPr>
              <a:t>XM3</a:t>
            </a:r>
            <a:r>
              <a:rPr lang="ja-JP" altLang="en-US" sz="1500">
                <a:latin typeface="+mn-ea"/>
              </a:rPr>
              <a:t>）の</a:t>
            </a:r>
            <a:r>
              <a:rPr lang="en-US" altLang="ja-JP" sz="1500">
                <a:latin typeface="+mn-ea"/>
              </a:rPr>
              <a:t>MOSFET</a:t>
            </a:r>
            <a:r>
              <a:rPr lang="ja-JP" altLang="en-US" sz="1500">
                <a:latin typeface="+mn-ea"/>
              </a:rPr>
              <a:t>は、ゲートとドレインを接続してダイオード接続とする</a:t>
            </a:r>
            <a:endParaRPr lang="en-US" altLang="ja-JP" sz="1500">
              <a:latin typeface="+mn-ea"/>
            </a:endParaRPr>
          </a:p>
          <a:p>
            <a:pPr lvl="1"/>
            <a:r>
              <a:rPr lang="ja-JP" altLang="en-US" sz="1500">
                <a:latin typeface="+mn-ea"/>
              </a:rPr>
              <a:t>ドレイン電流によってゲート</a:t>
            </a:r>
            <a:r>
              <a:rPr lang="en-US" altLang="ja-JP" sz="1500">
                <a:latin typeface="+mn-ea"/>
              </a:rPr>
              <a:t>-</a:t>
            </a:r>
            <a:r>
              <a:rPr lang="ja-JP" altLang="en-US" sz="1500">
                <a:latin typeface="+mn-ea"/>
              </a:rPr>
              <a:t>ソース間電圧が決定される</a:t>
            </a:r>
          </a:p>
          <a:p>
            <a:r>
              <a:rPr lang="ja-JP" altLang="en-US" sz="1500">
                <a:latin typeface="+mn-ea"/>
              </a:rPr>
              <a:t>スレーブ側（</a:t>
            </a:r>
            <a:r>
              <a:rPr lang="en-US" altLang="ja-JP" sz="1500">
                <a:latin typeface="+mn-ea"/>
              </a:rPr>
              <a:t>XM2</a:t>
            </a:r>
            <a:r>
              <a:rPr lang="ja-JP" altLang="en-US" sz="1500">
                <a:latin typeface="+mn-ea"/>
              </a:rPr>
              <a:t>）の</a:t>
            </a:r>
            <a:r>
              <a:rPr lang="en-US" altLang="ja-JP" sz="1500">
                <a:latin typeface="+mn-ea"/>
              </a:rPr>
              <a:t>MOSFET</a:t>
            </a:r>
            <a:r>
              <a:rPr lang="ja-JP" altLang="en-US" sz="1500">
                <a:latin typeface="+mn-ea"/>
              </a:rPr>
              <a:t>のゲートは、マスター側のゲートに接続する</a:t>
            </a:r>
          </a:p>
          <a:p>
            <a:pPr lvl="1"/>
            <a:r>
              <a:rPr lang="ja-JP" altLang="en-US" sz="1500">
                <a:latin typeface="+mn-ea"/>
              </a:rPr>
              <a:t>両方の</a:t>
            </a:r>
            <a:r>
              <a:rPr lang="en-US" altLang="ja-JP" sz="1500">
                <a:latin typeface="+mn-ea"/>
              </a:rPr>
              <a:t>MOSFET</a:t>
            </a:r>
            <a:r>
              <a:rPr lang="ja-JP" altLang="en-US" sz="1500">
                <a:latin typeface="+mn-ea"/>
              </a:rPr>
              <a:t>が同じ特性を持ち、飽和領域で動作している場合、マスター側のゲート</a:t>
            </a:r>
            <a:r>
              <a:rPr lang="en-US" altLang="ja-JP" sz="1500">
                <a:latin typeface="+mn-ea"/>
              </a:rPr>
              <a:t>-</a:t>
            </a:r>
            <a:r>
              <a:rPr lang="ja-JP" altLang="en-US" sz="1500">
                <a:latin typeface="+mn-ea"/>
              </a:rPr>
              <a:t>ソース間電圧がスレーブ側にも印加されるため、スレーブ側のドレイン電流はマスター側の参照電流とほぼ同じになる</a:t>
            </a:r>
          </a:p>
          <a:p>
            <a:pPr lvl="2"/>
            <a:r>
              <a:rPr lang="en-US" altLang="ja-JP" sz="1500">
                <a:latin typeface="+mn-ea"/>
              </a:rPr>
              <a:t>W/L</a:t>
            </a:r>
            <a:r>
              <a:rPr lang="ja-JP" altLang="en-US" sz="1500">
                <a:latin typeface="+mn-ea"/>
              </a:rPr>
              <a:t>比を変更することで、参照電流の</a:t>
            </a:r>
            <a:r>
              <a:rPr lang="en-US" altLang="ja-JP" sz="1500">
                <a:latin typeface="+mn-ea"/>
              </a:rPr>
              <a:t>n</a:t>
            </a:r>
            <a:r>
              <a:rPr lang="ja-JP" altLang="en-US" sz="1500">
                <a:latin typeface="+mn-ea"/>
              </a:rPr>
              <a:t>倍や</a:t>
            </a:r>
            <a:r>
              <a:rPr lang="en-US" altLang="ja-JP" sz="1500">
                <a:latin typeface="+mn-ea"/>
              </a:rPr>
              <a:t>1/n</a:t>
            </a:r>
            <a:r>
              <a:rPr lang="ja-JP" altLang="en-US" sz="1500">
                <a:latin typeface="+mn-ea"/>
              </a:rPr>
              <a:t>倍の電流を生成することも可能</a:t>
            </a:r>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descr="ダイアグラム, 概略図&#10;&#10;AI 生成コンテンツは誤りを含む可能性があります。">
            <a:extLst>
              <a:ext uri="{FF2B5EF4-FFF2-40B4-BE49-F238E27FC236}">
                <a16:creationId xmlns:a16="http://schemas.microsoft.com/office/drawing/2014/main" id="{8A63517B-8DA3-DB4E-033C-07243C3FD700}"/>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6055591" y="650494"/>
            <a:ext cx="5492311" cy="5324142"/>
          </a:xfrm>
          <a:prstGeom prst="rect">
            <a:avLst/>
          </a:prstGeom>
        </p:spPr>
      </p:pic>
      <p:pic>
        <p:nvPicPr>
          <p:cNvPr id="5" name="図 4">
            <a:extLst>
              <a:ext uri="{FF2B5EF4-FFF2-40B4-BE49-F238E27FC236}">
                <a16:creationId xmlns:a16="http://schemas.microsoft.com/office/drawing/2014/main" id="{8E44349C-DDFC-C8FB-004C-0903329F5DE9}"/>
              </a:ext>
            </a:extLst>
          </p:cNvPr>
          <p:cNvPicPr>
            <a:picLocks noChangeAspect="1"/>
          </p:cNvPicPr>
          <p:nvPr/>
        </p:nvPicPr>
        <p:blipFill>
          <a:blip r:embed="rId3"/>
          <a:stretch>
            <a:fillRect/>
          </a:stretch>
        </p:blipFill>
        <p:spPr>
          <a:xfrm>
            <a:off x="5696790" y="216315"/>
            <a:ext cx="1339419" cy="1894648"/>
          </a:xfrm>
          <a:prstGeom prst="rect">
            <a:avLst/>
          </a:prstGeom>
        </p:spPr>
      </p:pic>
    </p:spTree>
    <p:extLst>
      <p:ext uri="{BB962C8B-B14F-4D97-AF65-F5344CB8AC3E}">
        <p14:creationId xmlns:p14="http://schemas.microsoft.com/office/powerpoint/2010/main" val="3262422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325085-A72F-3E88-6C36-DA5D8A94BFF1}"/>
              </a:ext>
            </a:extLst>
          </p:cNvPr>
          <p:cNvSpPr>
            <a:spLocks noGrp="1"/>
          </p:cNvSpPr>
          <p:nvPr>
            <p:ph type="title"/>
          </p:nvPr>
        </p:nvSpPr>
        <p:spPr>
          <a:xfrm>
            <a:off x="589560" y="856180"/>
            <a:ext cx="4560584" cy="1128068"/>
          </a:xfrm>
        </p:spPr>
        <p:txBody>
          <a:bodyPr anchor="ctr">
            <a:normAutofit/>
          </a:bodyPr>
          <a:lstStyle/>
          <a:p>
            <a:r>
              <a:rPr kumimoji="1" lang="ja-JP" altLang="en-US" sz="4000"/>
              <a:t>数式</a:t>
            </a:r>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CE79163-36C7-0FCC-A02B-E12C64DE42A2}"/>
                  </a:ext>
                </a:extLst>
              </p:cNvPr>
              <p:cNvSpPr>
                <a:spLocks noGrp="1"/>
              </p:cNvSpPr>
              <p:nvPr>
                <p:ph idx="1"/>
              </p:nvPr>
            </p:nvSpPr>
            <p:spPr>
              <a:xfrm>
                <a:off x="590719" y="2330505"/>
                <a:ext cx="4559425" cy="3979585"/>
              </a:xfrm>
            </p:spPr>
            <p:txBody>
              <a:bodyPr anchor="ctr">
                <a:normAutofit/>
              </a:bodyPr>
              <a:lstStyle/>
              <a:p>
                <a:r>
                  <a:rPr lang="en" altLang="ja-JP" sz="2000"/>
                  <a:t>M3</a:t>
                </a:r>
                <a:r>
                  <a:rPr lang="ja-JP" altLang="en-US" sz="2000"/>
                  <a:t>と</a:t>
                </a:r>
                <a:r>
                  <a:rPr lang="en-US" altLang="ja-JP" sz="2000"/>
                  <a:t>M2</a:t>
                </a:r>
                <a:r>
                  <a:rPr lang="ja-JP" altLang="en-US" sz="2000"/>
                  <a:t>が同一の場合、</a:t>
                </a:r>
                <a:r>
                  <a:rPr lang="en" altLang="ja-JP" sz="2000"/>
                  <a:t>V</a:t>
                </a:r>
                <a:r>
                  <a:rPr lang="en" altLang="ja-JP" sz="2000" baseline="-25000"/>
                  <a:t>GS3</a:t>
                </a:r>
                <a:r>
                  <a:rPr lang="en" altLang="ja-JP" sz="2000"/>
                  <a:t>=V</a:t>
                </a:r>
                <a:r>
                  <a:rPr lang="en" altLang="ja-JP" sz="2000" baseline="-25000"/>
                  <a:t>GS2</a:t>
                </a:r>
                <a:endParaRPr lang="en-US" altLang="ja-JP" sz="2000"/>
              </a:p>
              <a:p>
                <a:pPr lvl="1"/>
                <a:r>
                  <a:rPr lang="en" altLang="ja-JP" sz="1600"/>
                  <a:t>I</a:t>
                </a:r>
                <a:r>
                  <a:rPr lang="en" altLang="ja-JP" sz="1600" baseline="-25000"/>
                  <a:t>ref​</a:t>
                </a:r>
                <a:r>
                  <a:rPr lang="en" altLang="ja-JP" sz="1600"/>
                  <a:t>=</a:t>
                </a:r>
                <a14:m>
                  <m:oMath xmlns:m="http://schemas.openxmlformats.org/officeDocument/2006/math">
                    <m:f>
                      <m:fPr>
                        <m:ctrlPr>
                          <a:rPr lang="en-US" altLang="ja-JP" sz="1600" b="0" i="1" dirty="0" smtClean="0">
                            <a:latin typeface="Cambria Math" panose="02040503050406030204" pitchFamily="18" charset="0"/>
                          </a:rPr>
                        </m:ctrlPr>
                      </m:fPr>
                      <m:num>
                        <m:r>
                          <a:rPr lang="en-US" altLang="ja-JP" sz="1600" b="0" i="1" dirty="0" smtClean="0">
                            <a:latin typeface="Cambria Math" panose="02040503050406030204" pitchFamily="18" charset="0"/>
                          </a:rPr>
                          <m:t>1</m:t>
                        </m:r>
                      </m:num>
                      <m:den>
                        <m:r>
                          <a:rPr lang="en-US" altLang="ja-JP" sz="1600" b="0" i="1" dirty="0" smtClean="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smtClean="0">
                            <a:latin typeface="Cambria Math" panose="02040503050406030204" pitchFamily="18" charset="0"/>
                          </a:rPr>
                        </m:ctrlPr>
                      </m:fPr>
                      <m:num>
                        <m:r>
                          <a:rPr lang="en-US" altLang="ja-JP" sz="1600" b="0" i="1" smtClean="0">
                            <a:latin typeface="Cambria Math" panose="02040503050406030204" pitchFamily="18" charset="0"/>
                          </a:rPr>
                          <m:t>𝑊</m:t>
                        </m:r>
                      </m:num>
                      <m:den>
                        <m:r>
                          <a:rPr lang="en-US" altLang="ja-JP" sz="1600" b="0" i="1" smtClean="0">
                            <a:latin typeface="Cambria Math" panose="02040503050406030204" pitchFamily="18" charset="0"/>
                          </a:rPr>
                          <m:t>𝐿</m:t>
                        </m:r>
                      </m:den>
                    </m:f>
                  </m:oMath>
                </a14:m>
                <a:r>
                  <a:rPr lang="en" altLang="ja-JP" sz="1600"/>
                  <a:t>​)</a:t>
                </a:r>
                <a:r>
                  <a:rPr lang="en" altLang="ja-JP" sz="1600" baseline="-25000"/>
                  <a:t>3</a:t>
                </a:r>
                <a:r>
                  <a:rPr lang="en" altLang="ja-JP" sz="1600"/>
                  <a:t>​(V</a:t>
                </a:r>
                <a:r>
                  <a:rPr lang="en" altLang="ja-JP" sz="1600" baseline="-25000"/>
                  <a:t>GS</a:t>
                </a:r>
                <a:r>
                  <a:rPr lang="en" altLang="ja-JP" sz="1600"/>
                  <a:t>​−Vth​)</a:t>
                </a:r>
                <a:r>
                  <a:rPr lang="en" altLang="ja-JP" sz="1600" baseline="30000"/>
                  <a:t>2</a:t>
                </a:r>
                <a:r>
                  <a:rPr lang="en" altLang="ja-JP" sz="1600"/>
                  <a:t> </a:t>
                </a:r>
              </a:p>
              <a:p>
                <a:pPr lvl="1"/>
                <a:r>
                  <a:rPr lang="en" altLang="ja-JP" sz="1600"/>
                  <a:t>I</a:t>
                </a:r>
                <a:r>
                  <a:rPr lang="en" altLang="ja-JP" sz="1600" baseline="-25000"/>
                  <a:t>out​</a:t>
                </a:r>
                <a:r>
                  <a:rPr lang="en" altLang="ja-JP" sz="1600"/>
                  <a:t>=</a:t>
                </a:r>
                <a14:m>
                  <m:oMath xmlns:m="http://schemas.openxmlformats.org/officeDocument/2006/math">
                    <m:f>
                      <m:fPr>
                        <m:ctrlPr>
                          <a:rPr lang="en-US" altLang="ja-JP" sz="1600" i="1" dirty="0">
                            <a:latin typeface="Cambria Math" panose="02040503050406030204" pitchFamily="18" charset="0"/>
                          </a:rPr>
                        </m:ctrlPr>
                      </m:fPr>
                      <m:num>
                        <m:r>
                          <a:rPr lang="en-US" altLang="ja-JP" sz="1600" i="1" dirty="0">
                            <a:latin typeface="Cambria Math" panose="02040503050406030204" pitchFamily="18" charset="0"/>
                          </a:rPr>
                          <m:t>1</m:t>
                        </m:r>
                      </m:num>
                      <m:den>
                        <m:r>
                          <a:rPr lang="en-US" altLang="ja-JP" sz="1600" i="1" dirty="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a:t>
                </a:r>
                <a:r>
                  <a:rPr lang="en" altLang="ja-JP" sz="1600"/>
                  <a:t>​(V</a:t>
                </a:r>
                <a:r>
                  <a:rPr lang="en" altLang="ja-JP" sz="1600" baseline="-25000"/>
                  <a:t>GS</a:t>
                </a:r>
                <a:r>
                  <a:rPr lang="en" altLang="ja-JP" sz="1600"/>
                  <a:t>​−Vth​)</a:t>
                </a:r>
                <a:r>
                  <a:rPr lang="en" altLang="ja-JP" sz="1600" baseline="30000"/>
                  <a:t>2</a:t>
                </a:r>
                <a:r>
                  <a:rPr lang="en" altLang="ja-JP" sz="1600"/>
                  <a:t> </a:t>
                </a:r>
              </a:p>
              <a:p>
                <a:pPr lvl="1"/>
                <a:endParaRPr lang="en" altLang="ja-JP" sz="1600" baseline="-25000"/>
              </a:p>
              <a:p>
                <a:r>
                  <a:rPr lang="ja-JP" altLang="en-US" sz="2000"/>
                  <a:t>式を変形して</a:t>
                </a:r>
                <a:endParaRPr lang="en" altLang="ja-JP" sz="2000"/>
              </a:p>
              <a:p>
                <a:pPr lvl="1"/>
                <a:r>
                  <a:rPr lang="en" altLang="ja-JP" sz="1600"/>
                  <a:t>I</a:t>
                </a:r>
                <a:r>
                  <a:rPr lang="en" altLang="ja-JP" sz="1600" baseline="-25000"/>
                  <a:t>out</a:t>
                </a:r>
                <a:r>
                  <a:rPr lang="en" altLang="ja-JP" sz="1600"/>
                  <a:t>​=I</a:t>
                </a:r>
                <a:r>
                  <a:rPr lang="en" altLang="ja-JP" sz="1600" baseline="-25000"/>
                  <a:t>ref​</a:t>
                </a:r>
                <a:r>
                  <a:rPr lang="en" altLang="ja-JP" sz="1600"/>
                  <a:t>× (</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 </a:t>
                </a:r>
                <a:r>
                  <a:rPr lang="en" altLang="ja-JP" sz="1600"/>
                  <a:t>/​(</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3 </a:t>
                </a:r>
              </a:p>
              <a:p>
                <a:endParaRPr lang="en" altLang="ja-JP" sz="2000"/>
              </a:p>
              <a:p>
                <a:r>
                  <a:rPr lang="en" altLang="ja-JP" sz="2000"/>
                  <a:t> (</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2 </a:t>
                </a:r>
                <a:r>
                  <a:rPr lang="en" altLang="ja-JP" sz="2000"/>
                  <a:t>=​(</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3</a:t>
                </a:r>
                <a:r>
                  <a:rPr lang="ja-JP" altLang="en-US" sz="2000"/>
                  <a:t>の場合</a:t>
                </a:r>
                <a:endParaRPr lang="en" altLang="ja-JP" sz="2000"/>
              </a:p>
              <a:p>
                <a:pPr lvl="1"/>
                <a:r>
                  <a:rPr lang="en" altLang="ja-JP" sz="1600"/>
                  <a:t>I</a:t>
                </a:r>
                <a:r>
                  <a:rPr lang="en" altLang="ja-JP" sz="1600" baseline="-25000"/>
                  <a:t>out</a:t>
                </a:r>
                <a:r>
                  <a:rPr lang="en" altLang="ja-JP" sz="1600"/>
                  <a:t>​=I</a:t>
                </a:r>
                <a:r>
                  <a:rPr lang="en" altLang="ja-JP" sz="1600" baseline="-25000"/>
                  <a:t>ref​</a:t>
                </a:r>
                <a:endParaRPr kumimoji="1" lang="ja-JP" altLang="en-US" sz="1600"/>
              </a:p>
            </p:txBody>
          </p:sp>
        </mc:Choice>
        <mc:Fallback xmlns="">
          <p:sp>
            <p:nvSpPr>
              <p:cNvPr id="3" name="コンテンツ プレースホルダー 2">
                <a:extLst>
                  <a:ext uri="{FF2B5EF4-FFF2-40B4-BE49-F238E27FC236}">
                    <a16:creationId xmlns:a16="http://schemas.microsoft.com/office/drawing/2014/main" id="{BCE79163-36C7-0FCC-A02B-E12C64DE42A2}"/>
                  </a:ext>
                </a:extLst>
              </p:cNvPr>
              <p:cNvSpPr>
                <a:spLocks noGrp="1" noRot="1" noChangeAspect="1" noMove="1" noResize="1" noEditPoints="1" noAdjustHandles="1" noChangeArrowheads="1" noChangeShapeType="1" noTextEdit="1"/>
              </p:cNvSpPr>
              <p:nvPr>
                <p:ph idx="1"/>
              </p:nvPr>
            </p:nvSpPr>
            <p:spPr>
              <a:xfrm>
                <a:off x="590719" y="2330505"/>
                <a:ext cx="4559425" cy="3979585"/>
              </a:xfrm>
              <a:blipFill>
                <a:blip r:embed="rId2"/>
                <a:stretch>
                  <a:fillRect l="-1203"/>
                </a:stretch>
              </a:blipFill>
            </p:spPr>
            <p:txBody>
              <a:bodyPr/>
              <a:lstStyle/>
              <a:p>
                <a:r>
                  <a:rPr lang="ja-JP" altLang="en-US">
                    <a:noFill/>
                  </a:rPr>
                  <a:t> </a:t>
                </a:r>
              </a:p>
            </p:txBody>
          </p:sp>
        </mc:Fallback>
      </mc:AlternateContent>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descr="ダイアグラム, 概略図&#10;&#10;AI 生成コンテンツは誤りを含む可能性があります。">
            <a:extLst>
              <a:ext uri="{FF2B5EF4-FFF2-40B4-BE49-F238E27FC236}">
                <a16:creationId xmlns:a16="http://schemas.microsoft.com/office/drawing/2014/main" id="{702A0190-81DC-1471-7410-E4B167FA1CAE}"/>
              </a:ext>
            </a:extLst>
          </p:cNvPr>
          <p:cNvPicPr>
            <a:picLocks noChangeAspect="1"/>
          </p:cNvPicPr>
          <p:nvPr/>
        </p:nvPicPr>
        <p:blipFill>
          <a:blip r:embed="rId3">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630207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2B18102-639A-2556-3A5B-E64116DA202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8DEA0E8-CA30-4760-C93A-F603312A8E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DCA62DE-36ED-ACAA-6B69-47F89A8E0F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4C1EBF24-5BA3-3565-BE5B-B73290F534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2CDD87A5-A36F-B61E-0C9D-908E6A7261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4455FC7C-FFEA-463B-0969-BB63C995A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A3AA2887-249B-2760-A292-B51F5E0F12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カスコード接続</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46036654"/>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54CBBD7-A9EF-590F-71AA-18C88297B2A4}"/>
              </a:ext>
            </a:extLst>
          </p:cNvPr>
          <p:cNvSpPr>
            <a:spLocks noGrp="1"/>
          </p:cNvSpPr>
          <p:nvPr>
            <p:ph type="title"/>
          </p:nvPr>
        </p:nvSpPr>
        <p:spPr>
          <a:xfrm>
            <a:off x="1043631" y="873940"/>
            <a:ext cx="5052369" cy="1035781"/>
          </a:xfrm>
        </p:spPr>
        <p:txBody>
          <a:bodyPr anchor="ctr">
            <a:normAutofit/>
          </a:bodyPr>
          <a:lstStyle/>
          <a:p>
            <a:r>
              <a:rPr kumimoji="1" lang="ja-JP" altLang="en-US" sz="3600"/>
              <a:t>カスコード接続</a:t>
            </a:r>
          </a:p>
        </p:txBody>
      </p:sp>
      <p:sp>
        <p:nvSpPr>
          <p:cNvPr id="3" name="コンテンツ プレースホルダー 2">
            <a:extLst>
              <a:ext uri="{FF2B5EF4-FFF2-40B4-BE49-F238E27FC236}">
                <a16:creationId xmlns:a16="http://schemas.microsoft.com/office/drawing/2014/main" id="{27A2960C-FD41-0143-850D-FD47B3CB5F9C}"/>
              </a:ext>
            </a:extLst>
          </p:cNvPr>
          <p:cNvSpPr>
            <a:spLocks noGrp="1"/>
          </p:cNvSpPr>
          <p:nvPr>
            <p:ph idx="1"/>
          </p:nvPr>
        </p:nvSpPr>
        <p:spPr>
          <a:xfrm>
            <a:off x="1045029" y="2524721"/>
            <a:ext cx="5611190" cy="3677123"/>
          </a:xfrm>
        </p:spPr>
        <p:txBody>
          <a:bodyPr anchor="ctr">
            <a:normAutofit/>
          </a:bodyPr>
          <a:lstStyle/>
          <a:p>
            <a:r>
              <a:rPr lang="ja-JP" altLang="en-US" sz="2000"/>
              <a:t>構成</a:t>
            </a:r>
            <a:endParaRPr lang="en-US" altLang="ja-JP" sz="2000"/>
          </a:p>
          <a:p>
            <a:pPr lvl="1"/>
            <a:r>
              <a:rPr lang="en-US" altLang="ja-JP" sz="2000"/>
              <a:t>2</a:t>
            </a:r>
            <a:r>
              <a:rPr lang="ja-JP" altLang="en-US" sz="2000"/>
              <a:t>つのトランジスタを直列に接続し、単一のトランジスタでは実現が難しい優れた性能を得るための回路</a:t>
            </a:r>
            <a:endParaRPr lang="en-US" altLang="ja-JP" sz="2000"/>
          </a:p>
          <a:p>
            <a:r>
              <a:rPr lang="ja-JP" altLang="en-US" sz="2000"/>
              <a:t>原理</a:t>
            </a:r>
            <a:endParaRPr lang="en-US" altLang="ja-JP" sz="2000"/>
          </a:p>
          <a:p>
            <a:pPr lvl="1"/>
            <a:r>
              <a:rPr lang="en-US" altLang="ja-JP" sz="2000"/>
              <a:t>M2</a:t>
            </a:r>
            <a:r>
              <a:rPr lang="ja-JP" altLang="en-US" sz="2000"/>
              <a:t>が</a:t>
            </a:r>
            <a:r>
              <a:rPr lang="en-US" altLang="ja-JP" sz="2000"/>
              <a:t>M1</a:t>
            </a:r>
            <a:r>
              <a:rPr lang="ja-JP" altLang="en-US" sz="2000"/>
              <a:t>に対して「</a:t>
            </a:r>
            <a:r>
              <a:rPr lang="ja-JP" altLang="en-US" sz="2000" b="1"/>
              <a:t>電圧スタビライザ</a:t>
            </a:r>
            <a:r>
              <a:rPr lang="ja-JP" altLang="en-US" sz="2000"/>
              <a:t>」および「</a:t>
            </a:r>
            <a:r>
              <a:rPr lang="ja-JP" altLang="en-US" sz="2000" b="1"/>
              <a:t>電流ブースター</a:t>
            </a:r>
            <a:r>
              <a:rPr lang="ja-JP" altLang="en-US" sz="2000"/>
              <a:t>」として機能</a:t>
            </a:r>
            <a:endParaRPr lang="en-US" altLang="ja-JP" sz="2000"/>
          </a:p>
          <a:p>
            <a:pPr lvl="2"/>
            <a:r>
              <a:rPr lang="en-US" altLang="ja-JP" sz="1200"/>
              <a:t>M1 (</a:t>
            </a:r>
            <a:r>
              <a:rPr lang="ja-JP" altLang="en-US" sz="1200"/>
              <a:t>下段、コモンソース</a:t>
            </a:r>
            <a:r>
              <a:rPr lang="en-US" altLang="ja-JP" sz="1200"/>
              <a:t>)</a:t>
            </a:r>
          </a:p>
          <a:p>
            <a:pPr lvl="3"/>
            <a:r>
              <a:rPr lang="ja-JP" altLang="en-US" sz="1050"/>
              <a:t>役割</a:t>
            </a:r>
            <a:r>
              <a:rPr lang="en-US" altLang="ja-JP" sz="1050"/>
              <a:t>: </a:t>
            </a:r>
            <a:r>
              <a:rPr lang="ja-JP" altLang="en-US" sz="1050"/>
              <a:t>入力電圧</a:t>
            </a:r>
            <a:r>
              <a:rPr lang="en-US" altLang="ja-JP" sz="1050"/>
              <a:t>(Vin)</a:t>
            </a:r>
            <a:r>
              <a:rPr lang="ja-JP" altLang="en-US" sz="1050"/>
              <a:t>を電流変化に変換する。基本的な増幅動作の起点。</a:t>
            </a:r>
          </a:p>
          <a:p>
            <a:pPr lvl="2"/>
            <a:r>
              <a:rPr lang="en-US" altLang="ja-JP" sz="1200"/>
              <a:t>M2 (</a:t>
            </a:r>
            <a:r>
              <a:rPr lang="ja-JP" altLang="en-US" sz="1200"/>
              <a:t>上段、コモンゲート</a:t>
            </a:r>
            <a:r>
              <a:rPr lang="en-US" altLang="ja-JP" sz="1200"/>
              <a:t>)</a:t>
            </a:r>
          </a:p>
          <a:p>
            <a:pPr lvl="3"/>
            <a:r>
              <a:rPr lang="ja-JP" altLang="en-US" sz="1050"/>
              <a:t>ゲート</a:t>
            </a:r>
            <a:r>
              <a:rPr lang="en-US" altLang="ja-JP" sz="1050"/>
              <a:t>: </a:t>
            </a:r>
            <a:r>
              <a:rPr lang="ja-JP" altLang="en-US" sz="1050"/>
              <a:t>固定バイアス電圧</a:t>
            </a:r>
            <a:r>
              <a:rPr lang="en-US" altLang="ja-JP" sz="1050"/>
              <a:t>(Vb) - M2</a:t>
            </a:r>
            <a:r>
              <a:rPr lang="ja-JP" altLang="en-US" sz="1050"/>
              <a:t>の動作点を決める</a:t>
            </a:r>
          </a:p>
          <a:p>
            <a:pPr lvl="3"/>
            <a:r>
              <a:rPr lang="ja-JP" altLang="en-US" sz="1050"/>
              <a:t>役割</a:t>
            </a:r>
            <a:r>
              <a:rPr lang="en-US" altLang="ja-JP" sz="1050"/>
              <a:t>: M1</a:t>
            </a:r>
            <a:r>
              <a:rPr lang="ja-JP" altLang="en-US" sz="1050"/>
              <a:t>のドレイン電圧を安定させる</a:t>
            </a:r>
            <a:endParaRPr lang="en-US" altLang="ja-JP" sz="1050"/>
          </a:p>
        </p:txBody>
      </p:sp>
      <p:sp>
        <p:nvSpPr>
          <p:cNvPr id="34" name="Rectangle 3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F92B6613-EADD-5947-4182-B3F4515EA97E}"/>
              </a:ext>
            </a:extLst>
          </p:cNvPr>
          <p:cNvPicPr>
            <a:picLocks noChangeAspect="1"/>
          </p:cNvPicPr>
          <p:nvPr/>
        </p:nvPicPr>
        <p:blipFill>
          <a:blip r:embed="rId2"/>
          <a:stretch>
            <a:fillRect/>
          </a:stretch>
        </p:blipFill>
        <p:spPr>
          <a:xfrm>
            <a:off x="6930493" y="1112891"/>
            <a:ext cx="4223252" cy="4692502"/>
          </a:xfrm>
          <a:prstGeom prst="rect">
            <a:avLst/>
          </a:prstGeom>
        </p:spPr>
      </p:pic>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B004D1B-411A-3AF6-79FA-5B787A0B0597}"/>
              </a:ext>
            </a:extLst>
          </p:cNvPr>
          <p:cNvSpPr txBox="1"/>
          <p:nvPr/>
        </p:nvSpPr>
        <p:spPr>
          <a:xfrm>
            <a:off x="9042118" y="5745109"/>
            <a:ext cx="2438061" cy="215444"/>
          </a:xfrm>
          <a:prstGeom prst="rect">
            <a:avLst/>
          </a:prstGeom>
          <a:noFill/>
        </p:spPr>
        <p:txBody>
          <a:bodyPr wrap="square" rtlCol="0">
            <a:spAutoFit/>
          </a:bodyPr>
          <a:lstStyle/>
          <a:p>
            <a:r>
              <a:rPr kumimoji="1" lang="ja-JP" altLang="en-US" sz="800"/>
              <a:t>出典：アナログ</a:t>
            </a:r>
            <a:r>
              <a:rPr kumimoji="1" lang="en-US" altLang="ja-JP" sz="800"/>
              <a:t>CMOS</a:t>
            </a:r>
            <a:r>
              <a:rPr kumimoji="1" lang="ja-JP" altLang="en-US" sz="800"/>
              <a:t>集積回路の設計・基礎編</a:t>
            </a:r>
          </a:p>
        </p:txBody>
      </p:sp>
    </p:spTree>
    <p:extLst>
      <p:ext uri="{BB962C8B-B14F-4D97-AF65-F5344CB8AC3E}">
        <p14:creationId xmlns:p14="http://schemas.microsoft.com/office/powerpoint/2010/main" val="2581260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2493A15-F9BA-7C79-45A4-498513CDB613}"/>
              </a:ext>
            </a:extLst>
          </p:cNvPr>
          <p:cNvSpPr>
            <a:spLocks noGrp="1"/>
          </p:cNvSpPr>
          <p:nvPr>
            <p:ph type="title"/>
          </p:nvPr>
        </p:nvSpPr>
        <p:spPr>
          <a:xfrm>
            <a:off x="793662" y="386930"/>
            <a:ext cx="10066122" cy="1298448"/>
          </a:xfrm>
        </p:spPr>
        <p:txBody>
          <a:bodyPr anchor="b">
            <a:normAutofit/>
          </a:bodyPr>
          <a:lstStyle/>
          <a:p>
            <a:r>
              <a:rPr kumimoji="1" lang="ja-JP" altLang="en-US" sz="4800"/>
              <a:t>利点：短チャネル効果の改善</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EF28942-3A7C-B947-3AB0-D197762182F6}"/>
              </a:ext>
            </a:extLst>
          </p:cNvPr>
          <p:cNvSpPr>
            <a:spLocks noGrp="1"/>
          </p:cNvSpPr>
          <p:nvPr>
            <p:ph idx="1"/>
          </p:nvPr>
        </p:nvSpPr>
        <p:spPr>
          <a:xfrm>
            <a:off x="793661" y="2599509"/>
            <a:ext cx="2761771" cy="3639450"/>
          </a:xfrm>
        </p:spPr>
        <p:txBody>
          <a:bodyPr anchor="ctr">
            <a:normAutofit/>
          </a:bodyPr>
          <a:lstStyle/>
          <a:p>
            <a:r>
              <a:rPr lang="ja-JP" altLang="en-US" sz="2000"/>
              <a:t>原理</a:t>
            </a:r>
            <a:endParaRPr lang="en-US" altLang="ja-JP" sz="2000"/>
          </a:p>
          <a:p>
            <a:pPr lvl="1"/>
            <a:r>
              <a:rPr lang="ja-JP" altLang="en-US" sz="1600"/>
              <a:t>下段トランジスタのドレイン電圧がほぼ一定に保たれることを利用</a:t>
            </a:r>
            <a:endParaRPr lang="en-US" altLang="ja-JP" sz="1600"/>
          </a:p>
          <a:p>
            <a:pPr lvl="2"/>
            <a:r>
              <a:rPr lang="en-US" altLang="ja-JP" sz="1200"/>
              <a:t>c</a:t>
            </a:r>
            <a:r>
              <a:rPr kumimoji="1" lang="en-US" altLang="ja-JP" sz="1200"/>
              <a:t>ascode.sch</a:t>
            </a:r>
            <a:endParaRPr kumimoji="1" lang="ja-JP" altLang="en-US" sz="120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8015F6DD-F7AF-C7E1-9975-226EEF6ACC5A}"/>
              </a:ext>
            </a:extLst>
          </p:cNvPr>
          <p:cNvPicPr>
            <a:picLocks noChangeAspect="1"/>
          </p:cNvPicPr>
          <p:nvPr/>
        </p:nvPicPr>
        <p:blipFill>
          <a:blip r:embed="rId2"/>
          <a:stretch>
            <a:fillRect/>
          </a:stretch>
        </p:blipFill>
        <p:spPr>
          <a:xfrm>
            <a:off x="3607124" y="2599509"/>
            <a:ext cx="8584876" cy="3748120"/>
          </a:xfrm>
          <a:prstGeom prst="rect">
            <a:avLst/>
          </a:prstGeom>
        </p:spPr>
      </p:pic>
    </p:spTree>
    <p:extLst>
      <p:ext uri="{BB962C8B-B14F-4D97-AF65-F5344CB8AC3E}">
        <p14:creationId xmlns:p14="http://schemas.microsoft.com/office/powerpoint/2010/main" val="3946653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26FBAD3-D315-3A07-1D55-84375F10EA0B}"/>
              </a:ext>
            </a:extLst>
          </p:cNvPr>
          <p:cNvSpPr>
            <a:spLocks noGrp="1"/>
          </p:cNvSpPr>
          <p:nvPr>
            <p:ph type="title"/>
          </p:nvPr>
        </p:nvSpPr>
        <p:spPr>
          <a:xfrm>
            <a:off x="793662" y="386930"/>
            <a:ext cx="10066122" cy="1298448"/>
          </a:xfrm>
        </p:spPr>
        <p:txBody>
          <a:bodyPr anchor="b">
            <a:normAutofit/>
          </a:bodyPr>
          <a:lstStyle/>
          <a:p>
            <a:r>
              <a:rPr lang="ja-JP" altLang="en-US" sz="4800"/>
              <a:t>利点：ミラー効果の改善</a:t>
            </a:r>
            <a:endParaRPr kumimoji="1" lang="ja-JP" altLang="en-US" sz="4800"/>
          </a:p>
        </p:txBody>
      </p:sp>
      <p:sp>
        <p:nvSpPr>
          <p:cNvPr id="35" name="Rectangle 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972D751-1BDF-69EA-5EE3-24D8920E2527}"/>
              </a:ext>
            </a:extLst>
          </p:cNvPr>
          <p:cNvSpPr>
            <a:spLocks noGrp="1"/>
          </p:cNvSpPr>
          <p:nvPr>
            <p:ph idx="1"/>
          </p:nvPr>
        </p:nvSpPr>
        <p:spPr>
          <a:xfrm>
            <a:off x="793660" y="2599509"/>
            <a:ext cx="5302339" cy="3639450"/>
          </a:xfrm>
        </p:spPr>
        <p:txBody>
          <a:bodyPr anchor="ctr">
            <a:normAutofit fontScale="92500" lnSpcReduction="10000"/>
          </a:bodyPr>
          <a:lstStyle/>
          <a:p>
            <a:r>
              <a:rPr lang="ja-JP" altLang="en-US" sz="2000"/>
              <a:t>原理</a:t>
            </a:r>
            <a:endParaRPr lang="en-US" altLang="ja-JP" sz="2000"/>
          </a:p>
          <a:p>
            <a:pPr lvl="1"/>
            <a:r>
              <a:rPr lang="ja-JP" altLang="en-US" sz="2000"/>
              <a:t>下段トランジスタのドレイン電圧が上段トランジスタによってほぼ一定に保たれるため、下段トランジスタのドレイン電圧の変動が非常に小さくなる</a:t>
            </a:r>
            <a:endParaRPr lang="en-US" altLang="ja-JP" sz="2000"/>
          </a:p>
          <a:p>
            <a:pPr lvl="1"/>
            <a:endParaRPr lang="en-US" altLang="ja-JP" sz="2000"/>
          </a:p>
          <a:p>
            <a:pPr lvl="1"/>
            <a:r>
              <a:rPr lang="en-US" altLang="ja-JP" sz="1800"/>
              <a:t>I</a:t>
            </a:r>
            <a:r>
              <a:rPr lang="en-US" altLang="ja-JP" sz="1800" baseline="-25000"/>
              <a:t>Cgd</a:t>
            </a:r>
            <a:r>
              <a:rPr lang="en-US" altLang="ja-JP" sz="1800"/>
              <a:t>​=Cgd(Vgs​−Vds) </a:t>
            </a:r>
          </a:p>
          <a:p>
            <a:pPr lvl="1"/>
            <a:endParaRPr lang="en-US" altLang="ja-JP" sz="1600"/>
          </a:p>
          <a:p>
            <a:pPr lvl="1"/>
            <a:r>
              <a:rPr lang="ja-JP" altLang="en-US" sz="1800"/>
              <a:t>これにより、下段トランジスタの</a:t>
            </a:r>
            <a:r>
              <a:rPr lang="en-US" altLang="ja-JP" sz="1800"/>
              <a:t>Cgd</a:t>
            </a:r>
            <a:r>
              <a:rPr lang="ja-JP" altLang="en-US" sz="1800"/>
              <a:t>（または</a:t>
            </a:r>
            <a:r>
              <a:rPr lang="en-US" altLang="ja-JP" sz="1800"/>
              <a:t>Ccb </a:t>
            </a:r>
            <a:r>
              <a:rPr lang="ja-JP" altLang="en-US" sz="1800"/>
              <a:t>）を介して入力に帰還する電流が大幅に抑制され、ミラー効果が低減される</a:t>
            </a:r>
            <a:endParaRPr lang="en-US" altLang="ja-JP" sz="1800"/>
          </a:p>
          <a:p>
            <a:pPr lvl="1"/>
            <a:endParaRPr lang="en-US" altLang="ja-JP" sz="1600"/>
          </a:p>
          <a:p>
            <a:pPr lvl="2"/>
            <a:r>
              <a:rPr lang="ja-JP" altLang="en-US" sz="1600"/>
              <a:t>ちなみに、</a:t>
            </a:r>
            <a:r>
              <a:rPr lang="en-US" altLang="ja-JP" sz="1600"/>
              <a:t>Miller Effect</a:t>
            </a:r>
            <a:r>
              <a:rPr lang="ja-JP" altLang="en-US" sz="1600"/>
              <a:t>、鏡の</a:t>
            </a:r>
            <a:r>
              <a:rPr lang="en-US" altLang="ja-JP" sz="1600"/>
              <a:t>mirror</a:t>
            </a:r>
            <a:r>
              <a:rPr lang="ja-JP" altLang="en-US" sz="1600"/>
              <a:t>ではなく、人名</a:t>
            </a:r>
            <a:endParaRPr lang="en-US" altLang="ja-JP" sz="1600"/>
          </a:p>
        </p:txBody>
      </p:sp>
      <p:pic>
        <p:nvPicPr>
          <p:cNvPr id="4" name="図 3">
            <a:extLst>
              <a:ext uri="{FF2B5EF4-FFF2-40B4-BE49-F238E27FC236}">
                <a16:creationId xmlns:a16="http://schemas.microsoft.com/office/drawing/2014/main" id="{C93E1635-2307-FA80-E0A4-20134268F916}"/>
              </a:ext>
            </a:extLst>
          </p:cNvPr>
          <p:cNvPicPr>
            <a:picLocks noChangeAspect="1"/>
          </p:cNvPicPr>
          <p:nvPr/>
        </p:nvPicPr>
        <p:blipFill>
          <a:blip r:embed="rId2"/>
          <a:stretch>
            <a:fillRect/>
          </a:stretch>
        </p:blipFill>
        <p:spPr>
          <a:xfrm>
            <a:off x="6074824" y="2484255"/>
            <a:ext cx="4823693" cy="3714244"/>
          </a:xfrm>
          <a:prstGeom prst="rect">
            <a:avLst/>
          </a:prstGeom>
        </p:spPr>
      </p:pic>
      <p:sp>
        <p:nvSpPr>
          <p:cNvPr id="39" name="Rectangle 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テキスト ボックス 4">
            <a:extLst>
              <a:ext uri="{FF2B5EF4-FFF2-40B4-BE49-F238E27FC236}">
                <a16:creationId xmlns:a16="http://schemas.microsoft.com/office/drawing/2014/main" id="{7B1EE0C4-26B3-2DAC-242E-301D7E4E44AE}"/>
              </a:ext>
            </a:extLst>
          </p:cNvPr>
          <p:cNvSpPr txBox="1"/>
          <p:nvPr/>
        </p:nvSpPr>
        <p:spPr>
          <a:xfrm>
            <a:off x="9042118" y="6192975"/>
            <a:ext cx="2438061" cy="215444"/>
          </a:xfrm>
          <a:prstGeom prst="rect">
            <a:avLst/>
          </a:prstGeom>
          <a:noFill/>
        </p:spPr>
        <p:txBody>
          <a:bodyPr wrap="square" rtlCol="0">
            <a:spAutoFit/>
          </a:bodyPr>
          <a:lstStyle/>
          <a:p>
            <a:r>
              <a:rPr kumimoji="1" lang="ja-JP" altLang="en-US" sz="800"/>
              <a:t>出典：アナログ</a:t>
            </a:r>
            <a:r>
              <a:rPr kumimoji="1" lang="en-US" altLang="ja-JP" sz="800"/>
              <a:t>CMOS</a:t>
            </a:r>
            <a:r>
              <a:rPr kumimoji="1" lang="ja-JP" altLang="en-US" sz="800"/>
              <a:t>集積回路の設計・基礎編</a:t>
            </a:r>
          </a:p>
        </p:txBody>
      </p:sp>
      <p:sp>
        <p:nvSpPr>
          <p:cNvPr id="6" name="吹き出し: 角を丸めた四角形 5">
            <a:extLst>
              <a:ext uri="{FF2B5EF4-FFF2-40B4-BE49-F238E27FC236}">
                <a16:creationId xmlns:a16="http://schemas.microsoft.com/office/drawing/2014/main" id="{6E1C4429-FE65-E2EE-9D89-763D86824E0D}"/>
              </a:ext>
            </a:extLst>
          </p:cNvPr>
          <p:cNvSpPr/>
          <p:nvPr/>
        </p:nvSpPr>
        <p:spPr>
          <a:xfrm>
            <a:off x="3852677" y="3939590"/>
            <a:ext cx="2222146" cy="408670"/>
          </a:xfrm>
          <a:prstGeom prst="wedgeRoundRectCallout">
            <a:avLst>
              <a:gd name="adj1" fmla="val -65573"/>
              <a:gd name="adj2" fmla="val 6625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a:t>これが小さくなる</a:t>
            </a:r>
          </a:p>
        </p:txBody>
      </p:sp>
    </p:spTree>
    <p:extLst>
      <p:ext uri="{BB962C8B-B14F-4D97-AF65-F5344CB8AC3E}">
        <p14:creationId xmlns:p14="http://schemas.microsoft.com/office/powerpoint/2010/main" val="452744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タイトル 1">
            <a:extLst>
              <a:ext uri="{FF2B5EF4-FFF2-40B4-BE49-F238E27FC236}">
                <a16:creationId xmlns:a16="http://schemas.microsoft.com/office/drawing/2014/main" id="{6837315B-AF98-954B-F6CF-1B0487603366}"/>
              </a:ext>
            </a:extLst>
          </p:cNvPr>
          <p:cNvSpPr>
            <a:spLocks noGrp="1"/>
          </p:cNvSpPr>
          <p:nvPr>
            <p:ph type="title"/>
          </p:nvPr>
        </p:nvSpPr>
        <p:spPr>
          <a:xfrm>
            <a:off x="853120" y="-116841"/>
            <a:ext cx="10515600" cy="1325563"/>
          </a:xfrm>
        </p:spPr>
        <p:txBody>
          <a:bodyPr/>
          <a:lstStyle/>
          <a:p>
            <a:r>
              <a:rPr kumimoji="1" lang="ja-JP" altLang="en-US"/>
              <a:t>ミラー効果 </a:t>
            </a:r>
            <a:r>
              <a:rPr kumimoji="1" lang="en-US" altLang="ja-JP"/>
              <a:t>(Miller effect)</a:t>
            </a:r>
            <a:endParaRPr kumimoji="1" lang="ja-JP" altLang="en-US"/>
          </a:p>
        </p:txBody>
      </p:sp>
      <p:sp>
        <p:nvSpPr>
          <p:cNvPr id="9" name="テキスト ボックス 8">
            <a:extLst>
              <a:ext uri="{FF2B5EF4-FFF2-40B4-BE49-F238E27FC236}">
                <a16:creationId xmlns:a16="http://schemas.microsoft.com/office/drawing/2014/main" id="{EE3D5BC6-BCE9-77E5-1111-CBE237313931}"/>
              </a:ext>
            </a:extLst>
          </p:cNvPr>
          <p:cNvSpPr txBox="1"/>
          <p:nvPr/>
        </p:nvSpPr>
        <p:spPr>
          <a:xfrm>
            <a:off x="1657180" y="1412777"/>
            <a:ext cx="9110186" cy="461665"/>
          </a:xfrm>
          <a:prstGeom prst="rect">
            <a:avLst/>
          </a:prstGeom>
          <a:noFill/>
        </p:spPr>
        <p:txBody>
          <a:bodyPr wrap="none" rtlCol="0">
            <a:spAutoFit/>
          </a:bodyPr>
          <a:lstStyle/>
          <a:p>
            <a:pPr algn="l"/>
            <a:r>
              <a:rPr lang="ja-JP" altLang="en-US" sz="2400">
                <a:solidFill>
                  <a:schemeClr val="accent1"/>
                </a:solidFill>
              </a:rPr>
              <a:t>入力端子と出力端子の間をつなぐキャパシタンスはどう見えるか</a:t>
            </a:r>
          </a:p>
        </p:txBody>
      </p:sp>
      <p:sp>
        <p:nvSpPr>
          <p:cNvPr id="13" name="二等辺三角形 5">
            <a:extLst>
              <a:ext uri="{FF2B5EF4-FFF2-40B4-BE49-F238E27FC236}">
                <a16:creationId xmlns:a16="http://schemas.microsoft.com/office/drawing/2014/main" id="{0443625D-F6DD-9186-12D6-FD1442B875DD}"/>
              </a:ext>
            </a:extLst>
          </p:cNvPr>
          <p:cNvSpPr/>
          <p:nvPr/>
        </p:nvSpPr>
        <p:spPr>
          <a:xfrm rot="5400000">
            <a:off x="5243061" y="2876812"/>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 name="楕円 6">
            <a:extLst>
              <a:ext uri="{FF2B5EF4-FFF2-40B4-BE49-F238E27FC236}">
                <a16:creationId xmlns:a16="http://schemas.microsoft.com/office/drawing/2014/main" id="{290EA8EA-25D7-331D-34E0-A277B549A9DF}"/>
              </a:ext>
            </a:extLst>
          </p:cNvPr>
          <p:cNvSpPr/>
          <p:nvPr/>
        </p:nvSpPr>
        <p:spPr>
          <a:xfrm>
            <a:off x="3982921"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6" name="楕円 7">
            <a:extLst>
              <a:ext uri="{FF2B5EF4-FFF2-40B4-BE49-F238E27FC236}">
                <a16:creationId xmlns:a16="http://schemas.microsoft.com/office/drawing/2014/main" id="{9C7B8FBC-3EEB-AF90-5E89-779C2F1CEBDE}"/>
              </a:ext>
            </a:extLst>
          </p:cNvPr>
          <p:cNvSpPr/>
          <p:nvPr/>
        </p:nvSpPr>
        <p:spPr>
          <a:xfrm>
            <a:off x="4739006"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直線コネクタ 16">
            <a:extLst>
              <a:ext uri="{FF2B5EF4-FFF2-40B4-BE49-F238E27FC236}">
                <a16:creationId xmlns:a16="http://schemas.microsoft.com/office/drawing/2014/main" id="{22B3A7F4-C667-CDF3-DE45-9BFFD34EBF05}"/>
              </a:ext>
            </a:extLst>
          </p:cNvPr>
          <p:cNvCxnSpPr>
            <a:stCxn id="13" idx="3"/>
            <a:endCxn id="15" idx="6"/>
          </p:cNvCxnSpPr>
          <p:nvPr/>
        </p:nvCxnSpPr>
        <p:spPr>
          <a:xfrm flipH="1">
            <a:off x="4126937" y="3344864"/>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楕円 10">
            <a:extLst>
              <a:ext uri="{FF2B5EF4-FFF2-40B4-BE49-F238E27FC236}">
                <a16:creationId xmlns:a16="http://schemas.microsoft.com/office/drawing/2014/main" id="{7F57B497-4D9F-6027-CBCB-DFB168A33C1D}"/>
              </a:ext>
            </a:extLst>
          </p:cNvPr>
          <p:cNvSpPr/>
          <p:nvPr/>
        </p:nvSpPr>
        <p:spPr>
          <a:xfrm>
            <a:off x="7157512"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9" name="直線コネクタ 18">
            <a:extLst>
              <a:ext uri="{FF2B5EF4-FFF2-40B4-BE49-F238E27FC236}">
                <a16:creationId xmlns:a16="http://schemas.microsoft.com/office/drawing/2014/main" id="{EAD12F04-AD52-EBF4-4D01-6D57CEFF6CA1}"/>
              </a:ext>
            </a:extLst>
          </p:cNvPr>
          <p:cNvCxnSpPr>
            <a:stCxn id="13" idx="0"/>
            <a:endCxn id="18" idx="2"/>
          </p:cNvCxnSpPr>
          <p:nvPr/>
        </p:nvCxnSpPr>
        <p:spPr>
          <a:xfrm>
            <a:off x="6179166" y="3344864"/>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 name="楕円 13">
            <a:extLst>
              <a:ext uri="{FF2B5EF4-FFF2-40B4-BE49-F238E27FC236}">
                <a16:creationId xmlns:a16="http://schemas.microsoft.com/office/drawing/2014/main" id="{40E09B05-B06D-F79F-482E-4E8FE0DCAA7D}"/>
              </a:ext>
            </a:extLst>
          </p:cNvPr>
          <p:cNvSpPr/>
          <p:nvPr/>
        </p:nvSpPr>
        <p:spPr>
          <a:xfrm>
            <a:off x="6673205"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1" name="直線コネクタ 20">
            <a:extLst>
              <a:ext uri="{FF2B5EF4-FFF2-40B4-BE49-F238E27FC236}">
                <a16:creationId xmlns:a16="http://schemas.microsoft.com/office/drawing/2014/main" id="{DB849015-8CB5-A15B-619D-C2B00EDA4299}"/>
              </a:ext>
            </a:extLst>
          </p:cNvPr>
          <p:cNvCxnSpPr/>
          <p:nvPr/>
        </p:nvCxnSpPr>
        <p:spPr>
          <a:xfrm>
            <a:off x="5583679" y="2086150"/>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A61DA04-42EF-B02F-8945-C7EAF1F0A6B3}"/>
              </a:ext>
            </a:extLst>
          </p:cNvPr>
          <p:cNvCxnSpPr/>
          <p:nvPr/>
        </p:nvCxnSpPr>
        <p:spPr>
          <a:xfrm>
            <a:off x="5721456" y="2100245"/>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コネクタ: カギ線 19">
            <a:extLst>
              <a:ext uri="{FF2B5EF4-FFF2-40B4-BE49-F238E27FC236}">
                <a16:creationId xmlns:a16="http://schemas.microsoft.com/office/drawing/2014/main" id="{6E47B467-34FC-C923-8BEC-5F8370174D68}"/>
              </a:ext>
            </a:extLst>
          </p:cNvPr>
          <p:cNvCxnSpPr>
            <a:cxnSpLocks/>
            <a:endCxn id="16" idx="0"/>
          </p:cNvCxnSpPr>
          <p:nvPr/>
        </p:nvCxnSpPr>
        <p:spPr>
          <a:xfrm rot="10800000" flipV="1">
            <a:off x="4775012" y="2352273"/>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コネクタ: カギ線 23">
            <a:extLst>
              <a:ext uri="{FF2B5EF4-FFF2-40B4-BE49-F238E27FC236}">
                <a16:creationId xmlns:a16="http://schemas.microsoft.com/office/drawing/2014/main" id="{32A2EFE1-775D-CFEA-C107-1D3553BCC4A9}"/>
              </a:ext>
            </a:extLst>
          </p:cNvPr>
          <p:cNvCxnSpPr>
            <a:cxnSpLocks/>
            <a:endCxn id="20" idx="0"/>
          </p:cNvCxnSpPr>
          <p:nvPr/>
        </p:nvCxnSpPr>
        <p:spPr>
          <a:xfrm>
            <a:off x="5727695" y="2352273"/>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78B6612F-3196-C9C3-0D41-3308BB0185E5}"/>
                  </a:ext>
                </a:extLst>
              </p:cNvPr>
              <p:cNvSpPr txBox="1"/>
              <p:nvPr/>
            </p:nvSpPr>
            <p:spPr>
              <a:xfrm>
                <a:off x="5341549" y="3176572"/>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5" name="テキスト ボックス 24">
                <a:extLst>
                  <a:ext uri="{FF2B5EF4-FFF2-40B4-BE49-F238E27FC236}">
                    <a16:creationId xmlns:a16="http://schemas.microsoft.com/office/drawing/2014/main" id="{78B6612F-3196-C9C3-0D41-3308BB0185E5}"/>
                  </a:ext>
                </a:extLst>
              </p:cNvPr>
              <p:cNvSpPr txBox="1">
                <a:spLocks noRot="1" noChangeAspect="1" noMove="1" noResize="1" noEditPoints="1" noAdjustHandles="1" noChangeArrowheads="1" noChangeShapeType="1" noTextEdit="1"/>
              </p:cNvSpPr>
              <p:nvPr/>
            </p:nvSpPr>
            <p:spPr>
              <a:xfrm>
                <a:off x="5341549" y="3176572"/>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D8C7A665-856A-4AFA-3D46-8DF42CB06703}"/>
                  </a:ext>
                </a:extLst>
              </p:cNvPr>
              <p:cNvSpPr txBox="1"/>
              <p:nvPr/>
            </p:nvSpPr>
            <p:spPr>
              <a:xfrm>
                <a:off x="5812208" y="2405540"/>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6" name="テキスト ボックス 25">
                <a:extLst>
                  <a:ext uri="{FF2B5EF4-FFF2-40B4-BE49-F238E27FC236}">
                    <a16:creationId xmlns:a16="http://schemas.microsoft.com/office/drawing/2014/main" id="{D8C7A665-856A-4AFA-3D46-8DF42CB06703}"/>
                  </a:ext>
                </a:extLst>
              </p:cNvPr>
              <p:cNvSpPr txBox="1">
                <a:spLocks noRot="1" noChangeAspect="1" noMove="1" noResize="1" noEditPoints="1" noAdjustHandles="1" noChangeArrowheads="1" noChangeShapeType="1" noTextEdit="1"/>
              </p:cNvSpPr>
              <p:nvPr/>
            </p:nvSpPr>
            <p:spPr>
              <a:xfrm>
                <a:off x="5812208" y="2405540"/>
                <a:ext cx="286039" cy="369332"/>
              </a:xfrm>
              <a:prstGeom prst="rect">
                <a:avLst/>
              </a:prstGeom>
              <a:blipFill>
                <a:blip r:embed="rId3"/>
                <a:stretch>
                  <a:fillRect l="-21277" r="-17021"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5A695C20-262D-0DDD-5BEE-7FFD386FCFD0}"/>
                  </a:ext>
                </a:extLst>
              </p:cNvPr>
              <p:cNvSpPr txBox="1"/>
              <p:nvPr/>
            </p:nvSpPr>
            <p:spPr>
              <a:xfrm>
                <a:off x="6991457" y="3416872"/>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7" name="テキスト ボックス 26">
                <a:extLst>
                  <a:ext uri="{FF2B5EF4-FFF2-40B4-BE49-F238E27FC236}">
                    <a16:creationId xmlns:a16="http://schemas.microsoft.com/office/drawing/2014/main" id="{5A695C20-262D-0DDD-5BEE-7FFD386FCFD0}"/>
                  </a:ext>
                </a:extLst>
              </p:cNvPr>
              <p:cNvSpPr txBox="1">
                <a:spLocks noRot="1" noChangeAspect="1" noMove="1" noResize="1" noEditPoints="1" noAdjustHandles="1" noChangeArrowheads="1" noChangeShapeType="1" noTextEdit="1"/>
              </p:cNvSpPr>
              <p:nvPr/>
            </p:nvSpPr>
            <p:spPr>
              <a:xfrm>
                <a:off x="6991457" y="3416872"/>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A29E9952-1023-B4E9-1EF0-36D232FD0404}"/>
                  </a:ext>
                </a:extLst>
              </p:cNvPr>
              <p:cNvSpPr txBox="1"/>
              <p:nvPr/>
            </p:nvSpPr>
            <p:spPr>
              <a:xfrm>
                <a:off x="3897644" y="3459506"/>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8" name="テキスト ボックス 27">
                <a:extLst>
                  <a:ext uri="{FF2B5EF4-FFF2-40B4-BE49-F238E27FC236}">
                    <a16:creationId xmlns:a16="http://schemas.microsoft.com/office/drawing/2014/main" id="{A29E9952-1023-B4E9-1EF0-36D232FD0404}"/>
                  </a:ext>
                </a:extLst>
              </p:cNvPr>
              <p:cNvSpPr txBox="1">
                <a:spLocks noRot="1" noChangeAspect="1" noMove="1" noResize="1" noEditPoints="1" noAdjustHandles="1" noChangeArrowheads="1" noChangeShapeType="1" noTextEdit="1"/>
              </p:cNvSpPr>
              <p:nvPr/>
            </p:nvSpPr>
            <p:spPr>
              <a:xfrm>
                <a:off x="3897644" y="3459506"/>
                <a:ext cx="477823" cy="369332"/>
              </a:xfrm>
              <a:prstGeom prst="rect">
                <a:avLst/>
              </a:prstGeom>
              <a:blipFill>
                <a:blip r:embed="rId5"/>
                <a:stretch>
                  <a:fillRect l="-7595" r="-3797"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8CCA7E2F-AE67-46C7-8E5A-6664AF6000F2}"/>
                  </a:ext>
                </a:extLst>
              </p:cNvPr>
              <p:cNvSpPr txBox="1"/>
              <p:nvPr/>
            </p:nvSpPr>
            <p:spPr>
              <a:xfrm>
                <a:off x="1835381" y="4146325"/>
                <a:ext cx="8397684" cy="369332"/>
              </a:xfrm>
              <a:prstGeom prst="rect">
                <a:avLst/>
              </a:prstGeom>
              <a:noFill/>
            </p:spPr>
            <p:txBody>
              <a:bodyPr wrap="none" lIns="0" tIns="0" rIns="0" bIns="0" rtlCol="0">
                <a:spAutoFit/>
              </a:bodyPr>
              <a:lstStyle/>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r>
                      <a:rPr lang="en-US" altLang="ja-JP" sz="2400" i="1">
                        <a:latin typeface="Cambria Math" panose="02040503050406030204" pitchFamily="18" charset="0"/>
                      </a:rPr>
                      <m:t>=−</m:t>
                    </m:r>
                    <m:r>
                      <a:rPr lang="en-US" altLang="ja-JP" sz="2400" i="1">
                        <a:latin typeface="Cambria Math" panose="02040503050406030204" pitchFamily="18" charset="0"/>
                      </a:rPr>
                      <m:t>𝐴</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a14:m>
                <a:r>
                  <a:rPr lang="ja-JP" altLang="en-US" sz="2400"/>
                  <a:t> だから，入力が </a:t>
                </a:r>
                <a14:m>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上がると出力は </a:t>
                </a:r>
                <a14:m>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下がる</a:t>
                </a:r>
              </a:p>
            </p:txBody>
          </p:sp>
        </mc:Choice>
        <mc:Fallback xmlns="">
          <p:sp>
            <p:nvSpPr>
              <p:cNvPr id="29" name="テキスト ボックス 28">
                <a:extLst>
                  <a:ext uri="{FF2B5EF4-FFF2-40B4-BE49-F238E27FC236}">
                    <a16:creationId xmlns:a16="http://schemas.microsoft.com/office/drawing/2014/main" id="{8CCA7E2F-AE67-46C7-8E5A-6664AF6000F2}"/>
                  </a:ext>
                </a:extLst>
              </p:cNvPr>
              <p:cNvSpPr txBox="1">
                <a:spLocks noRot="1" noChangeAspect="1" noMove="1" noResize="1" noEditPoints="1" noAdjustHandles="1" noChangeArrowheads="1" noChangeShapeType="1" noTextEdit="1"/>
              </p:cNvSpPr>
              <p:nvPr/>
            </p:nvSpPr>
            <p:spPr>
              <a:xfrm>
                <a:off x="1835381" y="4146325"/>
                <a:ext cx="8397684" cy="369332"/>
              </a:xfrm>
              <a:prstGeom prst="rect">
                <a:avLst/>
              </a:prstGeom>
              <a:blipFill>
                <a:blip r:embed="rId6"/>
                <a:stretch>
                  <a:fillRect l="-943" t="-24590" r="-1306" b="-49180"/>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929A9F2F-43FD-5E39-5F3C-A952F6167D78}"/>
              </a:ext>
            </a:extLst>
          </p:cNvPr>
          <p:cNvCxnSpPr/>
          <p:nvPr/>
        </p:nvCxnSpPr>
        <p:spPr>
          <a:xfrm flipV="1">
            <a:off x="3982921" y="2708920"/>
            <a:ext cx="0"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C385495-DD43-C729-3804-6D56F0F1D18F}"/>
                  </a:ext>
                </a:extLst>
              </p:cNvPr>
              <p:cNvSpPr txBox="1"/>
              <p:nvPr/>
            </p:nvSpPr>
            <p:spPr>
              <a:xfrm>
                <a:off x="3457134" y="2708920"/>
                <a:ext cx="47301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C385495-DD43-C729-3804-6D56F0F1D18F}"/>
                  </a:ext>
                </a:extLst>
              </p:cNvPr>
              <p:cNvSpPr txBox="1">
                <a:spLocks noRot="1" noChangeAspect="1" noMove="1" noResize="1" noEditPoints="1" noAdjustHandles="1" noChangeArrowheads="1" noChangeShapeType="1" noTextEdit="1"/>
              </p:cNvSpPr>
              <p:nvPr/>
            </p:nvSpPr>
            <p:spPr>
              <a:xfrm>
                <a:off x="3457134" y="2708920"/>
                <a:ext cx="473014" cy="369332"/>
              </a:xfrm>
              <a:prstGeom prst="rect">
                <a:avLst/>
              </a:prstGeom>
              <a:blipFill>
                <a:blip r:embed="rId7"/>
                <a:stretch>
                  <a:fillRect l="-12821" r="-10256" b="-4918"/>
                </a:stretch>
              </a:blipFill>
            </p:spPr>
            <p:txBody>
              <a:bodyPr/>
              <a:lstStyle/>
              <a:p>
                <a:r>
                  <a:rPr lang="ja-JP" altLang="en-US">
                    <a:noFill/>
                  </a:rPr>
                  <a:t> </a:t>
                </a:r>
              </a:p>
            </p:txBody>
          </p:sp>
        </mc:Fallback>
      </mc:AlternateContent>
      <p:cxnSp>
        <p:nvCxnSpPr>
          <p:cNvPr id="32" name="直線矢印コネクタ 31">
            <a:extLst>
              <a:ext uri="{FF2B5EF4-FFF2-40B4-BE49-F238E27FC236}">
                <a16:creationId xmlns:a16="http://schemas.microsoft.com/office/drawing/2014/main" id="{73D274A0-157C-AFE8-9246-FDD437AD10BD}"/>
              </a:ext>
            </a:extLst>
          </p:cNvPr>
          <p:cNvCxnSpPr>
            <a:cxnSpLocks/>
          </p:cNvCxnSpPr>
          <p:nvPr/>
        </p:nvCxnSpPr>
        <p:spPr>
          <a:xfrm>
            <a:off x="7295289" y="2405540"/>
            <a:ext cx="0" cy="7710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D946C41-8AA0-3018-9529-74510DE77BF1}"/>
                  </a:ext>
                </a:extLst>
              </p:cNvPr>
              <p:cNvSpPr txBox="1"/>
              <p:nvPr/>
            </p:nvSpPr>
            <p:spPr>
              <a:xfrm>
                <a:off x="7383879" y="2590206"/>
                <a:ext cx="67159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3" name="テキスト ボックス 32">
                <a:extLst>
                  <a:ext uri="{FF2B5EF4-FFF2-40B4-BE49-F238E27FC236}">
                    <a16:creationId xmlns:a16="http://schemas.microsoft.com/office/drawing/2014/main" id="{3D946C41-8AA0-3018-9529-74510DE77BF1}"/>
                  </a:ext>
                </a:extLst>
              </p:cNvPr>
              <p:cNvSpPr txBox="1">
                <a:spLocks noRot="1" noChangeAspect="1" noMove="1" noResize="1" noEditPoints="1" noAdjustHandles="1" noChangeArrowheads="1" noChangeShapeType="1" noTextEdit="1"/>
              </p:cNvSpPr>
              <p:nvPr/>
            </p:nvSpPr>
            <p:spPr>
              <a:xfrm>
                <a:off x="7383879" y="2590206"/>
                <a:ext cx="671594" cy="369332"/>
              </a:xfrm>
              <a:prstGeom prst="rect">
                <a:avLst/>
              </a:prstGeom>
              <a:blipFill>
                <a:blip r:embed="rId8"/>
                <a:stretch>
                  <a:fillRect l="-8182" r="-8182"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E8FBB27-A95C-748E-0417-9C31EE5984D1}"/>
                  </a:ext>
                </a:extLst>
              </p:cNvPr>
              <p:cNvSpPr txBox="1"/>
              <p:nvPr/>
            </p:nvSpPr>
            <p:spPr>
              <a:xfrm>
                <a:off x="3155028" y="4606173"/>
                <a:ext cx="5222776" cy="369332"/>
              </a:xfrm>
              <a:prstGeom prst="rect">
                <a:avLst/>
              </a:prstGeom>
              <a:noFill/>
            </p:spPr>
            <p:txBody>
              <a:bodyPr wrap="none" lIns="0" tIns="0" rIns="0" bIns="0" rtlCol="0">
                <a:spAutoFit/>
              </a:bodyPr>
              <a:lstStyle/>
              <a:p>
                <a:pPr algn="l"/>
                <a14:m>
                  <m:oMath xmlns:m="http://schemas.openxmlformats.org/officeDocument/2006/math">
                    <m:r>
                      <a:rPr lang="en-US" altLang="ja-JP" sz="2400" i="1">
                        <a:solidFill>
                          <a:srgbClr val="FF0000"/>
                        </a:solidFill>
                        <a:latin typeface="Cambria Math" panose="02040503050406030204" pitchFamily="18" charset="0"/>
                      </a:rPr>
                      <m:t>𝐶</m:t>
                    </m:r>
                  </m:oMath>
                </a14:m>
                <a:r>
                  <a:rPr lang="ja-JP" altLang="en-US" sz="2400">
                    <a:solidFill>
                      <a:srgbClr val="FF0000"/>
                    </a:solidFill>
                  </a:rPr>
                  <a:t> の端子間電圧は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ea typeface="Cambria Math" panose="02040503050406030204" pitchFamily="18" charset="0"/>
                      </a:rPr>
                      <m:t>∆</m:t>
                    </m:r>
                    <m:r>
                      <a:rPr lang="en-US" altLang="ja-JP" sz="2400" i="1">
                        <a:solidFill>
                          <a:srgbClr val="FF0000"/>
                        </a:solidFill>
                        <a:latin typeface="Cambria Math" panose="02040503050406030204" pitchFamily="18" charset="0"/>
                        <a:ea typeface="Cambria Math" panose="02040503050406030204" pitchFamily="18" charset="0"/>
                      </a:rPr>
                      <m:t>𝑉</m:t>
                    </m:r>
                  </m:oMath>
                </a14:m>
                <a:r>
                  <a:rPr lang="ja-JP" altLang="en-US" sz="2400">
                    <a:solidFill>
                      <a:srgbClr val="FF0000"/>
                    </a:solidFill>
                  </a:rPr>
                  <a:t> 変化する</a:t>
                </a:r>
              </a:p>
            </p:txBody>
          </p:sp>
        </mc:Choice>
        <mc:Fallback xmlns="">
          <p:sp>
            <p:nvSpPr>
              <p:cNvPr id="34" name="テキスト ボックス 33">
                <a:extLst>
                  <a:ext uri="{FF2B5EF4-FFF2-40B4-BE49-F238E27FC236}">
                    <a16:creationId xmlns:a16="http://schemas.microsoft.com/office/drawing/2014/main" id="{CE8FBB27-A95C-748E-0417-9C31EE5984D1}"/>
                  </a:ext>
                </a:extLst>
              </p:cNvPr>
              <p:cNvSpPr txBox="1">
                <a:spLocks noRot="1" noChangeAspect="1" noMove="1" noResize="1" noEditPoints="1" noAdjustHandles="1" noChangeArrowheads="1" noChangeShapeType="1" noTextEdit="1"/>
              </p:cNvSpPr>
              <p:nvPr/>
            </p:nvSpPr>
            <p:spPr>
              <a:xfrm>
                <a:off x="3155028" y="4606173"/>
                <a:ext cx="5222776" cy="369332"/>
              </a:xfrm>
              <a:prstGeom prst="rect">
                <a:avLst/>
              </a:prstGeom>
              <a:blipFill>
                <a:blip r:embed="rId9"/>
                <a:stretch>
                  <a:fillRect l="-2103" t="-26667" r="-2570" b="-5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2F52F29E-368A-F4F5-BFA4-708C00D67230}"/>
                  </a:ext>
                </a:extLst>
              </p:cNvPr>
              <p:cNvSpPr txBox="1"/>
              <p:nvPr/>
            </p:nvSpPr>
            <p:spPr>
              <a:xfrm>
                <a:off x="1767256" y="5110012"/>
                <a:ext cx="4867743" cy="461665"/>
              </a:xfrm>
              <a:prstGeom prst="rect">
                <a:avLst/>
              </a:prstGeom>
              <a:noFill/>
            </p:spPr>
            <p:txBody>
              <a:bodyPr wrap="none" rtlCol="0">
                <a:spAutoFit/>
              </a:bodyPr>
              <a:lstStyle/>
              <a:p>
                <a:pPr algn="l"/>
                <a:r>
                  <a:rPr lang="ja-JP" altLang="en-US" sz="2400"/>
                  <a:t>入力端子から </a:t>
                </a:r>
                <a14:m>
                  <m:oMath xmlns:m="http://schemas.openxmlformats.org/officeDocument/2006/math">
                    <m:r>
                      <a:rPr lang="en-US" altLang="ja-JP" sz="2400" i="1">
                        <a:latin typeface="Cambria Math" panose="02040503050406030204" pitchFamily="18" charset="0"/>
                      </a:rPr>
                      <m:t>𝐶</m:t>
                    </m:r>
                  </m:oMath>
                </a14:m>
                <a:r>
                  <a:rPr lang="ja-JP" altLang="en-US" sz="2400"/>
                  <a:t> に流れ込む電荷量</a:t>
                </a:r>
              </a:p>
            </p:txBody>
          </p:sp>
        </mc:Choice>
        <mc:Fallback xmlns="">
          <p:sp>
            <p:nvSpPr>
              <p:cNvPr id="35" name="テキスト ボックス 34">
                <a:extLst>
                  <a:ext uri="{FF2B5EF4-FFF2-40B4-BE49-F238E27FC236}">
                    <a16:creationId xmlns:a16="http://schemas.microsoft.com/office/drawing/2014/main" id="{2F52F29E-368A-F4F5-BFA4-708C00D67230}"/>
                  </a:ext>
                </a:extLst>
              </p:cNvPr>
              <p:cNvSpPr txBox="1">
                <a:spLocks noRot="1" noChangeAspect="1" noMove="1" noResize="1" noEditPoints="1" noAdjustHandles="1" noChangeArrowheads="1" noChangeShapeType="1" noTextEdit="1"/>
              </p:cNvSpPr>
              <p:nvPr/>
            </p:nvSpPr>
            <p:spPr>
              <a:xfrm>
                <a:off x="1767256" y="5110012"/>
                <a:ext cx="4867743" cy="461665"/>
              </a:xfrm>
              <a:prstGeom prst="rect">
                <a:avLst/>
              </a:prstGeom>
              <a:blipFill>
                <a:blip r:embed="rId10"/>
                <a:stretch>
                  <a:fillRect l="-2005" t="-10526" r="-1003" b="-289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D646DF3-9AD1-94DA-B8E8-D02F0E1E4277}"/>
                  </a:ext>
                </a:extLst>
              </p:cNvPr>
              <p:cNvSpPr txBox="1"/>
              <p:nvPr/>
            </p:nvSpPr>
            <p:spPr>
              <a:xfrm>
                <a:off x="6461031" y="5156177"/>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6" name="テキスト ボックス 35">
                <a:extLst>
                  <a:ext uri="{FF2B5EF4-FFF2-40B4-BE49-F238E27FC236}">
                    <a16:creationId xmlns:a16="http://schemas.microsoft.com/office/drawing/2014/main" id="{2D646DF3-9AD1-94DA-B8E8-D02F0E1E4277}"/>
                  </a:ext>
                </a:extLst>
              </p:cNvPr>
              <p:cNvSpPr txBox="1">
                <a:spLocks noRot="1" noChangeAspect="1" noMove="1" noResize="1" noEditPoints="1" noAdjustHandles="1" noChangeArrowheads="1" noChangeShapeType="1" noTextEdit="1"/>
              </p:cNvSpPr>
              <p:nvPr/>
            </p:nvSpPr>
            <p:spPr>
              <a:xfrm>
                <a:off x="6461031" y="5156177"/>
                <a:ext cx="2798458" cy="369332"/>
              </a:xfrm>
              <a:prstGeom prst="rect">
                <a:avLst/>
              </a:prstGeom>
              <a:blipFill>
                <a:blip r:embed="rId11"/>
                <a:stretch>
                  <a:fillRect l="-2179" r="-1743"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70044B9D-1F37-611D-83DF-2BE46E34D720}"/>
                  </a:ext>
                </a:extLst>
              </p:cNvPr>
              <p:cNvSpPr txBox="1"/>
              <p:nvPr/>
            </p:nvSpPr>
            <p:spPr>
              <a:xfrm>
                <a:off x="2039990" y="5781236"/>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7" name="テキスト ボックス 36">
                <a:extLst>
                  <a:ext uri="{FF2B5EF4-FFF2-40B4-BE49-F238E27FC236}">
                    <a16:creationId xmlns:a16="http://schemas.microsoft.com/office/drawing/2014/main" id="{70044B9D-1F37-611D-83DF-2BE46E34D720}"/>
                  </a:ext>
                </a:extLst>
              </p:cNvPr>
              <p:cNvSpPr txBox="1">
                <a:spLocks noRot="1" noChangeAspect="1" noMove="1" noResize="1" noEditPoints="1" noAdjustHandles="1" noChangeArrowheads="1" noChangeShapeType="1" noTextEdit="1"/>
              </p:cNvSpPr>
              <p:nvPr/>
            </p:nvSpPr>
            <p:spPr>
              <a:xfrm>
                <a:off x="2039990" y="5781236"/>
                <a:ext cx="2798458" cy="369332"/>
              </a:xfrm>
              <a:prstGeom prst="rect">
                <a:avLst/>
              </a:prstGeom>
              <a:blipFill>
                <a:blip r:embed="rId12"/>
                <a:stretch>
                  <a:fillRect l="-2179" r="-1743"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8F2DE29E-45AF-BA83-E13E-1DFD34D069FE}"/>
                  </a:ext>
                </a:extLst>
              </p:cNvPr>
              <p:cNvSpPr txBox="1"/>
              <p:nvPr/>
            </p:nvSpPr>
            <p:spPr>
              <a:xfrm>
                <a:off x="4838448" y="5712039"/>
                <a:ext cx="5110758" cy="461665"/>
              </a:xfrm>
              <a:prstGeom prst="rect">
                <a:avLst/>
              </a:prstGeom>
              <a:noFill/>
            </p:spPr>
            <p:txBody>
              <a:bodyPr wrap="none" rtlCol="0">
                <a:spAutoFit/>
              </a:bodyPr>
              <a:lstStyle/>
              <a:p>
                <a:pPr algn="l"/>
                <a:r>
                  <a:rPr lang="en-US" altLang="ja-JP" sz="2400"/>
                  <a:t>: </a:t>
                </a:r>
                <a:r>
                  <a:rPr lang="ja-JP" altLang="en-US" sz="2400">
                    <a:solidFill>
                      <a:srgbClr val="FF0000"/>
                    </a:solidFill>
                  </a:rPr>
                  <a:t>大きさ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a14:m>
                <a:r>
                  <a:rPr lang="ja-JP" altLang="en-US" sz="2400">
                    <a:solidFill>
                      <a:srgbClr val="FF0000"/>
                    </a:solidFill>
                  </a:rPr>
                  <a:t> の対地容量</a:t>
                </a:r>
                <a:r>
                  <a:rPr lang="ja-JP" altLang="en-US" sz="2400"/>
                  <a:t>と同じ</a:t>
                </a:r>
              </a:p>
            </p:txBody>
          </p:sp>
        </mc:Choice>
        <mc:Fallback xmlns="">
          <p:sp>
            <p:nvSpPr>
              <p:cNvPr id="38" name="テキスト ボックス 37">
                <a:extLst>
                  <a:ext uri="{FF2B5EF4-FFF2-40B4-BE49-F238E27FC236}">
                    <a16:creationId xmlns:a16="http://schemas.microsoft.com/office/drawing/2014/main" id="{8F2DE29E-45AF-BA83-E13E-1DFD34D069FE}"/>
                  </a:ext>
                </a:extLst>
              </p:cNvPr>
              <p:cNvSpPr txBox="1">
                <a:spLocks noRot="1" noChangeAspect="1" noMove="1" noResize="1" noEditPoints="1" noAdjustHandles="1" noChangeArrowheads="1" noChangeShapeType="1" noTextEdit="1"/>
              </p:cNvSpPr>
              <p:nvPr/>
            </p:nvSpPr>
            <p:spPr>
              <a:xfrm>
                <a:off x="4838448" y="5712039"/>
                <a:ext cx="5110758" cy="461665"/>
              </a:xfrm>
              <a:prstGeom prst="rect">
                <a:avLst/>
              </a:prstGeom>
              <a:blipFill>
                <a:blip r:embed="rId13"/>
                <a:stretch>
                  <a:fillRect l="-1909" t="-10526" r="-835" b="-28947"/>
                </a:stretch>
              </a:blipFill>
            </p:spPr>
            <p:txBody>
              <a:bodyPr/>
              <a:lstStyle/>
              <a:p>
                <a:r>
                  <a:rPr lang="ja-JP" altLang="en-US">
                    <a:noFill/>
                  </a:rPr>
                  <a:t> </a:t>
                </a:r>
              </a:p>
            </p:txBody>
          </p:sp>
        </mc:Fallback>
      </mc:AlternateContent>
      <p:sp>
        <p:nvSpPr>
          <p:cNvPr id="39" name="テキスト ボックス 38">
            <a:extLst>
              <a:ext uri="{FF2B5EF4-FFF2-40B4-BE49-F238E27FC236}">
                <a16:creationId xmlns:a16="http://schemas.microsoft.com/office/drawing/2014/main" id="{ACEE034B-CFAF-A9B7-177A-4C5C9531AF70}"/>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29817596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709FD2-784E-CEE0-68EC-7C401FC833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0D79C-83CA-CD2B-F6F5-6A920E7E3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D2DB337-B7B1-100F-03C1-EDF13D1554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67FDB7A8-CCED-F809-66BD-137A9B8CB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7C0790-EA35-DD2B-9341-7B50EFD57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AC34E6FD-958B-EB43-71E1-1561ED961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5FDB955-9F0D-9380-212D-130234EEBD0B}"/>
              </a:ext>
            </a:extLst>
          </p:cNvPr>
          <p:cNvSpPr>
            <a:spLocks noGrp="1"/>
          </p:cNvSpPr>
          <p:nvPr>
            <p:ph type="title"/>
          </p:nvPr>
        </p:nvSpPr>
        <p:spPr>
          <a:xfrm>
            <a:off x="838199" y="-170968"/>
            <a:ext cx="10515600" cy="1325563"/>
          </a:xfrm>
        </p:spPr>
        <p:txBody>
          <a:bodyPr/>
          <a:lstStyle/>
          <a:p>
            <a:r>
              <a:rPr lang="ja-JP" altLang="en-US"/>
              <a:t>ミラー効果 </a:t>
            </a:r>
            <a:r>
              <a:rPr lang="en-US" altLang="ja-JP"/>
              <a:t>(Miller effect)</a:t>
            </a:r>
            <a:endParaRPr kumimoji="1" lang="ja-JP" altLang="en-US"/>
          </a:p>
        </p:txBody>
      </p:sp>
      <p:sp>
        <p:nvSpPr>
          <p:cNvPr id="4" name="二等辺三角形 4">
            <a:extLst>
              <a:ext uri="{FF2B5EF4-FFF2-40B4-BE49-F238E27FC236}">
                <a16:creationId xmlns:a16="http://schemas.microsoft.com/office/drawing/2014/main" id="{38D1055D-F085-1EF2-E02A-457014584F50}"/>
              </a:ext>
            </a:extLst>
          </p:cNvPr>
          <p:cNvSpPr/>
          <p:nvPr/>
        </p:nvSpPr>
        <p:spPr>
          <a:xfrm rot="5400000">
            <a:off x="2744116" y="2342686"/>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楕円 5">
            <a:extLst>
              <a:ext uri="{FF2B5EF4-FFF2-40B4-BE49-F238E27FC236}">
                <a16:creationId xmlns:a16="http://schemas.microsoft.com/office/drawing/2014/main" id="{F093AC5C-4F94-F474-446D-84981237815F}"/>
              </a:ext>
            </a:extLst>
          </p:cNvPr>
          <p:cNvSpPr/>
          <p:nvPr/>
        </p:nvSpPr>
        <p:spPr>
          <a:xfrm>
            <a:off x="1807504"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楕円 6">
            <a:extLst>
              <a:ext uri="{FF2B5EF4-FFF2-40B4-BE49-F238E27FC236}">
                <a16:creationId xmlns:a16="http://schemas.microsoft.com/office/drawing/2014/main" id="{D5BCE7F8-0B57-8052-12ED-46D0029E6326}"/>
              </a:ext>
            </a:extLst>
          </p:cNvPr>
          <p:cNvSpPr/>
          <p:nvPr/>
        </p:nvSpPr>
        <p:spPr>
          <a:xfrm>
            <a:off x="2240061"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 name="直線コネクタ 6">
            <a:extLst>
              <a:ext uri="{FF2B5EF4-FFF2-40B4-BE49-F238E27FC236}">
                <a16:creationId xmlns:a16="http://schemas.microsoft.com/office/drawing/2014/main" id="{1646F660-1C52-B6D5-AC1A-9A361652B370}"/>
              </a:ext>
            </a:extLst>
          </p:cNvPr>
          <p:cNvCxnSpPr>
            <a:stCxn id="4" idx="3"/>
            <a:endCxn id="5" idx="6"/>
          </p:cNvCxnSpPr>
          <p:nvPr/>
        </p:nvCxnSpPr>
        <p:spPr>
          <a:xfrm flipH="1">
            <a:off x="1951520" y="2810738"/>
            <a:ext cx="7925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楕円 8">
            <a:extLst>
              <a:ext uri="{FF2B5EF4-FFF2-40B4-BE49-F238E27FC236}">
                <a16:creationId xmlns:a16="http://schemas.microsoft.com/office/drawing/2014/main" id="{3C175207-05EB-2CC0-5C59-EEF402A37C76}"/>
              </a:ext>
            </a:extLst>
          </p:cNvPr>
          <p:cNvSpPr/>
          <p:nvPr/>
        </p:nvSpPr>
        <p:spPr>
          <a:xfrm>
            <a:off x="4658567"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 name="直線コネクタ 12">
            <a:extLst>
              <a:ext uri="{FF2B5EF4-FFF2-40B4-BE49-F238E27FC236}">
                <a16:creationId xmlns:a16="http://schemas.microsoft.com/office/drawing/2014/main" id="{17C64E56-5B00-CBC0-2103-CBBB0201C4F0}"/>
              </a:ext>
            </a:extLst>
          </p:cNvPr>
          <p:cNvCxnSpPr>
            <a:stCxn id="4" idx="0"/>
            <a:endCxn id="9" idx="2"/>
          </p:cNvCxnSpPr>
          <p:nvPr/>
        </p:nvCxnSpPr>
        <p:spPr>
          <a:xfrm>
            <a:off x="3680221" y="2810738"/>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楕円 10">
            <a:extLst>
              <a:ext uri="{FF2B5EF4-FFF2-40B4-BE49-F238E27FC236}">
                <a16:creationId xmlns:a16="http://schemas.microsoft.com/office/drawing/2014/main" id="{A4DDBF69-503F-5F44-F0D0-603F95ADABFF}"/>
              </a:ext>
            </a:extLst>
          </p:cNvPr>
          <p:cNvSpPr/>
          <p:nvPr/>
        </p:nvSpPr>
        <p:spPr>
          <a:xfrm>
            <a:off x="4174260"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6" name="直線コネクタ 15">
            <a:extLst>
              <a:ext uri="{FF2B5EF4-FFF2-40B4-BE49-F238E27FC236}">
                <a16:creationId xmlns:a16="http://schemas.microsoft.com/office/drawing/2014/main" id="{F4DAD901-7FF8-32A2-2C22-0FBF1D8B52AE}"/>
              </a:ext>
            </a:extLst>
          </p:cNvPr>
          <p:cNvCxnSpPr/>
          <p:nvPr/>
        </p:nvCxnSpPr>
        <p:spPr>
          <a:xfrm>
            <a:off x="3084734" y="1552024"/>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21D5BBC-0EEF-35D6-34FA-4108F1820B44}"/>
              </a:ext>
            </a:extLst>
          </p:cNvPr>
          <p:cNvCxnSpPr/>
          <p:nvPr/>
        </p:nvCxnSpPr>
        <p:spPr>
          <a:xfrm>
            <a:off x="3222511" y="1566119"/>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コネクタ: カギ線 13">
            <a:extLst>
              <a:ext uri="{FF2B5EF4-FFF2-40B4-BE49-F238E27FC236}">
                <a16:creationId xmlns:a16="http://schemas.microsoft.com/office/drawing/2014/main" id="{B087C6D0-A715-2F07-5BD9-DBC158958A86}"/>
              </a:ext>
            </a:extLst>
          </p:cNvPr>
          <p:cNvCxnSpPr>
            <a:cxnSpLocks/>
            <a:endCxn id="6" idx="0"/>
          </p:cNvCxnSpPr>
          <p:nvPr/>
        </p:nvCxnSpPr>
        <p:spPr>
          <a:xfrm rot="10800000" flipV="1">
            <a:off x="2276067" y="1818147"/>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コネクタ: カギ線 14">
            <a:extLst>
              <a:ext uri="{FF2B5EF4-FFF2-40B4-BE49-F238E27FC236}">
                <a16:creationId xmlns:a16="http://schemas.microsoft.com/office/drawing/2014/main" id="{7B3A5525-F692-5C17-61F1-4E2A8161374D}"/>
              </a:ext>
            </a:extLst>
          </p:cNvPr>
          <p:cNvCxnSpPr>
            <a:cxnSpLocks/>
            <a:endCxn id="15" idx="0"/>
          </p:cNvCxnSpPr>
          <p:nvPr/>
        </p:nvCxnSpPr>
        <p:spPr>
          <a:xfrm>
            <a:off x="3228750" y="1818147"/>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7894FCA-F75D-A62F-722C-410B6809F927}"/>
                  </a:ext>
                </a:extLst>
              </p:cNvPr>
              <p:cNvSpPr txBox="1"/>
              <p:nvPr/>
            </p:nvSpPr>
            <p:spPr>
              <a:xfrm>
                <a:off x="2842604" y="2642446"/>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0" name="テキスト ボックス 19">
                <a:extLst>
                  <a:ext uri="{FF2B5EF4-FFF2-40B4-BE49-F238E27FC236}">
                    <a16:creationId xmlns:a16="http://schemas.microsoft.com/office/drawing/2014/main" id="{57894FCA-F75D-A62F-722C-410B6809F927}"/>
                  </a:ext>
                </a:extLst>
              </p:cNvPr>
              <p:cNvSpPr txBox="1">
                <a:spLocks noRot="1" noChangeAspect="1" noMove="1" noResize="1" noEditPoints="1" noAdjustHandles="1" noChangeArrowheads="1" noChangeShapeType="1" noTextEdit="1"/>
              </p:cNvSpPr>
              <p:nvPr/>
            </p:nvSpPr>
            <p:spPr>
              <a:xfrm>
                <a:off x="2842604" y="2642446"/>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2989D9D-6DF8-FE44-7D99-014C1442FA63}"/>
                  </a:ext>
                </a:extLst>
              </p:cNvPr>
              <p:cNvSpPr txBox="1"/>
              <p:nvPr/>
            </p:nvSpPr>
            <p:spPr>
              <a:xfrm>
                <a:off x="3313263" y="1871414"/>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1" name="テキスト ボックス 20">
                <a:extLst>
                  <a:ext uri="{FF2B5EF4-FFF2-40B4-BE49-F238E27FC236}">
                    <a16:creationId xmlns:a16="http://schemas.microsoft.com/office/drawing/2014/main" id="{32989D9D-6DF8-FE44-7D99-014C1442FA63}"/>
                  </a:ext>
                </a:extLst>
              </p:cNvPr>
              <p:cNvSpPr txBox="1">
                <a:spLocks noRot="1" noChangeAspect="1" noMove="1" noResize="1" noEditPoints="1" noAdjustHandles="1" noChangeArrowheads="1" noChangeShapeType="1" noTextEdit="1"/>
              </p:cNvSpPr>
              <p:nvPr/>
            </p:nvSpPr>
            <p:spPr>
              <a:xfrm>
                <a:off x="3313263" y="1871414"/>
                <a:ext cx="286039" cy="369332"/>
              </a:xfrm>
              <a:prstGeom prst="rect">
                <a:avLst/>
              </a:prstGeom>
              <a:blipFill>
                <a:blip r:embed="rId3"/>
                <a:stretch>
                  <a:fillRect l="-23913" r="-17391" b="-32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45498CC4-E294-B7C0-D2C2-6FF732B09D10}"/>
                  </a:ext>
                </a:extLst>
              </p:cNvPr>
              <p:cNvSpPr txBox="1"/>
              <p:nvPr/>
            </p:nvSpPr>
            <p:spPr>
              <a:xfrm>
                <a:off x="4492512" y="2882746"/>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2" name="テキスト ボックス 21">
                <a:extLst>
                  <a:ext uri="{FF2B5EF4-FFF2-40B4-BE49-F238E27FC236}">
                    <a16:creationId xmlns:a16="http://schemas.microsoft.com/office/drawing/2014/main" id="{45498CC4-E294-B7C0-D2C2-6FF732B09D10}"/>
                  </a:ext>
                </a:extLst>
              </p:cNvPr>
              <p:cNvSpPr txBox="1">
                <a:spLocks noRot="1" noChangeAspect="1" noMove="1" noResize="1" noEditPoints="1" noAdjustHandles="1" noChangeArrowheads="1" noChangeShapeType="1" noTextEdit="1"/>
              </p:cNvSpPr>
              <p:nvPr/>
            </p:nvSpPr>
            <p:spPr>
              <a:xfrm>
                <a:off x="4492512" y="2882746"/>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179C2407-B53B-E33B-CE94-68668AC87FE3}"/>
                  </a:ext>
                </a:extLst>
              </p:cNvPr>
              <p:cNvSpPr txBox="1"/>
              <p:nvPr/>
            </p:nvSpPr>
            <p:spPr>
              <a:xfrm>
                <a:off x="1722227" y="2925380"/>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3" name="テキスト ボックス 22">
                <a:extLst>
                  <a:ext uri="{FF2B5EF4-FFF2-40B4-BE49-F238E27FC236}">
                    <a16:creationId xmlns:a16="http://schemas.microsoft.com/office/drawing/2014/main" id="{179C2407-B53B-E33B-CE94-68668AC87FE3}"/>
                  </a:ext>
                </a:extLst>
              </p:cNvPr>
              <p:cNvSpPr txBox="1">
                <a:spLocks noRot="1" noChangeAspect="1" noMove="1" noResize="1" noEditPoints="1" noAdjustHandles="1" noChangeArrowheads="1" noChangeShapeType="1" noTextEdit="1"/>
              </p:cNvSpPr>
              <p:nvPr/>
            </p:nvSpPr>
            <p:spPr>
              <a:xfrm>
                <a:off x="1722227" y="2925380"/>
                <a:ext cx="477823" cy="369332"/>
              </a:xfrm>
              <a:prstGeom prst="rect">
                <a:avLst/>
              </a:prstGeom>
              <a:blipFill>
                <a:blip r:embed="rId5"/>
                <a:stretch>
                  <a:fillRect l="-7692" r="-5128" b="-15000"/>
                </a:stretch>
              </a:blipFill>
            </p:spPr>
            <p:txBody>
              <a:bodyPr/>
              <a:lstStyle/>
              <a:p>
                <a:r>
                  <a:rPr lang="ja-JP" altLang="en-US">
                    <a:noFill/>
                  </a:rPr>
                  <a:t> </a:t>
                </a:r>
              </a:p>
            </p:txBody>
          </p:sp>
        </mc:Fallback>
      </mc:AlternateContent>
      <p:sp>
        <p:nvSpPr>
          <p:cNvPr id="24" name="二等辺三角形 23">
            <a:extLst>
              <a:ext uri="{FF2B5EF4-FFF2-40B4-BE49-F238E27FC236}">
                <a16:creationId xmlns:a16="http://schemas.microsoft.com/office/drawing/2014/main" id="{A9FB8C39-6EA9-3C65-6BCD-29A022C05162}"/>
              </a:ext>
            </a:extLst>
          </p:cNvPr>
          <p:cNvSpPr/>
          <p:nvPr/>
        </p:nvSpPr>
        <p:spPr>
          <a:xfrm rot="5400000">
            <a:off x="7953952" y="1522214"/>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5" name="楕円 24">
            <a:extLst>
              <a:ext uri="{FF2B5EF4-FFF2-40B4-BE49-F238E27FC236}">
                <a16:creationId xmlns:a16="http://schemas.microsoft.com/office/drawing/2014/main" id="{F6DF4C03-0578-7B6F-71F6-9AA062C4D3ED}"/>
              </a:ext>
            </a:extLst>
          </p:cNvPr>
          <p:cNvSpPr/>
          <p:nvPr/>
        </p:nvSpPr>
        <p:spPr>
          <a:xfrm>
            <a:off x="6693812"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6" name="楕円 25">
            <a:extLst>
              <a:ext uri="{FF2B5EF4-FFF2-40B4-BE49-F238E27FC236}">
                <a16:creationId xmlns:a16="http://schemas.microsoft.com/office/drawing/2014/main" id="{D82679C0-A2C7-CD5F-AF3A-4186F2A98B2A}"/>
              </a:ext>
            </a:extLst>
          </p:cNvPr>
          <p:cNvSpPr/>
          <p:nvPr/>
        </p:nvSpPr>
        <p:spPr>
          <a:xfrm>
            <a:off x="7474533" y="1954262"/>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7" name="直線コネクタ 26">
            <a:extLst>
              <a:ext uri="{FF2B5EF4-FFF2-40B4-BE49-F238E27FC236}">
                <a16:creationId xmlns:a16="http://schemas.microsoft.com/office/drawing/2014/main" id="{8A60393B-7AEC-8FC8-54C2-4D8F7259A1FF}"/>
              </a:ext>
            </a:extLst>
          </p:cNvPr>
          <p:cNvCxnSpPr>
            <a:stCxn id="24" idx="3"/>
            <a:endCxn id="25" idx="6"/>
          </p:cNvCxnSpPr>
          <p:nvPr/>
        </p:nvCxnSpPr>
        <p:spPr>
          <a:xfrm flipH="1">
            <a:off x="6837828" y="1990266"/>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DBA8C5B5-C190-E64A-FCE2-A2546BCECE41}"/>
              </a:ext>
            </a:extLst>
          </p:cNvPr>
          <p:cNvSpPr/>
          <p:nvPr/>
        </p:nvSpPr>
        <p:spPr>
          <a:xfrm>
            <a:off x="9868403"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9" name="直線コネクタ 28">
            <a:extLst>
              <a:ext uri="{FF2B5EF4-FFF2-40B4-BE49-F238E27FC236}">
                <a16:creationId xmlns:a16="http://schemas.microsoft.com/office/drawing/2014/main" id="{F2176789-C354-0B1A-59C7-A5C909370047}"/>
              </a:ext>
            </a:extLst>
          </p:cNvPr>
          <p:cNvCxnSpPr>
            <a:stCxn id="24" idx="0"/>
            <a:endCxn id="28" idx="2"/>
          </p:cNvCxnSpPr>
          <p:nvPr/>
        </p:nvCxnSpPr>
        <p:spPr>
          <a:xfrm>
            <a:off x="8890057" y="1990266"/>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028A5229-04F3-AB92-F556-00FAD398EA76}"/>
                  </a:ext>
                </a:extLst>
              </p:cNvPr>
              <p:cNvSpPr txBox="1"/>
              <p:nvPr/>
            </p:nvSpPr>
            <p:spPr>
              <a:xfrm>
                <a:off x="8052440" y="1821974"/>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30" name="テキスト ボックス 29">
                <a:extLst>
                  <a:ext uri="{FF2B5EF4-FFF2-40B4-BE49-F238E27FC236}">
                    <a16:creationId xmlns:a16="http://schemas.microsoft.com/office/drawing/2014/main" id="{028A5229-04F3-AB92-F556-00FAD398EA76}"/>
                  </a:ext>
                </a:extLst>
              </p:cNvPr>
              <p:cNvSpPr txBox="1">
                <a:spLocks noRot="1" noChangeAspect="1" noMove="1" noResize="1" noEditPoints="1" noAdjustHandles="1" noChangeArrowheads="1" noChangeShapeType="1" noTextEdit="1"/>
              </p:cNvSpPr>
              <p:nvPr/>
            </p:nvSpPr>
            <p:spPr>
              <a:xfrm>
                <a:off x="8052440" y="1821974"/>
                <a:ext cx="515975" cy="369332"/>
              </a:xfrm>
              <a:prstGeom prst="rect">
                <a:avLst/>
              </a:prstGeom>
              <a:blipFill>
                <a:blip r:embed="rId6"/>
                <a:stretch>
                  <a:fillRect l="-1176" r="-10588"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31B6555-78F2-CC50-B046-2204850AB518}"/>
                  </a:ext>
                </a:extLst>
              </p:cNvPr>
              <p:cNvSpPr txBox="1"/>
              <p:nvPr/>
            </p:nvSpPr>
            <p:spPr>
              <a:xfrm>
                <a:off x="9702348" y="2062274"/>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31B6555-78F2-CC50-B046-2204850AB518}"/>
                  </a:ext>
                </a:extLst>
              </p:cNvPr>
              <p:cNvSpPr txBox="1">
                <a:spLocks noRot="1" noChangeAspect="1" noMove="1" noResize="1" noEditPoints="1" noAdjustHandles="1" noChangeArrowheads="1" noChangeShapeType="1" noTextEdit="1"/>
              </p:cNvSpPr>
              <p:nvPr/>
            </p:nvSpPr>
            <p:spPr>
              <a:xfrm>
                <a:off x="9702348" y="2062274"/>
                <a:ext cx="626903" cy="369332"/>
              </a:xfrm>
              <a:prstGeom prst="rect">
                <a:avLst/>
              </a:prstGeom>
              <a:blipFill>
                <a:blip r:embed="rId7"/>
                <a:stretch>
                  <a:fillRect l="-4902" r="-3922" b="-11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88F5E1F5-BF9E-274C-3F0C-D4940B71052D}"/>
                  </a:ext>
                </a:extLst>
              </p:cNvPr>
              <p:cNvSpPr txBox="1"/>
              <p:nvPr/>
            </p:nvSpPr>
            <p:spPr>
              <a:xfrm>
                <a:off x="6608535" y="2104908"/>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32" name="テキスト ボックス 31">
                <a:extLst>
                  <a:ext uri="{FF2B5EF4-FFF2-40B4-BE49-F238E27FC236}">
                    <a16:creationId xmlns:a16="http://schemas.microsoft.com/office/drawing/2014/main" id="{88F5E1F5-BF9E-274C-3F0C-D4940B71052D}"/>
                  </a:ext>
                </a:extLst>
              </p:cNvPr>
              <p:cNvSpPr txBox="1">
                <a:spLocks noRot="1" noChangeAspect="1" noMove="1" noResize="1" noEditPoints="1" noAdjustHandles="1" noChangeArrowheads="1" noChangeShapeType="1" noTextEdit="1"/>
              </p:cNvSpPr>
              <p:nvPr/>
            </p:nvSpPr>
            <p:spPr>
              <a:xfrm>
                <a:off x="6608535" y="2104908"/>
                <a:ext cx="477823" cy="369332"/>
              </a:xfrm>
              <a:prstGeom prst="rect">
                <a:avLst/>
              </a:prstGeom>
              <a:blipFill>
                <a:blip r:embed="rId8"/>
                <a:stretch>
                  <a:fillRect l="-7692" r="-5128" b="-13115"/>
                </a:stretch>
              </a:blipFill>
            </p:spPr>
            <p:txBody>
              <a:bodyPr/>
              <a:lstStyle/>
              <a:p>
                <a:r>
                  <a:rPr lang="ja-JP" altLang="en-US">
                    <a:noFill/>
                  </a:rPr>
                  <a:t> </a:t>
                </a:r>
              </a:p>
            </p:txBody>
          </p:sp>
        </mc:Fallback>
      </mc:AlternateContent>
      <p:sp>
        <p:nvSpPr>
          <p:cNvPr id="33" name="二等辺三角形 33">
            <a:extLst>
              <a:ext uri="{FF2B5EF4-FFF2-40B4-BE49-F238E27FC236}">
                <a16:creationId xmlns:a16="http://schemas.microsoft.com/office/drawing/2014/main" id="{F8580C8B-1D55-34C7-F27B-458356644361}"/>
              </a:ext>
            </a:extLst>
          </p:cNvPr>
          <p:cNvSpPr/>
          <p:nvPr/>
        </p:nvSpPr>
        <p:spPr>
          <a:xfrm flipV="1">
            <a:off x="7400132" y="2816273"/>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4" name="直線コネクタ 33">
            <a:extLst>
              <a:ext uri="{FF2B5EF4-FFF2-40B4-BE49-F238E27FC236}">
                <a16:creationId xmlns:a16="http://schemas.microsoft.com/office/drawing/2014/main" id="{6A18D0A1-BB22-E61C-8043-48C9FB3CF649}"/>
              </a:ext>
            </a:extLst>
          </p:cNvPr>
          <p:cNvCxnSpPr>
            <a:cxnSpLocks/>
          </p:cNvCxnSpPr>
          <p:nvPr/>
        </p:nvCxnSpPr>
        <p:spPr>
          <a:xfrm>
            <a:off x="7279608" y="2299037"/>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D9D3ED70-7B72-8D5D-AE1F-9C3F394E2168}"/>
              </a:ext>
            </a:extLst>
          </p:cNvPr>
          <p:cNvCxnSpPr>
            <a:cxnSpLocks/>
          </p:cNvCxnSpPr>
          <p:nvPr/>
        </p:nvCxnSpPr>
        <p:spPr>
          <a:xfrm>
            <a:off x="7279608" y="2466832"/>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2CD6D026-4031-C502-810D-CFF46337845A}"/>
              </a:ext>
            </a:extLst>
          </p:cNvPr>
          <p:cNvCxnSpPr>
            <a:cxnSpLocks/>
            <a:endCxn id="33" idx="3"/>
          </p:cNvCxnSpPr>
          <p:nvPr/>
        </p:nvCxnSpPr>
        <p:spPr>
          <a:xfrm>
            <a:off x="7521905" y="2468681"/>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6B041EEE-643C-BDDA-3F74-2713DF94B86B}"/>
              </a:ext>
            </a:extLst>
          </p:cNvPr>
          <p:cNvCxnSpPr>
            <a:cxnSpLocks/>
            <a:stCxn id="26" idx="4"/>
          </p:cNvCxnSpPr>
          <p:nvPr/>
        </p:nvCxnSpPr>
        <p:spPr>
          <a:xfrm>
            <a:off x="7510537" y="2026271"/>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楕円 43">
            <a:extLst>
              <a:ext uri="{FF2B5EF4-FFF2-40B4-BE49-F238E27FC236}">
                <a16:creationId xmlns:a16="http://schemas.microsoft.com/office/drawing/2014/main" id="{2C1ADD59-52DB-94FD-3F3C-31ABDE4DBC8A}"/>
              </a:ext>
            </a:extLst>
          </p:cNvPr>
          <p:cNvSpPr/>
          <p:nvPr/>
        </p:nvSpPr>
        <p:spPr>
          <a:xfrm>
            <a:off x="9296733" y="1951665"/>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二等辺三角形 44">
            <a:extLst>
              <a:ext uri="{FF2B5EF4-FFF2-40B4-BE49-F238E27FC236}">
                <a16:creationId xmlns:a16="http://schemas.microsoft.com/office/drawing/2014/main" id="{AAA29733-2F22-8529-624F-3BAF44DE72A7}"/>
              </a:ext>
            </a:extLst>
          </p:cNvPr>
          <p:cNvSpPr/>
          <p:nvPr/>
        </p:nvSpPr>
        <p:spPr>
          <a:xfrm flipV="1">
            <a:off x="9222332" y="2813676"/>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0" name="直線コネクタ 39">
            <a:extLst>
              <a:ext uri="{FF2B5EF4-FFF2-40B4-BE49-F238E27FC236}">
                <a16:creationId xmlns:a16="http://schemas.microsoft.com/office/drawing/2014/main" id="{BBDD983F-34EA-76C3-9B8B-D897A9AF0462}"/>
              </a:ext>
            </a:extLst>
          </p:cNvPr>
          <p:cNvCxnSpPr>
            <a:cxnSpLocks/>
          </p:cNvCxnSpPr>
          <p:nvPr/>
        </p:nvCxnSpPr>
        <p:spPr>
          <a:xfrm>
            <a:off x="9101808" y="2296440"/>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EFDA43F-EC5E-2C90-7C32-FB1CF0D841F2}"/>
              </a:ext>
            </a:extLst>
          </p:cNvPr>
          <p:cNvCxnSpPr>
            <a:cxnSpLocks/>
          </p:cNvCxnSpPr>
          <p:nvPr/>
        </p:nvCxnSpPr>
        <p:spPr>
          <a:xfrm>
            <a:off x="9101808" y="2464235"/>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C1795214-1B09-AA48-551B-B8C19470BC07}"/>
              </a:ext>
            </a:extLst>
          </p:cNvPr>
          <p:cNvCxnSpPr>
            <a:cxnSpLocks/>
            <a:endCxn id="39" idx="3"/>
          </p:cNvCxnSpPr>
          <p:nvPr/>
        </p:nvCxnSpPr>
        <p:spPr>
          <a:xfrm>
            <a:off x="9344105" y="2466084"/>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0CCB4FB0-5CA5-17F1-05A5-BD997FD7E35D}"/>
              </a:ext>
            </a:extLst>
          </p:cNvPr>
          <p:cNvCxnSpPr>
            <a:cxnSpLocks/>
            <a:stCxn id="38" idx="4"/>
          </p:cNvCxnSpPr>
          <p:nvPr/>
        </p:nvCxnSpPr>
        <p:spPr>
          <a:xfrm>
            <a:off x="9332737" y="2023674"/>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31F32803-596A-D86A-4DF8-961A6408F130}"/>
                  </a:ext>
                </a:extLst>
              </p:cNvPr>
              <p:cNvSpPr txBox="1"/>
              <p:nvPr/>
            </p:nvSpPr>
            <p:spPr>
              <a:xfrm>
                <a:off x="6870847" y="3142394"/>
                <a:ext cx="12760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m:oMathPara>
                </a14:m>
                <a:endParaRPr lang="ja-JP" altLang="en-US" sz="2400">
                  <a:solidFill>
                    <a:srgbClr val="FF0000"/>
                  </a:solidFill>
                </a:endParaRPr>
              </a:p>
            </p:txBody>
          </p:sp>
        </mc:Choice>
        <mc:Fallback xmlns="">
          <p:sp>
            <p:nvSpPr>
              <p:cNvPr id="44" name="テキスト ボックス 43">
                <a:extLst>
                  <a:ext uri="{FF2B5EF4-FFF2-40B4-BE49-F238E27FC236}">
                    <a16:creationId xmlns:a16="http://schemas.microsoft.com/office/drawing/2014/main" id="{31F32803-596A-D86A-4DF8-961A6408F130}"/>
                  </a:ext>
                </a:extLst>
              </p:cNvPr>
              <p:cNvSpPr txBox="1">
                <a:spLocks noRot="1" noChangeAspect="1" noMove="1" noResize="1" noEditPoints="1" noAdjustHandles="1" noChangeArrowheads="1" noChangeShapeType="1" noTextEdit="1"/>
              </p:cNvSpPr>
              <p:nvPr/>
            </p:nvSpPr>
            <p:spPr>
              <a:xfrm>
                <a:off x="6870847" y="3142394"/>
                <a:ext cx="1276055" cy="369332"/>
              </a:xfrm>
              <a:prstGeom prst="rect">
                <a:avLst/>
              </a:prstGeom>
              <a:blipFill>
                <a:blip r:embed="rId9"/>
                <a:stretch>
                  <a:fillRect r="-3828"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E80CFCE2-C48D-73F2-553C-C7A393EF1269}"/>
                  </a:ext>
                </a:extLst>
              </p:cNvPr>
              <p:cNvSpPr txBox="1"/>
              <p:nvPr/>
            </p:nvSpPr>
            <p:spPr>
              <a:xfrm>
                <a:off x="8627989" y="3122980"/>
                <a:ext cx="15966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latin typeface="Cambria Math" panose="02040503050406030204" pitchFamily="18" charset="0"/>
                            </a:rPr>
                          </m:ctrlPr>
                        </m:dPr>
                        <m:e>
                          <m:r>
                            <a:rPr lang="en-US" altLang="ja-JP" sz="2400" i="1">
                              <a:latin typeface="Cambria Math" panose="02040503050406030204" pitchFamily="18" charset="0"/>
                            </a:rPr>
                            <m:t>1+1/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oMath>
                  </m:oMathPara>
                </a14:m>
                <a:endParaRPr lang="ja-JP" altLang="en-US" sz="2400"/>
              </a:p>
            </p:txBody>
          </p:sp>
        </mc:Choice>
        <mc:Fallback xmlns="">
          <p:sp>
            <p:nvSpPr>
              <p:cNvPr id="45" name="テキスト ボックス 44">
                <a:extLst>
                  <a:ext uri="{FF2B5EF4-FFF2-40B4-BE49-F238E27FC236}">
                    <a16:creationId xmlns:a16="http://schemas.microsoft.com/office/drawing/2014/main" id="{E80CFCE2-C48D-73F2-553C-C7A393EF1269}"/>
                  </a:ext>
                </a:extLst>
              </p:cNvPr>
              <p:cNvSpPr txBox="1">
                <a:spLocks noRot="1" noChangeAspect="1" noMove="1" noResize="1" noEditPoints="1" noAdjustHandles="1" noChangeArrowheads="1" noChangeShapeType="1" noTextEdit="1"/>
              </p:cNvSpPr>
              <p:nvPr/>
            </p:nvSpPr>
            <p:spPr>
              <a:xfrm>
                <a:off x="8627989" y="3122980"/>
                <a:ext cx="1596655" cy="369332"/>
              </a:xfrm>
              <a:prstGeom prst="rect">
                <a:avLst/>
              </a:prstGeom>
              <a:blipFill>
                <a:blip r:embed="rId10"/>
                <a:stretch>
                  <a:fillRect t="-1639" r="-3053" b="-327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4E8C7715-0490-C328-6001-D853AA8CEC9B}"/>
                  </a:ext>
                </a:extLst>
              </p:cNvPr>
              <p:cNvSpPr txBox="1"/>
              <p:nvPr/>
            </p:nvSpPr>
            <p:spPr>
              <a:xfrm>
                <a:off x="5556510" y="2204087"/>
                <a:ext cx="476091" cy="55399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3600" i="1">
                          <a:latin typeface="Cambria Math" panose="02040503050406030204" pitchFamily="18" charset="0"/>
                        </a:rPr>
                        <m:t>≡</m:t>
                      </m:r>
                    </m:oMath>
                  </m:oMathPara>
                </a14:m>
                <a:endParaRPr lang="ja-JP" altLang="en-US" sz="3600"/>
              </a:p>
            </p:txBody>
          </p:sp>
        </mc:Choice>
        <mc:Fallback xmlns="">
          <p:sp>
            <p:nvSpPr>
              <p:cNvPr id="46" name="テキスト ボックス 45">
                <a:extLst>
                  <a:ext uri="{FF2B5EF4-FFF2-40B4-BE49-F238E27FC236}">
                    <a16:creationId xmlns:a16="http://schemas.microsoft.com/office/drawing/2014/main" id="{4E8C7715-0490-C328-6001-D853AA8CEC9B}"/>
                  </a:ext>
                </a:extLst>
              </p:cNvPr>
              <p:cNvSpPr txBox="1">
                <a:spLocks noRot="1" noChangeAspect="1" noMove="1" noResize="1" noEditPoints="1" noAdjustHandles="1" noChangeArrowheads="1" noChangeShapeType="1" noTextEdit="1"/>
              </p:cNvSpPr>
              <p:nvPr/>
            </p:nvSpPr>
            <p:spPr>
              <a:xfrm>
                <a:off x="5556510" y="2204087"/>
                <a:ext cx="476091" cy="553998"/>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8F1FD6FE-01B0-2208-2BFE-D9A18B74CE91}"/>
                  </a:ext>
                </a:extLst>
              </p:cNvPr>
              <p:cNvSpPr txBox="1"/>
              <p:nvPr/>
            </p:nvSpPr>
            <p:spPr>
              <a:xfrm>
                <a:off x="2685460" y="3760890"/>
                <a:ext cx="6328784" cy="830997"/>
              </a:xfrm>
              <a:prstGeom prst="rect">
                <a:avLst/>
              </a:prstGeom>
              <a:noFill/>
            </p:spPr>
            <p:txBody>
              <a:bodyPr wrap="none" rtlCol="0">
                <a:spAutoFit/>
              </a:bodyPr>
              <a:lstStyle/>
              <a:p>
                <a:pPr algn="ctr"/>
                <a:r>
                  <a:rPr lang="ja-JP" altLang="en-US" sz="2400">
                    <a:solidFill>
                      <a:srgbClr val="FF0000"/>
                    </a:solidFill>
                  </a:rPr>
                  <a:t>利得 </a:t>
                </a:r>
                <a14:m>
                  <m:oMath xmlns:m="http://schemas.openxmlformats.org/officeDocument/2006/math">
                    <m:r>
                      <a:rPr lang="en-US" altLang="ja-JP" sz="2400" i="1">
                        <a:solidFill>
                          <a:srgbClr val="FF0000"/>
                        </a:solidFill>
                        <a:latin typeface="Cambria Math" panose="02040503050406030204" pitchFamily="18" charset="0"/>
                      </a:rPr>
                      <m:t>−</m:t>
                    </m:r>
                    <m:r>
                      <a:rPr lang="en-US" altLang="ja-JP" sz="2400" i="1">
                        <a:solidFill>
                          <a:srgbClr val="FF0000"/>
                        </a:solidFill>
                        <a:latin typeface="Cambria Math" panose="02040503050406030204" pitchFamily="18" charset="0"/>
                      </a:rPr>
                      <m:t>𝐴</m:t>
                    </m:r>
                  </m:oMath>
                </a14:m>
                <a:r>
                  <a:rPr lang="ja-JP" altLang="en-US" sz="2400">
                    <a:solidFill>
                      <a:srgbClr val="FF0000"/>
                    </a:solidFill>
                  </a:rPr>
                  <a:t> の増幅器の入出力をつなぐ容量は，</a:t>
                </a:r>
                <a:endParaRPr lang="en-US" altLang="ja-JP" sz="2400">
                  <a:solidFill>
                    <a:srgbClr val="FF0000"/>
                  </a:solidFill>
                </a:endParaRPr>
              </a:p>
              <a:p>
                <a:pPr algn="ct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oMath>
                </a14:m>
                <a:r>
                  <a:rPr lang="ja-JP" altLang="en-US" sz="2400">
                    <a:solidFill>
                      <a:srgbClr val="FF0000"/>
                    </a:solidFill>
                  </a:rPr>
                  <a:t>倍の対地容量に近似できる</a:t>
                </a:r>
              </a:p>
            </p:txBody>
          </p:sp>
        </mc:Choice>
        <mc:Fallback xmlns="">
          <p:sp>
            <p:nvSpPr>
              <p:cNvPr id="47" name="テキスト ボックス 46">
                <a:extLst>
                  <a:ext uri="{FF2B5EF4-FFF2-40B4-BE49-F238E27FC236}">
                    <a16:creationId xmlns:a16="http://schemas.microsoft.com/office/drawing/2014/main" id="{8F1FD6FE-01B0-2208-2BFE-D9A18B74CE91}"/>
                  </a:ext>
                </a:extLst>
              </p:cNvPr>
              <p:cNvSpPr txBox="1">
                <a:spLocks noRot="1" noChangeAspect="1" noMove="1" noResize="1" noEditPoints="1" noAdjustHandles="1" noChangeArrowheads="1" noChangeShapeType="1" noTextEdit="1"/>
              </p:cNvSpPr>
              <p:nvPr/>
            </p:nvSpPr>
            <p:spPr>
              <a:xfrm>
                <a:off x="2685460" y="3760890"/>
                <a:ext cx="6328784" cy="830997"/>
              </a:xfrm>
              <a:prstGeom prst="rect">
                <a:avLst/>
              </a:prstGeom>
              <a:blipFill>
                <a:blip r:embed="rId12"/>
                <a:stretch>
                  <a:fillRect l="-1156" t="-5882" r="-963"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34E90522-D970-DD5E-4A6A-BB1BDAC22493}"/>
                  </a:ext>
                </a:extLst>
              </p:cNvPr>
              <p:cNvSpPr txBox="1"/>
              <p:nvPr/>
            </p:nvSpPr>
            <p:spPr>
              <a:xfrm>
                <a:off x="2680400" y="4857154"/>
                <a:ext cx="6727354" cy="830997"/>
              </a:xfrm>
              <a:prstGeom prst="rect">
                <a:avLst/>
              </a:prstGeom>
              <a:noFill/>
            </p:spPr>
            <p:txBody>
              <a:bodyPr wrap="none" rtlCol="0">
                <a:spAutoFit/>
              </a:bodyPr>
              <a:lstStyle/>
              <a:p>
                <a:pPr algn="l"/>
                <a:r>
                  <a:rPr lang="ja-JP" altLang="en-US" sz="2400"/>
                  <a:t>例</a:t>
                </a:r>
                <a:r>
                  <a:rPr lang="en-US" altLang="ja-JP" sz="2400"/>
                  <a:t>) </a:t>
                </a:r>
                <a14:m>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r>
                      <a:rPr lang="en-US" altLang="ja-JP" sz="2400" i="1">
                        <a:latin typeface="Cambria Math" panose="02040503050406030204" pitchFamily="18" charset="0"/>
                      </a:rPr>
                      <m:t>=1</m:t>
                    </m:r>
                  </m:oMath>
                </a14:m>
                <a:r>
                  <a:rPr lang="ja-JP" altLang="en-US" sz="2400"/>
                  <a:t> </a:t>
                </a:r>
                <a:r>
                  <a:rPr lang="en-US" altLang="ja-JP" sz="2400"/>
                  <a:t>(</a:t>
                </a:r>
                <a:r>
                  <a:rPr lang="ja-JP" altLang="en-US" sz="2400"/>
                  <a:t>入力と出力が常に同電位</a:t>
                </a:r>
                <a:r>
                  <a:rPr lang="en-US" altLang="ja-JP" sz="2400"/>
                  <a:t>)</a:t>
                </a:r>
                <a:r>
                  <a:rPr lang="ja-JP" altLang="en-US" sz="2400"/>
                  <a:t> であれば</a:t>
                </a:r>
                <a:endParaRPr lang="en-US" altLang="ja-JP" sz="2400"/>
              </a:p>
              <a:p>
                <a:pPr algn="l"/>
                <a:r>
                  <a:rPr lang="ja-JP" altLang="en-US" sz="2400"/>
                  <a:t>容量 </a:t>
                </a:r>
                <a14:m>
                  <m:oMath xmlns:m="http://schemas.openxmlformats.org/officeDocument/2006/math">
                    <m:r>
                      <a:rPr lang="en-US" altLang="ja-JP" sz="2400" i="1">
                        <a:latin typeface="Cambria Math" panose="02040503050406030204" pitchFamily="18" charset="0"/>
                      </a:rPr>
                      <m:t>𝐶</m:t>
                    </m:r>
                  </m:oMath>
                </a14:m>
                <a:r>
                  <a:rPr lang="ja-JP" altLang="en-US" sz="2400"/>
                  <a:t> は存在しないのと同じ</a:t>
                </a:r>
                <a14:m>
                  <m:oMath xmlns:m="http://schemas.openxmlformats.org/officeDocument/2006/math">
                    <m:r>
                      <a:rPr lang="en-US" altLang="ja-JP" sz="2400">
                        <a:latin typeface="Cambria Math" panose="02040503050406030204" pitchFamily="18" charset="0"/>
                      </a:rPr>
                      <m:t> </m:t>
                    </m:r>
                    <m:r>
                      <a:rPr lang="ja-JP" altLang="en-US" sz="2400" i="1">
                        <a:latin typeface="Cambria Math" panose="02040503050406030204" pitchFamily="18" charset="0"/>
                      </a:rPr>
                      <m:t>≡</m:t>
                    </m:r>
                    <m:r>
                      <a:rPr lang="en-US" altLang="ja-JP" sz="2400" i="1">
                        <a:latin typeface="Cambria Math" panose="02040503050406030204" pitchFamily="18" charset="0"/>
                      </a:rPr>
                      <m:t> </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=0</m:t>
                    </m:r>
                  </m:oMath>
                </a14:m>
                <a:endParaRPr lang="ja-JP" altLang="en-US" sz="2400"/>
              </a:p>
            </p:txBody>
          </p:sp>
        </mc:Choice>
        <mc:Fallback xmlns="">
          <p:sp>
            <p:nvSpPr>
              <p:cNvPr id="48" name="テキスト ボックス 47">
                <a:extLst>
                  <a:ext uri="{FF2B5EF4-FFF2-40B4-BE49-F238E27FC236}">
                    <a16:creationId xmlns:a16="http://schemas.microsoft.com/office/drawing/2014/main" id="{34E90522-D970-DD5E-4A6A-BB1BDAC22493}"/>
                  </a:ext>
                </a:extLst>
              </p:cNvPr>
              <p:cNvSpPr txBox="1">
                <a:spLocks noRot="1" noChangeAspect="1" noMove="1" noResize="1" noEditPoints="1" noAdjustHandles="1" noChangeArrowheads="1" noChangeShapeType="1" noTextEdit="1"/>
              </p:cNvSpPr>
              <p:nvPr/>
            </p:nvSpPr>
            <p:spPr>
              <a:xfrm>
                <a:off x="2680400" y="4857154"/>
                <a:ext cx="6727354" cy="830997"/>
              </a:xfrm>
              <a:prstGeom prst="rect">
                <a:avLst/>
              </a:prstGeom>
              <a:blipFill>
                <a:blip r:embed="rId13"/>
                <a:stretch>
                  <a:fillRect l="-1451" t="-5882" r="-453" b="-16176"/>
                </a:stretch>
              </a:blipFill>
            </p:spPr>
            <p:txBody>
              <a:bodyPr/>
              <a:lstStyle/>
              <a:p>
                <a:r>
                  <a:rPr lang="ja-JP" altLang="en-US">
                    <a:noFill/>
                  </a:rPr>
                  <a:t> </a:t>
                </a:r>
              </a:p>
            </p:txBody>
          </p:sp>
        </mc:Fallback>
      </mc:AlternateContent>
      <p:sp>
        <p:nvSpPr>
          <p:cNvPr id="49" name="テキスト ボックス 48">
            <a:extLst>
              <a:ext uri="{FF2B5EF4-FFF2-40B4-BE49-F238E27FC236}">
                <a16:creationId xmlns:a16="http://schemas.microsoft.com/office/drawing/2014/main" id="{F0B37194-0044-0F82-432D-7925D1614553}"/>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17420517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1B2ED28-53E7-8CDB-D704-BEA9ABECDE4F}"/>
              </a:ext>
            </a:extLst>
          </p:cNvPr>
          <p:cNvSpPr>
            <a:spLocks noGrp="1"/>
          </p:cNvSpPr>
          <p:nvPr>
            <p:ph type="title"/>
          </p:nvPr>
        </p:nvSpPr>
        <p:spPr>
          <a:xfrm>
            <a:off x="7239014" y="525982"/>
            <a:ext cx="4282983" cy="1200361"/>
          </a:xfrm>
        </p:spPr>
        <p:txBody>
          <a:bodyPr anchor="b">
            <a:normAutofit/>
          </a:bodyPr>
          <a:lstStyle/>
          <a:p>
            <a:r>
              <a:rPr lang="ja-JP" altLang="en-US" sz="3600"/>
              <a:t>応用：</a:t>
            </a:r>
            <a:r>
              <a:rPr lang="en-US" altLang="ja-JP" sz="3600"/>
              <a:t>Rail2Rail</a:t>
            </a:r>
            <a:endParaRPr kumimoji="1" lang="ja-JP" altLang="en-US" sz="3600"/>
          </a:p>
        </p:txBody>
      </p:sp>
      <p:sp>
        <p:nvSpPr>
          <p:cNvPr id="1068" name="Rectangle 106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図-3　Rail to railオペアンプ　入力簡易等価回路">
            <a:extLst>
              <a:ext uri="{FF2B5EF4-FFF2-40B4-BE49-F238E27FC236}">
                <a16:creationId xmlns:a16="http://schemas.microsoft.com/office/drawing/2014/main" id="{B0C9C8A3-F3AC-8090-187B-22407815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44" y="934126"/>
            <a:ext cx="5628018" cy="4756878"/>
          </a:xfrm>
          <a:prstGeom prst="rect">
            <a:avLst/>
          </a:prstGeom>
          <a:noFill/>
          <a:extLst>
            <a:ext uri="{909E8E84-426E-40DD-AFC4-6F175D3DCCD1}">
              <a14:hiddenFill xmlns:a14="http://schemas.microsoft.com/office/drawing/2010/main">
                <a:solidFill>
                  <a:srgbClr val="FFFFFF"/>
                </a:solidFill>
              </a14:hiddenFill>
            </a:ext>
          </a:extLst>
        </p:spPr>
      </p:pic>
      <p:sp>
        <p:nvSpPr>
          <p:cNvPr id="1072" name="Rectangle 107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コンテンツ プレースホルダー 2">
            <a:extLst>
              <a:ext uri="{FF2B5EF4-FFF2-40B4-BE49-F238E27FC236}">
                <a16:creationId xmlns:a16="http://schemas.microsoft.com/office/drawing/2014/main" id="{3C7F52E6-2BE2-3616-42CC-33F34755C5C4}"/>
              </a:ext>
            </a:extLst>
          </p:cNvPr>
          <p:cNvSpPr>
            <a:spLocks noGrp="1"/>
          </p:cNvSpPr>
          <p:nvPr>
            <p:ph idx="1"/>
          </p:nvPr>
        </p:nvSpPr>
        <p:spPr>
          <a:xfrm>
            <a:off x="7239012" y="2031101"/>
            <a:ext cx="4282984" cy="3511943"/>
          </a:xfrm>
        </p:spPr>
        <p:txBody>
          <a:bodyPr anchor="ctr">
            <a:normAutofit/>
          </a:bodyPr>
          <a:lstStyle/>
          <a:p>
            <a:r>
              <a:rPr kumimoji="1" lang="ja-JP" altLang="en-US" sz="1700"/>
              <a:t>構成</a:t>
            </a:r>
            <a:endParaRPr kumimoji="1" lang="en-US" altLang="ja-JP" sz="1700"/>
          </a:p>
          <a:p>
            <a:pPr lvl="1"/>
            <a:r>
              <a:rPr lang="ja-JP" altLang="en-US" sz="1700"/>
              <a:t>コンプリメンタリ差動対</a:t>
            </a:r>
            <a:endParaRPr lang="en-US" altLang="ja-JP" sz="1700"/>
          </a:p>
          <a:p>
            <a:pPr lvl="1"/>
            <a:r>
              <a:rPr lang="ja-JP" altLang="en-US" sz="1700"/>
              <a:t>フォールデッドカスコード</a:t>
            </a:r>
          </a:p>
          <a:p>
            <a:pPr lvl="1"/>
            <a:r>
              <a:rPr lang="ja-JP" altLang="en-US" sz="1700"/>
              <a:t>プッシュプル構成</a:t>
            </a:r>
            <a:endParaRPr kumimoji="1" lang="en-US" altLang="ja-JP" sz="1700"/>
          </a:p>
          <a:p>
            <a:r>
              <a:rPr kumimoji="1" lang="ja-JP" altLang="en-US" sz="1700"/>
              <a:t>内容</a:t>
            </a:r>
            <a:endParaRPr kumimoji="1" lang="en-US" altLang="ja-JP" sz="1700"/>
          </a:p>
          <a:p>
            <a:pPr lvl="1"/>
            <a:r>
              <a:rPr kumimoji="1" lang="en-US" altLang="ja-JP" sz="1700"/>
              <a:t>VDD-VSS</a:t>
            </a:r>
            <a:r>
              <a:rPr kumimoji="1" lang="ja-JP" altLang="en-US" sz="1700"/>
              <a:t>までフルレンジで出力させる</a:t>
            </a:r>
            <a:endParaRPr kumimoji="1" lang="en-US" altLang="ja-JP" sz="1700"/>
          </a:p>
          <a:p>
            <a:r>
              <a:rPr kumimoji="1" lang="ja-JP" altLang="en-US" sz="1700"/>
              <a:t>構造</a:t>
            </a:r>
            <a:endParaRPr kumimoji="1" lang="en-US" altLang="ja-JP" sz="1700"/>
          </a:p>
          <a:p>
            <a:pPr lvl="1"/>
            <a:r>
              <a:rPr kumimoji="1" lang="ja-JP" altLang="en-US" sz="1700"/>
              <a:t>差動対を</a:t>
            </a:r>
            <a:r>
              <a:rPr kumimoji="1" lang="en-US" altLang="ja-JP" sz="1700"/>
              <a:t>pMOS,nMOS</a:t>
            </a:r>
            <a:r>
              <a:rPr kumimoji="1" lang="ja-JP" altLang="en-US" sz="1700"/>
              <a:t>構造にする</a:t>
            </a:r>
            <a:endParaRPr kumimoji="1" lang="en-US" altLang="ja-JP" sz="1700"/>
          </a:p>
          <a:p>
            <a:pPr lvl="1"/>
            <a:r>
              <a:rPr kumimoji="1" lang="ja-JP" altLang="en-US" sz="1700"/>
              <a:t>カレントミラーをカスコード接続する</a:t>
            </a:r>
            <a:endParaRPr kumimoji="1" lang="en-US" altLang="ja-JP" sz="1700"/>
          </a:p>
        </p:txBody>
      </p:sp>
      <p:sp>
        <p:nvSpPr>
          <p:cNvPr id="1074" name="Rectangle 107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テキスト ボックス 3">
            <a:extLst>
              <a:ext uri="{FF2B5EF4-FFF2-40B4-BE49-F238E27FC236}">
                <a16:creationId xmlns:a16="http://schemas.microsoft.com/office/drawing/2014/main" id="{6A7203E2-1FDA-C3CD-F330-A693F197292A}"/>
              </a:ext>
            </a:extLst>
          </p:cNvPr>
          <p:cNvSpPr txBox="1"/>
          <p:nvPr/>
        </p:nvSpPr>
        <p:spPr>
          <a:xfrm>
            <a:off x="310234" y="5923874"/>
            <a:ext cx="6353983" cy="215444"/>
          </a:xfrm>
          <a:prstGeom prst="rect">
            <a:avLst/>
          </a:prstGeom>
          <a:noFill/>
        </p:spPr>
        <p:txBody>
          <a:bodyPr wrap="square" rtlCol="0">
            <a:spAutoFit/>
          </a:bodyPr>
          <a:lstStyle/>
          <a:p>
            <a:r>
              <a:rPr kumimoji="1" lang="ja-JP" altLang="en-US" sz="800"/>
              <a:t>出典：</a:t>
            </a:r>
            <a:r>
              <a:rPr lang="en-US" altLang="ja-JP" sz="800"/>
              <a:t>https://toshiba.semicon-storage.com/jp/semiconductor/knowledge/faq/linear_opamp/what-does-rail-to-rail-mean.html</a:t>
            </a:r>
            <a:endParaRPr kumimoji="1" lang="ja-JP" altLang="en-US" sz="800"/>
          </a:p>
        </p:txBody>
      </p:sp>
    </p:spTree>
    <p:extLst>
      <p:ext uri="{BB962C8B-B14F-4D97-AF65-F5344CB8AC3E}">
        <p14:creationId xmlns:p14="http://schemas.microsoft.com/office/powerpoint/2010/main" val="16548589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79E8F44-B3DD-11C4-1774-24FC0336F9AC}"/>
              </a:ext>
            </a:extLst>
          </p:cNvPr>
          <p:cNvSpPr>
            <a:spLocks noGrp="1"/>
          </p:cNvSpPr>
          <p:nvPr>
            <p:ph type="title"/>
          </p:nvPr>
        </p:nvSpPr>
        <p:spPr>
          <a:xfrm>
            <a:off x="7239014" y="525982"/>
            <a:ext cx="4282983" cy="1200361"/>
          </a:xfrm>
        </p:spPr>
        <p:txBody>
          <a:bodyPr anchor="b">
            <a:normAutofit/>
          </a:bodyPr>
          <a:lstStyle/>
          <a:p>
            <a:r>
              <a:rPr kumimoji="1" lang="ja-JP" altLang="en-US" sz="3600"/>
              <a:t>飽和領域で</a:t>
            </a:r>
            <a:br>
              <a:rPr kumimoji="1" lang="en-US" altLang="ja-JP" sz="3600"/>
            </a:br>
            <a:r>
              <a:rPr kumimoji="1" lang="ja-JP" altLang="en-US" sz="3600"/>
              <a:t>動作させる難しさ</a:t>
            </a:r>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F443677-74B7-98D0-2FDF-5A94A5FC6265}"/>
              </a:ext>
            </a:extLst>
          </p:cNvPr>
          <p:cNvSpPr>
            <a:spLocks noGrp="1"/>
          </p:cNvSpPr>
          <p:nvPr>
            <p:ph idx="1"/>
          </p:nvPr>
        </p:nvSpPr>
        <p:spPr>
          <a:xfrm>
            <a:off x="7239012" y="2031101"/>
            <a:ext cx="4832090" cy="3511943"/>
          </a:xfrm>
        </p:spPr>
        <p:txBody>
          <a:bodyPr anchor="ctr">
            <a:normAutofit/>
          </a:bodyPr>
          <a:lstStyle/>
          <a:p>
            <a:r>
              <a:rPr kumimoji="1" lang="en-US" altLang="ja-JP" sz="1800"/>
              <a:t>4</a:t>
            </a:r>
            <a:r>
              <a:rPr kumimoji="1" lang="ja-JP" altLang="en-US" sz="1800"/>
              <a:t>つ</a:t>
            </a:r>
            <a:r>
              <a:rPr kumimoji="1" lang="en-US" altLang="ja-JP" sz="1800"/>
              <a:t>MOSFET</a:t>
            </a:r>
            <a:r>
              <a:rPr kumimoji="1" lang="ja-JP" altLang="en-US" sz="1800"/>
              <a:t>がつながっているが、</a:t>
            </a:r>
            <a:r>
              <a:rPr kumimoji="1" lang="en-US" altLang="ja-JP" sz="1800"/>
              <a:t>5V</a:t>
            </a:r>
            <a:r>
              <a:rPr kumimoji="1" lang="ja-JP" altLang="en-US" sz="1800"/>
              <a:t>を分圧していることになる</a:t>
            </a:r>
            <a:endParaRPr kumimoji="1" lang="en-US" altLang="ja-JP" sz="1800"/>
          </a:p>
          <a:p>
            <a:pPr lvl="1"/>
            <a:r>
              <a:rPr lang="ja-JP" altLang="en-US" sz="1800"/>
              <a:t>単純計算で、</a:t>
            </a:r>
            <a:r>
              <a:rPr lang="en-US" altLang="ja-JP" sz="1800"/>
              <a:t>5V/4=1.25V</a:t>
            </a:r>
            <a:r>
              <a:rPr lang="ja-JP" altLang="en-US" sz="1800"/>
              <a:t>が一つの</a:t>
            </a:r>
            <a:r>
              <a:rPr lang="en-US" altLang="ja-JP" sz="1800"/>
              <a:t>MOSFET</a:t>
            </a:r>
            <a:r>
              <a:rPr lang="ja-JP" altLang="en-US" sz="1800"/>
              <a:t>の動作範囲となる</a:t>
            </a:r>
            <a:endParaRPr lang="en-US" altLang="ja-JP" sz="1800"/>
          </a:p>
          <a:p>
            <a:pPr marL="457200" lvl="1" indent="0">
              <a:buNone/>
            </a:pPr>
            <a:r>
              <a:rPr lang="ja-JP" altLang="en-US" sz="1800"/>
              <a:t>　</a:t>
            </a:r>
            <a:r>
              <a:rPr lang="ja-JP" altLang="en-US" sz="1800" b="1"/>
              <a:t>＝</a:t>
            </a:r>
            <a:r>
              <a:rPr lang="ja-JP" altLang="en-US" sz="1800"/>
              <a:t>すべての</a:t>
            </a:r>
            <a:r>
              <a:rPr lang="en-US" altLang="ja-JP" sz="1800"/>
              <a:t>MOSFET</a:t>
            </a:r>
            <a:r>
              <a:rPr lang="ja-JP" altLang="en-US" sz="1800"/>
              <a:t>が飽和領域で</a:t>
            </a:r>
            <a:endParaRPr lang="en-US" altLang="ja-JP" sz="1800"/>
          </a:p>
          <a:p>
            <a:pPr marL="457200" lvl="1" indent="0">
              <a:buNone/>
            </a:pPr>
            <a:r>
              <a:rPr lang="ja-JP" altLang="en-US" sz="1800"/>
              <a:t>　　動作している必要がある</a:t>
            </a:r>
            <a:endParaRPr lang="en-US" altLang="ja-JP" sz="1800"/>
          </a:p>
          <a:p>
            <a:pPr lvl="2"/>
            <a:r>
              <a:rPr lang="ja-JP" altLang="en-US" sz="1400"/>
              <a:t>これなら余裕があるようにみえるが、昨今のアナログ回路で使われる</a:t>
            </a:r>
            <a:r>
              <a:rPr lang="en-US" altLang="ja-JP" sz="1400"/>
              <a:t>MOSFET</a:t>
            </a:r>
            <a:r>
              <a:rPr lang="ja-JP" altLang="en-US" sz="1400"/>
              <a:t>の電圧は、</a:t>
            </a:r>
            <a:r>
              <a:rPr lang="en-US" altLang="ja-JP" sz="1400"/>
              <a:t>1.8V</a:t>
            </a:r>
            <a:r>
              <a:rPr lang="ja-JP" altLang="en-US" sz="1400"/>
              <a:t>くらいのためほとんど余裕はない</a:t>
            </a:r>
            <a:endParaRPr lang="en-US" altLang="ja-JP" sz="1400"/>
          </a:p>
          <a:p>
            <a:pPr lvl="2"/>
            <a:endParaRPr kumimoji="1" lang="ja-JP" altLang="en-US" sz="1800"/>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グループ化 8">
            <a:extLst>
              <a:ext uri="{FF2B5EF4-FFF2-40B4-BE49-F238E27FC236}">
                <a16:creationId xmlns:a16="http://schemas.microsoft.com/office/drawing/2014/main" id="{2EBF9E8D-66CD-4E12-65FE-9B88ACF14D3C}"/>
              </a:ext>
            </a:extLst>
          </p:cNvPr>
          <p:cNvGrpSpPr/>
          <p:nvPr/>
        </p:nvGrpSpPr>
        <p:grpSpPr>
          <a:xfrm>
            <a:off x="576244" y="1099773"/>
            <a:ext cx="5628018" cy="4425584"/>
            <a:chOff x="121598" y="1622855"/>
            <a:chExt cx="6049325" cy="4756878"/>
          </a:xfrm>
        </p:grpSpPr>
        <p:pic>
          <p:nvPicPr>
            <p:cNvPr id="5" name="Picture 4" descr="図-3　Rail to railオペアンプ　入力簡易等価回路">
              <a:extLst>
                <a:ext uri="{FF2B5EF4-FFF2-40B4-BE49-F238E27FC236}">
                  <a16:creationId xmlns:a16="http://schemas.microsoft.com/office/drawing/2014/main" id="{5273C9D7-DC5B-1E38-6614-D537A30DE4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598" y="1622855"/>
              <a:ext cx="5628018" cy="47568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10E80A2B-7DE0-C62E-B6B1-407CA1FF14CD}"/>
                </a:ext>
              </a:extLst>
            </p:cNvPr>
            <p:cNvCxnSpPr/>
            <p:nvPr/>
          </p:nvCxnSpPr>
          <p:spPr>
            <a:xfrm>
              <a:off x="5026646" y="2360072"/>
              <a:ext cx="0" cy="2610382"/>
            </a:xfrm>
            <a:prstGeom prst="straightConnector1">
              <a:avLst/>
            </a:prstGeom>
            <a:ln w="762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 name="テキスト ボックス 7">
              <a:extLst>
                <a:ext uri="{FF2B5EF4-FFF2-40B4-BE49-F238E27FC236}">
                  <a16:creationId xmlns:a16="http://schemas.microsoft.com/office/drawing/2014/main" id="{7CD8984C-3FB3-4C68-6D8B-A21CF07094C0}"/>
                </a:ext>
              </a:extLst>
            </p:cNvPr>
            <p:cNvSpPr txBox="1"/>
            <p:nvPr/>
          </p:nvSpPr>
          <p:spPr>
            <a:xfrm>
              <a:off x="5108380" y="3415841"/>
              <a:ext cx="1062543" cy="523220"/>
            </a:xfrm>
            <a:prstGeom prst="rect">
              <a:avLst/>
            </a:prstGeom>
            <a:noFill/>
          </p:spPr>
          <p:txBody>
            <a:bodyPr wrap="square" rtlCol="0">
              <a:spAutoFit/>
            </a:bodyPr>
            <a:lstStyle/>
            <a:p>
              <a:pPr defTabSz="850392">
                <a:spcAft>
                  <a:spcPts val="600"/>
                </a:spcAft>
              </a:pPr>
              <a:r>
                <a:rPr kumimoji="1" lang="en-US" altLang="ja-JP" sz="2604" kern="1200">
                  <a:solidFill>
                    <a:schemeClr val="tx1"/>
                  </a:solidFill>
                  <a:latin typeface="+mn-lt"/>
                  <a:ea typeface="+mn-ea"/>
                  <a:cs typeface="+mn-cs"/>
                </a:rPr>
                <a:t>5V</a:t>
              </a:r>
              <a:endParaRPr kumimoji="1" lang="ja-JP" altLang="en-US" sz="2800"/>
            </a:p>
          </p:txBody>
        </p:sp>
      </p:grpSp>
    </p:spTree>
    <p:extLst>
      <p:ext uri="{BB962C8B-B14F-4D97-AF65-F5344CB8AC3E}">
        <p14:creationId xmlns:p14="http://schemas.microsoft.com/office/powerpoint/2010/main" val="1508309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E9CF0F-BFE1-853C-1F70-CCF30E0E565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8892C20-330B-49AB-BF2C-0A9E59D0F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4934B42-D952-FF83-E879-5C293B22D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42CDE934-45FD-4F2A-069C-319587A9A6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DA787AB-E595-E1EC-B7B0-F6C3FDD05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37C2F13D-F6EC-51A5-95F1-5DF16F9EF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7C770EC-255F-D125-5377-830FB85BA516}"/>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altLang="ja-JP" sz="6600"/>
              <a:t>OPAMP</a:t>
            </a:r>
            <a:r>
              <a:rPr kumimoji="1" lang="ja-JP" altLang="en-US" sz="6600" kern="1200">
                <a:solidFill>
                  <a:schemeClr val="tx1"/>
                </a:solidFill>
                <a:latin typeface="+mj-lt"/>
                <a:ea typeface="+mj-ea"/>
                <a:cs typeface="+mj-cs"/>
              </a:rPr>
              <a:t>編</a:t>
            </a:r>
          </a:p>
        </p:txBody>
      </p:sp>
    </p:spTree>
    <p:extLst>
      <p:ext uri="{BB962C8B-B14F-4D97-AF65-F5344CB8AC3E}">
        <p14:creationId xmlns:p14="http://schemas.microsoft.com/office/powerpoint/2010/main" val="31815703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D2B09-AB11-AD4E-4175-8C4A7CD99F5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23F74F5-2B83-3FF2-6BC7-41B0FB57651C}"/>
              </a:ext>
            </a:extLst>
          </p:cNvPr>
          <p:cNvSpPr>
            <a:spLocks noGrp="1"/>
          </p:cNvSpPr>
          <p:nvPr>
            <p:ph idx="1"/>
          </p:nvPr>
        </p:nvSpPr>
        <p:spPr/>
        <p:txBody>
          <a:bodyPr/>
          <a:lstStyle/>
          <a:p>
            <a:endParaRPr kumimoji="1" lang="ja-JP" altLang="en-US"/>
          </a:p>
        </p:txBody>
      </p:sp>
      <p:pic>
        <p:nvPicPr>
          <p:cNvPr id="1026" name="Picture 2" descr="2段オペアンプ回路図の図解">
            <a:extLst>
              <a:ext uri="{FF2B5EF4-FFF2-40B4-BE49-F238E27FC236}">
                <a16:creationId xmlns:a16="http://schemas.microsoft.com/office/drawing/2014/main" id="{1E3B670D-83E6-D546-803E-CA396A55B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0"/>
            <a:ext cx="11495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43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0E6147A-3DDD-240B-BEA5-3B72FF5977F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8E7F675-52C6-9CF2-8F3C-44DAA060051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基本的な</a:t>
            </a:r>
            <a:r>
              <a:rPr lang="ja-JP" altLang="en-US" sz="4000" kern="1200">
                <a:solidFill>
                  <a:schemeClr val="bg2"/>
                </a:solidFill>
                <a:latin typeface="+mj-lt"/>
                <a:ea typeface="+mj-ea"/>
                <a:cs typeface="+mj-cs"/>
              </a:rPr>
              <a:t>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573700429"/>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15B08C0-7977-28CD-8A95-4DF04EF68A00}"/>
              </a:ext>
            </a:extLst>
          </p:cNvPr>
          <p:cNvSpPr>
            <a:spLocks noGrp="1"/>
          </p:cNvSpPr>
          <p:nvPr>
            <p:ph type="title"/>
          </p:nvPr>
        </p:nvSpPr>
        <p:spPr>
          <a:xfrm>
            <a:off x="1137037" y="609600"/>
            <a:ext cx="5915197" cy="1330519"/>
          </a:xfrm>
        </p:spPr>
        <p:txBody>
          <a:bodyPr>
            <a:normAutofit/>
          </a:bodyPr>
          <a:lstStyle/>
          <a:p>
            <a:r>
              <a:rPr kumimoji="1" lang="ja-JP" altLang="en-US"/>
              <a:t>注意事項</a:t>
            </a:r>
          </a:p>
        </p:txBody>
      </p:sp>
      <p:sp>
        <p:nvSpPr>
          <p:cNvPr id="25" name="Freeform: Shape 24">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A05F332-C975-4F16-88C0-88AB8CA941FE}"/>
              </a:ext>
            </a:extLst>
          </p:cNvPr>
          <p:cNvSpPr>
            <a:spLocks noGrp="1"/>
          </p:cNvSpPr>
          <p:nvPr>
            <p:ph idx="1"/>
          </p:nvPr>
        </p:nvSpPr>
        <p:spPr>
          <a:xfrm>
            <a:off x="1137037" y="2549718"/>
            <a:ext cx="6137295" cy="3552969"/>
          </a:xfrm>
        </p:spPr>
        <p:txBody>
          <a:bodyPr>
            <a:normAutofit/>
          </a:bodyPr>
          <a:lstStyle/>
          <a:p>
            <a:r>
              <a:rPr lang="ja-JP" altLang="en-US" sz="2000"/>
              <a:t>増幅回路については半導体設計におけるポイントのみ解説します。</a:t>
            </a:r>
            <a:endParaRPr lang="en-US" altLang="ja-JP" sz="2000"/>
          </a:p>
          <a:p>
            <a:pPr lvl="1"/>
            <a:r>
              <a:rPr kumimoji="1" lang="ja-JP" altLang="en-US" sz="2000"/>
              <a:t>増幅回路の基本動作原理などを知りたい方は右の書籍をお勧めします。</a:t>
            </a:r>
            <a:endParaRPr kumimoji="1" lang="en-US" altLang="ja-JP" sz="2000"/>
          </a:p>
        </p:txBody>
      </p:sp>
      <p:sp>
        <p:nvSpPr>
          <p:cNvPr id="27" name="Freeform: Shape 26">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図 4">
            <a:extLst>
              <a:ext uri="{FF2B5EF4-FFF2-40B4-BE49-F238E27FC236}">
                <a16:creationId xmlns:a16="http://schemas.microsoft.com/office/drawing/2014/main" id="{A7FEFC24-6B94-47B9-49D2-8A40103C38A8}"/>
              </a:ext>
            </a:extLst>
          </p:cNvPr>
          <p:cNvPicPr>
            <a:picLocks noChangeAspect="1"/>
          </p:cNvPicPr>
          <p:nvPr/>
        </p:nvPicPr>
        <p:blipFill>
          <a:blip r:embed="rId2"/>
          <a:stretch>
            <a:fillRect/>
          </a:stretch>
        </p:blipFill>
        <p:spPr>
          <a:xfrm>
            <a:off x="7761092" y="894996"/>
            <a:ext cx="3684567" cy="5064696"/>
          </a:xfrm>
          <a:prstGeom prst="rect">
            <a:avLst/>
          </a:prstGeom>
        </p:spPr>
      </p:pic>
      <p:pic>
        <p:nvPicPr>
          <p:cNvPr id="9" name="図 8">
            <a:extLst>
              <a:ext uri="{FF2B5EF4-FFF2-40B4-BE49-F238E27FC236}">
                <a16:creationId xmlns:a16="http://schemas.microsoft.com/office/drawing/2014/main" id="{B00ADF48-3538-F10B-DFC3-98E67BB8DA16}"/>
              </a:ext>
            </a:extLst>
          </p:cNvPr>
          <p:cNvPicPr>
            <a:picLocks noChangeAspect="1"/>
          </p:cNvPicPr>
          <p:nvPr/>
        </p:nvPicPr>
        <p:blipFill>
          <a:blip r:embed="rId3"/>
          <a:stretch>
            <a:fillRect/>
          </a:stretch>
        </p:blipFill>
        <p:spPr>
          <a:xfrm>
            <a:off x="4188657" y="4229739"/>
            <a:ext cx="2942642" cy="2615682"/>
          </a:xfrm>
          <a:prstGeom prst="rect">
            <a:avLst/>
          </a:prstGeom>
        </p:spPr>
      </p:pic>
      <p:pic>
        <p:nvPicPr>
          <p:cNvPr id="13" name="図 12">
            <a:extLst>
              <a:ext uri="{FF2B5EF4-FFF2-40B4-BE49-F238E27FC236}">
                <a16:creationId xmlns:a16="http://schemas.microsoft.com/office/drawing/2014/main" id="{E00FD4E1-A1A7-56C2-A67D-CF6886CA64C0}"/>
              </a:ext>
            </a:extLst>
          </p:cNvPr>
          <p:cNvPicPr>
            <a:picLocks noChangeAspect="1"/>
          </p:cNvPicPr>
          <p:nvPr/>
        </p:nvPicPr>
        <p:blipFill>
          <a:blip r:embed="rId4"/>
          <a:srcRect t="41579"/>
          <a:stretch>
            <a:fillRect/>
          </a:stretch>
        </p:blipFill>
        <p:spPr>
          <a:xfrm>
            <a:off x="4357750" y="3909064"/>
            <a:ext cx="2383855" cy="571563"/>
          </a:xfrm>
          <a:prstGeom prst="rect">
            <a:avLst/>
          </a:prstGeom>
        </p:spPr>
      </p:pic>
      <p:pic>
        <p:nvPicPr>
          <p:cNvPr id="19" name="図 18">
            <a:extLst>
              <a:ext uri="{FF2B5EF4-FFF2-40B4-BE49-F238E27FC236}">
                <a16:creationId xmlns:a16="http://schemas.microsoft.com/office/drawing/2014/main" id="{E23B08B2-43AC-C88B-8479-DA2AED374EEB}"/>
              </a:ext>
            </a:extLst>
          </p:cNvPr>
          <p:cNvPicPr>
            <a:picLocks noChangeAspect="1"/>
          </p:cNvPicPr>
          <p:nvPr/>
        </p:nvPicPr>
        <p:blipFill>
          <a:blip r:embed="rId5"/>
          <a:stretch>
            <a:fillRect/>
          </a:stretch>
        </p:blipFill>
        <p:spPr>
          <a:xfrm>
            <a:off x="1642859" y="4480627"/>
            <a:ext cx="2129418" cy="2260459"/>
          </a:xfrm>
          <a:prstGeom prst="rect">
            <a:avLst/>
          </a:prstGeom>
        </p:spPr>
      </p:pic>
      <p:pic>
        <p:nvPicPr>
          <p:cNvPr id="17" name="図 16">
            <a:extLst>
              <a:ext uri="{FF2B5EF4-FFF2-40B4-BE49-F238E27FC236}">
                <a16:creationId xmlns:a16="http://schemas.microsoft.com/office/drawing/2014/main" id="{FE65418E-A834-CAAC-E5E5-F2198DFAF537}"/>
              </a:ext>
            </a:extLst>
          </p:cNvPr>
          <p:cNvPicPr>
            <a:picLocks noChangeAspect="1"/>
          </p:cNvPicPr>
          <p:nvPr/>
        </p:nvPicPr>
        <p:blipFill>
          <a:blip r:embed="rId6"/>
          <a:stretch>
            <a:fillRect/>
          </a:stretch>
        </p:blipFill>
        <p:spPr>
          <a:xfrm>
            <a:off x="1927579" y="3909064"/>
            <a:ext cx="1388686" cy="571563"/>
          </a:xfrm>
          <a:prstGeom prst="rect">
            <a:avLst/>
          </a:prstGeom>
        </p:spPr>
      </p:pic>
      <p:sp>
        <p:nvSpPr>
          <p:cNvPr id="4" name="テキスト ボックス 3">
            <a:extLst>
              <a:ext uri="{FF2B5EF4-FFF2-40B4-BE49-F238E27FC236}">
                <a16:creationId xmlns:a16="http://schemas.microsoft.com/office/drawing/2014/main" id="{D1883C51-7F4B-3AC7-265E-04F1ABE3C540}"/>
              </a:ext>
            </a:extLst>
          </p:cNvPr>
          <p:cNvSpPr txBox="1"/>
          <p:nvPr/>
        </p:nvSpPr>
        <p:spPr>
          <a:xfrm>
            <a:off x="7761092" y="6270539"/>
            <a:ext cx="3936341" cy="307777"/>
          </a:xfrm>
          <a:prstGeom prst="rect">
            <a:avLst/>
          </a:prstGeom>
          <a:noFill/>
        </p:spPr>
        <p:txBody>
          <a:bodyPr wrap="square" rtlCol="0">
            <a:spAutoFit/>
          </a:bodyPr>
          <a:lstStyle/>
          <a:p>
            <a:r>
              <a:rPr kumimoji="1" lang="ja-JP" altLang="en-US" sz="1400"/>
              <a:t>出典：</a:t>
            </a:r>
            <a:r>
              <a:rPr kumimoji="1" lang="en-US" altLang="ja-JP" sz="1400"/>
              <a:t>CMOS OP</a:t>
            </a:r>
            <a:r>
              <a:rPr kumimoji="1" lang="ja-JP" altLang="en-US" sz="1400"/>
              <a:t>アンプ回路実務設計の基礎</a:t>
            </a:r>
          </a:p>
        </p:txBody>
      </p:sp>
    </p:spTree>
    <p:extLst>
      <p:ext uri="{BB962C8B-B14F-4D97-AF65-F5344CB8AC3E}">
        <p14:creationId xmlns:p14="http://schemas.microsoft.com/office/powerpoint/2010/main" val="19515114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8A9216-4314-7FFC-D0D7-F3793662D9CA}"/>
              </a:ext>
            </a:extLst>
          </p:cNvPr>
          <p:cNvSpPr>
            <a:spLocks noGrp="1"/>
          </p:cNvSpPr>
          <p:nvPr>
            <p:ph type="title"/>
          </p:nvPr>
        </p:nvSpPr>
        <p:spPr>
          <a:xfrm>
            <a:off x="645064" y="525982"/>
            <a:ext cx="4536536" cy="1200361"/>
          </a:xfrm>
        </p:spPr>
        <p:txBody>
          <a:bodyPr anchor="b">
            <a:normAutofit/>
          </a:bodyPr>
          <a:lstStyle/>
          <a:p>
            <a:r>
              <a:rPr kumimoji="1" lang="ja-JP" altLang="en-US" sz="3600"/>
              <a:t>ソース接地増幅回路</a:t>
            </a:r>
          </a:p>
        </p:txBody>
      </p:sp>
      <p:sp>
        <p:nvSpPr>
          <p:cNvPr id="25" name="Rectangle 2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4BBC59F-9CFC-D351-1974-1108EE8DEFD4}"/>
              </a:ext>
            </a:extLst>
          </p:cNvPr>
          <p:cNvSpPr>
            <a:spLocks noGrp="1"/>
          </p:cNvSpPr>
          <p:nvPr>
            <p:ph idx="1"/>
          </p:nvPr>
        </p:nvSpPr>
        <p:spPr>
          <a:xfrm>
            <a:off x="645065" y="2031101"/>
            <a:ext cx="4667650" cy="3511943"/>
          </a:xfrm>
        </p:spPr>
        <p:txBody>
          <a:bodyPr anchor="ctr">
            <a:normAutofit/>
          </a:bodyPr>
          <a:lstStyle/>
          <a:p>
            <a:r>
              <a:rPr lang="en-US" altLang="ja-JP" sz="1800" b="1"/>
              <a:t>MOSFET</a:t>
            </a:r>
            <a:r>
              <a:rPr lang="ja-JP" altLang="en-US" sz="1800" b="1"/>
              <a:t>がゲート</a:t>
            </a:r>
            <a:r>
              <a:rPr lang="en-US" altLang="ja-JP" sz="1800" b="1"/>
              <a:t>-</a:t>
            </a:r>
            <a:r>
              <a:rPr lang="ja-JP" altLang="en-US" sz="1800" b="1"/>
              <a:t>ソース間電圧 </a:t>
            </a:r>
            <a:r>
              <a:rPr lang="en-US" altLang="ja-JP" sz="1800" b="1"/>
              <a:t>Vgs</a:t>
            </a:r>
            <a:r>
              <a:rPr lang="ja-JP" altLang="en-US" sz="1800" b="1"/>
              <a:t> の微小な変化に対して、ドレイン電流 </a:t>
            </a:r>
            <a:r>
              <a:rPr lang="en-US" altLang="ja-JP" sz="1800" b="1"/>
              <a:t>Id</a:t>
            </a:r>
            <a:r>
              <a:rPr lang="ja-JP" altLang="en-US" sz="1800" b="1"/>
              <a:t> を大きく変化させる</a:t>
            </a:r>
            <a:r>
              <a:rPr lang="ja-JP" altLang="en-US" sz="1800"/>
              <a:t>という特性を利用</a:t>
            </a:r>
            <a:endParaRPr lang="en-US" altLang="ja-JP" sz="1800"/>
          </a:p>
          <a:p>
            <a:pPr lvl="1"/>
            <a:r>
              <a:rPr lang="en-US" altLang="ja-JP" sz="1800"/>
              <a:t>Vin</a:t>
            </a:r>
            <a:r>
              <a:rPr lang="ja-JP" altLang="en-US" sz="1800"/>
              <a:t>≦</a:t>
            </a:r>
            <a:r>
              <a:rPr lang="en-US" altLang="ja-JP" sz="1800"/>
              <a:t>Vth</a:t>
            </a:r>
          </a:p>
          <a:p>
            <a:pPr lvl="2"/>
            <a:r>
              <a:rPr lang="en-US" altLang="ja-JP" sz="1800"/>
              <a:t>M1</a:t>
            </a:r>
            <a:r>
              <a:rPr lang="ja-JP" altLang="en-US" sz="1800"/>
              <a:t>には電流が流れていないため、</a:t>
            </a:r>
            <a:r>
              <a:rPr lang="en-US" altLang="ja-JP" sz="1800"/>
              <a:t>Vout=VDD(R1</a:t>
            </a:r>
            <a:r>
              <a:rPr lang="ja-JP" altLang="en-US" sz="1800"/>
              <a:t>を無視した場合</a:t>
            </a:r>
            <a:r>
              <a:rPr lang="en-US" altLang="ja-JP" sz="1800"/>
              <a:t>)</a:t>
            </a:r>
          </a:p>
          <a:p>
            <a:pPr lvl="1"/>
            <a:r>
              <a:rPr lang="en-US" altLang="ja-JP" sz="1800"/>
              <a:t>Vin</a:t>
            </a:r>
            <a:r>
              <a:rPr lang="ja-JP" altLang="en-US" sz="1800"/>
              <a:t>＞</a:t>
            </a:r>
            <a:r>
              <a:rPr lang="en-US" altLang="ja-JP" sz="1800"/>
              <a:t>Vth</a:t>
            </a:r>
          </a:p>
          <a:p>
            <a:pPr lvl="2"/>
            <a:r>
              <a:rPr lang="en-US" altLang="ja-JP" sz="1800"/>
              <a:t>M1</a:t>
            </a:r>
            <a:r>
              <a:rPr lang="ja-JP" altLang="en-US" sz="1800"/>
              <a:t>に電流が流れ始め、分圧により、</a:t>
            </a:r>
            <a:r>
              <a:rPr lang="en-US" altLang="ja-JP" sz="1800"/>
              <a:t>Vout</a:t>
            </a:r>
            <a:r>
              <a:rPr lang="ja-JP" altLang="en-US" sz="1800"/>
              <a:t>が減少していく</a:t>
            </a:r>
            <a:endParaRPr lang="en-US" altLang="ja-JP" sz="1800"/>
          </a:p>
          <a:p>
            <a:pPr lvl="1"/>
            <a:endParaRPr kumimoji="1" lang="ja-JP" altLang="en-US" sz="1800"/>
          </a:p>
        </p:txBody>
      </p:sp>
      <p:sp>
        <p:nvSpPr>
          <p:cNvPr id="27" name="Rectangle 2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14A3F81B-409E-EE0E-1172-7193DB048BDC}"/>
              </a:ext>
            </a:extLst>
          </p:cNvPr>
          <p:cNvPicPr>
            <a:picLocks noChangeAspect="1"/>
          </p:cNvPicPr>
          <p:nvPr/>
        </p:nvPicPr>
        <p:blipFill>
          <a:blip r:embed="rId2"/>
          <a:stretch>
            <a:fillRect/>
          </a:stretch>
        </p:blipFill>
        <p:spPr>
          <a:xfrm>
            <a:off x="6558952" y="650494"/>
            <a:ext cx="4485590" cy="5324142"/>
          </a:xfrm>
          <a:prstGeom prst="rect">
            <a:avLst/>
          </a:prstGeom>
        </p:spPr>
      </p:pic>
    </p:spTree>
    <p:extLst>
      <p:ext uri="{BB962C8B-B14F-4D97-AF65-F5344CB8AC3E}">
        <p14:creationId xmlns:p14="http://schemas.microsoft.com/office/powerpoint/2010/main" val="2235714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8E02B-9BD9-B21F-2D83-DFF5DBC52C2D}"/>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125EB3B-5CBC-C18B-9019-FB6B21FFFBC1}"/>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33" name="Rectangle 3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D2763AD-CC10-D697-FBAD-402B4976B4FC}"/>
              </a:ext>
            </a:extLst>
          </p:cNvPr>
          <p:cNvSpPr>
            <a:spLocks noGrp="1"/>
          </p:cNvSpPr>
          <p:nvPr>
            <p:ph idx="1"/>
          </p:nvPr>
        </p:nvSpPr>
        <p:spPr>
          <a:xfrm>
            <a:off x="645065" y="2031101"/>
            <a:ext cx="5014755" cy="3511943"/>
          </a:xfrm>
        </p:spPr>
        <p:txBody>
          <a:bodyPr anchor="ctr">
            <a:normAutofit/>
          </a:bodyPr>
          <a:lstStyle/>
          <a:p>
            <a:r>
              <a:rPr lang="ja-JP" altLang="en-US" sz="1300" b="1"/>
              <a:t>差動入力信号が印加された場合</a:t>
            </a:r>
            <a:endParaRPr lang="en-US" altLang="ja-JP" sz="1300"/>
          </a:p>
          <a:p>
            <a:pPr lvl="1"/>
            <a:r>
              <a:rPr lang="en" altLang="ja-JP" sz="1300" b="1"/>
              <a:t>M1</a:t>
            </a:r>
            <a:r>
              <a:rPr lang="ja-JP" altLang="en-US" sz="1300" b="1"/>
              <a:t>の変化</a:t>
            </a:r>
            <a:r>
              <a:rPr lang="en-US" altLang="ja-JP" sz="1300"/>
              <a:t>: </a:t>
            </a:r>
            <a:r>
              <a:rPr lang="en" altLang="ja-JP" sz="1300"/>
              <a:t>Vinp​ </a:t>
            </a:r>
            <a:r>
              <a:rPr lang="ja-JP" altLang="en-US" sz="1300"/>
              <a:t>上昇 ⇒ </a:t>
            </a:r>
            <a:r>
              <a:rPr lang="en" altLang="ja-JP" sz="1300"/>
              <a:t>Vgs1​ </a:t>
            </a:r>
            <a:r>
              <a:rPr lang="ja-JP" altLang="en-US" sz="1300"/>
              <a:t>の絶対値減少 ⇒ </a:t>
            </a:r>
            <a:r>
              <a:rPr lang="en" altLang="ja-JP" sz="1300"/>
              <a:t>Id1​ </a:t>
            </a:r>
            <a:r>
              <a:rPr lang="ja-JP" altLang="en-US" sz="1300" b="1"/>
              <a:t>減少</a:t>
            </a:r>
            <a:endParaRPr lang="ja-JP" altLang="en-US" sz="1300"/>
          </a:p>
          <a:p>
            <a:pPr lvl="1"/>
            <a:r>
              <a:rPr lang="en" altLang="ja-JP" sz="1300" b="1"/>
              <a:t>M2</a:t>
            </a:r>
            <a:r>
              <a:rPr lang="ja-JP" altLang="en-US" sz="1300" b="1"/>
              <a:t>の変化</a:t>
            </a:r>
            <a:r>
              <a:rPr lang="en-US" altLang="ja-JP" sz="1300"/>
              <a:t>: </a:t>
            </a:r>
            <a:r>
              <a:rPr lang="en" altLang="ja-JP" sz="1300"/>
              <a:t>Vinn </a:t>
            </a:r>
            <a:r>
              <a:rPr lang="ja-JP" altLang="en-US" sz="1300"/>
              <a:t>下降 ⇒ </a:t>
            </a:r>
            <a:r>
              <a:rPr lang="en" altLang="ja-JP" sz="1300"/>
              <a:t>Vgs2​ </a:t>
            </a:r>
            <a:r>
              <a:rPr lang="ja-JP" altLang="en-US" sz="1300"/>
              <a:t>の絶対値増加 ⇒ </a:t>
            </a:r>
            <a:r>
              <a:rPr lang="en" altLang="ja-JP" sz="1300"/>
              <a:t>Id2​ </a:t>
            </a:r>
            <a:r>
              <a:rPr lang="ja-JP" altLang="en-US" sz="1300" b="1"/>
              <a:t>増加</a:t>
            </a:r>
            <a:endParaRPr lang="ja-JP" altLang="en-US" sz="1300"/>
          </a:p>
          <a:p>
            <a:pPr lvl="2"/>
            <a:r>
              <a:rPr lang="ja-JP" altLang="en-US" sz="1300"/>
              <a:t>テール電流源により </a:t>
            </a:r>
            <a:r>
              <a:rPr lang="en" altLang="ja-JP" sz="1300"/>
              <a:t>Id1​+Id2​=Iss​</a:t>
            </a:r>
            <a:r>
              <a:rPr lang="ja-JP" altLang="en" sz="1300"/>
              <a:t>（</a:t>
            </a:r>
            <a:r>
              <a:rPr lang="ja-JP" altLang="en-US" sz="1300"/>
              <a:t>一定）のため、 </a:t>
            </a:r>
            <a:r>
              <a:rPr lang="en-US" altLang="ja-JP" sz="1300"/>
              <a:t>M1</a:t>
            </a:r>
            <a:r>
              <a:rPr lang="ja-JP" altLang="en-US" sz="1300"/>
              <a:t>の電流増加分と</a:t>
            </a:r>
            <a:r>
              <a:rPr lang="en-US" altLang="ja-JP" sz="1300"/>
              <a:t>M2</a:t>
            </a:r>
            <a:r>
              <a:rPr lang="ja-JP" altLang="en-US" sz="1300"/>
              <a:t>の電流減少分は等しくなる</a:t>
            </a:r>
          </a:p>
          <a:p>
            <a:pPr lvl="1"/>
            <a:endParaRPr lang="en-US" altLang="ja-JP" sz="1300"/>
          </a:p>
          <a:p>
            <a:pPr lvl="1"/>
            <a:r>
              <a:rPr lang="en" altLang="ja-JP" sz="1300" b="1"/>
              <a:t>M2</a:t>
            </a:r>
            <a:r>
              <a:rPr lang="ja-JP" altLang="en-US" sz="1300" b="1"/>
              <a:t>と</a:t>
            </a:r>
            <a:r>
              <a:rPr lang="en-US" altLang="ja-JP" sz="1300" b="1"/>
              <a:t>M4</a:t>
            </a:r>
            <a:r>
              <a:rPr lang="ja-JP" altLang="en-US" sz="1300" b="1"/>
              <a:t>の電流差</a:t>
            </a:r>
            <a:r>
              <a:rPr lang="en-US" altLang="ja-JP" sz="1300"/>
              <a:t>: M1</a:t>
            </a:r>
            <a:r>
              <a:rPr lang="ja-JP" altLang="en-US" sz="1300"/>
              <a:t>の電流増加分が</a:t>
            </a:r>
            <a:r>
              <a:rPr lang="en-US" altLang="ja-JP" sz="1300"/>
              <a:t>M3</a:t>
            </a:r>
            <a:r>
              <a:rPr lang="ja-JP" altLang="en-US" sz="1300"/>
              <a:t>に流れ、アクティブ負荷（カレントミラー）により</a:t>
            </a:r>
            <a:r>
              <a:rPr lang="en-US" altLang="ja-JP" sz="1300"/>
              <a:t>M4</a:t>
            </a:r>
            <a:r>
              <a:rPr lang="ja-JP" altLang="en-US" sz="1300"/>
              <a:t>にその電流が流れるため、</a:t>
            </a:r>
            <a:r>
              <a:rPr lang="en-US" altLang="ja-JP" sz="1300"/>
              <a:t>M2</a:t>
            </a:r>
            <a:r>
              <a:rPr lang="ja-JP" altLang="en-US" sz="1300"/>
              <a:t>と</a:t>
            </a:r>
            <a:r>
              <a:rPr lang="en-US" altLang="ja-JP" sz="1300"/>
              <a:t>M4</a:t>
            </a:r>
            <a:r>
              <a:rPr lang="ja-JP" altLang="en-US" sz="1300"/>
              <a:t>で電流差が発生し、出力電圧の差が大きくなる</a:t>
            </a:r>
          </a:p>
          <a:p>
            <a:pPr lvl="2"/>
            <a:r>
              <a:rPr lang="ja-JP" altLang="en-US" sz="1300"/>
              <a:t>入力差動電圧が増幅されて出力される</a:t>
            </a:r>
          </a:p>
        </p:txBody>
      </p:sp>
      <p:sp>
        <p:nvSpPr>
          <p:cNvPr id="35" name="Rectangle 3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E6B0181D-6D99-EF73-20D4-696A76367323}"/>
              </a:ext>
            </a:extLst>
          </p:cNvPr>
          <p:cNvGrpSpPr/>
          <p:nvPr/>
        </p:nvGrpSpPr>
        <p:grpSpPr>
          <a:xfrm>
            <a:off x="5987738" y="683560"/>
            <a:ext cx="5628018" cy="5258010"/>
            <a:chOff x="7126420" y="1123585"/>
            <a:chExt cx="4935296" cy="4610830"/>
          </a:xfrm>
        </p:grpSpPr>
        <p:pic>
          <p:nvPicPr>
            <p:cNvPr id="5" name="Picture 2" descr="差動増幅段 (diff.sch)">
              <a:extLst>
                <a:ext uri="{FF2B5EF4-FFF2-40B4-BE49-F238E27FC236}">
                  <a16:creationId xmlns:a16="http://schemas.microsoft.com/office/drawing/2014/main" id="{531575A8-0AF9-ACE8-ADCE-390DB3D21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420" y="1123585"/>
              <a:ext cx="4935296" cy="4610830"/>
            </a:xfrm>
            <a:prstGeom prst="rect">
              <a:avLst/>
            </a:prstGeom>
            <a:noFill/>
            <a:extLst>
              <a:ext uri="{909E8E84-426E-40DD-AFC4-6F175D3DCCD1}">
                <a14:hiddenFill xmlns:a14="http://schemas.microsoft.com/office/drawing/2010/main">
                  <a:solidFill>
                    <a:srgbClr val="FFFFFF"/>
                  </a:solidFill>
                </a14:hiddenFill>
              </a:ext>
            </a:extLst>
          </p:spPr>
        </p:pic>
        <p:sp>
          <p:nvSpPr>
            <p:cNvPr id="6" name="フローチャート: 代替処理 5">
              <a:extLst>
                <a:ext uri="{FF2B5EF4-FFF2-40B4-BE49-F238E27FC236}">
                  <a16:creationId xmlns:a16="http://schemas.microsoft.com/office/drawing/2014/main" id="{622DB720-8B5F-1892-D7BD-68E175A5F8D4}"/>
                </a:ext>
              </a:extLst>
            </p:cNvPr>
            <p:cNvSpPr/>
            <p:nvPr/>
          </p:nvSpPr>
          <p:spPr>
            <a:xfrm>
              <a:off x="7238574" y="2635924"/>
              <a:ext cx="4663951" cy="1287312"/>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9085881-EE8A-31B7-96D1-4380ADD5F6AC}"/>
                </a:ext>
              </a:extLst>
            </p:cNvPr>
            <p:cNvSpPr txBox="1"/>
            <p:nvPr/>
          </p:nvSpPr>
          <p:spPr>
            <a:xfrm>
              <a:off x="7238574" y="2635924"/>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606EFC29-7CE5-45A8-E5BA-78E052B7D5C5}"/>
                </a:ext>
              </a:extLst>
            </p:cNvPr>
            <p:cNvSpPr/>
            <p:nvPr/>
          </p:nvSpPr>
          <p:spPr>
            <a:xfrm>
              <a:off x="8280685" y="1624464"/>
              <a:ext cx="2160844" cy="974849"/>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724E505-8FDE-720F-55A0-783C21676E77}"/>
                </a:ext>
              </a:extLst>
            </p:cNvPr>
            <p:cNvSpPr txBox="1"/>
            <p:nvPr/>
          </p:nvSpPr>
          <p:spPr>
            <a:xfrm>
              <a:off x="8246415" y="1587853"/>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D44ECCFB-76C3-EA02-1019-705DDD6F5FC8}"/>
                </a:ext>
              </a:extLst>
            </p:cNvPr>
            <p:cNvSpPr/>
            <p:nvPr/>
          </p:nvSpPr>
          <p:spPr>
            <a:xfrm>
              <a:off x="7262091" y="4038040"/>
              <a:ext cx="4663951" cy="1287312"/>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684B5BD-3FDB-60E3-524A-EEFD86B281EF}"/>
                </a:ext>
              </a:extLst>
            </p:cNvPr>
            <p:cNvSpPr txBox="1"/>
            <p:nvPr/>
          </p:nvSpPr>
          <p:spPr>
            <a:xfrm>
              <a:off x="7262091" y="4038040"/>
              <a:ext cx="2459155" cy="373051"/>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18313000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BFC20E1-A2F2-9F47-26AD-2C6E47AA141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0CD8F37F-B99A-921C-E391-ECD31C426D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B2D66A9-C786-78F2-7D83-65027131F03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992B9BD7-50CA-D2F5-53C3-3A29F9CCD4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5A7B6CAB-5E37-3450-9949-DABC5019627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10B8CB83-DB08-D2D9-7B95-2E4A4F29F5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659DA19-A686-A49B-E21E-3AE7E831778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設計方針</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903282408"/>
      </p:ext>
    </p:extLst>
  </p:cSld>
  <p:clrMapOvr>
    <a:overrideClrMapping bg1="dk1" tx1="lt1" bg2="dk2" tx2="lt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52A77D5-D613-3763-AB11-610CEE2DDFAC}"/>
              </a:ext>
            </a:extLst>
          </p:cNvPr>
          <p:cNvSpPr>
            <a:spLocks noGrp="1"/>
          </p:cNvSpPr>
          <p:nvPr>
            <p:ph type="title"/>
          </p:nvPr>
        </p:nvSpPr>
        <p:spPr>
          <a:xfrm>
            <a:off x="808638" y="386930"/>
            <a:ext cx="9236700" cy="1188950"/>
          </a:xfrm>
        </p:spPr>
        <p:txBody>
          <a:bodyPr anchor="b">
            <a:normAutofit/>
          </a:bodyPr>
          <a:lstStyle/>
          <a:p>
            <a:r>
              <a:rPr kumimoji="1" lang="ja-JP" altLang="en-US" sz="5400"/>
              <a:t>基本的な設計方針</a:t>
            </a:r>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0514580-BF21-E79C-C13E-0F77F8134696}"/>
              </a:ext>
            </a:extLst>
          </p:cNvPr>
          <p:cNvSpPr>
            <a:spLocks noGrp="1"/>
          </p:cNvSpPr>
          <p:nvPr>
            <p:ph idx="1"/>
          </p:nvPr>
        </p:nvSpPr>
        <p:spPr>
          <a:xfrm>
            <a:off x="793660" y="2599509"/>
            <a:ext cx="10143668" cy="3435531"/>
          </a:xfrm>
        </p:spPr>
        <p:txBody>
          <a:bodyPr anchor="ctr">
            <a:normAutofit/>
          </a:bodyPr>
          <a:lstStyle/>
          <a:p>
            <a:r>
              <a:rPr kumimoji="1" lang="ja-JP" altLang="en-US" sz="2400"/>
              <a:t>入力による決定</a:t>
            </a:r>
            <a:endParaRPr kumimoji="1" lang="en-US" altLang="ja-JP" sz="2400"/>
          </a:p>
          <a:p>
            <a:pPr lvl="1"/>
            <a:r>
              <a:rPr kumimoji="1" lang="en-US" altLang="ja-JP"/>
              <a:t>LNA</a:t>
            </a:r>
            <a:r>
              <a:rPr kumimoji="1" lang="ja-JP" altLang="en-US"/>
              <a:t>（ノイズ）など</a:t>
            </a:r>
            <a:endParaRPr kumimoji="1" lang="en-US" altLang="ja-JP"/>
          </a:p>
          <a:p>
            <a:r>
              <a:rPr lang="ja-JP" altLang="en-US" sz="2400"/>
              <a:t>出力による決定</a:t>
            </a:r>
            <a:endParaRPr lang="en-US" altLang="ja-JP" sz="2400"/>
          </a:p>
          <a:p>
            <a:pPr lvl="1"/>
            <a:r>
              <a:rPr kumimoji="1" lang="en-US" altLang="ja-JP"/>
              <a:t>Amplifier</a:t>
            </a:r>
            <a:r>
              <a:rPr lang="ja-JP" altLang="en-US"/>
              <a:t>の出力（ゲイン）など</a:t>
            </a:r>
            <a:endParaRPr lang="en-US" altLang="ja-JP"/>
          </a:p>
          <a:p>
            <a:r>
              <a:rPr kumimoji="1" lang="ja-JP" altLang="en-US" sz="2400">
                <a:solidFill>
                  <a:srgbClr val="FF0000"/>
                </a:solidFill>
              </a:rPr>
              <a:t>最小</a:t>
            </a:r>
            <a:r>
              <a:rPr kumimoji="1" lang="en-US" altLang="ja-JP" sz="2400">
                <a:solidFill>
                  <a:srgbClr val="FF0000"/>
                </a:solidFill>
              </a:rPr>
              <a:t>MOSFET</a:t>
            </a:r>
            <a:r>
              <a:rPr kumimoji="1" lang="ja-JP" altLang="en-US" sz="2400">
                <a:solidFill>
                  <a:srgbClr val="FF0000"/>
                </a:solidFill>
              </a:rPr>
              <a:t>による決定</a:t>
            </a:r>
            <a:endParaRPr kumimoji="1" lang="en-US" altLang="ja-JP" sz="2400">
              <a:solidFill>
                <a:srgbClr val="FF0000"/>
              </a:solidFill>
            </a:endParaRPr>
          </a:p>
          <a:p>
            <a:pPr lvl="1"/>
            <a:r>
              <a:rPr lang="ja-JP" altLang="en-US"/>
              <a:t>トポロジ（回路）が決定しているものなど</a:t>
            </a:r>
            <a:endParaRPr kumimoji="1" lang="ja-JP" altLang="en-US"/>
          </a:p>
        </p:txBody>
      </p:sp>
    </p:spTree>
    <p:extLst>
      <p:ext uri="{BB962C8B-B14F-4D97-AF65-F5344CB8AC3E}">
        <p14:creationId xmlns:p14="http://schemas.microsoft.com/office/powerpoint/2010/main" val="17193577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80C6217-A0BE-EEDE-2A57-39DBD95FB210}"/>
              </a:ext>
            </a:extLst>
          </p:cNvPr>
          <p:cNvSpPr>
            <a:spLocks noGrp="1"/>
          </p:cNvSpPr>
          <p:nvPr>
            <p:ph type="title"/>
          </p:nvPr>
        </p:nvSpPr>
        <p:spPr>
          <a:xfrm>
            <a:off x="1285240" y="1050595"/>
            <a:ext cx="8074815" cy="1618489"/>
          </a:xfrm>
        </p:spPr>
        <p:txBody>
          <a:bodyPr anchor="ctr">
            <a:normAutofit/>
          </a:bodyPr>
          <a:lstStyle/>
          <a:p>
            <a:r>
              <a:rPr kumimoji="1" lang="ja-JP" altLang="en-US" sz="6100"/>
              <a:t>チャネル長：</a:t>
            </a:r>
            <a:r>
              <a:rPr kumimoji="1" lang="en-US" altLang="ja-JP" sz="6100"/>
              <a:t>L</a:t>
            </a:r>
            <a:r>
              <a:rPr kumimoji="1" lang="ja-JP" altLang="en-US" sz="6100"/>
              <a:t>の決定</a:t>
            </a:r>
          </a:p>
        </p:txBody>
      </p:sp>
      <p:sp>
        <p:nvSpPr>
          <p:cNvPr id="3" name="コンテンツ プレースホルダー 2">
            <a:extLst>
              <a:ext uri="{FF2B5EF4-FFF2-40B4-BE49-F238E27FC236}">
                <a16:creationId xmlns:a16="http://schemas.microsoft.com/office/drawing/2014/main" id="{39E3B2D7-A3EA-C046-EEAA-B4F9D78EE348}"/>
              </a:ext>
            </a:extLst>
          </p:cNvPr>
          <p:cNvSpPr>
            <a:spLocks noGrp="1"/>
          </p:cNvSpPr>
          <p:nvPr>
            <p:ph idx="1"/>
          </p:nvPr>
        </p:nvSpPr>
        <p:spPr>
          <a:xfrm>
            <a:off x="1285240" y="2969469"/>
            <a:ext cx="8074815" cy="2800395"/>
          </a:xfrm>
        </p:spPr>
        <p:txBody>
          <a:bodyPr anchor="t">
            <a:normAutofit/>
          </a:bodyPr>
          <a:lstStyle/>
          <a:p>
            <a:r>
              <a:rPr kumimoji="1" lang="ja-JP" altLang="en-US" sz="2200"/>
              <a:t>方針</a:t>
            </a:r>
            <a:endParaRPr kumimoji="1" lang="en-US" altLang="ja-JP" sz="2200"/>
          </a:p>
          <a:p>
            <a:pPr lvl="1"/>
            <a:r>
              <a:rPr lang="en-US" altLang="ja-JP" sz="2200" err="1"/>
              <a:t>r</a:t>
            </a:r>
            <a:r>
              <a:rPr kumimoji="1" lang="en-US" altLang="ja-JP" sz="2200" err="1"/>
              <a:t>ds</a:t>
            </a:r>
            <a:r>
              <a:rPr kumimoji="1" lang="ja-JP" altLang="en-US" sz="2200"/>
              <a:t>を大きくする＝利得を大きくする＝</a:t>
            </a:r>
            <a:r>
              <a:rPr kumimoji="1" lang="en-US" altLang="ja-JP" sz="2200"/>
              <a:t>L</a:t>
            </a:r>
            <a:r>
              <a:rPr kumimoji="1" lang="ja-JP" altLang="en-US" sz="2200"/>
              <a:t>を大きくする</a:t>
            </a:r>
            <a:endParaRPr kumimoji="1" lang="en-US" altLang="ja-JP" sz="2200"/>
          </a:p>
          <a:p>
            <a:pPr lvl="1"/>
            <a:r>
              <a:rPr lang="en-US" altLang="ja-JP" sz="2200"/>
              <a:t>Cg</a:t>
            </a:r>
            <a:r>
              <a:rPr lang="ja-JP" altLang="en-US" sz="2200"/>
              <a:t>を小さくする＝高周波で動作する＝</a:t>
            </a:r>
            <a:r>
              <a:rPr lang="en-US" altLang="ja-JP" sz="2200"/>
              <a:t>L</a:t>
            </a:r>
            <a:r>
              <a:rPr lang="ja-JP" altLang="en-US" sz="2200"/>
              <a:t>を小さくする</a:t>
            </a:r>
            <a:endParaRPr lang="en-US" altLang="ja-JP" sz="2200"/>
          </a:p>
          <a:p>
            <a:pPr lvl="2"/>
            <a:r>
              <a:rPr kumimoji="1" lang="ja-JP" altLang="en-US" sz="2200"/>
              <a:t>どちらかを選ぶ</a:t>
            </a:r>
            <a:endParaRPr kumimoji="1" lang="en-US" altLang="ja-JP" sz="2200"/>
          </a:p>
          <a:p>
            <a:pPr lvl="2"/>
            <a:endParaRPr lang="en-US" altLang="ja-JP" sz="2200"/>
          </a:p>
          <a:p>
            <a:pPr lvl="1"/>
            <a:r>
              <a:rPr kumimoji="1" lang="ja-JP" altLang="en-US" sz="2200"/>
              <a:t>このサンプルでは、</a:t>
            </a:r>
            <a:r>
              <a:rPr lang="en-US" altLang="ja-JP" sz="2200">
                <a:solidFill>
                  <a:srgbClr val="FF0000"/>
                </a:solidFill>
              </a:rPr>
              <a:t>L=1um</a:t>
            </a:r>
            <a:r>
              <a:rPr lang="ja-JP" altLang="en-US" sz="2200">
                <a:solidFill>
                  <a:srgbClr val="FF0000"/>
                </a:solidFill>
              </a:rPr>
              <a:t>の最小値</a:t>
            </a:r>
            <a:r>
              <a:rPr lang="ja-JP" altLang="en-US" sz="2200"/>
              <a:t>とする</a:t>
            </a:r>
            <a:endParaRPr lang="en-US" altLang="ja-JP" sz="2200"/>
          </a:p>
        </p:txBody>
      </p:sp>
    </p:spTree>
    <p:extLst>
      <p:ext uri="{BB962C8B-B14F-4D97-AF65-F5344CB8AC3E}">
        <p14:creationId xmlns:p14="http://schemas.microsoft.com/office/powerpoint/2010/main" val="14486067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9AD65-05CF-16AB-3149-46DD929305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C3450-5CAA-F3A9-74EE-9500F2879050}"/>
              </a:ext>
            </a:extLst>
          </p:cNvPr>
          <p:cNvSpPr>
            <a:spLocks noGrp="1"/>
          </p:cNvSpPr>
          <p:nvPr>
            <p:ph type="title"/>
          </p:nvPr>
        </p:nvSpPr>
        <p:spPr>
          <a:xfrm>
            <a:off x="761840" y="1138265"/>
            <a:ext cx="4544762" cy="1401183"/>
          </a:xfrm>
        </p:spPr>
        <p:txBody>
          <a:bodyPr anchor="t">
            <a:normAutofit/>
          </a:bodyPr>
          <a:lstStyle/>
          <a:p>
            <a:r>
              <a:rPr kumimoji="1" lang="ja-JP" altLang="en-US" sz="3200"/>
              <a:t>どこから決定する？</a:t>
            </a:r>
          </a:p>
        </p:txBody>
      </p:sp>
      <p:cxnSp>
        <p:nvCxnSpPr>
          <p:cNvPr id="1031" name="Straight Connector 103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25E7B72A-F5F4-FBD0-75DA-992790670729}"/>
              </a:ext>
            </a:extLst>
          </p:cNvPr>
          <p:cNvSpPr>
            <a:spLocks noGrp="1"/>
          </p:cNvSpPr>
          <p:nvPr>
            <p:ph idx="1"/>
          </p:nvPr>
        </p:nvSpPr>
        <p:spPr>
          <a:xfrm>
            <a:off x="6235713" y="1107537"/>
            <a:ext cx="5598017" cy="3602935"/>
          </a:xfrm>
        </p:spPr>
        <p:txBody>
          <a:bodyPr>
            <a:normAutofit/>
          </a:bodyPr>
          <a:lstStyle/>
          <a:p>
            <a:r>
              <a:rPr kumimoji="1" lang="ja-JP" altLang="en-US" sz="2000"/>
              <a:t>最小の</a:t>
            </a:r>
            <a:r>
              <a:rPr kumimoji="1" lang="en-US" altLang="ja-JP" sz="2000"/>
              <a:t>MOSFET</a:t>
            </a:r>
            <a:r>
              <a:rPr kumimoji="1" lang="ja-JP" altLang="en-US" sz="2000"/>
              <a:t>はどこ？</a:t>
            </a:r>
            <a:endParaRPr kumimoji="1" lang="en-US" altLang="ja-JP" sz="2000"/>
          </a:p>
          <a:p>
            <a:pPr lvl="1"/>
            <a:r>
              <a:rPr kumimoji="1" lang="ja-JP" altLang="en-US" sz="2000"/>
              <a:t>カレントミラー</a:t>
            </a:r>
            <a:endParaRPr kumimoji="1" lang="en-US" altLang="ja-JP" sz="2000"/>
          </a:p>
          <a:p>
            <a:pPr lvl="2"/>
            <a:r>
              <a:rPr lang="ja-JP" altLang="en-US"/>
              <a:t>電流を消費しない部分のため</a:t>
            </a:r>
            <a:endParaRPr kumimoji="1" lang="en-US" altLang="ja-JP"/>
          </a:p>
          <a:p>
            <a:pPr lvl="2"/>
            <a:endParaRPr kumimoji="1" lang="ja-JP" altLang="en-US"/>
          </a:p>
        </p:txBody>
      </p:sp>
      <p:pic>
        <p:nvPicPr>
          <p:cNvPr id="1026" name="Picture 2" descr="2段オペアンプ回路図の図解">
            <a:extLst>
              <a:ext uri="{FF2B5EF4-FFF2-40B4-BE49-F238E27FC236}">
                <a16:creationId xmlns:a16="http://schemas.microsoft.com/office/drawing/2014/main" id="{3453A5AE-F49B-F945-ADFC-3EC0DD8058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13816" y="2505248"/>
            <a:ext cx="7284944" cy="435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4120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F9870BA-DD93-B7B6-7D57-6F5BFCF34B31}"/>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346423F-3B1F-32FD-31B6-95625BA0D5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13F6B5C-7BB5-F6AD-08C0-BF6D3B0083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994D4A2B-1644-DE58-C167-6EF479A8DC2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6CD1535-2C99-A638-3E7A-5BDD657E1D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7A1A42A-C0F1-C161-8DB6-39A682D16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6D2DCC9-77A0-EEBC-B781-AFB8136A6D6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電流源（カレントミラー）</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665442402"/>
      </p:ext>
    </p:extLst>
  </p:cSld>
  <p:clrMapOvr>
    <a:overrideClrMapping bg1="dk1" tx1="lt1" bg2="dk2" tx2="lt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226CF72-26EA-93FE-D310-4620DAF2033C}"/>
              </a:ext>
            </a:extLst>
          </p:cNvPr>
          <p:cNvSpPr>
            <a:spLocks noGrp="1"/>
          </p:cNvSpPr>
          <p:nvPr>
            <p:ph type="title"/>
          </p:nvPr>
        </p:nvSpPr>
        <p:spPr>
          <a:xfrm>
            <a:off x="645064" y="525982"/>
            <a:ext cx="4282983" cy="1200361"/>
          </a:xfrm>
        </p:spPr>
        <p:txBody>
          <a:bodyPr anchor="b">
            <a:normAutofit/>
          </a:bodyPr>
          <a:lstStyle/>
          <a:p>
            <a:r>
              <a:rPr kumimoji="1" lang="en-US" altLang="ja-JP" sz="3600"/>
              <a:t>W</a:t>
            </a:r>
            <a:r>
              <a:rPr kumimoji="1" lang="ja-JP" altLang="en-US" sz="3600"/>
              <a:t>の決定方法</a:t>
            </a:r>
          </a:p>
        </p:txBody>
      </p:sp>
      <p:sp>
        <p:nvSpPr>
          <p:cNvPr id="7"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1BB0E58-562D-A56C-00E4-3490D603AA78}"/>
              </a:ext>
            </a:extLst>
          </p:cNvPr>
          <p:cNvSpPr>
            <a:spLocks noGrp="1"/>
          </p:cNvSpPr>
          <p:nvPr>
            <p:ph idx="1"/>
          </p:nvPr>
        </p:nvSpPr>
        <p:spPr>
          <a:xfrm>
            <a:off x="445329" y="1944913"/>
            <a:ext cx="4282984" cy="3511943"/>
          </a:xfrm>
        </p:spPr>
        <p:txBody>
          <a:bodyPr anchor="ctr">
            <a:normAutofit/>
          </a:bodyPr>
          <a:lstStyle/>
          <a:p>
            <a:r>
              <a:rPr kumimoji="1" lang="ja-JP" altLang="en-US" sz="1800"/>
              <a:t>思惑</a:t>
            </a:r>
            <a:endParaRPr kumimoji="1" lang="en-US" altLang="ja-JP" sz="1800"/>
          </a:p>
          <a:p>
            <a:pPr lvl="1"/>
            <a:r>
              <a:rPr lang="ja-JP" altLang="en-US" sz="1800"/>
              <a:t>消費電力を下げたい</a:t>
            </a:r>
            <a:endParaRPr lang="en-US" altLang="ja-JP" sz="1800"/>
          </a:p>
          <a:p>
            <a:pPr lvl="1"/>
            <a:r>
              <a:rPr kumimoji="1" lang="ja-JP" altLang="en-US" sz="1800"/>
              <a:t>面積を減らしたい（</a:t>
            </a:r>
            <a:r>
              <a:rPr kumimoji="1" lang="en-US" altLang="ja-JP" sz="1800"/>
              <a:t>MOSFET</a:t>
            </a:r>
            <a:r>
              <a:rPr kumimoji="1" lang="ja-JP" altLang="en-US" sz="1800"/>
              <a:t>の最小サイズ）</a:t>
            </a:r>
            <a:endParaRPr kumimoji="1" lang="en-US" altLang="ja-JP" sz="1800"/>
          </a:p>
          <a:p>
            <a:pPr lvl="1"/>
            <a:r>
              <a:rPr lang="ja-JP" altLang="en-US" sz="1800"/>
              <a:t>ばらつかせたくない</a:t>
            </a:r>
            <a:endParaRPr lang="en-US" altLang="ja-JP" sz="1800"/>
          </a:p>
          <a:p>
            <a:pPr lvl="1"/>
            <a:endParaRPr kumimoji="1" lang="en-US" altLang="ja-JP" sz="1800"/>
          </a:p>
          <a:p>
            <a:r>
              <a:rPr kumimoji="1" lang="ja-JP" altLang="en-US" sz="1800"/>
              <a:t>ばらつかせたくない</a:t>
            </a:r>
            <a:endParaRPr kumimoji="1" lang="en-US" altLang="ja-JP" sz="1800"/>
          </a:p>
          <a:p>
            <a:pPr lvl="1"/>
            <a:r>
              <a:rPr lang="ja-JP" altLang="en-US" sz="1800"/>
              <a:t>何が起きる？</a:t>
            </a:r>
            <a:endParaRPr lang="en-US" altLang="ja-JP" sz="1800"/>
          </a:p>
          <a:p>
            <a:pPr lvl="2"/>
            <a:r>
              <a:rPr lang="ja-JP" altLang="en-US" sz="1800"/>
              <a:t>製造上の</a:t>
            </a:r>
            <a:r>
              <a:rPr kumimoji="1" lang="ja-JP" altLang="en-US" sz="1800"/>
              <a:t>物理的なばらつき</a:t>
            </a:r>
            <a:endParaRPr kumimoji="1" lang="en-US" altLang="ja-JP" sz="180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2段オペアンプ回路図の図解">
            <a:extLst>
              <a:ext uri="{FF2B5EF4-FFF2-40B4-BE49-F238E27FC236}">
                <a16:creationId xmlns:a16="http://schemas.microsoft.com/office/drawing/2014/main" id="{15DCFC41-FC07-BEDC-EDC1-D5AF6E548C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4041" b="28778"/>
          <a:stretch>
            <a:fillRect/>
          </a:stretch>
        </p:blipFill>
        <p:spPr bwMode="auto">
          <a:xfrm>
            <a:off x="7135029" y="522582"/>
            <a:ext cx="3247769" cy="5324142"/>
          </a:xfrm>
          <a:prstGeom prst="rect">
            <a:avLst/>
          </a:prstGeom>
          <a:noFill/>
          <a:extLst>
            <a:ext uri="{909E8E84-426E-40DD-AFC4-6F175D3DCCD1}">
              <a14:hiddenFill xmlns:a14="http://schemas.microsoft.com/office/drawing/2010/main">
                <a:solidFill>
                  <a:srgbClr val="FFFFFF"/>
                </a:solidFill>
              </a14:hiddenFill>
            </a:ext>
          </a:extLst>
        </p:spPr>
      </p:pic>
      <p:sp>
        <p:nvSpPr>
          <p:cNvPr id="5" name="楕円 4">
            <a:extLst>
              <a:ext uri="{FF2B5EF4-FFF2-40B4-BE49-F238E27FC236}">
                <a16:creationId xmlns:a16="http://schemas.microsoft.com/office/drawing/2014/main" id="{45167579-835E-D62E-69C8-F763726AEA53}"/>
              </a:ext>
            </a:extLst>
          </p:cNvPr>
          <p:cNvSpPr/>
          <p:nvPr/>
        </p:nvSpPr>
        <p:spPr>
          <a:xfrm>
            <a:off x="7202466" y="2242159"/>
            <a:ext cx="1745320" cy="163446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49290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CA416D1-828C-27CB-17F8-2FD91B8886E7}"/>
              </a:ext>
            </a:extLst>
          </p:cNvPr>
          <p:cNvSpPr>
            <a:spLocks noGrp="1"/>
          </p:cNvSpPr>
          <p:nvPr>
            <p:ph type="title"/>
          </p:nvPr>
        </p:nvSpPr>
        <p:spPr>
          <a:xfrm>
            <a:off x="1043631" y="873940"/>
            <a:ext cx="5052369" cy="1035781"/>
          </a:xfrm>
        </p:spPr>
        <p:txBody>
          <a:bodyPr anchor="ctr">
            <a:normAutofit/>
          </a:bodyPr>
          <a:lstStyle/>
          <a:p>
            <a:r>
              <a:rPr kumimoji="1" lang="en-US" altLang="ja-JP" sz="3300"/>
              <a:t>W</a:t>
            </a:r>
            <a:r>
              <a:rPr kumimoji="1" lang="ja-JP" altLang="en-US" sz="3300"/>
              <a:t>の長さとフィンガー数</a:t>
            </a:r>
          </a:p>
        </p:txBody>
      </p:sp>
      <p:sp>
        <p:nvSpPr>
          <p:cNvPr id="3" name="コンテンツ プレースホルダー 2">
            <a:extLst>
              <a:ext uri="{FF2B5EF4-FFF2-40B4-BE49-F238E27FC236}">
                <a16:creationId xmlns:a16="http://schemas.microsoft.com/office/drawing/2014/main" id="{38240A20-816B-0854-B855-CD6AEAB96FF9}"/>
              </a:ext>
            </a:extLst>
          </p:cNvPr>
          <p:cNvSpPr>
            <a:spLocks noGrp="1"/>
          </p:cNvSpPr>
          <p:nvPr>
            <p:ph idx="1"/>
          </p:nvPr>
        </p:nvSpPr>
        <p:spPr>
          <a:xfrm>
            <a:off x="1045029" y="2524721"/>
            <a:ext cx="5493557" cy="3677123"/>
          </a:xfrm>
        </p:spPr>
        <p:txBody>
          <a:bodyPr anchor="ctr">
            <a:normAutofit/>
          </a:bodyPr>
          <a:lstStyle/>
          <a:p>
            <a:r>
              <a:rPr kumimoji="1" lang="ja-JP" altLang="en-US" sz="2400"/>
              <a:t>ばらつき≒ポリシリコンが削られる</a:t>
            </a:r>
            <a:endParaRPr kumimoji="1" lang="en-US" altLang="ja-JP" sz="2400"/>
          </a:p>
          <a:p>
            <a:pPr lvl="1"/>
            <a:r>
              <a:rPr lang="ja-JP" altLang="en-US"/>
              <a:t>ある程度の長さ</a:t>
            </a:r>
            <a:endParaRPr lang="en-US" altLang="ja-JP"/>
          </a:p>
          <a:p>
            <a:pPr lvl="1"/>
            <a:r>
              <a:rPr kumimoji="1" lang="ja-JP" altLang="en-US"/>
              <a:t>フィンガーにより軽減</a:t>
            </a:r>
            <a:endParaRPr kumimoji="1" lang="en-US" altLang="ja-JP"/>
          </a:p>
          <a:p>
            <a:pPr lvl="1"/>
            <a:endParaRPr lang="en-US" altLang="ja-JP"/>
          </a:p>
          <a:p>
            <a:r>
              <a:rPr kumimoji="1" lang="ja-JP" altLang="en-US" sz="2400"/>
              <a:t>ポイント</a:t>
            </a:r>
            <a:endParaRPr kumimoji="1" lang="en-US" altLang="ja-JP" sz="2400"/>
          </a:p>
          <a:p>
            <a:pPr lvl="1"/>
            <a:r>
              <a:rPr lang="ja-JP" altLang="en-US"/>
              <a:t>フィンガー数が奇数</a:t>
            </a:r>
            <a:endParaRPr lang="en-US" altLang="ja-JP"/>
          </a:p>
          <a:p>
            <a:pPr lvl="2"/>
            <a:r>
              <a:rPr kumimoji="1" lang="en-US" altLang="ja-JP" sz="2400"/>
              <a:t>S</a:t>
            </a:r>
            <a:r>
              <a:rPr kumimoji="1" lang="ja-JP" altLang="en-US" sz="2400"/>
              <a:t>と</a:t>
            </a:r>
            <a:r>
              <a:rPr kumimoji="1" lang="en-US" altLang="ja-JP" sz="2400"/>
              <a:t>D</a:t>
            </a:r>
            <a:r>
              <a:rPr lang="ja-JP" altLang="en-US" sz="2400"/>
              <a:t>の数が揃う</a:t>
            </a:r>
            <a:endParaRPr kumimoji="1" lang="ja-JP" altLang="en-US" sz="240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83985E03-9538-23E0-1B6C-37346497E88A}"/>
              </a:ext>
            </a:extLst>
          </p:cNvPr>
          <p:cNvPicPr>
            <a:picLocks noChangeAspect="1"/>
          </p:cNvPicPr>
          <p:nvPr/>
        </p:nvPicPr>
        <p:blipFill>
          <a:blip r:embed="rId2"/>
          <a:stretch>
            <a:fillRect/>
          </a:stretch>
        </p:blipFill>
        <p:spPr>
          <a:xfrm>
            <a:off x="7860895" y="901032"/>
            <a:ext cx="2362447"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305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FF00581-53F9-EE72-94D1-C583D3951BE8}"/>
              </a:ext>
            </a:extLst>
          </p:cNvPr>
          <p:cNvSpPr>
            <a:spLocks noGrp="1"/>
          </p:cNvSpPr>
          <p:nvPr>
            <p:ph type="title"/>
          </p:nvPr>
        </p:nvSpPr>
        <p:spPr>
          <a:xfrm>
            <a:off x="808638" y="386930"/>
            <a:ext cx="9236700" cy="1188950"/>
          </a:xfrm>
        </p:spPr>
        <p:txBody>
          <a:bodyPr anchor="b">
            <a:normAutofit/>
          </a:bodyPr>
          <a:lstStyle/>
          <a:p>
            <a:r>
              <a:rPr lang="en-US" altLang="ja-JP" sz="5400"/>
              <a:t>W</a:t>
            </a:r>
            <a:r>
              <a:rPr lang="ja-JP" altLang="en-US" sz="5400"/>
              <a:t>の決定</a:t>
            </a:r>
            <a:endParaRPr kumimoji="1" lang="ja-JP" alt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9CE6D59-9F7A-5DA2-D948-E99BA518BC83}"/>
              </a:ext>
            </a:extLst>
          </p:cNvPr>
          <p:cNvSpPr>
            <a:spLocks noGrp="1"/>
          </p:cNvSpPr>
          <p:nvPr>
            <p:ph idx="1"/>
          </p:nvPr>
        </p:nvSpPr>
        <p:spPr>
          <a:xfrm>
            <a:off x="793659" y="2599509"/>
            <a:ext cx="10417135" cy="3435531"/>
          </a:xfrm>
        </p:spPr>
        <p:txBody>
          <a:bodyPr anchor="ctr">
            <a:normAutofit/>
          </a:bodyPr>
          <a:lstStyle/>
          <a:p>
            <a:r>
              <a:rPr lang="ja-JP" altLang="en-US" sz="2400"/>
              <a:t>出力の電圧がオーバードライブ電圧になるように</a:t>
            </a:r>
            <a:r>
              <a:rPr lang="en-US" altLang="ja-JP" sz="2400"/>
              <a:t>W</a:t>
            </a:r>
            <a:r>
              <a:rPr lang="ja-JP" altLang="en-US" sz="2400"/>
              <a:t>のサイズを調整する</a:t>
            </a:r>
            <a:endParaRPr lang="en-US" altLang="ja-JP" sz="2400"/>
          </a:p>
          <a:p>
            <a:pPr lvl="1"/>
            <a:r>
              <a:rPr kumimoji="1" lang="ja-JP" altLang="en-US"/>
              <a:t>オーバードライブ電圧＝</a:t>
            </a:r>
            <a:r>
              <a:rPr kumimoji="1" lang="en-US" altLang="ja-JP"/>
              <a:t>Vth + 100mV</a:t>
            </a:r>
            <a:r>
              <a:rPr kumimoji="1" lang="ja-JP" altLang="en-US"/>
              <a:t>くらい</a:t>
            </a:r>
            <a:endParaRPr kumimoji="1" lang="en-US" altLang="ja-JP"/>
          </a:p>
          <a:p>
            <a:pPr lvl="1"/>
            <a:r>
              <a:rPr kumimoji="1" lang="en-US" altLang="ja-JP"/>
              <a:t>Ibias</a:t>
            </a:r>
            <a:r>
              <a:rPr kumimoji="1" lang="ja-JP" altLang="en-US"/>
              <a:t>は電流源のスペックから決定される</a:t>
            </a:r>
            <a:endParaRPr kumimoji="1" lang="en-US" altLang="ja-JP"/>
          </a:p>
          <a:p>
            <a:endParaRPr kumimoji="1" lang="en-US" altLang="ja-JP" sz="2400"/>
          </a:p>
          <a:p>
            <a:r>
              <a:rPr lang="ja-JP" altLang="en-US" sz="2400"/>
              <a:t>以上から、</a:t>
            </a:r>
            <a:r>
              <a:rPr lang="en-US" altLang="ja-JP" sz="2400"/>
              <a:t>V</a:t>
            </a:r>
            <a:r>
              <a:rPr lang="ja-JP" altLang="en-US" sz="2400"/>
              <a:t>と</a:t>
            </a:r>
            <a:r>
              <a:rPr lang="en-US" altLang="ja-JP" sz="2400"/>
              <a:t>I</a:t>
            </a:r>
            <a:r>
              <a:rPr lang="ja-JP" altLang="en-US" sz="2400"/>
              <a:t>が決定したので</a:t>
            </a:r>
            <a:r>
              <a:rPr lang="en-US" altLang="ja-JP" sz="2400"/>
              <a:t>R</a:t>
            </a:r>
            <a:r>
              <a:rPr lang="ja-JP" altLang="en-US" sz="2400"/>
              <a:t>（</a:t>
            </a:r>
            <a:r>
              <a:rPr lang="en-US" altLang="ja-JP" sz="2400"/>
              <a:t>=W</a:t>
            </a:r>
            <a:r>
              <a:rPr lang="ja-JP" altLang="en-US" sz="2400"/>
              <a:t>サイズ）を決定する</a:t>
            </a:r>
            <a:endParaRPr kumimoji="1" lang="en-US" altLang="ja-JP" sz="2400"/>
          </a:p>
          <a:p>
            <a:pPr lvl="1"/>
            <a:r>
              <a:rPr lang="en-US" altLang="ja-JP" err="1"/>
              <a:t>rds</a:t>
            </a:r>
            <a:r>
              <a:rPr lang="ja-JP" altLang="en-US"/>
              <a:t>を</a:t>
            </a:r>
            <a:r>
              <a:rPr lang="en-US" altLang="ja-JP"/>
              <a:t>op</a:t>
            </a:r>
            <a:r>
              <a:rPr lang="ja-JP" altLang="en-US"/>
              <a:t>コマンドで測定する</a:t>
            </a:r>
            <a:endParaRPr lang="en-US" altLang="ja-JP"/>
          </a:p>
        </p:txBody>
      </p:sp>
    </p:spTree>
    <p:extLst>
      <p:ext uri="{BB962C8B-B14F-4D97-AF65-F5344CB8AC3E}">
        <p14:creationId xmlns:p14="http://schemas.microsoft.com/office/powerpoint/2010/main" val="41228503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CA56892-AE18-C37F-6BC5-F7C3E511E5AA}"/>
              </a:ext>
            </a:extLst>
          </p:cNvPr>
          <p:cNvSpPr>
            <a:spLocks noGrp="1"/>
          </p:cNvSpPr>
          <p:nvPr>
            <p:ph type="title"/>
          </p:nvPr>
        </p:nvSpPr>
        <p:spPr>
          <a:xfrm>
            <a:off x="1137035" y="609600"/>
            <a:ext cx="3595678" cy="1330839"/>
          </a:xfrm>
        </p:spPr>
        <p:txBody>
          <a:bodyPr>
            <a:normAutofit/>
          </a:bodyPr>
          <a:lstStyle/>
          <a:p>
            <a:r>
              <a:rPr kumimoji="1" lang="ja-JP" altLang="en-US"/>
              <a:t>本ハンズオン</a:t>
            </a:r>
            <a:br>
              <a:rPr kumimoji="1" lang="en-US" altLang="ja-JP"/>
            </a:br>
            <a:r>
              <a:rPr kumimoji="1" lang="ja-JP" altLang="en-US"/>
              <a:t>では・・・</a:t>
            </a:r>
          </a:p>
        </p:txBody>
      </p:sp>
      <p:sp>
        <p:nvSpPr>
          <p:cNvPr id="3" name="コンテンツ プレースホルダー 2">
            <a:extLst>
              <a:ext uri="{FF2B5EF4-FFF2-40B4-BE49-F238E27FC236}">
                <a16:creationId xmlns:a16="http://schemas.microsoft.com/office/drawing/2014/main" id="{2F10D52C-ED08-721B-EB88-C68E13115683}"/>
              </a:ext>
            </a:extLst>
          </p:cNvPr>
          <p:cNvSpPr>
            <a:spLocks noGrp="1"/>
          </p:cNvSpPr>
          <p:nvPr>
            <p:ph idx="1"/>
          </p:nvPr>
        </p:nvSpPr>
        <p:spPr>
          <a:xfrm>
            <a:off x="1137034" y="2194101"/>
            <a:ext cx="3272128" cy="4330523"/>
          </a:xfrm>
        </p:spPr>
        <p:txBody>
          <a:bodyPr>
            <a:normAutofit/>
          </a:bodyPr>
          <a:lstStyle/>
          <a:p>
            <a:r>
              <a:rPr lang="ja-JP" altLang="en-US" sz="2000"/>
              <a:t>可変の電流源から</a:t>
            </a:r>
            <a:r>
              <a:rPr lang="en-US" altLang="ja-JP" sz="2000" dirty="0" err="1"/>
              <a:t>Ibias</a:t>
            </a:r>
            <a:r>
              <a:rPr lang="ja-JP" altLang="en-US" sz="2000"/>
              <a:t>を与えるため、</a:t>
            </a:r>
            <a:r>
              <a:rPr lang="en-US" altLang="ja-JP" sz="2000" dirty="0"/>
              <a:t>W</a:t>
            </a:r>
            <a:r>
              <a:rPr lang="ja-JP" altLang="en-US" sz="2000"/>
              <a:t>はお好きなサイズで</a:t>
            </a:r>
            <a:r>
              <a:rPr lang="en-US" altLang="ja-JP" sz="2000" dirty="0"/>
              <a:t>OK</a:t>
            </a:r>
          </a:p>
          <a:p>
            <a:endParaRPr lang="en-US" altLang="ja-JP" sz="2000" dirty="0"/>
          </a:p>
          <a:p>
            <a:r>
              <a:rPr lang="ja-JP" altLang="en-US" sz="2000"/>
              <a:t>経験則</a:t>
            </a:r>
            <a:endParaRPr lang="en-US" altLang="ja-JP" sz="2000" dirty="0"/>
          </a:p>
          <a:p>
            <a:pPr lvl="1"/>
            <a:r>
              <a:rPr lang="ja-JP" altLang="en-US" sz="1600"/>
              <a:t>フィンガー数＝</a:t>
            </a:r>
            <a:r>
              <a:rPr lang="en-US" altLang="ja-JP" sz="1600" dirty="0"/>
              <a:t>3or5</a:t>
            </a:r>
          </a:p>
          <a:p>
            <a:pPr lvl="1"/>
            <a:r>
              <a:rPr lang="en-US" altLang="ja-JP" sz="1600" dirty="0"/>
              <a:t>1</a:t>
            </a:r>
            <a:r>
              <a:rPr lang="ja-JP" altLang="en-US" sz="1600"/>
              <a:t>フィンガーの</a:t>
            </a:r>
            <a:r>
              <a:rPr lang="en-US" altLang="ja-JP" sz="1600" dirty="0"/>
              <a:t>W</a:t>
            </a:r>
            <a:r>
              <a:rPr lang="ja-JP" altLang="en-US" sz="1600"/>
              <a:t>の長さ</a:t>
            </a:r>
            <a:r>
              <a:rPr lang="en-US" altLang="ja-JP" sz="1600" dirty="0"/>
              <a:t>=</a:t>
            </a:r>
            <a:r>
              <a:rPr lang="ja-JP" altLang="en-US" sz="1600"/>
              <a:t>　</a:t>
            </a:r>
            <a:r>
              <a:rPr lang="en-US" altLang="ja-JP" sz="1600" dirty="0"/>
              <a:t>L</a:t>
            </a:r>
            <a:r>
              <a:rPr lang="ja-JP" altLang="en-US" sz="1600"/>
              <a:t>の</a:t>
            </a:r>
            <a:r>
              <a:rPr lang="en-US" altLang="ja-JP" sz="1600" dirty="0"/>
              <a:t>10</a:t>
            </a:r>
            <a:r>
              <a:rPr lang="ja-JP" altLang="en-US" sz="1600"/>
              <a:t>～</a:t>
            </a:r>
            <a:r>
              <a:rPr lang="en-US" altLang="ja-JP" sz="1600" dirty="0"/>
              <a:t>20</a:t>
            </a:r>
            <a:r>
              <a:rPr lang="ja-JP" altLang="en-US" sz="1600"/>
              <a:t>倍</a:t>
            </a:r>
            <a:endParaRPr lang="en-US" altLang="ja-JP" sz="1600" dirty="0"/>
          </a:p>
          <a:p>
            <a:pPr lvl="1"/>
            <a:endParaRPr lang="en-US" altLang="ja-JP" sz="1600" dirty="0"/>
          </a:p>
          <a:p>
            <a:pPr lvl="1"/>
            <a:r>
              <a:rPr lang="en-US" altLang="ja-JP" sz="1600" dirty="0"/>
              <a:t>W</a:t>
            </a:r>
            <a:r>
              <a:rPr lang="ja-JP" altLang="en-US" sz="1600"/>
              <a:t>＝</a:t>
            </a:r>
            <a:r>
              <a:rPr lang="en-US" altLang="ja-JP" sz="1600" dirty="0"/>
              <a:t>30um</a:t>
            </a:r>
            <a:r>
              <a:rPr lang="ja-JP" altLang="en-US" sz="1600"/>
              <a:t>とする</a:t>
            </a:r>
            <a:endParaRPr lang="en-US" altLang="ja-JP" sz="1600" dirty="0"/>
          </a:p>
          <a:p>
            <a:pPr lvl="1"/>
            <a:r>
              <a:rPr lang="en-US" altLang="ja-JP" sz="1600" dirty="0" err="1"/>
              <a:t>Ibias</a:t>
            </a:r>
            <a:r>
              <a:rPr lang="en-US" altLang="ja-JP" sz="1600" dirty="0"/>
              <a:t> = Id = 5.1uA</a:t>
            </a:r>
          </a:p>
          <a:p>
            <a:pPr lvl="2"/>
            <a:r>
              <a:rPr lang="en-US" altLang="ja-JP" sz="1200" dirty="0"/>
              <a:t>Vds-Vgs/</a:t>
            </a:r>
            <a:r>
              <a:rPr lang="en-US" altLang="ja-JP" sz="1200" dirty="0" err="1"/>
              <a:t>rgd</a:t>
            </a:r>
            <a:endParaRPr lang="en-US" altLang="ja-JP" sz="1200" dirty="0"/>
          </a:p>
          <a:p>
            <a:pPr lvl="2"/>
            <a:endParaRPr lang="en-US" altLang="ja-JP" sz="1200" dirty="0"/>
          </a:p>
          <a:p>
            <a:pPr lvl="1"/>
            <a:r>
              <a:rPr lang="ja-JP" altLang="en-US" sz="1600"/>
              <a:t>サンプル：</a:t>
            </a:r>
            <a:r>
              <a:rPr lang="en-US" altLang="ja-JP" sz="1600" dirty="0" err="1"/>
              <a:t>ibias_rds.sch</a:t>
            </a:r>
            <a:endParaRPr lang="en-US" altLang="ja-JP" sz="1600" dirty="0"/>
          </a:p>
        </p:txBody>
      </p:sp>
      <p:pic>
        <p:nvPicPr>
          <p:cNvPr id="8" name="図 7" descr="回路, コンピュータ が含まれている画像&#10;&#10;AI 生成コンテンツは誤りを含む可能性があります。">
            <a:extLst>
              <a:ext uri="{FF2B5EF4-FFF2-40B4-BE49-F238E27FC236}">
                <a16:creationId xmlns:a16="http://schemas.microsoft.com/office/drawing/2014/main" id="{DD986321-A571-D9F1-2BAE-FAF84B5719F9}"/>
              </a:ext>
            </a:extLst>
          </p:cNvPr>
          <p:cNvPicPr>
            <a:picLocks noChangeAspect="1"/>
          </p:cNvPicPr>
          <p:nvPr/>
        </p:nvPicPr>
        <p:blipFill>
          <a:blip r:embed="rId2">
            <a:extLst>
              <a:ext uri="{28A0092B-C50C-407E-A947-70E740481C1C}">
                <a14:useLocalDpi xmlns:a14="http://schemas.microsoft.com/office/drawing/2010/main" val="0"/>
              </a:ext>
            </a:extLst>
          </a:blip>
          <a:srcRect l="15516" r="25070"/>
          <a:stretch>
            <a:fillRect/>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
        <p:nvSpPr>
          <p:cNvPr id="4" name="AutoShape 2">
            <a:extLst>
              <a:ext uri="{FF2B5EF4-FFF2-40B4-BE49-F238E27FC236}">
                <a16:creationId xmlns:a16="http://schemas.microsoft.com/office/drawing/2014/main" id="{106E0935-B4D5-50B5-6A6C-4EDE65C8D00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9" name="図 8">
            <a:extLst>
              <a:ext uri="{FF2B5EF4-FFF2-40B4-BE49-F238E27FC236}">
                <a16:creationId xmlns:a16="http://schemas.microsoft.com/office/drawing/2014/main" id="{59A376FE-A4C0-126A-9392-1C65556D0ECF}"/>
              </a:ext>
            </a:extLst>
          </p:cNvPr>
          <p:cNvPicPr>
            <a:picLocks noChangeAspect="1"/>
          </p:cNvPicPr>
          <p:nvPr/>
        </p:nvPicPr>
        <p:blipFill>
          <a:blip r:embed="rId3"/>
          <a:stretch>
            <a:fillRect/>
          </a:stretch>
        </p:blipFill>
        <p:spPr>
          <a:xfrm>
            <a:off x="15028" y="3933708"/>
            <a:ext cx="1350309" cy="2924290"/>
          </a:xfrm>
          <a:prstGeom prst="rect">
            <a:avLst/>
          </a:prstGeom>
        </p:spPr>
      </p:pic>
      <p:pic>
        <p:nvPicPr>
          <p:cNvPr id="6" name="図 5">
            <a:extLst>
              <a:ext uri="{FF2B5EF4-FFF2-40B4-BE49-F238E27FC236}">
                <a16:creationId xmlns:a16="http://schemas.microsoft.com/office/drawing/2014/main" id="{F5341F25-D168-B833-B651-C8403B66BE92}"/>
              </a:ext>
            </a:extLst>
          </p:cNvPr>
          <p:cNvPicPr>
            <a:picLocks noChangeAspect="1"/>
          </p:cNvPicPr>
          <p:nvPr/>
        </p:nvPicPr>
        <p:blipFill>
          <a:blip r:embed="rId4"/>
          <a:stretch>
            <a:fillRect/>
          </a:stretch>
        </p:blipFill>
        <p:spPr>
          <a:xfrm>
            <a:off x="4624637" y="4660840"/>
            <a:ext cx="4925763" cy="2197160"/>
          </a:xfrm>
          <a:prstGeom prst="rect">
            <a:avLst/>
          </a:prstGeom>
        </p:spPr>
      </p:pic>
    </p:spTree>
    <p:extLst>
      <p:ext uri="{BB962C8B-B14F-4D97-AF65-F5344CB8AC3E}">
        <p14:creationId xmlns:p14="http://schemas.microsoft.com/office/powerpoint/2010/main" val="2911879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BD4FA5D-3085-7FC6-1B09-1021ACABACD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F7861D1-120C-8FF0-F677-BFA9C93040A0}"/>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ソース接地増幅回路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72582459"/>
      </p:ext>
    </p:extLst>
  </p:cSld>
  <p:clrMapOvr>
    <a:overrideClrMapping bg1="dk1" tx1="lt1" bg2="dk2" tx2="lt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2FD0CA3-987D-3BF3-1F5F-3702D4681AA6}"/>
              </a:ext>
            </a:extLst>
          </p:cNvPr>
          <p:cNvSpPr>
            <a:spLocks noGrp="1"/>
          </p:cNvSpPr>
          <p:nvPr>
            <p:ph type="title"/>
          </p:nvPr>
        </p:nvSpPr>
        <p:spPr>
          <a:xfrm>
            <a:off x="1043631" y="873940"/>
            <a:ext cx="5052369" cy="1035781"/>
          </a:xfrm>
        </p:spPr>
        <p:txBody>
          <a:bodyPr anchor="ctr">
            <a:normAutofit/>
          </a:bodyPr>
          <a:lstStyle/>
          <a:p>
            <a:r>
              <a:rPr kumimoji="1" lang="ja-JP" altLang="en-US" sz="3600"/>
              <a:t>ソース接地増幅回路</a:t>
            </a:r>
          </a:p>
        </p:txBody>
      </p:sp>
      <p:sp>
        <p:nvSpPr>
          <p:cNvPr id="3" name="コンテンツ プレースホルダー 2">
            <a:extLst>
              <a:ext uri="{FF2B5EF4-FFF2-40B4-BE49-F238E27FC236}">
                <a16:creationId xmlns:a16="http://schemas.microsoft.com/office/drawing/2014/main" id="{24EB2157-84AF-51DC-B9F8-9C96EEEB08D4}"/>
              </a:ext>
            </a:extLst>
          </p:cNvPr>
          <p:cNvSpPr>
            <a:spLocks noGrp="1"/>
          </p:cNvSpPr>
          <p:nvPr>
            <p:ph idx="1"/>
          </p:nvPr>
        </p:nvSpPr>
        <p:spPr>
          <a:xfrm>
            <a:off x="1045029" y="2524721"/>
            <a:ext cx="4991629" cy="3677123"/>
          </a:xfrm>
        </p:spPr>
        <p:txBody>
          <a:bodyPr anchor="ctr">
            <a:normAutofit/>
          </a:bodyPr>
          <a:lstStyle/>
          <a:p>
            <a:r>
              <a:rPr lang="en-US" altLang="ja-JP" sz="1800"/>
              <a:t>2</a:t>
            </a:r>
            <a:r>
              <a:rPr lang="ja-JP" altLang="en-US" sz="1800"/>
              <a:t>段目は普通のソース接地増幅回路</a:t>
            </a:r>
            <a:endParaRPr lang="en-US" altLang="ja-JP" sz="1800"/>
          </a:p>
          <a:p>
            <a:pPr lvl="1"/>
            <a:r>
              <a:rPr lang="ja-JP" altLang="en-US" sz="1800"/>
              <a:t>設計のポイント</a:t>
            </a:r>
            <a:endParaRPr lang="en-US" altLang="ja-JP" sz="1800"/>
          </a:p>
          <a:p>
            <a:pPr lvl="2"/>
            <a:r>
              <a:rPr lang="en-US" altLang="ja-JP" sz="1800"/>
              <a:t>Vout=Vdd/2</a:t>
            </a:r>
            <a:r>
              <a:rPr lang="ja-JP" altLang="en-US" sz="1800"/>
              <a:t>となるようにすること</a:t>
            </a:r>
          </a:p>
          <a:p>
            <a:pPr lvl="2"/>
            <a:r>
              <a:rPr lang="ja-JP" altLang="en-US" sz="1800"/>
              <a:t>十分なスルーレートが得られるように大きな電流を流すこと</a:t>
            </a:r>
          </a:p>
        </p:txBody>
      </p:sp>
      <p:sp>
        <p:nvSpPr>
          <p:cNvPr id="3088" name="Rectangle 308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90" name="Straight Connector 30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図 6">
            <a:extLst>
              <a:ext uri="{FF2B5EF4-FFF2-40B4-BE49-F238E27FC236}">
                <a16:creationId xmlns:a16="http://schemas.microsoft.com/office/drawing/2014/main" id="{744EF2BB-7028-C121-9A44-3DDC23A6CDCA}"/>
              </a:ext>
            </a:extLst>
          </p:cNvPr>
          <p:cNvPicPr>
            <a:picLocks noChangeAspect="1"/>
          </p:cNvPicPr>
          <p:nvPr/>
        </p:nvPicPr>
        <p:blipFill>
          <a:blip r:embed="rId2"/>
          <a:stretch>
            <a:fillRect/>
          </a:stretch>
        </p:blipFill>
        <p:spPr>
          <a:xfrm>
            <a:off x="6942649" y="656150"/>
            <a:ext cx="4053950" cy="5455085"/>
          </a:xfrm>
          <a:prstGeom prst="rect">
            <a:avLst/>
          </a:prstGeom>
        </p:spPr>
      </p:pic>
    </p:spTree>
    <p:extLst>
      <p:ext uri="{BB962C8B-B14F-4D97-AF65-F5344CB8AC3E}">
        <p14:creationId xmlns:p14="http://schemas.microsoft.com/office/powerpoint/2010/main" val="24810864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EC3DA0F-03F1-D095-BFCB-97FE3F93A50B}"/>
              </a:ext>
            </a:extLst>
          </p:cNvPr>
          <p:cNvSpPr>
            <a:spLocks noGrp="1"/>
          </p:cNvSpPr>
          <p:nvPr>
            <p:ph type="title"/>
          </p:nvPr>
        </p:nvSpPr>
        <p:spPr>
          <a:xfrm>
            <a:off x="808638" y="386930"/>
            <a:ext cx="9236700" cy="1188950"/>
          </a:xfrm>
        </p:spPr>
        <p:txBody>
          <a:bodyPr anchor="b">
            <a:normAutofit/>
          </a:bodyPr>
          <a:lstStyle/>
          <a:p>
            <a:r>
              <a:rPr kumimoji="1" lang="en-US" altLang="ja-JP" sz="5400"/>
              <a:t>Vout=Vdd/2</a:t>
            </a:r>
            <a:r>
              <a:rPr kumimoji="1" lang="ja-JP" altLang="en-US" sz="5400"/>
              <a:t>とは？</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38DD151-49B8-B887-F12F-53E1FB2BB4E4}"/>
              </a:ext>
            </a:extLst>
          </p:cNvPr>
          <p:cNvSpPr>
            <a:spLocks noGrp="1"/>
          </p:cNvSpPr>
          <p:nvPr>
            <p:ph idx="1"/>
          </p:nvPr>
        </p:nvSpPr>
        <p:spPr>
          <a:xfrm>
            <a:off x="793660" y="2386567"/>
            <a:ext cx="10143668" cy="3435531"/>
          </a:xfrm>
        </p:spPr>
        <p:txBody>
          <a:bodyPr anchor="ctr">
            <a:normAutofit/>
          </a:bodyPr>
          <a:lstStyle/>
          <a:p>
            <a:r>
              <a:rPr kumimoji="1" lang="ja-JP" altLang="en-US"/>
              <a:t>出力バイアスを出力の中央値にするということ</a:t>
            </a:r>
            <a:endParaRPr kumimoji="1" lang="en-US" altLang="ja-JP"/>
          </a:p>
          <a:p>
            <a:pPr lvl="1"/>
            <a:r>
              <a:rPr lang="en-US" altLang="ja-JP"/>
              <a:t>Vdd=5V</a:t>
            </a:r>
          </a:p>
          <a:p>
            <a:pPr lvl="2"/>
            <a:r>
              <a:rPr lang="ja-JP" altLang="en-US" sz="1800"/>
              <a:t>出力バイアス</a:t>
            </a:r>
            <a:r>
              <a:rPr lang="en-US" altLang="ja-JP" sz="1800"/>
              <a:t>=2.5V</a:t>
            </a:r>
            <a:r>
              <a:rPr lang="ja-JP" altLang="en-US" sz="1800"/>
              <a:t>なら、＋</a:t>
            </a:r>
            <a:r>
              <a:rPr lang="en-US" altLang="ja-JP" sz="1800"/>
              <a:t>2.5V</a:t>
            </a:r>
            <a:r>
              <a:rPr lang="ja-JP" altLang="en-US" sz="1800"/>
              <a:t>～ー</a:t>
            </a:r>
            <a:r>
              <a:rPr lang="en-US" altLang="ja-JP" sz="1800"/>
              <a:t>2.5V</a:t>
            </a:r>
            <a:r>
              <a:rPr lang="ja-JP" altLang="en-US" sz="1800"/>
              <a:t>までの</a:t>
            </a:r>
            <a:r>
              <a:rPr lang="en-US" altLang="ja-JP" sz="1800"/>
              <a:t>5V</a:t>
            </a:r>
            <a:r>
              <a:rPr lang="ja-JP" altLang="en-US" sz="1800"/>
              <a:t>の範囲で正弦波が出力ができる</a:t>
            </a:r>
            <a:endParaRPr lang="en-US" altLang="ja-JP" sz="1800"/>
          </a:p>
          <a:p>
            <a:pPr lvl="2"/>
            <a:r>
              <a:rPr lang="ja-JP" altLang="en-US" sz="1800"/>
              <a:t>出力バイアス</a:t>
            </a:r>
            <a:r>
              <a:rPr lang="en-US" altLang="ja-JP" sz="1800"/>
              <a:t>=1.0V</a:t>
            </a:r>
            <a:r>
              <a:rPr lang="ja-JP" altLang="en-US" sz="1800"/>
              <a:t>なら、＋</a:t>
            </a:r>
            <a:r>
              <a:rPr lang="en-US" altLang="ja-JP" sz="1800"/>
              <a:t>1.0V</a:t>
            </a:r>
            <a:r>
              <a:rPr lang="ja-JP" altLang="en-US" sz="1800"/>
              <a:t>～ー</a:t>
            </a:r>
            <a:r>
              <a:rPr lang="en-US" altLang="ja-JP" sz="1800"/>
              <a:t>1.0V</a:t>
            </a:r>
            <a:r>
              <a:rPr lang="ja-JP" altLang="en-US" sz="1800"/>
              <a:t>までの</a:t>
            </a:r>
            <a:r>
              <a:rPr lang="en-US" altLang="ja-JP" sz="1800"/>
              <a:t>2V</a:t>
            </a:r>
            <a:r>
              <a:rPr lang="ja-JP" altLang="en-US" sz="1800"/>
              <a:t>の範囲で正弦波が出力ができる</a:t>
            </a:r>
            <a:endParaRPr lang="en-US" altLang="ja-JP" sz="1800"/>
          </a:p>
        </p:txBody>
      </p:sp>
    </p:spTree>
    <p:extLst>
      <p:ext uri="{BB962C8B-B14F-4D97-AF65-F5344CB8AC3E}">
        <p14:creationId xmlns:p14="http://schemas.microsoft.com/office/powerpoint/2010/main" val="24873053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7" name="Rectangle 1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1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0B9500E-7CB2-B376-C2AB-562325335DA4}"/>
              </a:ext>
            </a:extLst>
          </p:cNvPr>
          <p:cNvSpPr>
            <a:spLocks noGrp="1"/>
          </p:cNvSpPr>
          <p:nvPr>
            <p:ph type="title"/>
          </p:nvPr>
        </p:nvSpPr>
        <p:spPr>
          <a:xfrm>
            <a:off x="1057025" y="922644"/>
            <a:ext cx="5040285" cy="1169585"/>
          </a:xfrm>
        </p:spPr>
        <p:txBody>
          <a:bodyPr anchor="b">
            <a:normAutofit/>
          </a:bodyPr>
          <a:lstStyle/>
          <a:p>
            <a:r>
              <a:rPr lang="en-US" altLang="ja-JP" sz="4000"/>
              <a:t>Vout=Vdd/2</a:t>
            </a:r>
            <a:r>
              <a:rPr lang="ja-JP" altLang="en-US" sz="4000"/>
              <a:t>の設計</a:t>
            </a:r>
            <a:endParaRPr kumimoji="1" lang="ja-JP" altLang="en-US" sz="4000"/>
          </a:p>
        </p:txBody>
      </p:sp>
      <p:sp>
        <p:nvSpPr>
          <p:cNvPr id="22" name="Rectangle 2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F4B4F41-81DC-8CF0-8863-CDCF4590F965}"/>
              </a:ext>
            </a:extLst>
          </p:cNvPr>
          <p:cNvSpPr>
            <a:spLocks noGrp="1"/>
          </p:cNvSpPr>
          <p:nvPr>
            <p:ph idx="1"/>
          </p:nvPr>
        </p:nvSpPr>
        <p:spPr>
          <a:xfrm>
            <a:off x="1055715" y="2508105"/>
            <a:ext cx="5040285" cy="3632493"/>
          </a:xfrm>
        </p:spPr>
        <p:txBody>
          <a:bodyPr anchor="ctr">
            <a:normAutofit/>
          </a:bodyPr>
          <a:lstStyle/>
          <a:p>
            <a:r>
              <a:rPr kumimoji="1" lang="en-US" altLang="ja-JP" sz="2000" dirty="0"/>
              <a:t>M6</a:t>
            </a:r>
            <a:r>
              <a:rPr kumimoji="1" lang="ja-JP" altLang="en-US" sz="2000"/>
              <a:t>（</a:t>
            </a:r>
            <a:r>
              <a:rPr kumimoji="1" lang="en-US" altLang="ja-JP" sz="2000" dirty="0"/>
              <a:t>P-MOS</a:t>
            </a:r>
            <a:r>
              <a:rPr kumimoji="1" lang="ja-JP" altLang="en-US" sz="2000"/>
              <a:t>）と</a:t>
            </a:r>
            <a:r>
              <a:rPr kumimoji="1" lang="en-US" altLang="ja-JP" sz="2000" dirty="0"/>
              <a:t>M7</a:t>
            </a:r>
            <a:r>
              <a:rPr kumimoji="1" lang="ja-JP" altLang="en-US" sz="2000"/>
              <a:t>（</a:t>
            </a:r>
            <a:r>
              <a:rPr kumimoji="1" lang="en-US" altLang="ja-JP" sz="2000" dirty="0"/>
              <a:t>N-MOS</a:t>
            </a:r>
            <a:r>
              <a:rPr kumimoji="1" lang="ja-JP" altLang="en-US" sz="2000"/>
              <a:t>）の「電子移動度」の比</a:t>
            </a:r>
            <a:endParaRPr kumimoji="1" lang="en-US" altLang="ja-JP" sz="2000" dirty="0"/>
          </a:p>
          <a:p>
            <a:pPr lvl="1"/>
            <a:r>
              <a:rPr lang="ja-JP" altLang="en-US" sz="2000"/>
              <a:t>すなわち、</a:t>
            </a:r>
            <a:r>
              <a:rPr lang="en-US" altLang="ja-JP" sz="2000" dirty="0"/>
              <a:t>Id</a:t>
            </a:r>
            <a:r>
              <a:rPr lang="ja-JP" altLang="en-US" sz="2000"/>
              <a:t>の比である</a:t>
            </a:r>
            <a:endParaRPr lang="en-US" altLang="ja-JP" sz="2000" dirty="0"/>
          </a:p>
          <a:p>
            <a:pPr lvl="1"/>
            <a:r>
              <a:rPr kumimoji="1" lang="ja-JP" altLang="en-US" sz="2000"/>
              <a:t>本設計では、</a:t>
            </a:r>
            <a:r>
              <a:rPr lang="en-US" altLang="ja-JP" sz="2000" dirty="0"/>
              <a:t>1.5uA : 5.0uA </a:t>
            </a:r>
            <a:r>
              <a:rPr lang="ja-JP" altLang="en-US" sz="2000"/>
              <a:t>≒ </a:t>
            </a:r>
            <a:r>
              <a:rPr lang="en-US" altLang="ja-JP" sz="2000" dirty="0"/>
              <a:t>1 : 3</a:t>
            </a:r>
            <a:endParaRPr kumimoji="1" lang="en-US" altLang="ja-JP" sz="2000" dirty="0"/>
          </a:p>
          <a:p>
            <a:pPr lvl="2"/>
            <a:r>
              <a:rPr kumimoji="1" lang="en-US" altLang="ja-JP" dirty="0"/>
              <a:t>M6</a:t>
            </a:r>
            <a:r>
              <a:rPr kumimoji="1" lang="ja-JP" altLang="en-US"/>
              <a:t>を</a:t>
            </a:r>
            <a:r>
              <a:rPr kumimoji="1" lang="en-US" altLang="ja-JP" dirty="0"/>
              <a:t>M7</a:t>
            </a:r>
            <a:r>
              <a:rPr kumimoji="1" lang="ja-JP" altLang="en-US"/>
              <a:t>の</a:t>
            </a:r>
            <a:r>
              <a:rPr kumimoji="1" lang="en-US" altLang="ja-JP" dirty="0"/>
              <a:t>3</a:t>
            </a:r>
            <a:r>
              <a:rPr kumimoji="1" lang="ja-JP" altLang="en-US"/>
              <a:t>倍くらいのサイズとする</a:t>
            </a:r>
            <a:endParaRPr kumimoji="1" lang="en-US" altLang="ja-JP" dirty="0"/>
          </a:p>
          <a:p>
            <a:pPr lvl="2"/>
            <a:endParaRPr lang="en-US" altLang="ja-JP" dirty="0"/>
          </a:p>
          <a:p>
            <a:pPr lvl="2"/>
            <a:r>
              <a:rPr kumimoji="1" lang="ja-JP" altLang="en-US"/>
              <a:t>サンプル：</a:t>
            </a:r>
            <a:r>
              <a:rPr kumimoji="1" lang="en-US" altLang="ja-JP" dirty="0" err="1"/>
              <a:t>cs.sch</a:t>
            </a:r>
            <a:endParaRPr kumimoji="1" lang="ja-JP" altLang="en-US"/>
          </a:p>
        </p:txBody>
      </p:sp>
      <p:pic>
        <p:nvPicPr>
          <p:cNvPr id="9" name="図 8">
            <a:extLst>
              <a:ext uri="{FF2B5EF4-FFF2-40B4-BE49-F238E27FC236}">
                <a16:creationId xmlns:a16="http://schemas.microsoft.com/office/drawing/2014/main" id="{91630729-8989-8F69-3677-3B30B7CBC39E}"/>
              </a:ext>
            </a:extLst>
          </p:cNvPr>
          <p:cNvPicPr>
            <a:picLocks noChangeAspect="1"/>
          </p:cNvPicPr>
          <p:nvPr/>
        </p:nvPicPr>
        <p:blipFill>
          <a:blip r:embed="rId2"/>
          <a:stretch>
            <a:fillRect/>
          </a:stretch>
        </p:blipFill>
        <p:spPr>
          <a:xfrm>
            <a:off x="8182966" y="774285"/>
            <a:ext cx="1916521" cy="2581173"/>
          </a:xfrm>
          <a:prstGeom prst="rect">
            <a:avLst/>
          </a:prstGeom>
        </p:spPr>
      </p:pic>
      <p:graphicFrame>
        <p:nvGraphicFramePr>
          <p:cNvPr id="4" name="表 3">
            <a:extLst>
              <a:ext uri="{FF2B5EF4-FFF2-40B4-BE49-F238E27FC236}">
                <a16:creationId xmlns:a16="http://schemas.microsoft.com/office/drawing/2014/main" id="{43255632-CACD-E563-6E07-9B637179260E}"/>
              </a:ext>
            </a:extLst>
          </p:cNvPr>
          <p:cNvGraphicFramePr>
            <a:graphicFrameLocks noGrp="1"/>
          </p:cNvGraphicFramePr>
          <p:nvPr>
            <p:extLst>
              <p:ext uri="{D42A27DB-BD31-4B8C-83A1-F6EECF244321}">
                <p14:modId xmlns:p14="http://schemas.microsoft.com/office/powerpoint/2010/main" val="4173408574"/>
              </p:ext>
            </p:extLst>
          </p:nvPr>
        </p:nvGraphicFramePr>
        <p:xfrm>
          <a:off x="7181850" y="4087652"/>
          <a:ext cx="4105390" cy="1463040"/>
        </p:xfrm>
        <a:graphic>
          <a:graphicData uri="http://schemas.openxmlformats.org/drawingml/2006/table">
            <a:tbl>
              <a:tblPr firstRow="1" bandRow="1">
                <a:tableStyleId>{EB9631B5-78F2-41C9-869B-9F39066F8104}</a:tableStyleId>
              </a:tblPr>
              <a:tblGrid>
                <a:gridCol w="1842008">
                  <a:extLst>
                    <a:ext uri="{9D8B030D-6E8A-4147-A177-3AD203B41FA5}">
                      <a16:colId xmlns:a16="http://schemas.microsoft.com/office/drawing/2014/main" val="1265108887"/>
                    </a:ext>
                  </a:extLst>
                </a:gridCol>
                <a:gridCol w="1155770">
                  <a:extLst>
                    <a:ext uri="{9D8B030D-6E8A-4147-A177-3AD203B41FA5}">
                      <a16:colId xmlns:a16="http://schemas.microsoft.com/office/drawing/2014/main" val="4056179011"/>
                    </a:ext>
                  </a:extLst>
                </a:gridCol>
                <a:gridCol w="1107612">
                  <a:extLst>
                    <a:ext uri="{9D8B030D-6E8A-4147-A177-3AD203B41FA5}">
                      <a16:colId xmlns:a16="http://schemas.microsoft.com/office/drawing/2014/main" val="1776177236"/>
                    </a:ext>
                  </a:extLst>
                </a:gridCol>
              </a:tblGrid>
              <a:tr h="311348">
                <a:tc>
                  <a:txBody>
                    <a:bodyPr/>
                    <a:lstStyle/>
                    <a:p>
                      <a:r>
                        <a:rPr kumimoji="1" lang="en-US" altLang="ja-JP"/>
                        <a:t>L=1um</a:t>
                      </a:r>
                      <a:endParaRPr kumimoji="1" lang="ja-JP" altLang="en-US"/>
                    </a:p>
                  </a:txBody>
                  <a:tcPr/>
                </a:tc>
                <a:tc>
                  <a:txBody>
                    <a:bodyPr/>
                    <a:lstStyle/>
                    <a:p>
                      <a:r>
                        <a:rPr kumimoji="1" lang="en-US" altLang="ja-JP" err="1"/>
                        <a:t>pMOS</a:t>
                      </a:r>
                      <a:endParaRPr kumimoji="1" lang="ja-JP" altLang="en-US"/>
                    </a:p>
                  </a:txBody>
                  <a:tcPr/>
                </a:tc>
                <a:tc>
                  <a:txBody>
                    <a:bodyPr/>
                    <a:lstStyle/>
                    <a:p>
                      <a:r>
                        <a:rPr kumimoji="1" lang="en-US" altLang="ja-JP" err="1"/>
                        <a:t>nMOS</a:t>
                      </a:r>
                      <a:endParaRPr kumimoji="1" lang="ja-JP" altLang="en-US"/>
                    </a:p>
                  </a:txBody>
                  <a:tcPr/>
                </a:tc>
                <a:extLst>
                  <a:ext uri="{0D108BD9-81ED-4DB2-BD59-A6C34878D82A}">
                    <a16:rowId xmlns:a16="http://schemas.microsoft.com/office/drawing/2014/main" val="2430515928"/>
                  </a:ext>
                </a:extLst>
              </a:tr>
              <a:tr h="311348">
                <a:tc>
                  <a:txBody>
                    <a:bodyPr/>
                    <a:lstStyle/>
                    <a:p>
                      <a:r>
                        <a:rPr kumimoji="1" lang="en-US" altLang="ja-JP"/>
                        <a:t>Vth</a:t>
                      </a:r>
                      <a:endParaRPr kumimoji="1" lang="ja-JP" altLang="en-US"/>
                    </a:p>
                  </a:txBody>
                  <a:tcPr/>
                </a:tc>
                <a:tc>
                  <a:txBody>
                    <a:bodyPr/>
                    <a:lstStyle/>
                    <a:p>
                      <a:r>
                        <a:rPr kumimoji="1" lang="en-US" altLang="ja-JP"/>
                        <a:t>800mV</a:t>
                      </a:r>
                      <a:endParaRPr kumimoji="1" lang="ja-JP" altLang="en-US"/>
                    </a:p>
                  </a:txBody>
                  <a:tcPr/>
                </a:tc>
                <a:tc>
                  <a:txBody>
                    <a:bodyPr/>
                    <a:lstStyle/>
                    <a:p>
                      <a:r>
                        <a:rPr kumimoji="1" lang="en-US" altLang="ja-JP"/>
                        <a:t>784mV</a:t>
                      </a:r>
                      <a:endParaRPr kumimoji="1" lang="ja-JP" altLang="en-US"/>
                    </a:p>
                  </a:txBody>
                  <a:tcPr/>
                </a:tc>
                <a:extLst>
                  <a:ext uri="{0D108BD9-81ED-4DB2-BD59-A6C34878D82A}">
                    <a16:rowId xmlns:a16="http://schemas.microsoft.com/office/drawing/2014/main" val="2126469270"/>
                  </a:ext>
                </a:extLst>
              </a:tr>
              <a:tr h="311348">
                <a:tc>
                  <a:txBody>
                    <a:bodyPr/>
                    <a:lstStyle/>
                    <a:p>
                      <a:r>
                        <a:rPr kumimoji="1" lang="en-US" altLang="ja-JP"/>
                        <a:t>Id</a:t>
                      </a:r>
                      <a:endParaRPr kumimoji="1" lang="ja-JP" altLang="en-US"/>
                    </a:p>
                  </a:txBody>
                  <a:tcPr/>
                </a:tc>
                <a:tc>
                  <a:txBody>
                    <a:bodyPr/>
                    <a:lstStyle/>
                    <a:p>
                      <a:r>
                        <a:rPr kumimoji="1" lang="en-US" altLang="ja-JP"/>
                        <a:t>1.5uA</a:t>
                      </a:r>
                      <a:endParaRPr kumimoji="1" lang="ja-JP" altLang="en-US"/>
                    </a:p>
                  </a:txBody>
                  <a:tcPr/>
                </a:tc>
                <a:tc>
                  <a:txBody>
                    <a:bodyPr/>
                    <a:lstStyle/>
                    <a:p>
                      <a:r>
                        <a:rPr kumimoji="1" lang="en-US" altLang="ja-JP"/>
                        <a:t>5uA</a:t>
                      </a:r>
                      <a:endParaRPr kumimoji="1" lang="ja-JP" altLang="en-US"/>
                    </a:p>
                  </a:txBody>
                  <a:tcPr/>
                </a:tc>
                <a:extLst>
                  <a:ext uri="{0D108BD9-81ED-4DB2-BD59-A6C34878D82A}">
                    <a16:rowId xmlns:a16="http://schemas.microsoft.com/office/drawing/2014/main" val="3932683534"/>
                  </a:ext>
                </a:extLst>
              </a:tr>
              <a:tr h="311348">
                <a:tc>
                  <a:txBody>
                    <a:bodyPr/>
                    <a:lstStyle/>
                    <a:p>
                      <a:r>
                        <a:rPr kumimoji="1" lang="en-US" altLang="ja-JP"/>
                        <a:t>gm</a:t>
                      </a:r>
                      <a:endParaRPr kumimoji="1" lang="ja-JP" altLang="en-US"/>
                    </a:p>
                  </a:txBody>
                  <a:tcPr/>
                </a:tc>
                <a:tc>
                  <a:txBody>
                    <a:bodyPr/>
                    <a:lstStyle/>
                    <a:p>
                      <a:r>
                        <a:rPr kumimoji="1" lang="en-US" altLang="ja-JP"/>
                        <a:t>16.0uS</a:t>
                      </a:r>
                      <a:endParaRPr kumimoji="1" lang="ja-JP" altLang="en-US"/>
                    </a:p>
                  </a:txBody>
                  <a:tcPr/>
                </a:tc>
                <a:tc>
                  <a:txBody>
                    <a:bodyPr/>
                    <a:lstStyle/>
                    <a:p>
                      <a:r>
                        <a:rPr kumimoji="1" lang="en-US" altLang="ja-JP"/>
                        <a:t>53.7uS</a:t>
                      </a:r>
                      <a:endParaRPr kumimoji="1" lang="ja-JP" altLang="en-US"/>
                    </a:p>
                  </a:txBody>
                  <a:tcPr/>
                </a:tc>
                <a:extLst>
                  <a:ext uri="{0D108BD9-81ED-4DB2-BD59-A6C34878D82A}">
                    <a16:rowId xmlns:a16="http://schemas.microsoft.com/office/drawing/2014/main" val="1647943436"/>
                  </a:ext>
                </a:extLst>
              </a:tr>
            </a:tbl>
          </a:graphicData>
        </a:graphic>
      </p:graphicFrame>
    </p:spTree>
    <p:extLst>
      <p:ext uri="{BB962C8B-B14F-4D97-AF65-F5344CB8AC3E}">
        <p14:creationId xmlns:p14="http://schemas.microsoft.com/office/powerpoint/2010/main" val="36731816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33991F-ED1A-A9DF-1CC7-6F1BCB4E74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95AA37E-3899-D828-75CB-F38646363598}"/>
              </a:ext>
            </a:extLst>
          </p:cNvPr>
          <p:cNvSpPr>
            <a:spLocks noGrp="1"/>
          </p:cNvSpPr>
          <p:nvPr>
            <p:ph type="title"/>
          </p:nvPr>
        </p:nvSpPr>
        <p:spPr>
          <a:xfrm>
            <a:off x="1043631" y="809898"/>
            <a:ext cx="9942716" cy="1554480"/>
          </a:xfrm>
        </p:spPr>
        <p:txBody>
          <a:bodyPr anchor="ctr">
            <a:normAutofit/>
          </a:bodyPr>
          <a:lstStyle/>
          <a:p>
            <a:r>
              <a:rPr kumimoji="1" lang="ja-JP" altLang="en-US" sz="4800"/>
              <a:t>スルーレート</a:t>
            </a:r>
          </a:p>
        </p:txBody>
      </p:sp>
      <p:sp>
        <p:nvSpPr>
          <p:cNvPr id="3" name="コンテンツ プレースホルダー 2">
            <a:extLst>
              <a:ext uri="{FF2B5EF4-FFF2-40B4-BE49-F238E27FC236}">
                <a16:creationId xmlns:a16="http://schemas.microsoft.com/office/drawing/2014/main" id="{97308E02-3231-B0E9-F2E0-A2F63579A63B}"/>
              </a:ext>
            </a:extLst>
          </p:cNvPr>
          <p:cNvSpPr>
            <a:spLocks noGrp="1"/>
          </p:cNvSpPr>
          <p:nvPr>
            <p:ph idx="1"/>
          </p:nvPr>
        </p:nvSpPr>
        <p:spPr>
          <a:xfrm>
            <a:off x="1045028" y="3017522"/>
            <a:ext cx="9941319" cy="3124658"/>
          </a:xfrm>
        </p:spPr>
        <p:txBody>
          <a:bodyPr anchor="ctr">
            <a:normAutofit/>
          </a:bodyPr>
          <a:lstStyle/>
          <a:p>
            <a:r>
              <a:rPr lang="ja-JP" altLang="en-US" sz="2400"/>
              <a:t>出力電圧が単位時間あたりに変化できる最大速度</a:t>
            </a:r>
            <a:endParaRPr lang="en-US" altLang="ja-JP" sz="2400"/>
          </a:p>
          <a:p>
            <a:pPr lvl="1"/>
            <a:r>
              <a:rPr lang="ja-JP" altLang="en-US"/>
              <a:t>テール電流の大きさに影響される</a:t>
            </a:r>
            <a:endParaRPr lang="en-US" altLang="ja-JP"/>
          </a:p>
          <a:p>
            <a:r>
              <a:rPr lang="ja-JP" altLang="en-US" sz="2400"/>
              <a:t>オーディオ用であるのであれば、可聴周波数の</a:t>
            </a:r>
            <a:r>
              <a:rPr lang="en-US" altLang="ja-JP" sz="2400"/>
              <a:t>20kHz</a:t>
            </a:r>
            <a:r>
              <a:rPr lang="ja-JP" altLang="en-US" sz="2400"/>
              <a:t>でナイキスト周波数を考えて</a:t>
            </a:r>
            <a:r>
              <a:rPr lang="en-US" altLang="ja-JP" sz="2400"/>
              <a:t>2</a:t>
            </a:r>
            <a:r>
              <a:rPr lang="ja-JP" altLang="en-US" sz="2400"/>
              <a:t>倍の</a:t>
            </a:r>
            <a:r>
              <a:rPr lang="en-US" altLang="ja-JP" sz="2400"/>
              <a:t>40kHz</a:t>
            </a:r>
            <a:r>
              <a:rPr lang="ja-JP" altLang="en-US" sz="2400"/>
              <a:t>あれば最低限の要求は満たせる</a:t>
            </a:r>
            <a:r>
              <a:rPr lang="ja-JP" altLang="en-US"/>
              <a:t>ので、それほど気にしなくとも良い</a:t>
            </a:r>
            <a:endParaRPr lang="en-US" altLang="ja-JP"/>
          </a:p>
          <a:p>
            <a:pPr lvl="1"/>
            <a:r>
              <a:rPr lang="ja-JP" altLang="en-US"/>
              <a:t>性能劣化を考慮しても、</a:t>
            </a:r>
            <a:r>
              <a:rPr lang="en-US" altLang="ja-JP"/>
              <a:t>100kHz</a:t>
            </a:r>
            <a:r>
              <a:rPr lang="ja-JP" altLang="en-US"/>
              <a:t>を超えていれば十分である</a:t>
            </a:r>
            <a:endParaRPr lang="en-US" altLang="ja-JP"/>
          </a:p>
          <a:p>
            <a:endParaRPr kumimoji="1" lang="ja-JP" alt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3918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4" name="Rectangle 616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66" name="Group 616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6167" name="Rectangle 616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8" name="Rectangle 616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70" name="Rectangle 616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CB659BE-8304-E0E6-11EB-E13205166D36}"/>
              </a:ext>
            </a:extLst>
          </p:cNvPr>
          <p:cNvSpPr>
            <a:spLocks noGrp="1"/>
          </p:cNvSpPr>
          <p:nvPr>
            <p:ph type="title"/>
          </p:nvPr>
        </p:nvSpPr>
        <p:spPr>
          <a:xfrm>
            <a:off x="1057025" y="922644"/>
            <a:ext cx="5040285" cy="1169585"/>
          </a:xfrm>
        </p:spPr>
        <p:txBody>
          <a:bodyPr anchor="b">
            <a:normAutofit/>
          </a:bodyPr>
          <a:lstStyle/>
          <a:p>
            <a:r>
              <a:rPr kumimoji="1" lang="ja-JP" altLang="en-US" sz="4000"/>
              <a:t>スルーレートの評価</a:t>
            </a:r>
          </a:p>
        </p:txBody>
      </p:sp>
      <p:sp>
        <p:nvSpPr>
          <p:cNvPr id="6172" name="Rectangle 617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7CD87AF-2191-7550-7EE4-D0F47DC2F63E}"/>
              </a:ext>
            </a:extLst>
          </p:cNvPr>
          <p:cNvSpPr>
            <a:spLocks noGrp="1"/>
          </p:cNvSpPr>
          <p:nvPr>
            <p:ph idx="1"/>
          </p:nvPr>
        </p:nvSpPr>
        <p:spPr>
          <a:xfrm>
            <a:off x="1055715" y="2508105"/>
            <a:ext cx="5334868" cy="3743558"/>
          </a:xfrm>
        </p:spPr>
        <p:txBody>
          <a:bodyPr anchor="ctr">
            <a:normAutofit lnSpcReduction="10000"/>
          </a:bodyPr>
          <a:lstStyle/>
          <a:p>
            <a:r>
              <a:rPr lang="ja-JP" altLang="en-US" sz="2000"/>
              <a:t>評価</a:t>
            </a:r>
            <a:endParaRPr lang="en" altLang="ja-JP" sz="2000" dirty="0"/>
          </a:p>
          <a:p>
            <a:pPr lvl="1"/>
            <a:r>
              <a:rPr lang="en" altLang="ja-JP" sz="2000" dirty="0"/>
              <a:t>W/L </a:t>
            </a:r>
            <a:r>
              <a:rPr lang="ja-JP" altLang="en-US" sz="2000"/>
              <a:t>で立ち下がり信号を入力し，出力信号を評価する</a:t>
            </a:r>
            <a:endParaRPr lang="en-US" altLang="ja-JP" sz="2000" dirty="0"/>
          </a:p>
          <a:p>
            <a:pPr lvl="2"/>
            <a:r>
              <a:rPr lang="ja-JP" altLang="en-US"/>
              <a:t>負荷</a:t>
            </a:r>
            <a:r>
              <a:rPr lang="en-US" altLang="ja-JP" dirty="0"/>
              <a:t>100pF</a:t>
            </a:r>
            <a:r>
              <a:rPr lang="ja-JP" altLang="en-US"/>
              <a:t>の場合</a:t>
            </a:r>
            <a:endParaRPr lang="en-US" altLang="ja-JP" dirty="0"/>
          </a:p>
          <a:p>
            <a:pPr lvl="3"/>
            <a:r>
              <a:rPr lang="en-US" altLang="ja-JP" dirty="0"/>
              <a:t>0 </a:t>
            </a:r>
            <a:r>
              <a:rPr lang="en" altLang="ja-JP" dirty="0"/>
              <a:t>V </a:t>
            </a:r>
            <a:r>
              <a:rPr lang="ja-JP" altLang="en-US"/>
              <a:t>から </a:t>
            </a:r>
            <a:r>
              <a:rPr lang="en-US" altLang="ja-JP" dirty="0"/>
              <a:t>5.0 </a:t>
            </a:r>
            <a:r>
              <a:rPr lang="en" altLang="ja-JP" dirty="0"/>
              <a:t>V </a:t>
            </a:r>
            <a:r>
              <a:rPr lang="ja-JP" altLang="en-US"/>
              <a:t>まで立ち上がるのにかかる時間は </a:t>
            </a:r>
            <a:r>
              <a:rPr lang="en-US" altLang="ja-JP" dirty="0"/>
              <a:t>0.4 </a:t>
            </a:r>
            <a:r>
              <a:rPr lang="en" altLang="ja-JP" dirty="0"/>
              <a:t>us = 2.5MHz</a:t>
            </a:r>
          </a:p>
          <a:p>
            <a:pPr lvl="3"/>
            <a:r>
              <a:rPr lang="ja-JP" altLang="en-US"/>
              <a:t>スルーレート </a:t>
            </a:r>
            <a:r>
              <a:rPr lang="en-US" altLang="ja-JP" dirty="0"/>
              <a:t>78.5</a:t>
            </a:r>
            <a:r>
              <a:rPr lang="en" altLang="ja-JP" dirty="0"/>
              <a:t>V/</a:t>
            </a:r>
            <a:r>
              <a:rPr lang="el-GR" altLang="ja-JP" dirty="0"/>
              <a:t>μ</a:t>
            </a:r>
            <a:r>
              <a:rPr lang="en" altLang="ja-JP" dirty="0"/>
              <a:t>s </a:t>
            </a:r>
            <a:endParaRPr lang="en-US" altLang="ja-JP" dirty="0"/>
          </a:p>
          <a:p>
            <a:pPr lvl="4"/>
            <a:r>
              <a:rPr lang="en-US" altLang="ja-JP" dirty="0"/>
              <a:t>SR=2π</a:t>
            </a:r>
            <a:r>
              <a:rPr lang="en-US" altLang="ja-JP" dirty="0" err="1"/>
              <a:t>fV</a:t>
            </a:r>
            <a:r>
              <a:rPr lang="en-US" altLang="ja-JP" dirty="0"/>
              <a:t>*1u</a:t>
            </a:r>
            <a:endParaRPr lang="en" altLang="ja-JP" dirty="0"/>
          </a:p>
          <a:p>
            <a:pPr lvl="1"/>
            <a:r>
              <a:rPr lang="ja-JP" altLang="en-US" sz="2000"/>
              <a:t>スペックを満たさない場合は</a:t>
            </a:r>
            <a:r>
              <a:rPr lang="en-US" altLang="ja-JP" sz="2000" dirty="0"/>
              <a:t>W</a:t>
            </a:r>
            <a:r>
              <a:rPr lang="ja-JP" altLang="en-US" sz="2000"/>
              <a:t>を大きくするなど根本的に設計を変える必要がある</a:t>
            </a:r>
            <a:endParaRPr lang="en-US" altLang="ja-JP" sz="2000" dirty="0"/>
          </a:p>
          <a:p>
            <a:pPr lvl="2"/>
            <a:r>
              <a:rPr lang="ja-JP" altLang="en-US" sz="1600"/>
              <a:t>サンプル：</a:t>
            </a:r>
            <a:r>
              <a:rPr lang="en-US" altLang="ja-JP" sz="1600" dirty="0" err="1"/>
              <a:t>cs_tran.sch</a:t>
            </a:r>
            <a:endParaRPr lang="en-US" altLang="ja-JP" sz="1600" dirty="0"/>
          </a:p>
          <a:p>
            <a:pPr lvl="3"/>
            <a:r>
              <a:rPr lang="en-US" altLang="ja-JP" sz="1400" dirty="0" err="1"/>
              <a:t>Vb</a:t>
            </a:r>
            <a:r>
              <a:rPr lang="en-US" altLang="ja-JP" sz="1400" dirty="0"/>
              <a:t>=5.0-(</a:t>
            </a:r>
            <a:r>
              <a:rPr lang="en-US" altLang="ja-JP" sz="1400" dirty="0" err="1"/>
              <a:t>Vth+Vod</a:t>
            </a:r>
            <a:r>
              <a:rPr lang="en-US" altLang="ja-JP" sz="1400" dirty="0"/>
              <a:t>)</a:t>
            </a:r>
            <a:r>
              <a:rPr lang="ja-JP" altLang="en-US" sz="1400"/>
              <a:t> </a:t>
            </a:r>
            <a:r>
              <a:rPr lang="en-US" altLang="ja-JP" sz="1400" dirty="0"/>
              <a:t>〜</a:t>
            </a:r>
            <a:r>
              <a:rPr lang="ja-JP" altLang="en-US" sz="1400"/>
              <a:t> </a:t>
            </a:r>
            <a:r>
              <a:rPr lang="en-US" altLang="ja-JP" sz="1400" dirty="0"/>
              <a:t>3.0</a:t>
            </a:r>
            <a:r>
              <a:rPr lang="ja-JP" altLang="en-US" sz="1400"/>
              <a:t>あたりにすること</a:t>
            </a:r>
            <a:endParaRPr lang="en-US" altLang="ja-JP" sz="1400" dirty="0"/>
          </a:p>
          <a:p>
            <a:pPr lvl="3"/>
            <a:endParaRPr lang="en-US" altLang="ja-JP" sz="1400" dirty="0"/>
          </a:p>
        </p:txBody>
      </p:sp>
      <p:pic>
        <p:nvPicPr>
          <p:cNvPr id="18" name="図 17">
            <a:extLst>
              <a:ext uri="{FF2B5EF4-FFF2-40B4-BE49-F238E27FC236}">
                <a16:creationId xmlns:a16="http://schemas.microsoft.com/office/drawing/2014/main" id="{4A2454B8-BF00-9BD5-EBEA-DD56FB8F58F5}"/>
              </a:ext>
            </a:extLst>
          </p:cNvPr>
          <p:cNvPicPr>
            <a:picLocks noChangeAspect="1"/>
          </p:cNvPicPr>
          <p:nvPr/>
        </p:nvPicPr>
        <p:blipFill>
          <a:blip r:embed="rId2"/>
          <a:stretch>
            <a:fillRect/>
          </a:stretch>
        </p:blipFill>
        <p:spPr>
          <a:xfrm>
            <a:off x="7423432" y="530878"/>
            <a:ext cx="3399056" cy="2916001"/>
          </a:xfrm>
          <a:prstGeom prst="rect">
            <a:avLst/>
          </a:prstGeom>
        </p:spPr>
      </p:pic>
      <p:pic>
        <p:nvPicPr>
          <p:cNvPr id="20" name="図 19">
            <a:extLst>
              <a:ext uri="{FF2B5EF4-FFF2-40B4-BE49-F238E27FC236}">
                <a16:creationId xmlns:a16="http://schemas.microsoft.com/office/drawing/2014/main" id="{24A48CBC-9CDF-EBA8-F865-F417685B0259}"/>
              </a:ext>
            </a:extLst>
          </p:cNvPr>
          <p:cNvPicPr>
            <a:picLocks noChangeAspect="1"/>
          </p:cNvPicPr>
          <p:nvPr/>
        </p:nvPicPr>
        <p:blipFill>
          <a:blip r:embed="rId3"/>
          <a:stretch>
            <a:fillRect/>
          </a:stretch>
        </p:blipFill>
        <p:spPr>
          <a:xfrm>
            <a:off x="6390583" y="3547542"/>
            <a:ext cx="5283437" cy="2704121"/>
          </a:xfrm>
          <a:prstGeom prst="rect">
            <a:avLst/>
          </a:prstGeom>
        </p:spPr>
      </p:pic>
    </p:spTree>
    <p:extLst>
      <p:ext uri="{BB962C8B-B14F-4D97-AF65-F5344CB8AC3E}">
        <p14:creationId xmlns:p14="http://schemas.microsoft.com/office/powerpoint/2010/main" val="1310166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3E0E0B5-5299-8F57-4C6D-E897D68CB64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7BFBDCF-C20B-F7A8-500F-58A5E6445C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602F540-CD19-DE77-E618-EED005EEE4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B7B8B30-51FE-20B9-52F0-D6C3AE21FD6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AEA45B4-3852-0266-BC6B-4D98CF2E96D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8A8883F0-95A9-F213-A22B-C6FC6D2AE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46B3B28-A892-4542-ABF5-A1A042CB560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差動増幅回路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625192797"/>
      </p:ext>
    </p:extLst>
  </p:cSld>
  <p:clrMapOvr>
    <a:overrideClrMapping bg1="dk1" tx1="lt1" bg2="dk2" tx2="lt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F5EB1E8-F51E-7400-F484-9DE957C042F3}"/>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D99EA431-585F-1D60-46F0-53A61923A47B}"/>
              </a:ext>
            </a:extLst>
          </p:cNvPr>
          <p:cNvSpPr>
            <a:spLocks noGrp="1"/>
          </p:cNvSpPr>
          <p:nvPr>
            <p:ph idx="1"/>
          </p:nvPr>
        </p:nvSpPr>
        <p:spPr>
          <a:xfrm>
            <a:off x="645066" y="2031101"/>
            <a:ext cx="4282984" cy="3511943"/>
          </a:xfrm>
        </p:spPr>
        <p:txBody>
          <a:bodyPr anchor="ctr">
            <a:normAutofit/>
          </a:bodyPr>
          <a:lstStyle/>
          <a:p>
            <a:r>
              <a:rPr lang="ja-JP" altLang="en-US" sz="1800"/>
              <a:t>差動増幅回路は、入力された</a:t>
            </a:r>
            <a:r>
              <a:rPr lang="en-US" altLang="ja-JP" sz="1800"/>
              <a:t>2</a:t>
            </a:r>
            <a:r>
              <a:rPr lang="ja-JP" altLang="en-US" sz="1800"/>
              <a:t>つの信号の差を増幅する回路</a:t>
            </a:r>
            <a:endParaRPr lang="en-US" altLang="ja-JP" sz="1800"/>
          </a:p>
          <a:p>
            <a:pPr lvl="1"/>
            <a:r>
              <a:rPr lang="ja-JP" altLang="en-US" sz="1800"/>
              <a:t>基本的な構成は、</a:t>
            </a:r>
            <a:r>
              <a:rPr lang="en-US" altLang="ja-JP" sz="1800"/>
              <a:t>2</a:t>
            </a:r>
            <a:r>
              <a:rPr lang="ja-JP" altLang="en-US" sz="1800"/>
              <a:t>つのトランジスタと、それらのソースを共通に接続し、そこに定電流源を接続したもの</a:t>
            </a:r>
            <a:endParaRPr lang="en-US" altLang="ja-JP" sz="1800"/>
          </a:p>
          <a:p>
            <a:pPr lvl="2"/>
            <a:r>
              <a:rPr lang="ja-JP" altLang="en-US" sz="1800"/>
              <a:t>この定電流源から供給される電流を「テール電流（</a:t>
            </a:r>
            <a:r>
              <a:rPr lang="en" altLang="ja-JP" sz="1800"/>
              <a:t>Tail Current</a:t>
            </a:r>
            <a:r>
              <a:rPr lang="ja-JP" altLang="en" sz="1800"/>
              <a:t>）」</a:t>
            </a:r>
            <a:r>
              <a:rPr lang="ja-JP" altLang="en-US" sz="1800"/>
              <a:t>と呼ぶ</a:t>
            </a:r>
            <a:endParaRPr kumimoji="1" lang="ja-JP" altLang="en-US" sz="1800"/>
          </a:p>
        </p:txBody>
      </p:sp>
      <p:sp>
        <p:nvSpPr>
          <p:cNvPr id="2059" name="Rectangle 205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図 10">
            <a:extLst>
              <a:ext uri="{FF2B5EF4-FFF2-40B4-BE49-F238E27FC236}">
                <a16:creationId xmlns:a16="http://schemas.microsoft.com/office/drawing/2014/main" id="{7B3D7F07-C240-F0D7-BA15-C0ABE6751222}"/>
              </a:ext>
            </a:extLst>
          </p:cNvPr>
          <p:cNvPicPr>
            <a:picLocks noChangeAspect="1"/>
          </p:cNvPicPr>
          <p:nvPr/>
        </p:nvPicPr>
        <p:blipFill>
          <a:blip r:embed="rId2"/>
          <a:stretch>
            <a:fillRect/>
          </a:stretch>
        </p:blipFill>
        <p:spPr>
          <a:xfrm>
            <a:off x="5997018" y="486817"/>
            <a:ext cx="5464021" cy="5310710"/>
          </a:xfrm>
          <a:prstGeom prst="rect">
            <a:avLst/>
          </a:prstGeom>
        </p:spPr>
      </p:pic>
      <p:sp>
        <p:nvSpPr>
          <p:cNvPr id="4" name="フローチャート: 代替処理 3">
            <a:extLst>
              <a:ext uri="{FF2B5EF4-FFF2-40B4-BE49-F238E27FC236}">
                <a16:creationId xmlns:a16="http://schemas.microsoft.com/office/drawing/2014/main" id="{C5BB2D53-8C4E-412E-6B8A-E96AA31A9B37}"/>
              </a:ext>
            </a:extLst>
          </p:cNvPr>
          <p:cNvSpPr/>
          <p:nvPr/>
        </p:nvSpPr>
        <p:spPr>
          <a:xfrm>
            <a:off x="6115634" y="2408172"/>
            <a:ext cx="5318587" cy="1468000"/>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383B9C4-7558-22F6-B9AF-E7B35CB16825}"/>
              </a:ext>
            </a:extLst>
          </p:cNvPr>
          <p:cNvSpPr txBox="1"/>
          <p:nvPr/>
        </p:nvSpPr>
        <p:spPr>
          <a:xfrm>
            <a:off x="6115634" y="2408172"/>
            <a:ext cx="2015588" cy="425413"/>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6" name="フローチャート: 代替処理 5">
            <a:extLst>
              <a:ext uri="{FF2B5EF4-FFF2-40B4-BE49-F238E27FC236}">
                <a16:creationId xmlns:a16="http://schemas.microsoft.com/office/drawing/2014/main" id="{9B346410-D1CC-C3E4-991F-6D46BA6457C8}"/>
              </a:ext>
            </a:extLst>
          </p:cNvPr>
          <p:cNvSpPr/>
          <p:nvPr/>
        </p:nvSpPr>
        <p:spPr>
          <a:xfrm>
            <a:off x="7304017" y="1254743"/>
            <a:ext cx="2464142" cy="1111680"/>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64302A6-A539-FFED-AC66-6925ED10C5AE}"/>
              </a:ext>
            </a:extLst>
          </p:cNvPr>
          <p:cNvSpPr txBox="1"/>
          <p:nvPr/>
        </p:nvSpPr>
        <p:spPr>
          <a:xfrm>
            <a:off x="7264936" y="1212993"/>
            <a:ext cx="2015588" cy="425413"/>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72DA630C-DE1D-F45E-8B79-F250CB495125}"/>
              </a:ext>
            </a:extLst>
          </p:cNvPr>
          <p:cNvSpPr/>
          <p:nvPr/>
        </p:nvSpPr>
        <p:spPr>
          <a:xfrm>
            <a:off x="6142452" y="4007090"/>
            <a:ext cx="5318587" cy="1468000"/>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CE9320D-8045-79D6-D3E7-8D31A85244AD}"/>
              </a:ext>
            </a:extLst>
          </p:cNvPr>
          <p:cNvSpPr txBox="1"/>
          <p:nvPr/>
        </p:nvSpPr>
        <p:spPr>
          <a:xfrm>
            <a:off x="6142452" y="4007090"/>
            <a:ext cx="2804324" cy="425413"/>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Tree>
    <p:extLst>
      <p:ext uri="{BB962C8B-B14F-4D97-AF65-F5344CB8AC3E}">
        <p14:creationId xmlns:p14="http://schemas.microsoft.com/office/powerpoint/2010/main" val="24816001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243ADC2-ABF9-1B9D-5D32-E30E546BA6A4}"/>
              </a:ext>
            </a:extLst>
          </p:cNvPr>
          <p:cNvSpPr>
            <a:spLocks noGrp="1"/>
          </p:cNvSpPr>
          <p:nvPr>
            <p:ph type="title"/>
          </p:nvPr>
        </p:nvSpPr>
        <p:spPr>
          <a:xfrm>
            <a:off x="808638" y="386930"/>
            <a:ext cx="9236700" cy="1188950"/>
          </a:xfrm>
        </p:spPr>
        <p:txBody>
          <a:bodyPr anchor="b">
            <a:normAutofit/>
          </a:bodyPr>
          <a:lstStyle/>
          <a:p>
            <a:r>
              <a:rPr lang="ja-JP" altLang="en-US" sz="5400"/>
              <a:t>アクティブ負荷</a:t>
            </a:r>
            <a:r>
              <a:rPr kumimoji="1" lang="ja-JP" altLang="en-US" sz="5400"/>
              <a:t>の役割</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19332CD-26A8-A483-E6D9-C3D4BFACC7A0}"/>
              </a:ext>
            </a:extLst>
          </p:cNvPr>
          <p:cNvSpPr>
            <a:spLocks noGrp="1"/>
          </p:cNvSpPr>
          <p:nvPr>
            <p:ph idx="1"/>
          </p:nvPr>
        </p:nvSpPr>
        <p:spPr>
          <a:xfrm>
            <a:off x="793660" y="2599509"/>
            <a:ext cx="10143668" cy="3435531"/>
          </a:xfrm>
        </p:spPr>
        <p:txBody>
          <a:bodyPr anchor="ctr">
            <a:normAutofit/>
          </a:bodyPr>
          <a:lstStyle/>
          <a:p>
            <a:r>
              <a:rPr lang="ja-JP" altLang="en-US" sz="2400"/>
              <a:t>差動</a:t>
            </a:r>
            <a:r>
              <a:rPr lang="en-US" altLang="ja-JP" sz="2400"/>
              <a:t>-</a:t>
            </a:r>
            <a:r>
              <a:rPr lang="ja-JP" altLang="en-US" sz="2400"/>
              <a:t>シングルエンド変換</a:t>
            </a:r>
            <a:endParaRPr lang="en-US" altLang="ja-JP" sz="2400"/>
          </a:p>
          <a:p>
            <a:pPr lvl="1"/>
            <a:r>
              <a:rPr lang="ja-JP" altLang="en-US"/>
              <a:t>通常のアナログ回路ではシングルエンド（単相）の出力信号が必要となる。そこで、差動信号からシングルエンド信号への変換を行う役割</a:t>
            </a:r>
            <a:endParaRPr lang="en-US" altLang="ja-JP"/>
          </a:p>
          <a:p>
            <a:r>
              <a:rPr lang="ja-JP" altLang="en-US" sz="2400"/>
              <a:t>高利得の実現</a:t>
            </a:r>
            <a:endParaRPr lang="en-US" altLang="ja-JP" sz="2400"/>
          </a:p>
          <a:p>
            <a:pPr lvl="1"/>
            <a:r>
              <a:rPr lang="ja-JP" altLang="en-US"/>
              <a:t>利得は </a:t>
            </a:r>
            <a:r>
              <a:rPr lang="en-US" altLang="ja-JP"/>
              <a:t>gm</a:t>
            </a:r>
            <a:r>
              <a:rPr lang="ja-JP" altLang="en-US"/>
              <a:t>​</a:t>
            </a:r>
            <a:r>
              <a:rPr lang="en-US" altLang="ja-JP"/>
              <a:t>×</a:t>
            </a:r>
            <a:r>
              <a:rPr lang="ja-JP" altLang="en-US"/>
              <a:t>負荷抵抗なので、</a:t>
            </a:r>
            <a:r>
              <a:rPr lang="ja-JP" altLang="en-US" b="1"/>
              <a:t>差動増幅回路全体の電圧利得を大幅に向上する</a:t>
            </a:r>
            <a:endParaRPr lang="en-US" altLang="ja-JP"/>
          </a:p>
          <a:p>
            <a:pPr lvl="2"/>
            <a:r>
              <a:rPr lang="ja-JP" altLang="en-US" sz="2400"/>
              <a:t>カレントミラーは高い動的インピーダンスであるため負荷抵抗</a:t>
            </a:r>
            <a:r>
              <a:rPr lang="en-US" altLang="ja-JP" sz="2400"/>
              <a:t>(</a:t>
            </a:r>
            <a:r>
              <a:rPr lang="ja-JP" altLang="en-US" sz="2400"/>
              <a:t>内部抵抗</a:t>
            </a:r>
            <a:r>
              <a:rPr lang="en-US" altLang="ja-JP" sz="2400"/>
              <a:t>)</a:t>
            </a:r>
            <a:r>
              <a:rPr lang="ja-JP" altLang="en-US" sz="2400"/>
              <a:t>が大きくなる</a:t>
            </a:r>
            <a:endParaRPr lang="en-US" altLang="ja-JP" sz="2400"/>
          </a:p>
        </p:txBody>
      </p:sp>
    </p:spTree>
    <p:extLst>
      <p:ext uri="{BB962C8B-B14F-4D97-AF65-F5344CB8AC3E}">
        <p14:creationId xmlns:p14="http://schemas.microsoft.com/office/powerpoint/2010/main" val="5097834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1B30DFF-9517-093A-EB98-C02612BA5D4E}"/>
              </a:ext>
            </a:extLst>
          </p:cNvPr>
          <p:cNvSpPr>
            <a:spLocks noGrp="1"/>
          </p:cNvSpPr>
          <p:nvPr>
            <p:ph type="title"/>
          </p:nvPr>
        </p:nvSpPr>
        <p:spPr>
          <a:xfrm>
            <a:off x="793662" y="386930"/>
            <a:ext cx="10066122" cy="1298448"/>
          </a:xfrm>
        </p:spPr>
        <p:txBody>
          <a:bodyPr anchor="b">
            <a:normAutofit/>
          </a:bodyPr>
          <a:lstStyle/>
          <a:p>
            <a:r>
              <a:rPr kumimoji="1" lang="ja-JP" altLang="en-US" sz="4800"/>
              <a:t>差動ーシングルエンド変換</a:t>
            </a:r>
          </a:p>
        </p:txBody>
      </p:sp>
      <p:sp>
        <p:nvSpPr>
          <p:cNvPr id="31"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図 11">
            <a:extLst>
              <a:ext uri="{FF2B5EF4-FFF2-40B4-BE49-F238E27FC236}">
                <a16:creationId xmlns:a16="http://schemas.microsoft.com/office/drawing/2014/main" id="{736391D0-1FE1-58B7-B544-6170EAF05592}"/>
              </a:ext>
            </a:extLst>
          </p:cNvPr>
          <p:cNvPicPr>
            <a:picLocks noChangeAspect="1"/>
          </p:cNvPicPr>
          <p:nvPr/>
        </p:nvPicPr>
        <p:blipFill>
          <a:blip r:embed="rId2"/>
          <a:stretch>
            <a:fillRect/>
          </a:stretch>
        </p:blipFill>
        <p:spPr>
          <a:xfrm>
            <a:off x="7287152" y="2376692"/>
            <a:ext cx="4023953" cy="3911048"/>
          </a:xfrm>
          <a:prstGeom prst="rect">
            <a:avLst/>
          </a:prstGeom>
        </p:spPr>
      </p:pic>
      <p:sp>
        <p:nvSpPr>
          <p:cNvPr id="3" name="コンテンツ プレースホルダー 2">
            <a:extLst>
              <a:ext uri="{FF2B5EF4-FFF2-40B4-BE49-F238E27FC236}">
                <a16:creationId xmlns:a16="http://schemas.microsoft.com/office/drawing/2014/main" id="{3F20075B-6421-0E05-8431-3BF489AE1966}"/>
              </a:ext>
            </a:extLst>
          </p:cNvPr>
          <p:cNvSpPr>
            <a:spLocks noGrp="1"/>
          </p:cNvSpPr>
          <p:nvPr>
            <p:ph idx="1"/>
          </p:nvPr>
        </p:nvSpPr>
        <p:spPr>
          <a:xfrm>
            <a:off x="793660" y="2599509"/>
            <a:ext cx="6421235" cy="3639450"/>
          </a:xfrm>
        </p:spPr>
        <p:txBody>
          <a:bodyPr anchor="ctr">
            <a:normAutofit fontScale="92500" lnSpcReduction="10000"/>
          </a:bodyPr>
          <a:lstStyle/>
          <a:p>
            <a:r>
              <a:rPr lang="ja-JP" altLang="en-US" sz="1400" b="1"/>
              <a:t>差動入力信号が印加された場合</a:t>
            </a:r>
            <a:endParaRPr lang="en-US" altLang="ja-JP" sz="1400" dirty="0"/>
          </a:p>
          <a:p>
            <a:pPr lvl="1"/>
            <a:r>
              <a:rPr lang="en" altLang="ja-JP" sz="1400" b="1" dirty="0"/>
              <a:t>M1</a:t>
            </a:r>
            <a:r>
              <a:rPr lang="ja-JP" altLang="en-US" sz="1400" b="1"/>
              <a:t>の変化</a:t>
            </a:r>
            <a:r>
              <a:rPr lang="en-US" altLang="ja-JP" sz="1400" dirty="0"/>
              <a:t>: </a:t>
            </a:r>
            <a:r>
              <a:rPr lang="en" altLang="ja-JP" sz="1400" dirty="0" err="1"/>
              <a:t>Vinp</a:t>
            </a:r>
            <a:r>
              <a:rPr lang="en" altLang="ja-JP" sz="1400" dirty="0"/>
              <a:t>​ </a:t>
            </a:r>
            <a:r>
              <a:rPr lang="ja-JP" altLang="en-US" sz="1400"/>
              <a:t>上昇 ⇒ </a:t>
            </a:r>
            <a:r>
              <a:rPr lang="en" altLang="ja-JP" sz="1400" dirty="0"/>
              <a:t>Vgs1​ </a:t>
            </a:r>
            <a:r>
              <a:rPr lang="ja-JP" altLang="en-US" sz="1400"/>
              <a:t>の絶対値減少 ⇒ </a:t>
            </a:r>
            <a:r>
              <a:rPr lang="en" altLang="ja-JP" sz="1400" dirty="0"/>
              <a:t>Id1​ </a:t>
            </a:r>
            <a:r>
              <a:rPr lang="ja-JP" altLang="en-US" sz="1400" b="1"/>
              <a:t>減少</a:t>
            </a:r>
            <a:endParaRPr lang="ja-JP" altLang="en-US" sz="1400"/>
          </a:p>
          <a:p>
            <a:pPr lvl="1"/>
            <a:r>
              <a:rPr lang="en" altLang="ja-JP" sz="1400" b="1" dirty="0"/>
              <a:t>M2</a:t>
            </a:r>
            <a:r>
              <a:rPr lang="ja-JP" altLang="en-US" sz="1400" b="1"/>
              <a:t>の変化</a:t>
            </a:r>
            <a:r>
              <a:rPr lang="en-US" altLang="ja-JP" sz="1400" dirty="0"/>
              <a:t>: </a:t>
            </a:r>
            <a:r>
              <a:rPr lang="en" altLang="ja-JP" sz="1400" dirty="0"/>
              <a:t>Vinn </a:t>
            </a:r>
            <a:r>
              <a:rPr lang="ja-JP" altLang="en-US" sz="1400"/>
              <a:t>下降 ⇒ </a:t>
            </a:r>
            <a:r>
              <a:rPr lang="en" altLang="ja-JP" sz="1400" dirty="0"/>
              <a:t>Vgs2​ </a:t>
            </a:r>
            <a:r>
              <a:rPr lang="ja-JP" altLang="en-US" sz="1400"/>
              <a:t>の絶対値増加 ⇒ </a:t>
            </a:r>
            <a:r>
              <a:rPr lang="en" altLang="ja-JP" sz="1400" dirty="0"/>
              <a:t>Id2​ </a:t>
            </a:r>
            <a:r>
              <a:rPr lang="ja-JP" altLang="en-US" sz="1400" b="1"/>
              <a:t>増加</a:t>
            </a:r>
            <a:endParaRPr lang="ja-JP" altLang="en-US" sz="1400"/>
          </a:p>
          <a:p>
            <a:pPr lvl="2"/>
            <a:r>
              <a:rPr lang="ja-JP" altLang="en-US" sz="1400"/>
              <a:t>テール電流源により </a:t>
            </a:r>
            <a:r>
              <a:rPr lang="en" altLang="ja-JP" sz="1400" dirty="0"/>
              <a:t>Id1​+Id2​=</a:t>
            </a:r>
            <a:r>
              <a:rPr lang="en" altLang="ja-JP" sz="1400" dirty="0" err="1"/>
              <a:t>Iss</a:t>
            </a:r>
            <a:r>
              <a:rPr lang="en" altLang="ja-JP" sz="1400" dirty="0"/>
              <a:t>​</a:t>
            </a:r>
            <a:r>
              <a:rPr lang="ja-JP" altLang="en" sz="1400"/>
              <a:t>（</a:t>
            </a:r>
            <a:r>
              <a:rPr lang="ja-JP" altLang="en-US" sz="1400"/>
              <a:t>一定）のため、 </a:t>
            </a:r>
            <a:r>
              <a:rPr lang="en" altLang="ja-JP" sz="1400" dirty="0"/>
              <a:t>Id1​=</a:t>
            </a:r>
            <a:r>
              <a:rPr lang="en" altLang="ja-JP" sz="1400" dirty="0" err="1"/>
              <a:t>Iss</a:t>
            </a:r>
            <a:r>
              <a:rPr lang="en" altLang="ja-JP" sz="1400" dirty="0"/>
              <a:t>​/2−</a:t>
            </a:r>
            <a:r>
              <a:rPr lang="el-GR" altLang="ja-JP" sz="1400" dirty="0"/>
              <a:t>Δ</a:t>
            </a:r>
            <a:r>
              <a:rPr lang="en" altLang="ja-JP" sz="1400" dirty="0"/>
              <a:t>I* Id2​=</a:t>
            </a:r>
            <a:r>
              <a:rPr lang="en" altLang="ja-JP" sz="1400" dirty="0" err="1"/>
              <a:t>Iss</a:t>
            </a:r>
            <a:r>
              <a:rPr lang="en" altLang="ja-JP" sz="1400" dirty="0"/>
              <a:t>​/2+</a:t>
            </a:r>
            <a:r>
              <a:rPr lang="el-GR" altLang="ja-JP" sz="1400" dirty="0"/>
              <a:t>Δ</a:t>
            </a:r>
            <a:r>
              <a:rPr lang="en" altLang="ja-JP" sz="1400" dirty="0"/>
              <a:t>I </a:t>
            </a:r>
            <a:r>
              <a:rPr lang="ja-JP" altLang="en-US" sz="1400"/>
              <a:t>となる</a:t>
            </a:r>
          </a:p>
          <a:p>
            <a:r>
              <a:rPr lang="ja-JP" altLang="en-US" sz="1400" b="1"/>
              <a:t>カレントミラーによる結合</a:t>
            </a:r>
            <a:endParaRPr lang="en-US" altLang="ja-JP" sz="1400" dirty="0"/>
          </a:p>
          <a:p>
            <a:pPr lvl="1"/>
            <a:r>
              <a:rPr lang="en" altLang="ja-JP" sz="1400" dirty="0"/>
              <a:t>Id1​ </a:t>
            </a:r>
            <a:r>
              <a:rPr lang="ja-JP" altLang="en-US" sz="1400"/>
              <a:t>が</a:t>
            </a:r>
            <a:r>
              <a:rPr lang="en" altLang="ja-JP" sz="1400" dirty="0"/>
              <a:t>M3</a:t>
            </a:r>
            <a:r>
              <a:rPr lang="ja-JP" altLang="en-US" sz="1400"/>
              <a:t>に流れ、</a:t>
            </a:r>
            <a:r>
              <a:rPr lang="en" altLang="ja-JP" sz="1400" dirty="0"/>
              <a:t>M3</a:t>
            </a:r>
            <a:r>
              <a:rPr lang="ja-JP" altLang="en-US" sz="1400"/>
              <a:t>はダイオード接続されており、そのゲート電圧が </a:t>
            </a:r>
            <a:r>
              <a:rPr lang="en" altLang="ja-JP" sz="1400" dirty="0"/>
              <a:t>Id1​ </a:t>
            </a:r>
            <a:r>
              <a:rPr lang="ja-JP" altLang="en-US" sz="1400"/>
              <a:t>に応じて変化</a:t>
            </a:r>
          </a:p>
          <a:p>
            <a:pPr lvl="1"/>
            <a:r>
              <a:rPr lang="ja-JP" altLang="en-US" sz="1400"/>
              <a:t>カレントミラーのため、</a:t>
            </a:r>
            <a:r>
              <a:rPr lang="en" altLang="ja-JP" sz="1400" b="1" dirty="0"/>
              <a:t>M4</a:t>
            </a:r>
            <a:r>
              <a:rPr lang="ja-JP" altLang="en-US" sz="1400" b="1"/>
              <a:t>のドレインにも同様の電流 </a:t>
            </a:r>
            <a:r>
              <a:rPr lang="en" altLang="ja-JP" sz="1400" b="1" dirty="0"/>
              <a:t>Id4​ </a:t>
            </a:r>
            <a:r>
              <a:rPr lang="ja-JP" altLang="en-US" sz="1400" b="1"/>
              <a:t>が流れる</a:t>
            </a:r>
            <a:endParaRPr lang="en-US" altLang="ja-JP" sz="1400" dirty="0"/>
          </a:p>
          <a:p>
            <a:pPr lvl="2"/>
            <a:r>
              <a:rPr lang="en" altLang="ja-JP" sz="1400" dirty="0"/>
              <a:t>Id4​=Id1​=</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a:t>となる（</a:t>
            </a:r>
            <a:r>
              <a:rPr lang="en" altLang="ja-JP" sz="1400" dirty="0"/>
              <a:t> M2</a:t>
            </a:r>
            <a:r>
              <a:rPr lang="ja-JP" altLang="en-US" sz="1400"/>
              <a:t>は</a:t>
            </a:r>
            <a:r>
              <a:rPr lang="en-US" altLang="ja-JP" sz="1400" dirty="0"/>
              <a:t> </a:t>
            </a:r>
            <a:r>
              <a:rPr lang="en" altLang="ja-JP" sz="1400" dirty="0"/>
              <a:t>Id2​ =</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a:t>）</a:t>
            </a:r>
          </a:p>
          <a:p>
            <a:r>
              <a:rPr lang="ja-JP" altLang="en-US" sz="1400" b="1"/>
              <a:t>出力ノードでの電流合成と電圧変換</a:t>
            </a:r>
            <a:endParaRPr lang="en-US" altLang="ja-JP" sz="1400" dirty="0"/>
          </a:p>
          <a:p>
            <a:pPr lvl="1"/>
            <a:r>
              <a:rPr lang="ja-JP" altLang="en-US" sz="1400"/>
              <a:t>出力ノードから見ると、 </a:t>
            </a:r>
            <a:r>
              <a:rPr lang="en" altLang="ja-JP" sz="1400" dirty="0" err="1"/>
              <a:t>Iout</a:t>
            </a:r>
            <a:r>
              <a:rPr lang="en" altLang="ja-JP" sz="1400" dirty="0"/>
              <a:t>​=Id2​</a:t>
            </a:r>
            <a:r>
              <a:rPr lang="en" altLang="ja-JP" sz="1400" dirty="0">
                <a:solidFill>
                  <a:srgbClr val="FF0000"/>
                </a:solidFill>
              </a:rPr>
              <a:t>−</a:t>
            </a:r>
            <a:r>
              <a:rPr lang="en" altLang="ja-JP" sz="1400" dirty="0"/>
              <a:t>Id4​=(</a:t>
            </a:r>
            <a:r>
              <a:rPr lang="en" altLang="ja-JP" sz="1400" dirty="0" err="1"/>
              <a:t>Iss</a:t>
            </a:r>
            <a:r>
              <a:rPr lang="en" altLang="ja-JP" sz="1400" dirty="0"/>
              <a:t>​/2+</a:t>
            </a:r>
            <a:r>
              <a:rPr lang="el-GR" altLang="ja-JP" sz="1400" dirty="0"/>
              <a:t>Δ</a:t>
            </a:r>
            <a:r>
              <a:rPr lang="en" altLang="ja-JP" sz="1400" dirty="0"/>
              <a:t>I)</a:t>
            </a:r>
            <a:r>
              <a:rPr lang="en" altLang="ja-JP" sz="1400" dirty="0">
                <a:solidFill>
                  <a:srgbClr val="FF0000"/>
                </a:solidFill>
              </a:rPr>
              <a:t>−</a:t>
            </a:r>
            <a:r>
              <a:rPr lang="en" altLang="ja-JP" sz="1400" dirty="0"/>
              <a:t>(</a:t>
            </a:r>
            <a:r>
              <a:rPr lang="en" altLang="ja-JP" sz="1400" dirty="0" err="1"/>
              <a:t>Iss</a:t>
            </a:r>
            <a:r>
              <a:rPr lang="en" altLang="ja-JP" sz="1400" dirty="0"/>
              <a:t>​/2−</a:t>
            </a:r>
            <a:r>
              <a:rPr lang="el-GR" altLang="ja-JP" sz="1400" dirty="0"/>
              <a:t>Δ</a:t>
            </a:r>
            <a:r>
              <a:rPr lang="en" altLang="ja-JP" sz="1400" dirty="0"/>
              <a:t>I) </a:t>
            </a:r>
            <a:r>
              <a:rPr lang="en" altLang="ja-JP" sz="1400" dirty="0" err="1">
                <a:solidFill>
                  <a:srgbClr val="FF0000"/>
                </a:solidFill>
              </a:rPr>
              <a:t>Iout</a:t>
            </a:r>
            <a:r>
              <a:rPr lang="en" altLang="ja-JP" sz="1400" dirty="0">
                <a:solidFill>
                  <a:srgbClr val="FF0000"/>
                </a:solidFill>
              </a:rPr>
              <a:t>​=2</a:t>
            </a:r>
            <a:r>
              <a:rPr lang="el-GR" altLang="ja-JP" sz="1400" dirty="0">
                <a:solidFill>
                  <a:srgbClr val="FF0000"/>
                </a:solidFill>
              </a:rPr>
              <a:t>Δ</a:t>
            </a:r>
            <a:r>
              <a:rPr lang="en" altLang="ja-JP" sz="1400" dirty="0">
                <a:solidFill>
                  <a:srgbClr val="FF0000"/>
                </a:solidFill>
              </a:rPr>
              <a:t>I</a:t>
            </a:r>
          </a:p>
          <a:p>
            <a:pPr lvl="2"/>
            <a:r>
              <a:rPr lang="ja-JP" altLang="en-US" sz="1400" b="1"/>
              <a:t>入力の差動信号によって生じた電流変化の</a:t>
            </a:r>
            <a:r>
              <a:rPr lang="en-US" altLang="ja-JP" sz="1400" b="1" dirty="0"/>
              <a:t>2</a:t>
            </a:r>
            <a:r>
              <a:rPr lang="ja-JP" altLang="en-US" sz="1400" b="1"/>
              <a:t>倍の電流が、出力ノードに流れる</a:t>
            </a:r>
            <a:endParaRPr lang="ja-JP" altLang="en-US" sz="1400"/>
          </a:p>
          <a:p>
            <a:pPr lvl="3"/>
            <a:r>
              <a:rPr lang="en" altLang="ja-JP" sz="1400" dirty="0" err="1"/>
              <a:t>Vout</a:t>
            </a:r>
            <a:r>
              <a:rPr lang="en" altLang="ja-JP" sz="1400" dirty="0"/>
              <a:t>​=(DC</a:t>
            </a:r>
            <a:r>
              <a:rPr lang="ja-JP" altLang="en-US" sz="1400"/>
              <a:t>バイアス電圧</a:t>
            </a:r>
            <a:r>
              <a:rPr lang="en-US" altLang="ja-JP" sz="1400" dirty="0"/>
              <a:t>)+</a:t>
            </a:r>
            <a:r>
              <a:rPr lang="en" altLang="ja-JP" sz="1400" dirty="0" err="1"/>
              <a:t>Iout</a:t>
            </a:r>
            <a:r>
              <a:rPr lang="en" altLang="ja-JP" sz="1400" dirty="0"/>
              <a:t>​×(ro2​ ∣∣ ro4​)</a:t>
            </a:r>
          </a:p>
        </p:txBody>
      </p:sp>
      <p:sp>
        <p:nvSpPr>
          <p:cNvPr id="33" name="Rectangle 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フローチャート: 代替処理 5">
            <a:extLst>
              <a:ext uri="{FF2B5EF4-FFF2-40B4-BE49-F238E27FC236}">
                <a16:creationId xmlns:a16="http://schemas.microsoft.com/office/drawing/2014/main" id="{2121E105-24B2-EE19-6BBB-471217D75E8A}"/>
              </a:ext>
            </a:extLst>
          </p:cNvPr>
          <p:cNvSpPr/>
          <p:nvPr/>
        </p:nvSpPr>
        <p:spPr>
          <a:xfrm>
            <a:off x="7433477" y="3698213"/>
            <a:ext cx="3757036" cy="1036991"/>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BC8C080-33A3-825D-9EED-BB9E825F4249}"/>
              </a:ext>
            </a:extLst>
          </p:cNvPr>
          <p:cNvSpPr txBox="1"/>
          <p:nvPr/>
        </p:nvSpPr>
        <p:spPr>
          <a:xfrm>
            <a:off x="7433477" y="3698213"/>
            <a:ext cx="1423806" cy="316240"/>
          </a:xfrm>
          <a:prstGeom prst="rect">
            <a:avLst/>
          </a:prstGeom>
          <a:noFill/>
        </p:spPr>
        <p:txBody>
          <a:bodyPr wrap="square" rtlCol="0">
            <a:spAutoFit/>
          </a:bodyPr>
          <a:lstStyle/>
          <a:p>
            <a:pPr defTabSz="415924">
              <a:spcAft>
                <a:spcPts val="479"/>
              </a:spcAft>
            </a:pPr>
            <a:r>
              <a:rPr kumimoji="1" lang="ja-JP" altLang="en-US" sz="1455" kern="1200">
                <a:solidFill>
                  <a:schemeClr val="accent2">
                    <a:lumMod val="40000"/>
                    <a:lumOff val="6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BA406BD6-1162-8B31-28F1-BE19BF81A7D7}"/>
              </a:ext>
            </a:extLst>
          </p:cNvPr>
          <p:cNvSpPr/>
          <p:nvPr/>
        </p:nvSpPr>
        <p:spPr>
          <a:xfrm>
            <a:off x="8272948" y="2883434"/>
            <a:ext cx="1740663" cy="785287"/>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D61D971-ED65-0809-9075-2B7C52F15D47}"/>
              </a:ext>
            </a:extLst>
          </p:cNvPr>
          <p:cNvSpPr txBox="1"/>
          <p:nvPr/>
        </p:nvSpPr>
        <p:spPr>
          <a:xfrm>
            <a:off x="8245342" y="2853942"/>
            <a:ext cx="1423806" cy="316240"/>
          </a:xfrm>
          <a:prstGeom prst="rect">
            <a:avLst/>
          </a:prstGeom>
          <a:noFill/>
        </p:spPr>
        <p:txBody>
          <a:bodyPr wrap="square" rtlCol="0">
            <a:spAutoFit/>
          </a:bodyPr>
          <a:lstStyle/>
          <a:p>
            <a:pPr defTabSz="415924">
              <a:spcAft>
                <a:spcPts val="479"/>
              </a:spcAft>
            </a:pPr>
            <a:r>
              <a:rPr kumimoji="1" lang="ja-JP" altLang="en-US" sz="1455"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AE747309-C11C-FA3D-EB2B-A2E1F073214A}"/>
              </a:ext>
            </a:extLst>
          </p:cNvPr>
          <p:cNvSpPr/>
          <p:nvPr/>
        </p:nvSpPr>
        <p:spPr>
          <a:xfrm>
            <a:off x="7452421" y="4827685"/>
            <a:ext cx="3757036" cy="1036991"/>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BE19294-42BA-4A8F-DE25-81DFD6DA2505}"/>
              </a:ext>
            </a:extLst>
          </p:cNvPr>
          <p:cNvSpPr txBox="1"/>
          <p:nvPr/>
        </p:nvSpPr>
        <p:spPr>
          <a:xfrm>
            <a:off x="7452421" y="4827685"/>
            <a:ext cx="1980967" cy="316240"/>
          </a:xfrm>
          <a:prstGeom prst="rect">
            <a:avLst/>
          </a:prstGeom>
          <a:noFill/>
        </p:spPr>
        <p:txBody>
          <a:bodyPr wrap="square" rtlCol="0">
            <a:spAutoFit/>
          </a:bodyPr>
          <a:lstStyle/>
          <a:p>
            <a:pPr defTabSz="415924">
              <a:spcAft>
                <a:spcPts val="479"/>
              </a:spcAft>
            </a:pPr>
            <a:r>
              <a:rPr kumimoji="1" lang="ja-JP" altLang="en-US" sz="1455"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Tree>
    <p:extLst>
      <p:ext uri="{BB962C8B-B14F-4D97-AF65-F5344CB8AC3E}">
        <p14:creationId xmlns:p14="http://schemas.microsoft.com/office/powerpoint/2010/main" val="3913641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D74DAAA-89AD-A734-ECDB-FE535D87E2B6}"/>
              </a:ext>
            </a:extLst>
          </p:cNvPr>
          <p:cNvSpPr>
            <a:spLocks noGrp="1"/>
          </p:cNvSpPr>
          <p:nvPr>
            <p:ph type="title"/>
          </p:nvPr>
        </p:nvSpPr>
        <p:spPr>
          <a:xfrm>
            <a:off x="1043631" y="809898"/>
            <a:ext cx="9942716" cy="1554480"/>
          </a:xfrm>
        </p:spPr>
        <p:txBody>
          <a:bodyPr anchor="ctr">
            <a:normAutofit/>
          </a:bodyPr>
          <a:lstStyle/>
          <a:p>
            <a:r>
              <a:rPr kumimoji="1" lang="ja-JP" altLang="en-US" sz="4800"/>
              <a:t>テール電流の役割</a:t>
            </a:r>
          </a:p>
        </p:txBody>
      </p:sp>
      <p:sp>
        <p:nvSpPr>
          <p:cNvPr id="3" name="コンテンツ プレースホルダー 2">
            <a:extLst>
              <a:ext uri="{FF2B5EF4-FFF2-40B4-BE49-F238E27FC236}">
                <a16:creationId xmlns:a16="http://schemas.microsoft.com/office/drawing/2014/main" id="{6CCB2F6F-AD2F-8492-20BB-DD03C15E5178}"/>
              </a:ext>
            </a:extLst>
          </p:cNvPr>
          <p:cNvSpPr>
            <a:spLocks noGrp="1"/>
          </p:cNvSpPr>
          <p:nvPr>
            <p:ph idx="1"/>
          </p:nvPr>
        </p:nvSpPr>
        <p:spPr>
          <a:xfrm>
            <a:off x="1045027" y="3017522"/>
            <a:ext cx="10730961" cy="3124658"/>
          </a:xfrm>
        </p:spPr>
        <p:txBody>
          <a:bodyPr anchor="ctr">
            <a:normAutofit/>
          </a:bodyPr>
          <a:lstStyle/>
          <a:p>
            <a:r>
              <a:rPr lang="ja-JP" altLang="en-US" sz="1800"/>
              <a:t>コモンモード除去比 </a:t>
            </a:r>
            <a:r>
              <a:rPr lang="en-US" altLang="ja-JP" sz="1800" dirty="0"/>
              <a:t>(</a:t>
            </a:r>
            <a:r>
              <a:rPr lang="en" altLang="ja-JP" sz="1800" dirty="0"/>
              <a:t>CMRR: Common Mode Rejection Ratio) </a:t>
            </a:r>
            <a:r>
              <a:rPr lang="ja-JP" altLang="en-US" sz="1800"/>
              <a:t>の向上</a:t>
            </a:r>
            <a:endParaRPr lang="en-US" altLang="ja-JP" sz="1800" dirty="0"/>
          </a:p>
          <a:p>
            <a:pPr lvl="1"/>
            <a:r>
              <a:rPr lang="ja-JP" altLang="en-US" sz="1800"/>
              <a:t>入力信号の変動にかかわらず、トランジスタのソースに流れる総電流を一定にすることで、コモンモード信号が入力されても、トランジスタの動作点がほとんど変動せず、コモンモード信号の増幅が抑制する</a:t>
            </a:r>
            <a:endParaRPr lang="en-US" altLang="ja-JP" sz="1800" dirty="0"/>
          </a:p>
          <a:p>
            <a:pPr lvl="2"/>
            <a:r>
              <a:rPr kumimoji="1" lang="ja-JP" altLang="en-US" sz="1800"/>
              <a:t>アクティブ負荷もこの役割の一端を担う</a:t>
            </a:r>
            <a:endParaRPr lang="en-US" altLang="ja-JP" sz="1800" dirty="0"/>
          </a:p>
          <a:p>
            <a:r>
              <a:rPr lang="ja-JP" altLang="en-US" sz="1800"/>
              <a:t>差動ゲインの安定化</a:t>
            </a:r>
          </a:p>
          <a:p>
            <a:pPr lvl="1"/>
            <a:r>
              <a:rPr lang="ja-JP" altLang="en-US" sz="1800"/>
              <a:t>テール電流が一定に保たれることで、相互コンダクタンス（</a:t>
            </a:r>
            <a:r>
              <a:rPr lang="en" altLang="ja-JP" sz="1800" dirty="0"/>
              <a:t>gm​</a:t>
            </a:r>
            <a:r>
              <a:rPr lang="ja-JP" altLang="en" sz="1800"/>
              <a:t>）</a:t>
            </a:r>
            <a:r>
              <a:rPr lang="ja-JP" altLang="en-US" sz="1800"/>
              <a:t>が安定する</a:t>
            </a:r>
          </a:p>
          <a:p>
            <a:r>
              <a:rPr lang="ja-JP" altLang="en-US" sz="1800"/>
              <a:t>バイアス安定化</a:t>
            </a:r>
          </a:p>
          <a:p>
            <a:pPr lvl="1"/>
            <a:r>
              <a:rPr lang="ja-JP" altLang="en-US" sz="1800"/>
              <a:t>トランジスタの動作点が適切に設定され、温度変動などに対しても安定したバイアス状態となる</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5826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013FCB-192D-36E0-2090-ECCBA9928B60}"/>
            </a:ext>
          </a:extLst>
        </p:cNvPr>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BA4B93A6-BF80-48E0-A47D-981489102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CD764E-0B62-10E8-B468-56137BF9C2D5}"/>
              </a:ext>
            </a:extLst>
          </p:cNvPr>
          <p:cNvSpPr>
            <a:spLocks noGrp="1"/>
          </p:cNvSpPr>
          <p:nvPr>
            <p:ph type="title"/>
          </p:nvPr>
        </p:nvSpPr>
        <p:spPr>
          <a:xfrm>
            <a:off x="589560" y="856180"/>
            <a:ext cx="4560584" cy="1128068"/>
          </a:xfrm>
        </p:spPr>
        <p:txBody>
          <a:bodyPr anchor="ctr">
            <a:normAutofit/>
          </a:bodyPr>
          <a:lstStyle/>
          <a:p>
            <a:r>
              <a:rPr kumimoji="1" lang="ja-JP" altLang="en-US" sz="4000"/>
              <a:t>全体設計の例：</a:t>
            </a:r>
            <a:r>
              <a:rPr lang="en-US" altLang="ja-JP" sz="4000"/>
              <a:t>1</a:t>
            </a:r>
            <a:endParaRPr kumimoji="1" lang="ja-JP" altLang="en-US" sz="4000"/>
          </a:p>
        </p:txBody>
      </p:sp>
      <p:grpSp>
        <p:nvGrpSpPr>
          <p:cNvPr id="1063" name="Group 1062">
            <a:extLst>
              <a:ext uri="{FF2B5EF4-FFF2-40B4-BE49-F238E27FC236}">
                <a16:creationId xmlns:a16="http://schemas.microsoft.com/office/drawing/2014/main" id="{F05AF610-9884-6B59-2FF1-D32BDB2DC0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64" name="Rectangle 1063">
              <a:extLst>
                <a:ext uri="{FF2B5EF4-FFF2-40B4-BE49-F238E27FC236}">
                  <a16:creationId xmlns:a16="http://schemas.microsoft.com/office/drawing/2014/main" id="{367D64EB-7DB5-E259-AE5D-FD8BB31EE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1E0B98DD-247D-BB72-7B81-4BFFFA737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7" name="Rectangle 1066">
            <a:extLst>
              <a:ext uri="{FF2B5EF4-FFF2-40B4-BE49-F238E27FC236}">
                <a16:creationId xmlns:a16="http://schemas.microsoft.com/office/drawing/2014/main" id="{73E267BF-4B2C-420D-DB08-5EA2626C2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0158060B-17AB-6255-72BC-5C7CD7AD7CBB}"/>
              </a:ext>
            </a:extLst>
          </p:cNvPr>
          <p:cNvSpPr>
            <a:spLocks noGrp="1"/>
          </p:cNvSpPr>
          <p:nvPr>
            <p:ph idx="1"/>
          </p:nvPr>
        </p:nvSpPr>
        <p:spPr>
          <a:xfrm>
            <a:off x="590719" y="2330505"/>
            <a:ext cx="4895681" cy="4270711"/>
          </a:xfrm>
        </p:spPr>
        <p:txBody>
          <a:bodyPr anchor="ctr">
            <a:normAutofit fontScale="92500" lnSpcReduction="20000"/>
          </a:bodyPr>
          <a:lstStyle/>
          <a:p>
            <a:pPr>
              <a:buFont typeface="+mj-lt"/>
              <a:buAutoNum type="arabicPeriod"/>
            </a:pPr>
            <a:r>
              <a:rPr lang="ja-JP" altLang="en-US"/>
              <a:t>差動回路なので</a:t>
            </a:r>
            <a:endParaRPr lang="en-US" altLang="ja-JP" dirty="0"/>
          </a:p>
          <a:p>
            <a:pPr lvl="1">
              <a:buFont typeface="+mj-lt"/>
              <a:buAutoNum type="arabicPeriod"/>
            </a:pPr>
            <a:r>
              <a:rPr lang="en-US" altLang="ja-JP" dirty="0"/>
              <a:t>W</a:t>
            </a:r>
            <a:r>
              <a:rPr lang="ja-JP" altLang="en-US"/>
              <a:t>は、</a:t>
            </a:r>
            <a:r>
              <a:rPr lang="en-US" altLang="ja-JP" dirty="0"/>
              <a:t>M1</a:t>
            </a:r>
            <a:r>
              <a:rPr lang="ja-JP" altLang="en-US"/>
              <a:t>と</a:t>
            </a:r>
            <a:r>
              <a:rPr lang="en-US" altLang="ja-JP" dirty="0"/>
              <a:t>M2, M3</a:t>
            </a:r>
            <a:r>
              <a:rPr lang="ja-JP" altLang="en-US"/>
              <a:t>と</a:t>
            </a:r>
            <a:r>
              <a:rPr lang="en-US" altLang="ja-JP" dirty="0"/>
              <a:t>M4</a:t>
            </a:r>
            <a:r>
              <a:rPr lang="ja-JP" altLang="en-US"/>
              <a:t>で同じになる</a:t>
            </a:r>
            <a:endParaRPr lang="en-US" altLang="ja-JP" dirty="0"/>
          </a:p>
          <a:p>
            <a:pPr>
              <a:buFont typeface="+mj-lt"/>
              <a:buAutoNum type="arabicPeriod"/>
            </a:pPr>
            <a:r>
              <a:rPr lang="en-US" altLang="ja-JP" dirty="0"/>
              <a:t>M5</a:t>
            </a:r>
            <a:r>
              <a:rPr lang="ja-JP" altLang="en-US"/>
              <a:t>と</a:t>
            </a:r>
            <a:r>
              <a:rPr lang="en-US" altLang="ja-JP" dirty="0"/>
              <a:t>M3&amp;M4</a:t>
            </a:r>
            <a:r>
              <a:rPr lang="ja-JP" altLang="en-US"/>
              <a:t>に注目する</a:t>
            </a:r>
            <a:endParaRPr lang="en-US" altLang="ja-JP" dirty="0"/>
          </a:p>
          <a:p>
            <a:pPr lvl="1">
              <a:buFont typeface="+mj-lt"/>
              <a:buAutoNum type="arabicPeriod"/>
            </a:pPr>
            <a:r>
              <a:rPr lang="ja-JP" altLang="en-US">
                <a:solidFill>
                  <a:srgbClr val="FF0000"/>
                </a:solidFill>
              </a:rPr>
              <a:t>ソース接地増幅回路と同じ形</a:t>
            </a:r>
            <a:endParaRPr lang="en-US" altLang="ja-JP" dirty="0">
              <a:solidFill>
                <a:srgbClr val="FF0000"/>
              </a:solidFill>
            </a:endParaRPr>
          </a:p>
          <a:p>
            <a:pPr lvl="1">
              <a:buFont typeface="+mj-lt"/>
              <a:buAutoNum type="arabicPeriod"/>
            </a:pPr>
            <a:r>
              <a:rPr lang="ja-JP" altLang="en-US"/>
              <a:t>先ほどと同じ：</a:t>
            </a:r>
            <a:r>
              <a:rPr lang="en-US" altLang="ja-JP" dirty="0" err="1"/>
              <a:t>Vout</a:t>
            </a:r>
            <a:r>
              <a:rPr lang="en-US" altLang="ja-JP" dirty="0"/>
              <a:t>=</a:t>
            </a:r>
            <a:r>
              <a:rPr lang="en-US" altLang="ja-JP" dirty="0" err="1"/>
              <a:t>Vdd</a:t>
            </a:r>
            <a:r>
              <a:rPr lang="en-US" altLang="ja-JP" dirty="0"/>
              <a:t>/2</a:t>
            </a:r>
          </a:p>
          <a:p>
            <a:pPr lvl="1">
              <a:buFont typeface="+mj-lt"/>
              <a:buAutoNum type="arabicPeriod"/>
            </a:pPr>
            <a:r>
              <a:rPr lang="en-US" altLang="ja-JP" dirty="0"/>
              <a:t>W</a:t>
            </a:r>
            <a:r>
              <a:rPr lang="ja-JP" altLang="en-US"/>
              <a:t>の比は、</a:t>
            </a:r>
            <a:r>
              <a:rPr lang="en-US" altLang="ja-JP" dirty="0"/>
              <a:t>M3,M4</a:t>
            </a:r>
            <a:r>
              <a:rPr lang="ja-JP" altLang="en-US"/>
              <a:t>は電流を</a:t>
            </a:r>
            <a:r>
              <a:rPr lang="en-US" altLang="ja-JP" dirty="0"/>
              <a:t>1/2</a:t>
            </a:r>
            <a:r>
              <a:rPr lang="ja-JP" altLang="en-US"/>
              <a:t>ずつにするところから</a:t>
            </a:r>
            <a:endParaRPr lang="en-US" altLang="ja-JP" dirty="0"/>
          </a:p>
          <a:p>
            <a:pPr lvl="2">
              <a:buFont typeface="+mj-lt"/>
              <a:buAutoNum type="arabicPeriod"/>
            </a:pPr>
            <a:r>
              <a:rPr lang="en-US" altLang="ja-JP" dirty="0">
                <a:solidFill>
                  <a:srgbClr val="FF0000"/>
                </a:solidFill>
              </a:rPr>
              <a:t>M5</a:t>
            </a:r>
            <a:r>
              <a:rPr lang="ja-JP" altLang="en-US">
                <a:solidFill>
                  <a:srgbClr val="FF0000"/>
                </a:solidFill>
              </a:rPr>
              <a:t>：</a:t>
            </a:r>
            <a:r>
              <a:rPr lang="en-US" altLang="ja-JP" dirty="0">
                <a:solidFill>
                  <a:srgbClr val="FF0000"/>
                </a:solidFill>
              </a:rPr>
              <a:t> 2*M3orM4 </a:t>
            </a:r>
            <a:r>
              <a:rPr lang="ja-JP" altLang="en-US">
                <a:solidFill>
                  <a:srgbClr val="FF0000"/>
                </a:solidFill>
              </a:rPr>
              <a:t>＝ </a:t>
            </a:r>
            <a:r>
              <a:rPr lang="en-US" altLang="ja-JP" dirty="0">
                <a:solidFill>
                  <a:srgbClr val="FF0000"/>
                </a:solidFill>
              </a:rPr>
              <a:t>M6</a:t>
            </a:r>
            <a:r>
              <a:rPr lang="ja-JP" altLang="en-US">
                <a:solidFill>
                  <a:srgbClr val="FF0000"/>
                </a:solidFill>
              </a:rPr>
              <a:t>：</a:t>
            </a:r>
            <a:r>
              <a:rPr lang="en-US" altLang="ja-JP" dirty="0">
                <a:solidFill>
                  <a:srgbClr val="FF0000"/>
                </a:solidFill>
              </a:rPr>
              <a:t>M7</a:t>
            </a:r>
          </a:p>
          <a:p>
            <a:pPr lvl="1">
              <a:buFont typeface="+mj-lt"/>
              <a:buAutoNum type="arabicPeriod"/>
            </a:pPr>
            <a:r>
              <a:rPr lang="en-US" altLang="ja-JP" dirty="0"/>
              <a:t>M3,M4</a:t>
            </a:r>
            <a:r>
              <a:rPr lang="ja-JP" altLang="en-US"/>
              <a:t>は利得に影響がないため最小にする</a:t>
            </a:r>
            <a:endParaRPr lang="en-US" altLang="ja-JP" dirty="0"/>
          </a:p>
          <a:p>
            <a:pPr>
              <a:buFont typeface="+mj-lt"/>
              <a:buAutoNum type="arabicPeriod"/>
            </a:pPr>
            <a:r>
              <a:rPr lang="ja-JP" altLang="en-US"/>
              <a:t>設計値：</a:t>
            </a:r>
            <a:r>
              <a:rPr lang="en-US" altLang="ja-JP" dirty="0"/>
              <a:t>W</a:t>
            </a:r>
          </a:p>
          <a:p>
            <a:pPr lvl="1">
              <a:buFont typeface="+mj-lt"/>
              <a:buAutoNum type="arabicPeriod"/>
            </a:pPr>
            <a:r>
              <a:rPr lang="en-US" altLang="ja-JP" dirty="0"/>
              <a:t>M5=180um, M3, M4=30um</a:t>
            </a:r>
          </a:p>
        </p:txBody>
      </p:sp>
      <p:sp>
        <p:nvSpPr>
          <p:cNvPr id="1069" name="Rectangle 1068">
            <a:extLst>
              <a:ext uri="{FF2B5EF4-FFF2-40B4-BE49-F238E27FC236}">
                <a16:creationId xmlns:a16="http://schemas.microsoft.com/office/drawing/2014/main" id="{1B518046-C1D4-0099-E3A1-8F11016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676EAFE3-640A-51D0-4412-3EE011E36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0E65A68A-61C4-252D-323D-74646D2A2D9E}"/>
              </a:ext>
            </a:extLst>
          </p:cNvPr>
          <p:cNvPicPr>
            <a:picLocks noChangeAspect="1"/>
          </p:cNvPicPr>
          <p:nvPr/>
        </p:nvPicPr>
        <p:blipFill>
          <a:blip r:embed="rId2"/>
          <a:stretch>
            <a:fillRect/>
          </a:stretch>
        </p:blipFill>
        <p:spPr>
          <a:xfrm>
            <a:off x="5873189" y="727479"/>
            <a:ext cx="5708297" cy="5403041"/>
          </a:xfrm>
          <a:prstGeom prst="rect">
            <a:avLst/>
          </a:prstGeom>
        </p:spPr>
      </p:pic>
    </p:spTree>
    <p:extLst>
      <p:ext uri="{BB962C8B-B14F-4D97-AF65-F5344CB8AC3E}">
        <p14:creationId xmlns:p14="http://schemas.microsoft.com/office/powerpoint/2010/main" val="3982285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4AA335-A52B-6A0A-1554-1001F0671556}"/>
            </a:ext>
          </a:extLst>
        </p:cNvPr>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51A7C6B5-3375-591D-41B9-A6EB40011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E2D4C48-2A1A-6B38-442B-0FBCAFEBE76B}"/>
              </a:ext>
            </a:extLst>
          </p:cNvPr>
          <p:cNvSpPr>
            <a:spLocks noGrp="1"/>
          </p:cNvSpPr>
          <p:nvPr>
            <p:ph type="title"/>
          </p:nvPr>
        </p:nvSpPr>
        <p:spPr>
          <a:xfrm>
            <a:off x="589560" y="856180"/>
            <a:ext cx="4560584" cy="1128068"/>
          </a:xfrm>
        </p:spPr>
        <p:txBody>
          <a:bodyPr anchor="ctr">
            <a:normAutofit/>
          </a:bodyPr>
          <a:lstStyle/>
          <a:p>
            <a:r>
              <a:rPr kumimoji="1" lang="ja-JP" altLang="en-US" sz="4000"/>
              <a:t>全体設計の例：</a:t>
            </a:r>
            <a:r>
              <a:rPr kumimoji="1" lang="en-US" altLang="ja-JP" sz="4000"/>
              <a:t>2</a:t>
            </a:r>
            <a:endParaRPr kumimoji="1" lang="ja-JP" altLang="en-US" sz="4000"/>
          </a:p>
        </p:txBody>
      </p:sp>
      <p:grpSp>
        <p:nvGrpSpPr>
          <p:cNvPr id="1063" name="Group 1062">
            <a:extLst>
              <a:ext uri="{FF2B5EF4-FFF2-40B4-BE49-F238E27FC236}">
                <a16:creationId xmlns:a16="http://schemas.microsoft.com/office/drawing/2014/main" id="{73382E4E-AB63-78DC-FFAD-DA2B22DB3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64" name="Rectangle 1063">
              <a:extLst>
                <a:ext uri="{FF2B5EF4-FFF2-40B4-BE49-F238E27FC236}">
                  <a16:creationId xmlns:a16="http://schemas.microsoft.com/office/drawing/2014/main" id="{B3CCC102-FAB5-BF3B-35C8-A24E5329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B2B07B74-DE04-7909-8116-18050D274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7" name="Rectangle 1066">
            <a:extLst>
              <a:ext uri="{FF2B5EF4-FFF2-40B4-BE49-F238E27FC236}">
                <a16:creationId xmlns:a16="http://schemas.microsoft.com/office/drawing/2014/main" id="{0D10383A-84BE-1DA5-0B64-E43C5099B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F0038B8F-5C43-B29C-2721-052026825D4D}"/>
              </a:ext>
            </a:extLst>
          </p:cNvPr>
          <p:cNvSpPr>
            <a:spLocks noGrp="1"/>
          </p:cNvSpPr>
          <p:nvPr>
            <p:ph idx="1"/>
          </p:nvPr>
        </p:nvSpPr>
        <p:spPr>
          <a:xfrm>
            <a:off x="590719" y="2330505"/>
            <a:ext cx="4895681" cy="3979585"/>
          </a:xfrm>
        </p:spPr>
        <p:txBody>
          <a:bodyPr anchor="ctr">
            <a:normAutofit fontScale="92500" lnSpcReduction="10000"/>
          </a:bodyPr>
          <a:lstStyle/>
          <a:p>
            <a:pPr>
              <a:buFont typeface="+mj-lt"/>
              <a:buAutoNum type="arabicPeriod"/>
            </a:pPr>
            <a:r>
              <a:rPr lang="en-US" altLang="ja-JP" dirty="0"/>
              <a:t>M2</a:t>
            </a:r>
            <a:r>
              <a:rPr lang="ja-JP" altLang="en-US"/>
              <a:t>を決定する</a:t>
            </a:r>
            <a:endParaRPr lang="en-US" altLang="ja-JP" dirty="0"/>
          </a:p>
          <a:p>
            <a:pPr lvl="1">
              <a:buFont typeface="+mj-lt"/>
              <a:buAutoNum type="arabicPeriod"/>
            </a:pPr>
            <a:r>
              <a:rPr lang="en-US" altLang="ja-JP" dirty="0" err="1"/>
              <a:t>Vds</a:t>
            </a:r>
            <a:r>
              <a:rPr lang="ja-JP" altLang="en-US"/>
              <a:t>を小さくする＝</a:t>
            </a:r>
            <a:r>
              <a:rPr lang="en-US" altLang="ja-JP" dirty="0"/>
              <a:t>W</a:t>
            </a:r>
            <a:r>
              <a:rPr lang="ja-JP" altLang="en-US"/>
              <a:t>を大きくする</a:t>
            </a:r>
            <a:endParaRPr lang="en-US" altLang="ja-JP" dirty="0"/>
          </a:p>
          <a:p>
            <a:pPr lvl="2">
              <a:buFont typeface="+mj-lt"/>
              <a:buAutoNum type="arabicPeriod"/>
            </a:pPr>
            <a:r>
              <a:rPr lang="en-US" altLang="ja-JP" dirty="0" err="1"/>
              <a:t>Vds</a:t>
            </a:r>
            <a:r>
              <a:rPr lang="ja-JP" altLang="en-US"/>
              <a:t>が大きいと</a:t>
            </a:r>
            <a:r>
              <a:rPr lang="en-US" altLang="ja-JP" dirty="0" err="1"/>
              <a:t>Vout</a:t>
            </a:r>
            <a:r>
              <a:rPr lang="en-US" altLang="ja-JP" dirty="0"/>
              <a:t>=</a:t>
            </a:r>
            <a:r>
              <a:rPr lang="en-US" altLang="ja-JP" dirty="0" err="1"/>
              <a:t>Vdd</a:t>
            </a:r>
            <a:r>
              <a:rPr lang="en-US" altLang="ja-JP" dirty="0"/>
              <a:t>/2</a:t>
            </a:r>
            <a:r>
              <a:rPr lang="ja-JP" altLang="en-US"/>
              <a:t>がずれてしまうため</a:t>
            </a:r>
            <a:endParaRPr lang="en-US" altLang="ja-JP" dirty="0"/>
          </a:p>
          <a:p>
            <a:pPr lvl="1">
              <a:buFont typeface="+mj-lt"/>
              <a:buAutoNum type="arabicPeriod"/>
            </a:pPr>
            <a:r>
              <a:rPr lang="ja-JP" altLang="en-US"/>
              <a:t>全体の動作点が飽和領域になるようにする</a:t>
            </a:r>
            <a:endParaRPr lang="en-US" altLang="ja-JP" dirty="0"/>
          </a:p>
          <a:p>
            <a:pPr lvl="2">
              <a:buFont typeface="+mj-lt"/>
              <a:buAutoNum type="arabicPeriod"/>
            </a:pPr>
            <a:r>
              <a:rPr lang="ja-JP" altLang="en-US"/>
              <a:t>シミュレーションしながら調整する</a:t>
            </a:r>
            <a:endParaRPr lang="en-US" altLang="ja-JP" dirty="0"/>
          </a:p>
          <a:p>
            <a:pPr>
              <a:buFont typeface="+mj-lt"/>
              <a:buAutoNum type="arabicPeriod"/>
            </a:pPr>
            <a:r>
              <a:rPr lang="ja-JP" altLang="en-US"/>
              <a:t>設計値：</a:t>
            </a:r>
            <a:r>
              <a:rPr lang="en-US" altLang="ja-JP" dirty="0"/>
              <a:t>W</a:t>
            </a:r>
          </a:p>
          <a:p>
            <a:pPr lvl="1">
              <a:buFont typeface="+mj-lt"/>
              <a:buAutoNum type="arabicPeriod"/>
            </a:pPr>
            <a:r>
              <a:rPr lang="en-US" altLang="ja-JP" dirty="0"/>
              <a:t>M1, M2=360um</a:t>
            </a:r>
          </a:p>
          <a:p>
            <a:pPr lvl="2">
              <a:buFont typeface="+mj-lt"/>
              <a:buAutoNum type="arabicPeriod"/>
            </a:pPr>
            <a:r>
              <a:rPr lang="ja-JP" altLang="en-US"/>
              <a:t>サンプル：</a:t>
            </a:r>
            <a:r>
              <a:rPr lang="en-US" altLang="ja-JP" dirty="0" err="1"/>
              <a:t>diff.sch</a:t>
            </a:r>
            <a:endParaRPr lang="en-US" altLang="ja-JP" dirty="0"/>
          </a:p>
        </p:txBody>
      </p:sp>
      <p:sp>
        <p:nvSpPr>
          <p:cNvPr id="1069" name="Rectangle 1068">
            <a:extLst>
              <a:ext uri="{FF2B5EF4-FFF2-40B4-BE49-F238E27FC236}">
                <a16:creationId xmlns:a16="http://schemas.microsoft.com/office/drawing/2014/main" id="{8540A942-4B07-1DCE-7D5E-AC5834681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6D275A06-4E6B-EB70-1626-47E981C03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6AF4F1B4-2469-DEB2-CAF5-A2A2488D5042}"/>
              </a:ext>
            </a:extLst>
          </p:cNvPr>
          <p:cNvPicPr>
            <a:picLocks noChangeAspect="1"/>
          </p:cNvPicPr>
          <p:nvPr/>
        </p:nvPicPr>
        <p:blipFill>
          <a:blip r:embed="rId2"/>
          <a:stretch>
            <a:fillRect/>
          </a:stretch>
        </p:blipFill>
        <p:spPr>
          <a:xfrm>
            <a:off x="5968439" y="865705"/>
            <a:ext cx="5529097" cy="5244825"/>
          </a:xfrm>
          <a:prstGeom prst="rect">
            <a:avLst/>
          </a:prstGeom>
        </p:spPr>
      </p:pic>
    </p:spTree>
    <p:extLst>
      <p:ext uri="{BB962C8B-B14F-4D97-AF65-F5344CB8AC3E}">
        <p14:creationId xmlns:p14="http://schemas.microsoft.com/office/powerpoint/2010/main" val="39826066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7" name="Group 92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9228" name="Rectangle 92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9" name="Rectangle 92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0" name="Rectangle 92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32" name="Rectangle 92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0EAB93F-017D-EE60-F55C-3273EA26B1BB}"/>
              </a:ext>
            </a:extLst>
          </p:cNvPr>
          <p:cNvSpPr>
            <a:spLocks noGrp="1"/>
          </p:cNvSpPr>
          <p:nvPr>
            <p:ph type="title"/>
          </p:nvPr>
        </p:nvSpPr>
        <p:spPr>
          <a:xfrm>
            <a:off x="1043631" y="873940"/>
            <a:ext cx="4928291" cy="1035781"/>
          </a:xfrm>
        </p:spPr>
        <p:txBody>
          <a:bodyPr anchor="ctr">
            <a:normAutofit/>
          </a:bodyPr>
          <a:lstStyle/>
          <a:p>
            <a:r>
              <a:rPr kumimoji="1" lang="ja-JP" altLang="en-US" sz="3600"/>
              <a:t>シミュレーション</a:t>
            </a:r>
          </a:p>
        </p:txBody>
      </p:sp>
      <p:sp>
        <p:nvSpPr>
          <p:cNvPr id="3" name="コンテンツ プレースホルダー 2">
            <a:extLst>
              <a:ext uri="{FF2B5EF4-FFF2-40B4-BE49-F238E27FC236}">
                <a16:creationId xmlns:a16="http://schemas.microsoft.com/office/drawing/2014/main" id="{1C18F279-6CA0-6EF2-E462-655FFA79F325}"/>
              </a:ext>
            </a:extLst>
          </p:cNvPr>
          <p:cNvSpPr>
            <a:spLocks noGrp="1"/>
          </p:cNvSpPr>
          <p:nvPr>
            <p:ph idx="1"/>
          </p:nvPr>
        </p:nvSpPr>
        <p:spPr>
          <a:xfrm>
            <a:off x="1045029" y="2524721"/>
            <a:ext cx="4991629" cy="3677123"/>
          </a:xfrm>
        </p:spPr>
        <p:txBody>
          <a:bodyPr anchor="ctr">
            <a:normAutofit/>
          </a:bodyPr>
          <a:lstStyle/>
          <a:p>
            <a:r>
              <a:rPr kumimoji="1" lang="ja-JP" altLang="en-US" sz="1800"/>
              <a:t>だいたい想定通りの利得を確認</a:t>
            </a:r>
            <a:endParaRPr kumimoji="1" lang="en-US" altLang="ja-JP" sz="1800"/>
          </a:p>
          <a:p>
            <a:pPr lvl="1"/>
            <a:r>
              <a:rPr lang="ja-JP" altLang="en-US" sz="1400"/>
              <a:t>周波数も</a:t>
            </a:r>
            <a:r>
              <a:rPr lang="en-US" altLang="ja-JP" sz="1400"/>
              <a:t>100kHz</a:t>
            </a:r>
            <a:r>
              <a:rPr lang="ja-JP" altLang="en-US" sz="1400"/>
              <a:t>を超えているので良しとする</a:t>
            </a:r>
            <a:endParaRPr lang="en-US" altLang="ja-JP" sz="1400"/>
          </a:p>
          <a:p>
            <a:pPr lvl="1"/>
            <a:endParaRPr kumimoji="1" lang="en-US" altLang="ja-JP" sz="1400"/>
          </a:p>
          <a:p>
            <a:pPr lvl="1"/>
            <a:r>
              <a:rPr lang="ja-JP" altLang="en-US" sz="1400"/>
              <a:t>サンプル：</a:t>
            </a:r>
            <a:r>
              <a:rPr lang="en-US" altLang="ja-JP" sz="1400"/>
              <a:t>diff_ac.sch</a:t>
            </a:r>
          </a:p>
        </p:txBody>
      </p:sp>
      <p:sp>
        <p:nvSpPr>
          <p:cNvPr id="9234" name="Rectangle 9233">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6" name="Rectangle 9235">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38" name="Straight Connector 92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4A884473-D624-A455-F721-53D3E60D26B5}"/>
              </a:ext>
            </a:extLst>
          </p:cNvPr>
          <p:cNvPicPr>
            <a:picLocks noChangeAspect="1"/>
          </p:cNvPicPr>
          <p:nvPr/>
        </p:nvPicPr>
        <p:blipFill>
          <a:blip r:embed="rId2"/>
          <a:stretch>
            <a:fillRect/>
          </a:stretch>
        </p:blipFill>
        <p:spPr>
          <a:xfrm>
            <a:off x="7402007" y="3627954"/>
            <a:ext cx="3270809" cy="2438567"/>
          </a:xfrm>
          <a:prstGeom prst="rect">
            <a:avLst/>
          </a:prstGeom>
        </p:spPr>
      </p:pic>
      <p:pic>
        <p:nvPicPr>
          <p:cNvPr id="7" name="図 6">
            <a:extLst>
              <a:ext uri="{FF2B5EF4-FFF2-40B4-BE49-F238E27FC236}">
                <a16:creationId xmlns:a16="http://schemas.microsoft.com/office/drawing/2014/main" id="{A593C4FE-235D-342B-7F0A-75A7F1F67C5B}"/>
              </a:ext>
            </a:extLst>
          </p:cNvPr>
          <p:cNvPicPr>
            <a:picLocks noChangeAspect="1"/>
          </p:cNvPicPr>
          <p:nvPr/>
        </p:nvPicPr>
        <p:blipFill>
          <a:blip r:embed="rId3"/>
          <a:stretch>
            <a:fillRect/>
          </a:stretch>
        </p:blipFill>
        <p:spPr>
          <a:xfrm>
            <a:off x="7641684" y="841361"/>
            <a:ext cx="2704850" cy="2324481"/>
          </a:xfrm>
          <a:prstGeom prst="rect">
            <a:avLst/>
          </a:prstGeom>
        </p:spPr>
      </p:pic>
    </p:spTree>
    <p:extLst>
      <p:ext uri="{BB962C8B-B14F-4D97-AF65-F5344CB8AC3E}">
        <p14:creationId xmlns:p14="http://schemas.microsoft.com/office/powerpoint/2010/main" val="27550535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0" name="Rectangle 1032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E8658D4-DBCD-2A97-967E-162B587905C3}"/>
              </a:ext>
            </a:extLst>
          </p:cNvPr>
          <p:cNvSpPr>
            <a:spLocks noGrp="1"/>
          </p:cNvSpPr>
          <p:nvPr>
            <p:ph type="title"/>
          </p:nvPr>
        </p:nvSpPr>
        <p:spPr>
          <a:xfrm>
            <a:off x="645064" y="525982"/>
            <a:ext cx="4282983" cy="1200361"/>
          </a:xfrm>
        </p:spPr>
        <p:txBody>
          <a:bodyPr anchor="b">
            <a:normAutofit/>
          </a:bodyPr>
          <a:lstStyle/>
          <a:p>
            <a:r>
              <a:rPr kumimoji="1" lang="en-US" altLang="ja-JP" sz="3600"/>
              <a:t>AC</a:t>
            </a:r>
            <a:r>
              <a:rPr kumimoji="1" lang="ja-JP" altLang="en-US" sz="3600"/>
              <a:t>解析</a:t>
            </a:r>
          </a:p>
        </p:txBody>
      </p:sp>
      <p:sp>
        <p:nvSpPr>
          <p:cNvPr id="10332" name="Rectangle 1033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A3C7097-1859-B051-1ACC-553302917B46}"/>
              </a:ext>
            </a:extLst>
          </p:cNvPr>
          <p:cNvSpPr>
            <a:spLocks noGrp="1"/>
          </p:cNvSpPr>
          <p:nvPr>
            <p:ph idx="1"/>
          </p:nvPr>
        </p:nvSpPr>
        <p:spPr>
          <a:xfrm>
            <a:off x="645066" y="2031101"/>
            <a:ext cx="4545048" cy="3511943"/>
          </a:xfrm>
        </p:spPr>
        <p:txBody>
          <a:bodyPr anchor="ctr">
            <a:normAutofit/>
          </a:bodyPr>
          <a:lstStyle/>
          <a:p>
            <a:r>
              <a:rPr lang="ja-JP" altLang="en-US" sz="1800"/>
              <a:t>動作点解析</a:t>
            </a:r>
            <a:endParaRPr lang="en-US" altLang="ja-JP" sz="1800" dirty="0"/>
          </a:p>
          <a:p>
            <a:pPr lvl="1"/>
            <a:r>
              <a:rPr lang="en" altLang="ja-JP" sz="1800" dirty="0"/>
              <a:t>M4 </a:t>
            </a:r>
            <a:r>
              <a:rPr lang="ja-JP" altLang="en-US" sz="1800"/>
              <a:t>の </a:t>
            </a:r>
            <a:r>
              <a:rPr lang="en" altLang="ja-JP" sz="1800" dirty="0" err="1"/>
              <a:t>Vds</a:t>
            </a:r>
            <a:r>
              <a:rPr lang="en" altLang="ja-JP" sz="1800" dirty="0"/>
              <a:t> </a:t>
            </a:r>
            <a:r>
              <a:rPr lang="ja-JP" altLang="en-US" sz="1800"/>
              <a:t>は </a:t>
            </a:r>
            <a:r>
              <a:rPr lang="en-US" altLang="ja-JP" sz="1800" dirty="0"/>
              <a:t>1.47 </a:t>
            </a:r>
            <a:r>
              <a:rPr lang="en" altLang="ja-JP" sz="1800" dirty="0"/>
              <a:t>V</a:t>
            </a:r>
          </a:p>
          <a:p>
            <a:pPr lvl="2"/>
            <a:r>
              <a:rPr lang="ja-JP" altLang="en-US" sz="1800"/>
              <a:t>バイアス電圧として次の段へ</a:t>
            </a:r>
            <a:endParaRPr lang="en-US" altLang="ja-JP" sz="1800" dirty="0"/>
          </a:p>
          <a:p>
            <a:r>
              <a:rPr lang="en" altLang="ja-JP" sz="1800" dirty="0"/>
              <a:t>2</a:t>
            </a:r>
            <a:r>
              <a:rPr lang="ja-JP" altLang="en-US" sz="1800"/>
              <a:t>段目が </a:t>
            </a:r>
            <a:r>
              <a:rPr lang="en" altLang="ja-JP" sz="1800" dirty="0" err="1"/>
              <a:t>nMOS</a:t>
            </a:r>
            <a:r>
              <a:rPr lang="ja-JP" altLang="en-US" sz="1800"/>
              <a:t>ソース接地増幅段</a:t>
            </a:r>
            <a:endParaRPr lang="en-US" altLang="ja-JP" sz="1800" dirty="0"/>
          </a:p>
          <a:p>
            <a:pPr lvl="1"/>
            <a:r>
              <a:rPr lang="ja-JP" altLang="en-US" sz="1800"/>
              <a:t>オーバードライブ電圧は </a:t>
            </a:r>
            <a:r>
              <a:rPr lang="en-US" altLang="ja-JP" sz="1800" dirty="0"/>
              <a:t>0.6 </a:t>
            </a:r>
            <a:r>
              <a:rPr lang="en" altLang="ja-JP" sz="1800" dirty="0"/>
              <a:t>V</a:t>
            </a:r>
            <a:r>
              <a:rPr lang="ja-JP" altLang="en-US" sz="1800"/>
              <a:t>程度となり</a:t>
            </a:r>
            <a:r>
              <a:rPr lang="en-US" altLang="ja-JP" sz="1800" dirty="0"/>
              <a:t>2</a:t>
            </a:r>
            <a:r>
              <a:rPr lang="ja-JP" altLang="en-US" sz="1800"/>
              <a:t>段目を飽和領域で動作可能</a:t>
            </a:r>
            <a:endParaRPr lang="en-US" altLang="ja-JP" sz="1800" dirty="0"/>
          </a:p>
          <a:p>
            <a:pPr lvl="2"/>
            <a:r>
              <a:rPr lang="ja-JP" altLang="en-US" sz="1800"/>
              <a:t>余裕度は普通</a:t>
            </a:r>
            <a:endParaRPr lang="en-US" altLang="ja-JP" sz="1800" dirty="0"/>
          </a:p>
          <a:p>
            <a:pPr lvl="2"/>
            <a:endParaRPr lang="en-US" altLang="ja-JP" sz="1800" dirty="0"/>
          </a:p>
          <a:p>
            <a:pPr lvl="1"/>
            <a:r>
              <a:rPr lang="ja-JP" altLang="en-US" sz="2200"/>
              <a:t>サンプル：</a:t>
            </a:r>
            <a:r>
              <a:rPr lang="en-US" altLang="ja-JP" sz="2200" dirty="0" err="1"/>
              <a:t>diff_ac.sch</a:t>
            </a:r>
            <a:endParaRPr lang="en-US" altLang="ja-JP" sz="2200" dirty="0"/>
          </a:p>
          <a:p>
            <a:endParaRPr lang="en-US" altLang="ja-JP" sz="1800" dirty="0"/>
          </a:p>
        </p:txBody>
      </p:sp>
      <p:sp>
        <p:nvSpPr>
          <p:cNvPr id="10334" name="Rectangle 1033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6" name="Rectangle 1033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8" name="Rectangle 1033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10A2CE36-A5B4-6317-5B54-0330E2C55359}"/>
              </a:ext>
            </a:extLst>
          </p:cNvPr>
          <p:cNvPicPr>
            <a:picLocks noChangeAspect="1"/>
          </p:cNvPicPr>
          <p:nvPr/>
        </p:nvPicPr>
        <p:blipFill>
          <a:blip r:embed="rId2"/>
          <a:stretch>
            <a:fillRect/>
          </a:stretch>
        </p:blipFill>
        <p:spPr>
          <a:xfrm>
            <a:off x="5696790" y="587830"/>
            <a:ext cx="6230785" cy="5310866"/>
          </a:xfrm>
          <a:prstGeom prst="rect">
            <a:avLst/>
          </a:prstGeom>
        </p:spPr>
      </p:pic>
    </p:spTree>
    <p:extLst>
      <p:ext uri="{BB962C8B-B14F-4D97-AF65-F5344CB8AC3E}">
        <p14:creationId xmlns:p14="http://schemas.microsoft.com/office/powerpoint/2010/main" val="25685324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32" name="Rectangle 823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34" name="Group 823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8235" name="Rectangle 823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6" name="Rectangle 823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38" name="Rectangle 823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661C722-527B-35D6-53CB-E8E492F03B7D}"/>
              </a:ext>
            </a:extLst>
          </p:cNvPr>
          <p:cNvSpPr>
            <a:spLocks noGrp="1"/>
          </p:cNvSpPr>
          <p:nvPr>
            <p:ph type="title"/>
          </p:nvPr>
        </p:nvSpPr>
        <p:spPr>
          <a:xfrm>
            <a:off x="1057025" y="922644"/>
            <a:ext cx="5040285" cy="1169585"/>
          </a:xfrm>
        </p:spPr>
        <p:txBody>
          <a:bodyPr anchor="b">
            <a:normAutofit/>
          </a:bodyPr>
          <a:lstStyle/>
          <a:p>
            <a:r>
              <a:rPr kumimoji="1" lang="en-US" altLang="ja-JP" sz="4000"/>
              <a:t>DC</a:t>
            </a:r>
            <a:r>
              <a:rPr kumimoji="1" lang="ja-JP" altLang="en-US" sz="4000"/>
              <a:t>解析</a:t>
            </a:r>
          </a:p>
        </p:txBody>
      </p:sp>
      <p:sp>
        <p:nvSpPr>
          <p:cNvPr id="8240" name="Rectangle 823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3F868AD-5165-1917-92A4-458956376915}"/>
              </a:ext>
            </a:extLst>
          </p:cNvPr>
          <p:cNvSpPr>
            <a:spLocks noGrp="1"/>
          </p:cNvSpPr>
          <p:nvPr>
            <p:ph idx="1"/>
          </p:nvPr>
        </p:nvSpPr>
        <p:spPr>
          <a:xfrm>
            <a:off x="1055715" y="2508105"/>
            <a:ext cx="5040285" cy="3632493"/>
          </a:xfrm>
        </p:spPr>
        <p:txBody>
          <a:bodyPr anchor="ctr">
            <a:normAutofit/>
          </a:bodyPr>
          <a:lstStyle/>
          <a:p>
            <a:r>
              <a:rPr lang="ja-JP" altLang="en-US" sz="2000"/>
              <a:t>動作可能な出力電圧の上限</a:t>
            </a:r>
            <a:endParaRPr lang="en-US" altLang="ja-JP" sz="2000"/>
          </a:p>
          <a:p>
            <a:pPr lvl="1"/>
            <a:r>
              <a:rPr lang="en-US" altLang="ja-JP" sz="2000"/>
              <a:t>3.6 </a:t>
            </a:r>
            <a:r>
              <a:rPr lang="en" altLang="ja-JP" sz="2000"/>
              <a:t>V</a:t>
            </a:r>
            <a:r>
              <a:rPr lang="ja-JP" altLang="en-US" sz="2000"/>
              <a:t>程度</a:t>
            </a:r>
            <a:endParaRPr lang="en-US" altLang="ja-JP" sz="2000"/>
          </a:p>
          <a:p>
            <a:pPr lvl="2"/>
            <a:r>
              <a:rPr lang="ja-JP" altLang="en-US"/>
              <a:t>不足の場合、</a:t>
            </a:r>
            <a:r>
              <a:rPr lang="en-US" altLang="ja-JP"/>
              <a:t>Rail2Rail</a:t>
            </a:r>
            <a:r>
              <a:rPr lang="ja-JP" altLang="en-US"/>
              <a:t>化など</a:t>
            </a:r>
            <a:endParaRPr lang="en-US" altLang="ja-JP"/>
          </a:p>
          <a:p>
            <a:pPr lvl="2"/>
            <a:endParaRPr lang="en-US" altLang="ja-JP"/>
          </a:p>
          <a:p>
            <a:pPr lvl="1"/>
            <a:r>
              <a:rPr lang="ja-JP" altLang="en-US"/>
              <a:t>サンプル：</a:t>
            </a:r>
            <a:r>
              <a:rPr lang="en-US" altLang="ja-JP"/>
              <a:t>diff_dc.sch</a:t>
            </a:r>
            <a:endParaRPr lang="ja-JP" altLang="en-US"/>
          </a:p>
          <a:p>
            <a:endParaRPr kumimoji="1" lang="ja-JP" altLang="en-US" sz="2000"/>
          </a:p>
        </p:txBody>
      </p:sp>
      <p:pic>
        <p:nvPicPr>
          <p:cNvPr id="5" name="図 4">
            <a:extLst>
              <a:ext uri="{FF2B5EF4-FFF2-40B4-BE49-F238E27FC236}">
                <a16:creationId xmlns:a16="http://schemas.microsoft.com/office/drawing/2014/main" id="{EBD90F60-180D-26ED-5499-A3D39F94A87C}"/>
              </a:ext>
            </a:extLst>
          </p:cNvPr>
          <p:cNvPicPr>
            <a:picLocks noChangeAspect="1"/>
          </p:cNvPicPr>
          <p:nvPr/>
        </p:nvPicPr>
        <p:blipFill>
          <a:blip r:embed="rId2"/>
          <a:stretch>
            <a:fillRect/>
          </a:stretch>
        </p:blipFill>
        <p:spPr>
          <a:xfrm>
            <a:off x="5909194" y="3730311"/>
            <a:ext cx="5703278" cy="2410287"/>
          </a:xfrm>
          <a:prstGeom prst="rect">
            <a:avLst/>
          </a:prstGeom>
        </p:spPr>
      </p:pic>
      <p:pic>
        <p:nvPicPr>
          <p:cNvPr id="7" name="図 6">
            <a:extLst>
              <a:ext uri="{FF2B5EF4-FFF2-40B4-BE49-F238E27FC236}">
                <a16:creationId xmlns:a16="http://schemas.microsoft.com/office/drawing/2014/main" id="{A0391D0B-1EC3-96AA-A70C-0BE432F64D08}"/>
              </a:ext>
            </a:extLst>
          </p:cNvPr>
          <p:cNvPicPr>
            <a:picLocks noChangeAspect="1"/>
          </p:cNvPicPr>
          <p:nvPr/>
        </p:nvPicPr>
        <p:blipFill>
          <a:blip r:embed="rId3"/>
          <a:stretch>
            <a:fillRect/>
          </a:stretch>
        </p:blipFill>
        <p:spPr>
          <a:xfrm>
            <a:off x="7102947" y="335826"/>
            <a:ext cx="4032028" cy="3394485"/>
          </a:xfrm>
          <a:prstGeom prst="rect">
            <a:avLst/>
          </a:prstGeom>
        </p:spPr>
      </p:pic>
    </p:spTree>
    <p:extLst>
      <p:ext uri="{BB962C8B-B14F-4D97-AF65-F5344CB8AC3E}">
        <p14:creationId xmlns:p14="http://schemas.microsoft.com/office/powerpoint/2010/main" val="34840060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4ECF8B-72C9-9C30-84B8-132F4DE837D1}"/>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56" name="Rectangle 5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7D7B0AE-C05B-9545-A89D-1C8970FF4D1D}"/>
              </a:ext>
            </a:extLst>
          </p:cNvPr>
          <p:cNvSpPr>
            <a:spLocks noGrp="1"/>
          </p:cNvSpPr>
          <p:nvPr>
            <p:ph idx="1"/>
          </p:nvPr>
        </p:nvSpPr>
        <p:spPr>
          <a:xfrm>
            <a:off x="793661" y="2599509"/>
            <a:ext cx="4530898" cy="3639450"/>
          </a:xfrm>
        </p:spPr>
        <p:txBody>
          <a:bodyPr anchor="ctr">
            <a:normAutofit fontScale="92500" lnSpcReduction="10000"/>
          </a:bodyPr>
          <a:lstStyle/>
          <a:p>
            <a:r>
              <a:rPr lang="en-US" altLang="ja-JP" sz="1400" dirty="0"/>
              <a:t>MOSFET</a:t>
            </a:r>
            <a:r>
              <a:rPr lang="ja-JP" altLang="en-US" sz="1400"/>
              <a:t>の</a:t>
            </a:r>
            <a:r>
              <a:rPr lang="en-US" altLang="ja-JP" sz="1400" dirty="0"/>
              <a:t>Vth</a:t>
            </a:r>
            <a:r>
              <a:rPr lang="ja-JP" altLang="en-US" sz="1400"/>
              <a:t>​が、ソース端子とボディ端子の間の電位差によって変化する現象</a:t>
            </a:r>
            <a:endParaRPr lang="en-US" altLang="ja-JP" sz="1400" dirty="0"/>
          </a:p>
          <a:p>
            <a:pPr lvl="1"/>
            <a:r>
              <a:rPr lang="en-US" altLang="ja-JP" sz="1000" dirty="0"/>
              <a:t>B </a:t>
            </a:r>
            <a:r>
              <a:rPr lang="ja-JP" altLang="en-US" sz="1000"/>
              <a:t>を </a:t>
            </a:r>
            <a:r>
              <a:rPr lang="en-US" altLang="ja-JP" sz="1000" dirty="0"/>
              <a:t>D </a:t>
            </a:r>
            <a:r>
              <a:rPr lang="ja-JP" altLang="en-US" sz="1000"/>
              <a:t>に近づける → フォワード，</a:t>
            </a:r>
            <a:r>
              <a:rPr lang="en-US" altLang="ja-JP" sz="1000" dirty="0"/>
              <a:t>Vth</a:t>
            </a:r>
            <a:r>
              <a:rPr lang="ja-JP" altLang="en-US" sz="1000"/>
              <a:t>下がる</a:t>
            </a:r>
          </a:p>
          <a:p>
            <a:pPr lvl="1"/>
            <a:r>
              <a:rPr lang="en-US" altLang="ja-JP" sz="1000" dirty="0"/>
              <a:t>B </a:t>
            </a:r>
            <a:r>
              <a:rPr lang="ja-JP" altLang="en-US" sz="1000"/>
              <a:t>を </a:t>
            </a:r>
            <a:r>
              <a:rPr lang="en-US" altLang="ja-JP" sz="1000" dirty="0"/>
              <a:t>S </a:t>
            </a:r>
            <a:r>
              <a:rPr lang="ja-JP" altLang="en-US" sz="1000"/>
              <a:t>より下げる → バック，</a:t>
            </a:r>
            <a:r>
              <a:rPr lang="en-US" altLang="ja-JP" sz="1000" dirty="0"/>
              <a:t>Vth </a:t>
            </a:r>
            <a:r>
              <a:rPr lang="ja-JP" altLang="en-US" sz="1000"/>
              <a:t>上がる</a:t>
            </a:r>
            <a:endParaRPr lang="en-US" altLang="ja-JP" sz="1000" dirty="0"/>
          </a:p>
          <a:p>
            <a:r>
              <a:rPr lang="ja-JP" altLang="en-US" sz="1400"/>
              <a:t>端子電圧構成</a:t>
            </a:r>
            <a:endParaRPr lang="en-US" altLang="ja-JP" sz="1400" dirty="0"/>
          </a:p>
          <a:p>
            <a:pPr lvl="1"/>
            <a:r>
              <a:rPr lang="ja-JP" altLang="en-US" sz="1400"/>
              <a:t>通常の</a:t>
            </a:r>
            <a:r>
              <a:rPr lang="en-US" altLang="ja-JP" sz="1400" dirty="0" err="1"/>
              <a:t>pMOS</a:t>
            </a:r>
            <a:r>
              <a:rPr lang="en-US" altLang="ja-JP" sz="1400" dirty="0"/>
              <a:t>(M1</a:t>
            </a:r>
            <a:r>
              <a:rPr lang="ja-JP" altLang="en-US" sz="1400"/>
              <a:t>や</a:t>
            </a:r>
            <a:r>
              <a:rPr lang="en-US" altLang="ja-JP" sz="1400" dirty="0"/>
              <a:t>M3)</a:t>
            </a:r>
          </a:p>
          <a:p>
            <a:pPr lvl="2"/>
            <a:r>
              <a:rPr lang="ja-JP" altLang="en-US" sz="1400"/>
              <a:t>ソース＝ボディー＝</a:t>
            </a:r>
            <a:r>
              <a:rPr lang="en-US" altLang="ja-JP" sz="1400" dirty="0"/>
              <a:t>VDD</a:t>
            </a:r>
          </a:p>
          <a:p>
            <a:pPr lvl="3"/>
            <a:r>
              <a:rPr lang="ja-JP" altLang="en-US" sz="1400"/>
              <a:t>電圧差はない</a:t>
            </a:r>
            <a:endParaRPr lang="en-US" altLang="ja-JP" sz="1400" dirty="0"/>
          </a:p>
          <a:p>
            <a:pPr lvl="1"/>
            <a:r>
              <a:rPr lang="ja-JP" altLang="en-US" sz="1400"/>
              <a:t>左側の</a:t>
            </a:r>
            <a:r>
              <a:rPr lang="en-US" altLang="ja-JP" sz="1400" dirty="0"/>
              <a:t>M2</a:t>
            </a:r>
          </a:p>
          <a:p>
            <a:pPr lvl="2"/>
            <a:r>
              <a:rPr kumimoji="1" lang="ja-JP" altLang="en-US" sz="1400"/>
              <a:t>ソース＝</a:t>
            </a:r>
            <a:r>
              <a:rPr kumimoji="1" lang="en-US" altLang="ja-JP" sz="1400" dirty="0"/>
              <a:t>M1</a:t>
            </a:r>
            <a:r>
              <a:rPr kumimoji="1" lang="ja-JP" altLang="en-US" sz="1400"/>
              <a:t>のドレイン</a:t>
            </a:r>
            <a:endParaRPr kumimoji="1" lang="en-US" altLang="ja-JP" sz="1400" dirty="0"/>
          </a:p>
          <a:p>
            <a:pPr lvl="2"/>
            <a:r>
              <a:rPr lang="ja-JP" altLang="en-US" sz="1400"/>
              <a:t>ボディー＝</a:t>
            </a:r>
            <a:r>
              <a:rPr lang="en-US" altLang="ja-JP" sz="1400" dirty="0"/>
              <a:t>VDD</a:t>
            </a:r>
          </a:p>
          <a:p>
            <a:pPr lvl="3"/>
            <a:r>
              <a:rPr lang="ja-JP" altLang="en-US" sz="1400"/>
              <a:t>電圧差がある</a:t>
            </a:r>
            <a:endParaRPr lang="en-US" altLang="ja-JP" sz="1400" dirty="0"/>
          </a:p>
          <a:p>
            <a:pPr lvl="1"/>
            <a:r>
              <a:rPr kumimoji="1" lang="ja-JP" altLang="en-US" sz="1400"/>
              <a:t>右側の</a:t>
            </a:r>
            <a:r>
              <a:rPr kumimoji="1" lang="en-US" altLang="ja-JP" sz="1400" dirty="0"/>
              <a:t>M4</a:t>
            </a:r>
          </a:p>
          <a:p>
            <a:pPr lvl="2"/>
            <a:r>
              <a:rPr lang="ja-JP" altLang="en-US" sz="1400"/>
              <a:t>ソース＝ボディー＝</a:t>
            </a:r>
            <a:r>
              <a:rPr lang="en-US" altLang="ja-JP" sz="1400" dirty="0"/>
              <a:t>M3</a:t>
            </a:r>
            <a:r>
              <a:rPr lang="ja-JP" altLang="en-US" sz="1400"/>
              <a:t>のドレイン</a:t>
            </a:r>
            <a:endParaRPr lang="en-US" altLang="ja-JP" sz="1400" dirty="0"/>
          </a:p>
          <a:p>
            <a:pPr lvl="3"/>
            <a:r>
              <a:rPr kumimoji="1" lang="ja-JP" altLang="en-US" sz="1400"/>
              <a:t>電圧差はない</a:t>
            </a:r>
            <a:endParaRPr kumimoji="1" lang="en-US" altLang="ja-JP" sz="1400" dirty="0"/>
          </a:p>
          <a:p>
            <a:pPr lvl="3"/>
            <a:r>
              <a:rPr kumimoji="1" lang="ja-JP" altLang="en-US" sz="1200"/>
              <a:t>この効果をキャンセルしている</a:t>
            </a:r>
            <a:endParaRPr kumimoji="1" lang="en-US" altLang="ja-JP" sz="1200" dirty="0"/>
          </a:p>
        </p:txBody>
      </p:sp>
      <p:sp>
        <p:nvSpPr>
          <p:cNvPr id="60" name="Rectangle 5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テキスト ボックス 10">
            <a:extLst>
              <a:ext uri="{FF2B5EF4-FFF2-40B4-BE49-F238E27FC236}">
                <a16:creationId xmlns:a16="http://schemas.microsoft.com/office/drawing/2014/main" id="{51D07511-DE62-8B27-7998-4AB36FE450F4}"/>
              </a:ext>
            </a:extLst>
          </p:cNvPr>
          <p:cNvSpPr txBox="1"/>
          <p:nvPr/>
        </p:nvSpPr>
        <p:spPr>
          <a:xfrm>
            <a:off x="1274747" y="6132516"/>
            <a:ext cx="8375475" cy="677108"/>
          </a:xfrm>
          <a:prstGeom prst="rect">
            <a:avLst/>
          </a:prstGeom>
          <a:noFill/>
        </p:spPr>
        <p:txBody>
          <a:bodyPr wrap="square" rtlCol="0">
            <a:spAutoFit/>
          </a:bodyPr>
          <a:lstStyle/>
          <a:p>
            <a:pPr marL="1543050" lvl="3" indent="-171450">
              <a:buFont typeface="Arial" panose="020B0604020202020204" pitchFamily="34" charset="0"/>
              <a:buChar char="•"/>
            </a:pPr>
            <a:r>
              <a:rPr lang="en-US" altLang="ja-JP" sz="1000"/>
              <a:t>OR1</a:t>
            </a:r>
            <a:r>
              <a:rPr lang="ja-JP" altLang="en-US" sz="1000"/>
              <a:t>の</a:t>
            </a:r>
            <a:r>
              <a:rPr lang="en-US" altLang="ja-JP" sz="1000"/>
              <a:t>nMOS</a:t>
            </a:r>
            <a:r>
              <a:rPr lang="ja-JP" altLang="en-US" sz="1000"/>
              <a:t>では利用不可なので注意</a:t>
            </a:r>
            <a:endParaRPr lang="en-US" altLang="ja-JP" sz="1000"/>
          </a:p>
          <a:p>
            <a:pPr marL="2000250" lvl="4" indent="-171450">
              <a:buFont typeface="Arial" panose="020B0604020202020204" pitchFamily="34" charset="0"/>
              <a:buChar char="•"/>
            </a:pPr>
            <a:r>
              <a:rPr lang="ja-JP" altLang="en-US" sz="1000"/>
              <a:t>トリプルウェルの項目を参照： </a:t>
            </a:r>
            <a:r>
              <a:rPr lang="en-US" altLang="ja-JP" sz="1000">
                <a:hlinkClick r:id="rId2"/>
              </a:rPr>
              <a:t>https://github.com/3zki/lsi1_analog1/blob/main/analog_tutorial_jp.pdf</a:t>
            </a:r>
            <a:endParaRPr lang="en-US" altLang="ja-JP" sz="1000"/>
          </a:p>
          <a:p>
            <a:pPr marL="285750" indent="-285750">
              <a:buFont typeface="Arial" panose="020B0604020202020204" pitchFamily="34" charset="0"/>
              <a:buChar char="•"/>
            </a:pPr>
            <a:endParaRPr kumimoji="1" lang="ja-JP" altLang="en-US"/>
          </a:p>
        </p:txBody>
      </p:sp>
      <p:pic>
        <p:nvPicPr>
          <p:cNvPr id="9" name="図 8">
            <a:extLst>
              <a:ext uri="{FF2B5EF4-FFF2-40B4-BE49-F238E27FC236}">
                <a16:creationId xmlns:a16="http://schemas.microsoft.com/office/drawing/2014/main" id="{AB2E0D1A-A39D-43C7-ADCF-82731565CA2C}"/>
              </a:ext>
            </a:extLst>
          </p:cNvPr>
          <p:cNvPicPr>
            <a:picLocks noChangeAspect="1"/>
          </p:cNvPicPr>
          <p:nvPr/>
        </p:nvPicPr>
        <p:blipFill>
          <a:blip r:embed="rId3"/>
          <a:stretch>
            <a:fillRect/>
          </a:stretch>
        </p:blipFill>
        <p:spPr>
          <a:xfrm>
            <a:off x="6467907" y="2155338"/>
            <a:ext cx="4139744" cy="4077956"/>
          </a:xfrm>
          <a:prstGeom prst="rect">
            <a:avLst/>
          </a:prstGeom>
        </p:spPr>
      </p:pic>
      <p:sp>
        <p:nvSpPr>
          <p:cNvPr id="6" name="楕円 5">
            <a:extLst>
              <a:ext uri="{FF2B5EF4-FFF2-40B4-BE49-F238E27FC236}">
                <a16:creationId xmlns:a16="http://schemas.microsoft.com/office/drawing/2014/main" id="{1E87C22C-9BD5-CDA7-9B51-C21CEA0B06C4}"/>
              </a:ext>
            </a:extLst>
          </p:cNvPr>
          <p:cNvSpPr/>
          <p:nvPr/>
        </p:nvSpPr>
        <p:spPr>
          <a:xfrm>
            <a:off x="9463430" y="4047687"/>
            <a:ext cx="875860" cy="298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8A32FD44-F394-AA96-176D-ECC2A5F391B9}"/>
              </a:ext>
            </a:extLst>
          </p:cNvPr>
          <p:cNvSpPr/>
          <p:nvPr/>
        </p:nvSpPr>
        <p:spPr>
          <a:xfrm>
            <a:off x="7850250" y="2780068"/>
            <a:ext cx="407202" cy="22670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566025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A8022-CDE0-B138-D919-C5E9C1E6C148}"/>
            </a:ext>
          </a:extLst>
        </p:cNvPr>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F5468E8-23F5-797F-0B69-4E3E4CCB91C8}"/>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2059" name="Rectangle 205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AC27CCE-05D4-DED5-2065-D6D78BF94614}"/>
              </a:ext>
            </a:extLst>
          </p:cNvPr>
          <p:cNvSpPr>
            <a:spLocks noGrp="1"/>
          </p:cNvSpPr>
          <p:nvPr>
            <p:ph idx="1"/>
          </p:nvPr>
        </p:nvSpPr>
        <p:spPr>
          <a:xfrm>
            <a:off x="793661" y="2599509"/>
            <a:ext cx="4530898" cy="3639450"/>
          </a:xfrm>
        </p:spPr>
        <p:txBody>
          <a:bodyPr anchor="ctr">
            <a:normAutofit/>
          </a:bodyPr>
          <a:lstStyle/>
          <a:p>
            <a:r>
              <a:rPr lang="ja-JP" altLang="en-US" sz="2000"/>
              <a:t>端子電圧構成</a:t>
            </a:r>
            <a:endParaRPr lang="en-US" altLang="ja-JP" sz="2000"/>
          </a:p>
          <a:p>
            <a:pPr lvl="1"/>
            <a:r>
              <a:rPr lang="ja-JP" altLang="en-US" sz="2000"/>
              <a:t>赤丸内のボディー</a:t>
            </a:r>
            <a:endParaRPr lang="en-US" altLang="ja-JP" sz="2000"/>
          </a:p>
          <a:p>
            <a:pPr lvl="2"/>
            <a:r>
              <a:rPr lang="ja-JP" altLang="en-US"/>
              <a:t>上の段のドレインに接続</a:t>
            </a:r>
            <a:endParaRPr lang="en-US" altLang="ja-JP"/>
          </a:p>
          <a:p>
            <a:pPr lvl="2"/>
            <a:endParaRPr lang="en-US" altLang="ja-JP"/>
          </a:p>
          <a:p>
            <a:pPr lvl="1"/>
            <a:r>
              <a:rPr kumimoji="1" lang="ja-JP" altLang="en-US" sz="2000"/>
              <a:t>緑丸内の</a:t>
            </a:r>
            <a:r>
              <a:rPr kumimoji="1" lang="en-US" altLang="ja-JP" sz="2000"/>
              <a:t>N</a:t>
            </a:r>
            <a:r>
              <a:rPr kumimoji="1" lang="ja-JP" altLang="en-US" sz="2000"/>
              <a:t>ウェル（</a:t>
            </a:r>
            <a:r>
              <a:rPr kumimoji="1" lang="en-US" altLang="ja-JP" sz="2000"/>
              <a:t>NWL</a:t>
            </a:r>
            <a:r>
              <a:rPr kumimoji="1" lang="ja-JP" altLang="en-US" sz="2000"/>
              <a:t>、緑の点々部）</a:t>
            </a:r>
            <a:endParaRPr kumimoji="1" lang="en-US" altLang="ja-JP" sz="2000"/>
          </a:p>
          <a:p>
            <a:pPr lvl="2"/>
            <a:r>
              <a:rPr lang="ja-JP" altLang="en-US"/>
              <a:t>独立して他とつながっていない</a:t>
            </a:r>
            <a:endParaRPr lang="en-US" altLang="ja-JP"/>
          </a:p>
          <a:p>
            <a:pPr lvl="2"/>
            <a:r>
              <a:rPr lang="ja-JP" altLang="en-US"/>
              <a:t>ガードリングをつけること</a:t>
            </a:r>
            <a:endParaRPr kumimoji="1" lang="en-US" altLang="ja-JP"/>
          </a:p>
        </p:txBody>
      </p:sp>
      <p:sp>
        <p:nvSpPr>
          <p:cNvPr id="2063" name="Rectangle 206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707CD1AC-053D-30D9-B013-BC549F5CCD9F}"/>
              </a:ext>
            </a:extLst>
          </p:cNvPr>
          <p:cNvGrpSpPr/>
          <p:nvPr/>
        </p:nvGrpSpPr>
        <p:grpSpPr>
          <a:xfrm>
            <a:off x="5486400" y="2203079"/>
            <a:ext cx="6653911" cy="4267991"/>
            <a:chOff x="5324559" y="2203079"/>
            <a:chExt cx="6572781" cy="4224698"/>
          </a:xfrm>
        </p:grpSpPr>
        <p:pic>
          <p:nvPicPr>
            <p:cNvPr id="2052" name="Picture 4" descr="ガードリングをつけた差動増幅段">
              <a:extLst>
                <a:ext uri="{FF2B5EF4-FFF2-40B4-BE49-F238E27FC236}">
                  <a16:creationId xmlns:a16="http://schemas.microsoft.com/office/drawing/2014/main" id="{6733FFE4-FF51-9583-E1CB-5EB61F83AF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114" t="10227" b="3308"/>
            <a:stretch>
              <a:fillRect/>
            </a:stretch>
          </p:blipFill>
          <p:spPr bwMode="auto">
            <a:xfrm>
              <a:off x="5324559" y="2203079"/>
              <a:ext cx="6572781" cy="4224698"/>
            </a:xfrm>
            <a:prstGeom prst="rect">
              <a:avLst/>
            </a:prstGeom>
            <a:noFill/>
            <a:extLst>
              <a:ext uri="{909E8E84-426E-40DD-AFC4-6F175D3DCCD1}">
                <a14:hiddenFill xmlns:a14="http://schemas.microsoft.com/office/drawing/2010/main">
                  <a:solidFill>
                    <a:srgbClr val="FFFFFF"/>
                  </a:solidFill>
                </a14:hiddenFill>
              </a:ext>
            </a:extLst>
          </p:spPr>
        </p:pic>
        <p:sp>
          <p:nvSpPr>
            <p:cNvPr id="6" name="楕円 5">
              <a:extLst>
                <a:ext uri="{FF2B5EF4-FFF2-40B4-BE49-F238E27FC236}">
                  <a16:creationId xmlns:a16="http://schemas.microsoft.com/office/drawing/2014/main" id="{E29F0FE5-EA60-8EEE-8A0A-266B801A27E1}"/>
                </a:ext>
              </a:extLst>
            </p:cNvPr>
            <p:cNvSpPr/>
            <p:nvPr/>
          </p:nvSpPr>
          <p:spPr>
            <a:xfrm>
              <a:off x="5510967" y="3989645"/>
              <a:ext cx="4148979" cy="1389479"/>
            </a:xfrm>
            <a:prstGeom prst="ellipse">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B6264504-D1D0-3D7D-1184-966AEF759963}"/>
                </a:ext>
              </a:extLst>
            </p:cNvPr>
            <p:cNvSpPr/>
            <p:nvPr/>
          </p:nvSpPr>
          <p:spPr>
            <a:xfrm>
              <a:off x="7400237" y="3214156"/>
              <a:ext cx="332046" cy="12965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054" name="Picture 6" descr="差動増幅段 (diff.sch)">
            <a:extLst>
              <a:ext uri="{FF2B5EF4-FFF2-40B4-BE49-F238E27FC236}">
                <a16:creationId xmlns:a16="http://schemas.microsoft.com/office/drawing/2014/main" id="{13BCBDC2-9AAF-A0F8-31B5-005D70F83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6448" y="0"/>
            <a:ext cx="3346329" cy="3126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871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FE50359-68C2-5C86-0CAF-4C148CD53A72}"/>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084B4044-409A-D514-034B-A60164F20B73}"/>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ボックス 5">
            <a:extLst>
              <a:ext uri="{FF2B5EF4-FFF2-40B4-BE49-F238E27FC236}">
                <a16:creationId xmlns:a16="http://schemas.microsoft.com/office/drawing/2014/main" id="{D3E62F4B-4597-51A9-DAB1-7D4F73AA7B0A}"/>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0787114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0185B64-8E54-B786-3B14-993BE142A8C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11575D1-C456-46CE-7262-8127AEA1C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3558D23-BD8B-851F-0BB5-54713C674EC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6D403B11-9A81-0CB6-1B57-14EBB9C2FFB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FEFEDD3-37D0-5847-10C8-75073C6CB8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B9EF3C2C-1685-36EA-2120-F18C7169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7A3AE7-8DB5-D458-B93C-F9570802023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負荷設計</a:t>
            </a:r>
            <a:br>
              <a:rPr lang="en-US" altLang="ja-JP" sz="4000">
                <a:solidFill>
                  <a:schemeClr val="bg2"/>
                </a:solidFill>
              </a:rPr>
            </a:br>
            <a:r>
              <a:rPr lang="en-US" altLang="ja-JP" sz="4000">
                <a:solidFill>
                  <a:schemeClr val="bg2"/>
                </a:solidFill>
              </a:rPr>
              <a:t>(</a:t>
            </a:r>
            <a:r>
              <a:rPr lang="ja-JP" altLang="en-US" sz="4000">
                <a:solidFill>
                  <a:schemeClr val="bg2"/>
                </a:solidFill>
              </a:rPr>
              <a:t>オプション</a:t>
            </a:r>
            <a:r>
              <a:rPr lang="en-US" altLang="ja-JP" sz="4000">
                <a:solidFill>
                  <a:schemeClr val="bg2"/>
                </a:solidFill>
              </a:rPr>
              <a:t>)</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21008009"/>
      </p:ext>
    </p:extLst>
  </p:cSld>
  <p:clrMapOvr>
    <a:overrideClrMapping bg1="dk1" tx1="lt1" bg2="dk2" tx2="lt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214A-E3E7-B28E-F92F-00661EE6AC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0D357C-90C9-C6C2-8669-708CCBDE31AC}"/>
              </a:ext>
            </a:extLst>
          </p:cNvPr>
          <p:cNvSpPr>
            <a:spLocks noGrp="1"/>
          </p:cNvSpPr>
          <p:nvPr>
            <p:ph type="title"/>
          </p:nvPr>
        </p:nvSpPr>
        <p:spPr/>
        <p:txBody>
          <a:bodyPr/>
          <a:lstStyle/>
          <a:p>
            <a:r>
              <a:rPr kumimoji="1" lang="ja-JP" altLang="en-US"/>
              <a:t>オーディオ用</a:t>
            </a:r>
            <a:r>
              <a:rPr kumimoji="1" lang="en-US" altLang="ja-JP"/>
              <a:t>OPAMP</a:t>
            </a:r>
            <a:r>
              <a:rPr kumimoji="1" lang="ja-JP" altLang="en-US"/>
              <a:t>として利用する</a:t>
            </a:r>
          </a:p>
        </p:txBody>
      </p:sp>
      <p:graphicFrame>
        <p:nvGraphicFramePr>
          <p:cNvPr id="5" name="コンテンツ プレースホルダー 2">
            <a:extLst>
              <a:ext uri="{FF2B5EF4-FFF2-40B4-BE49-F238E27FC236}">
                <a16:creationId xmlns:a16="http://schemas.microsoft.com/office/drawing/2014/main" id="{CF426E30-025E-3A9D-688D-78EA161771DA}"/>
              </a:ext>
            </a:extLst>
          </p:cNvPr>
          <p:cNvGraphicFramePr>
            <a:graphicFrameLocks noGrp="1"/>
          </p:cNvGraphicFramePr>
          <p:nvPr>
            <p:ph idx="1"/>
            <p:extLst>
              <p:ext uri="{D42A27DB-BD31-4B8C-83A1-F6EECF244321}">
                <p14:modId xmlns:p14="http://schemas.microsoft.com/office/powerpoint/2010/main" val="35132327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27426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058107-064A-8B0D-1EC9-C1CAB207D1E3}"/>
              </a:ext>
            </a:extLst>
          </p:cNvPr>
          <p:cNvSpPr>
            <a:spLocks noGrp="1"/>
          </p:cNvSpPr>
          <p:nvPr>
            <p:ph type="title"/>
          </p:nvPr>
        </p:nvSpPr>
        <p:spPr>
          <a:xfrm>
            <a:off x="808638" y="386930"/>
            <a:ext cx="9236700" cy="1188950"/>
          </a:xfrm>
        </p:spPr>
        <p:txBody>
          <a:bodyPr anchor="b">
            <a:normAutofit/>
          </a:bodyPr>
          <a:lstStyle/>
          <a:p>
            <a:r>
              <a:rPr lang="ja-JP" altLang="en-US" sz="5400"/>
              <a:t>出力段（バッファ段）</a:t>
            </a:r>
            <a:endParaRPr kumimoji="1" lang="ja-JP" alt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1A633F7D-65A3-7C25-A6F7-816E7F00CC27}"/>
              </a:ext>
            </a:extLst>
          </p:cNvPr>
          <p:cNvSpPr>
            <a:spLocks noGrp="1"/>
          </p:cNvSpPr>
          <p:nvPr>
            <p:ph idx="1"/>
          </p:nvPr>
        </p:nvSpPr>
        <p:spPr>
          <a:xfrm>
            <a:off x="793660" y="2599509"/>
            <a:ext cx="10143668" cy="3435531"/>
          </a:xfrm>
        </p:spPr>
        <p:txBody>
          <a:bodyPr anchor="ctr">
            <a:normAutofit/>
          </a:bodyPr>
          <a:lstStyle/>
          <a:p>
            <a:r>
              <a:rPr lang="en-US" altLang="ja-JP" sz="2400"/>
              <a:t>OPAMP</a:t>
            </a:r>
            <a:r>
              <a:rPr lang="ja-JP" altLang="en-US" sz="2400"/>
              <a:t>の駆動力を上げるために出力段（バッファ段）を用意する手法</a:t>
            </a:r>
            <a:endParaRPr lang="en-US" altLang="ja-JP" sz="2400"/>
          </a:p>
          <a:p>
            <a:pPr lvl="1"/>
            <a:r>
              <a:rPr lang="ja-JP" altLang="en-US"/>
              <a:t>出力段の例</a:t>
            </a:r>
            <a:endParaRPr lang="en-US" altLang="ja-JP"/>
          </a:p>
          <a:p>
            <a:pPr lvl="2"/>
            <a:r>
              <a:rPr lang="ja-JP" altLang="en-US" sz="2400"/>
              <a:t>プッシュプル出力段（</a:t>
            </a:r>
            <a:r>
              <a:rPr lang="en-US" altLang="ja-JP" sz="2400"/>
              <a:t>Class AB Output Stage</a:t>
            </a:r>
            <a:r>
              <a:rPr lang="ja-JP" altLang="en-US" sz="2400"/>
              <a:t>）</a:t>
            </a:r>
            <a:endParaRPr lang="en-US" altLang="ja-JP" sz="2400"/>
          </a:p>
          <a:p>
            <a:pPr lvl="3"/>
            <a:r>
              <a:rPr lang="ja-JP" altLang="en-US" sz="2400"/>
              <a:t>最もスタンダード</a:t>
            </a:r>
            <a:r>
              <a:rPr kumimoji="1" lang="ja-JP" altLang="en-US" sz="2400"/>
              <a:t>な出力段</a:t>
            </a:r>
            <a:endParaRPr kumimoji="1" lang="en-US" altLang="ja-JP" sz="2400"/>
          </a:p>
          <a:p>
            <a:pPr lvl="2"/>
            <a:r>
              <a:rPr lang="ja-JP" altLang="en-US" sz="2400"/>
              <a:t>ソースフォロワ （</a:t>
            </a:r>
            <a:r>
              <a:rPr lang="en-US" altLang="ja-JP" sz="2400"/>
              <a:t>Common-Drain</a:t>
            </a:r>
            <a:r>
              <a:rPr lang="ja-JP" altLang="en-US" sz="2400"/>
              <a:t>）</a:t>
            </a:r>
            <a:endParaRPr lang="en-US" altLang="ja-JP" sz="2400"/>
          </a:p>
          <a:p>
            <a:pPr lvl="3"/>
            <a:r>
              <a:rPr kumimoji="1" lang="ja-JP" altLang="en-US" sz="2400"/>
              <a:t>最もシンプルな出力段</a:t>
            </a:r>
          </a:p>
        </p:txBody>
      </p:sp>
    </p:spTree>
    <p:extLst>
      <p:ext uri="{BB962C8B-B14F-4D97-AF65-F5344CB8AC3E}">
        <p14:creationId xmlns:p14="http://schemas.microsoft.com/office/powerpoint/2010/main" val="39257475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508D15A-DA96-93C2-89A8-DEA408997E55}"/>
              </a:ext>
            </a:extLst>
          </p:cNvPr>
          <p:cNvSpPr>
            <a:spLocks noGrp="1"/>
          </p:cNvSpPr>
          <p:nvPr>
            <p:ph type="title"/>
          </p:nvPr>
        </p:nvSpPr>
        <p:spPr>
          <a:xfrm>
            <a:off x="645064" y="525982"/>
            <a:ext cx="4282983" cy="1200361"/>
          </a:xfrm>
        </p:spPr>
        <p:txBody>
          <a:bodyPr anchor="b">
            <a:normAutofit/>
          </a:bodyPr>
          <a:lstStyle/>
          <a:p>
            <a:pPr lvl="2">
              <a:lnSpc>
                <a:spcPct val="90000"/>
              </a:lnSpc>
            </a:pPr>
            <a:r>
              <a:rPr lang="ja-JP" altLang="en-US" sz="2500"/>
              <a:t>プッシュプル出力段</a:t>
            </a:r>
            <a:br>
              <a:rPr lang="en-US" altLang="ja-JP" sz="2500"/>
            </a:br>
            <a:r>
              <a:rPr lang="ja-JP" altLang="en-US" sz="2500"/>
              <a:t>（</a:t>
            </a:r>
            <a:r>
              <a:rPr lang="en-US" altLang="ja-JP" sz="2500"/>
              <a:t>Class AB Output Stage</a:t>
            </a:r>
            <a:r>
              <a:rPr lang="ja-JP" altLang="en-US" sz="2500"/>
              <a:t>）</a:t>
            </a:r>
            <a:endParaRPr lang="en-US" altLang="ja-JP" sz="2500"/>
          </a:p>
        </p:txBody>
      </p:sp>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E9B60712-69FF-5703-F233-8F7D8A1E910B}"/>
              </a:ext>
            </a:extLst>
          </p:cNvPr>
          <p:cNvSpPr>
            <a:spLocks noGrp="1"/>
          </p:cNvSpPr>
          <p:nvPr>
            <p:ph idx="1"/>
          </p:nvPr>
        </p:nvSpPr>
        <p:spPr>
          <a:xfrm>
            <a:off x="645066" y="2031101"/>
            <a:ext cx="4282984" cy="3511943"/>
          </a:xfrm>
        </p:spPr>
        <p:txBody>
          <a:bodyPr anchor="ctr">
            <a:normAutofit/>
          </a:bodyPr>
          <a:lstStyle/>
          <a:p>
            <a:r>
              <a:rPr kumimoji="1" lang="ja-JP" altLang="en-US" sz="1800"/>
              <a:t>注意事項</a:t>
            </a:r>
            <a:endParaRPr kumimoji="1" lang="en-US" altLang="ja-JP" sz="1800"/>
          </a:p>
          <a:p>
            <a:pPr lvl="1"/>
            <a:r>
              <a:rPr kumimoji="1" lang="ja-JP" altLang="en-US" sz="1800"/>
              <a:t>必要な電流に合わせて、サイズを調整すること</a:t>
            </a:r>
            <a:endParaRPr kumimoji="1" lang="en-US" altLang="ja-JP" sz="1800"/>
          </a:p>
          <a:p>
            <a:pPr lvl="1"/>
            <a:r>
              <a:rPr kumimoji="1" lang="en-US" altLang="ja-JP" sz="1800"/>
              <a:t>Vbias</a:t>
            </a:r>
            <a:r>
              <a:rPr kumimoji="1" lang="ja-JP" altLang="en-US" sz="1800"/>
              <a:t>はカレントミラーの入力を利用する</a:t>
            </a:r>
            <a:endParaRPr kumimoji="1" lang="en-US" altLang="ja-JP" sz="1800"/>
          </a:p>
          <a:p>
            <a:pPr lvl="2"/>
            <a:r>
              <a:rPr lang="ja-JP" altLang="en-US" sz="1800"/>
              <a:t>適切な電流が流れるように調整すること</a:t>
            </a:r>
            <a:endParaRPr lang="en-US" altLang="ja-JP" sz="1800"/>
          </a:p>
          <a:p>
            <a:pPr lvl="1"/>
            <a:endParaRPr kumimoji="1" lang="en-US" altLang="ja-JP" sz="2200"/>
          </a:p>
          <a:p>
            <a:pPr lvl="1"/>
            <a:r>
              <a:rPr lang="ja-JP" altLang="en-US" sz="1800"/>
              <a:t>サンプル：</a:t>
            </a:r>
            <a:r>
              <a:rPr lang="en-US" altLang="ja-JP" sz="1800"/>
              <a:t>b</a:t>
            </a:r>
            <a:r>
              <a:rPr kumimoji="1" lang="en-US" altLang="ja-JP" sz="1800"/>
              <a:t>uff_pushpull.sch</a:t>
            </a:r>
          </a:p>
          <a:p>
            <a:pPr lvl="1"/>
            <a:r>
              <a:rPr lang="ja-JP" altLang="en-US" sz="1800"/>
              <a:t>サンプル：</a:t>
            </a:r>
            <a:r>
              <a:rPr lang="en-US" altLang="ja-JP" sz="1800"/>
              <a:t>buff_pushpull_tb.sch</a:t>
            </a:r>
            <a:endParaRPr lang="ja-JP" altLang="en-US" sz="1800"/>
          </a:p>
        </p:txBody>
      </p:sp>
      <p:sp>
        <p:nvSpPr>
          <p:cNvPr id="26"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92AC8652-C165-DE00-AA73-023AD4938526}"/>
              </a:ext>
            </a:extLst>
          </p:cNvPr>
          <p:cNvPicPr>
            <a:picLocks noChangeAspect="1"/>
          </p:cNvPicPr>
          <p:nvPr/>
        </p:nvPicPr>
        <p:blipFill>
          <a:blip r:embed="rId2"/>
          <a:stretch>
            <a:fillRect/>
          </a:stretch>
        </p:blipFill>
        <p:spPr>
          <a:xfrm>
            <a:off x="6056758" y="587829"/>
            <a:ext cx="5465041" cy="5439955"/>
          </a:xfrm>
          <a:prstGeom prst="rect">
            <a:avLst/>
          </a:prstGeom>
        </p:spPr>
      </p:pic>
    </p:spTree>
    <p:extLst>
      <p:ext uri="{BB962C8B-B14F-4D97-AF65-F5344CB8AC3E}">
        <p14:creationId xmlns:p14="http://schemas.microsoft.com/office/powerpoint/2010/main" val="19951922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D2E27B-6D4A-D300-CD85-355BE42D9A2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E259BE6-A5EF-EDF9-C9AD-2438679998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46A98035-CE99-DABA-011B-3AAB736D3C8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C04F26D0-B127-F52E-8434-4EBA75C9AD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F795D27-8905-38B3-924A-0FBF97884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2BFA3B08-DBC8-4A79-2DE5-7B1315DDE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8D2014F-9E9D-A2EF-E5BE-D28CE8BA859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性能</a:t>
            </a:r>
            <a:r>
              <a:rPr kumimoji="1" lang="ja-JP" altLang="en-US" sz="4000" kern="1200">
                <a:solidFill>
                  <a:schemeClr val="bg2"/>
                </a:solidFill>
                <a:latin typeface="+mj-lt"/>
                <a:ea typeface="+mj-ea"/>
                <a:cs typeface="+mj-cs"/>
              </a:rPr>
              <a:t>評価</a:t>
            </a:r>
          </a:p>
        </p:txBody>
      </p:sp>
    </p:spTree>
    <p:extLst>
      <p:ext uri="{BB962C8B-B14F-4D97-AF65-F5344CB8AC3E}">
        <p14:creationId xmlns:p14="http://schemas.microsoft.com/office/powerpoint/2010/main" val="894552769"/>
      </p:ext>
    </p:extLst>
  </p:cSld>
  <p:clrMapOvr>
    <a:overrideClrMapping bg1="dk1" tx1="lt1" bg2="dk2" tx2="lt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6092CD1-CDC2-42DD-4C62-AB9CF0B5B420}"/>
              </a:ext>
            </a:extLst>
          </p:cNvPr>
          <p:cNvSpPr>
            <a:spLocks noGrp="1"/>
          </p:cNvSpPr>
          <p:nvPr>
            <p:ph type="title"/>
          </p:nvPr>
        </p:nvSpPr>
        <p:spPr>
          <a:xfrm>
            <a:off x="589560" y="856180"/>
            <a:ext cx="4560584" cy="1128068"/>
          </a:xfrm>
        </p:spPr>
        <p:txBody>
          <a:bodyPr anchor="ctr">
            <a:normAutofit/>
          </a:bodyPr>
          <a:lstStyle/>
          <a:p>
            <a:r>
              <a:rPr kumimoji="1" lang="ja-JP" altLang="en-US" sz="4000"/>
              <a:t>飽和領域</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6FCB5E1-38AF-5134-9188-501A1F4DBE72}"/>
              </a:ext>
            </a:extLst>
          </p:cNvPr>
          <p:cNvSpPr>
            <a:spLocks noGrp="1"/>
          </p:cNvSpPr>
          <p:nvPr>
            <p:ph idx="1"/>
          </p:nvPr>
        </p:nvSpPr>
        <p:spPr>
          <a:xfrm>
            <a:off x="590719" y="2330505"/>
            <a:ext cx="4559425" cy="3979585"/>
          </a:xfrm>
        </p:spPr>
        <p:txBody>
          <a:bodyPr anchor="ctr">
            <a:normAutofit/>
          </a:bodyPr>
          <a:lstStyle/>
          <a:p>
            <a:r>
              <a:rPr kumimoji="1" lang="ja-JP" altLang="en-US" sz="2000"/>
              <a:t>必要なトランジスタが飽和領域で動作しているかの確認</a:t>
            </a:r>
            <a:endParaRPr kumimoji="1" lang="en-US" altLang="ja-JP" sz="2000"/>
          </a:p>
          <a:p>
            <a:pPr lvl="1"/>
            <a:r>
              <a:rPr kumimoji="1" lang="en-US" altLang="ja-JP" sz="2000"/>
              <a:t>op</a:t>
            </a:r>
            <a:r>
              <a:rPr kumimoji="1" lang="ja-JP" altLang="en-US" sz="2000"/>
              <a:t>コマンドや</a:t>
            </a:r>
            <a:r>
              <a:rPr lang="en-US" altLang="ja-JP" sz="2000"/>
              <a:t>show m</a:t>
            </a:r>
            <a:r>
              <a:rPr lang="ja-JP" altLang="en-US" sz="2000"/>
              <a:t>コマンドで確認すること</a:t>
            </a:r>
            <a:endParaRPr kumimoji="1" lang="ja-JP" altLang="en-U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71B69010-6939-A4B9-C385-D5FDD3F9E6E5}"/>
              </a:ext>
            </a:extLst>
          </p:cNvPr>
          <p:cNvPicPr>
            <a:picLocks noChangeAspect="1"/>
          </p:cNvPicPr>
          <p:nvPr/>
        </p:nvPicPr>
        <p:blipFill>
          <a:blip r:embed="rId2"/>
          <a:stretch>
            <a:fillRect/>
          </a:stretch>
        </p:blipFill>
        <p:spPr>
          <a:xfrm>
            <a:off x="5793486" y="856180"/>
            <a:ext cx="5807795" cy="4950327"/>
          </a:xfrm>
          <a:prstGeom prst="rect">
            <a:avLst/>
          </a:prstGeom>
        </p:spPr>
      </p:pic>
    </p:spTree>
    <p:extLst>
      <p:ext uri="{BB962C8B-B14F-4D97-AF65-F5344CB8AC3E}">
        <p14:creationId xmlns:p14="http://schemas.microsoft.com/office/powerpoint/2010/main" val="33912874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3" name="Rectangle 412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25" name="Group 41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26" name="Rectangle 41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7" name="Rectangle 41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8" name="Rectangle 41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30" name="Rectangle 41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17652F9-9E3F-E098-0709-F51FBA0D8B88}"/>
              </a:ext>
            </a:extLst>
          </p:cNvPr>
          <p:cNvSpPr>
            <a:spLocks noGrp="1"/>
          </p:cNvSpPr>
          <p:nvPr>
            <p:ph type="title"/>
          </p:nvPr>
        </p:nvSpPr>
        <p:spPr>
          <a:xfrm>
            <a:off x="1043631" y="873940"/>
            <a:ext cx="4928291" cy="1035781"/>
          </a:xfrm>
        </p:spPr>
        <p:txBody>
          <a:bodyPr anchor="ctr">
            <a:normAutofit/>
          </a:bodyPr>
          <a:lstStyle/>
          <a:p>
            <a:r>
              <a:rPr kumimoji="1" lang="ja-JP" altLang="en-US" sz="3600"/>
              <a:t>増幅率</a:t>
            </a:r>
          </a:p>
        </p:txBody>
      </p:sp>
      <p:sp>
        <p:nvSpPr>
          <p:cNvPr id="3" name="コンテンツ プレースホルダー 2">
            <a:extLst>
              <a:ext uri="{FF2B5EF4-FFF2-40B4-BE49-F238E27FC236}">
                <a16:creationId xmlns:a16="http://schemas.microsoft.com/office/drawing/2014/main" id="{F3C4FF2C-BFF3-0ED7-7A99-2663BA47CAAD}"/>
              </a:ext>
            </a:extLst>
          </p:cNvPr>
          <p:cNvSpPr>
            <a:spLocks noGrp="1"/>
          </p:cNvSpPr>
          <p:nvPr>
            <p:ph idx="1"/>
          </p:nvPr>
        </p:nvSpPr>
        <p:spPr>
          <a:xfrm>
            <a:off x="1045029" y="2524721"/>
            <a:ext cx="4991629" cy="3677123"/>
          </a:xfrm>
        </p:spPr>
        <p:txBody>
          <a:bodyPr anchor="ctr">
            <a:normAutofit/>
          </a:bodyPr>
          <a:lstStyle/>
          <a:p>
            <a:r>
              <a:rPr kumimoji="1" lang="ja-JP" altLang="en-US" sz="1800"/>
              <a:t>周波数：</a:t>
            </a:r>
            <a:r>
              <a:rPr kumimoji="1" lang="en-US" altLang="ja-JP" sz="1800"/>
              <a:t>100kHz</a:t>
            </a:r>
            <a:r>
              <a:rPr kumimoji="1" lang="ja-JP" altLang="en-US" sz="1800"/>
              <a:t>で</a:t>
            </a:r>
            <a:r>
              <a:rPr lang="en-US" altLang="ja-JP" sz="1800"/>
              <a:t>7</a:t>
            </a:r>
            <a:r>
              <a:rPr kumimoji="1" lang="en-US" altLang="ja-JP" sz="1800"/>
              <a:t>0dB</a:t>
            </a:r>
          </a:p>
          <a:p>
            <a:pPr lvl="1"/>
            <a:r>
              <a:rPr lang="ja-JP" altLang="en-US" sz="1800"/>
              <a:t>問題なさそう</a:t>
            </a:r>
            <a:endParaRPr lang="en-US" altLang="ja-JP" sz="1800"/>
          </a:p>
          <a:p>
            <a:pPr lvl="1"/>
            <a:endParaRPr lang="en-US" altLang="ja-JP" sz="1800"/>
          </a:p>
          <a:p>
            <a:pPr lvl="1"/>
            <a:r>
              <a:rPr lang="ja-JP" altLang="en-US" sz="1800"/>
              <a:t>サンプル</a:t>
            </a:r>
            <a:endParaRPr lang="en-US" altLang="ja-JP" sz="1800"/>
          </a:p>
          <a:p>
            <a:pPr lvl="2"/>
            <a:r>
              <a:rPr lang="en-US" altLang="ja-JP" sz="1400"/>
              <a:t>2stage_dc.sch</a:t>
            </a:r>
          </a:p>
          <a:p>
            <a:pPr lvl="2"/>
            <a:r>
              <a:rPr lang="en-US" altLang="ja-JP" sz="1400"/>
              <a:t>2stage_ac.sch</a:t>
            </a:r>
          </a:p>
          <a:p>
            <a:pPr lvl="2"/>
            <a:r>
              <a:rPr lang="en-US" altLang="ja-JP" sz="1400"/>
              <a:t>2stage_tran.sch</a:t>
            </a:r>
          </a:p>
        </p:txBody>
      </p:sp>
      <p:sp>
        <p:nvSpPr>
          <p:cNvPr id="4132" name="Rectangle 413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4" name="Rectangle 413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36" name="Straight Connector 41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7F783F71-7CD1-88DD-7F48-30199D9BB671}"/>
              </a:ext>
            </a:extLst>
          </p:cNvPr>
          <p:cNvPicPr>
            <a:picLocks noChangeAspect="1"/>
          </p:cNvPicPr>
          <p:nvPr/>
        </p:nvPicPr>
        <p:blipFill>
          <a:blip r:embed="rId2"/>
          <a:stretch>
            <a:fillRect/>
          </a:stretch>
        </p:blipFill>
        <p:spPr>
          <a:xfrm>
            <a:off x="6841247" y="3995925"/>
            <a:ext cx="4305724" cy="1693999"/>
          </a:xfrm>
          <a:prstGeom prst="rect">
            <a:avLst/>
          </a:prstGeom>
        </p:spPr>
      </p:pic>
      <p:pic>
        <p:nvPicPr>
          <p:cNvPr id="7" name="図 6">
            <a:extLst>
              <a:ext uri="{FF2B5EF4-FFF2-40B4-BE49-F238E27FC236}">
                <a16:creationId xmlns:a16="http://schemas.microsoft.com/office/drawing/2014/main" id="{3A25AE8B-20D2-710F-B3AF-6B9578C2A172}"/>
              </a:ext>
            </a:extLst>
          </p:cNvPr>
          <p:cNvPicPr>
            <a:picLocks noChangeAspect="1"/>
          </p:cNvPicPr>
          <p:nvPr/>
        </p:nvPicPr>
        <p:blipFill>
          <a:blip r:embed="rId3"/>
          <a:stretch>
            <a:fillRect/>
          </a:stretch>
        </p:blipFill>
        <p:spPr>
          <a:xfrm>
            <a:off x="7653216" y="772364"/>
            <a:ext cx="2743387" cy="2393478"/>
          </a:xfrm>
          <a:prstGeom prst="rect">
            <a:avLst/>
          </a:prstGeom>
        </p:spPr>
      </p:pic>
    </p:spTree>
    <p:extLst>
      <p:ext uri="{BB962C8B-B14F-4D97-AF65-F5344CB8AC3E}">
        <p14:creationId xmlns:p14="http://schemas.microsoft.com/office/powerpoint/2010/main" val="23674374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8908878-03D0-0CE8-2C10-1245B6E6B3D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EB8985E-B703-FFC6-867D-DB6EF895D5B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位相</a:t>
            </a:r>
            <a:r>
              <a:rPr lang="ja-JP" altLang="en-US" sz="4000">
                <a:solidFill>
                  <a:schemeClr val="bg2"/>
                </a:solidFill>
              </a:rPr>
              <a:t>補償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103275893"/>
      </p:ext>
    </p:extLst>
  </p:cSld>
  <p:clrMapOvr>
    <a:overrideClrMapping bg1="dk1" tx1="lt1" bg2="dk2" tx2="lt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タイトル 1">
            <a:extLst>
              <a:ext uri="{FF2B5EF4-FFF2-40B4-BE49-F238E27FC236}">
                <a16:creationId xmlns:a16="http://schemas.microsoft.com/office/drawing/2014/main" id="{8AF3F589-9B90-C6F1-A3C5-511E491F17BC}"/>
              </a:ext>
            </a:extLst>
          </p:cNvPr>
          <p:cNvSpPr>
            <a:spLocks noGrp="1"/>
          </p:cNvSpPr>
          <p:nvPr>
            <p:ph type="title"/>
          </p:nvPr>
        </p:nvSpPr>
        <p:spPr>
          <a:xfrm>
            <a:off x="838199" y="1120676"/>
            <a:ext cx="7021513" cy="2308324"/>
          </a:xfrm>
        </p:spPr>
        <p:txBody>
          <a:bodyPr vert="horz" lIns="91440" tIns="45720" rIns="91440" bIns="45720" rtlCol="0" anchor="b">
            <a:normAutofit/>
          </a:bodyPr>
          <a:lstStyle/>
          <a:p>
            <a:r>
              <a:rPr kumimoji="1" lang="ja-JP" altLang="en-US" sz="7200" kern="1200">
                <a:solidFill>
                  <a:schemeClr val="bg1"/>
                </a:solidFill>
                <a:latin typeface="+mj-lt"/>
                <a:ea typeface="+mj-ea"/>
                <a:cs typeface="+mj-cs"/>
              </a:rPr>
              <a:t>注意事項</a:t>
            </a:r>
          </a:p>
        </p:txBody>
      </p:sp>
      <p:sp>
        <p:nvSpPr>
          <p:cNvPr id="3" name="コンテンツ プレースホルダー 2">
            <a:extLst>
              <a:ext uri="{FF2B5EF4-FFF2-40B4-BE49-F238E27FC236}">
                <a16:creationId xmlns:a16="http://schemas.microsoft.com/office/drawing/2014/main" id="{5BEFA4FC-8480-302F-7D4D-A2560F875173}"/>
              </a:ext>
            </a:extLst>
          </p:cNvPr>
          <p:cNvSpPr>
            <a:spLocks noGrp="1"/>
          </p:cNvSpPr>
          <p:nvPr>
            <p:ph idx="1"/>
          </p:nvPr>
        </p:nvSpPr>
        <p:spPr>
          <a:xfrm>
            <a:off x="835024" y="3809999"/>
            <a:ext cx="7025753" cy="1012778"/>
          </a:xfrm>
        </p:spPr>
        <p:txBody>
          <a:bodyPr vert="horz" lIns="91440" tIns="45720" rIns="91440" bIns="45720" rtlCol="0">
            <a:normAutofit/>
          </a:bodyPr>
          <a:lstStyle/>
          <a:p>
            <a:pPr marL="0" indent="0">
              <a:buNone/>
            </a:pPr>
            <a:r>
              <a:rPr kumimoji="1" lang="ja-JP" altLang="en-US" sz="2400" kern="1200">
                <a:solidFill>
                  <a:schemeClr val="bg1"/>
                </a:solidFill>
                <a:latin typeface="+mn-lt"/>
                <a:ea typeface="+mn-ea"/>
                <a:cs typeface="+mn-cs"/>
              </a:rPr>
              <a:t>土谷先生の資料を元に解説します</a:t>
            </a:r>
            <a:endParaRPr kumimoji="1" lang="en-US" altLang="ja-JP" sz="2400" kern="1200">
              <a:solidFill>
                <a:schemeClr val="bg1"/>
              </a:solidFill>
              <a:latin typeface="+mn-lt"/>
              <a:ea typeface="+mn-ea"/>
              <a:cs typeface="+mn-cs"/>
            </a:endParaRPr>
          </a:p>
        </p:txBody>
      </p:sp>
    </p:spTree>
    <p:extLst>
      <p:ext uri="{BB962C8B-B14F-4D97-AF65-F5344CB8AC3E}">
        <p14:creationId xmlns:p14="http://schemas.microsoft.com/office/powerpoint/2010/main" val="21698763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4BCFCDF-967D-82C9-E5EE-A8342B89D28C}"/>
              </a:ext>
            </a:extLst>
          </p:cNvPr>
          <p:cNvSpPr>
            <a:spLocks noGrp="1"/>
          </p:cNvSpPr>
          <p:nvPr>
            <p:ph type="title"/>
          </p:nvPr>
        </p:nvSpPr>
        <p:spPr>
          <a:xfrm>
            <a:off x="793662" y="386930"/>
            <a:ext cx="10066122" cy="1298448"/>
          </a:xfrm>
        </p:spPr>
        <p:txBody>
          <a:bodyPr anchor="b">
            <a:normAutofit/>
          </a:bodyPr>
          <a:lstStyle/>
          <a:p>
            <a:r>
              <a:rPr kumimoji="1" lang="ja-JP" altLang="en-US" sz="4100"/>
              <a:t>前提：</a:t>
            </a:r>
            <a:r>
              <a:rPr kumimoji="1" lang="en-US" altLang="ja-JP" sz="4100"/>
              <a:t>OPAMP</a:t>
            </a:r>
            <a:r>
              <a:rPr kumimoji="1" lang="ja-JP" altLang="en-US" sz="4100"/>
              <a:t>はフィードバック制御回路</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11BAB4C-8997-E4F7-2E82-49C1B38E43B2}"/>
              </a:ext>
            </a:extLst>
          </p:cNvPr>
          <p:cNvSpPr>
            <a:spLocks noGrp="1"/>
          </p:cNvSpPr>
          <p:nvPr>
            <p:ph idx="1"/>
          </p:nvPr>
        </p:nvSpPr>
        <p:spPr>
          <a:xfrm>
            <a:off x="793660" y="2599509"/>
            <a:ext cx="4927031" cy="3639450"/>
          </a:xfrm>
        </p:spPr>
        <p:txBody>
          <a:bodyPr anchor="ctr">
            <a:normAutofit/>
          </a:bodyPr>
          <a:lstStyle/>
          <a:p>
            <a:r>
              <a:rPr lang="ja-JP" altLang="en-US" sz="2000"/>
              <a:t>負帰還（ネガティブフィードバック）で制御されている！</a:t>
            </a:r>
            <a:endParaRPr lang="en-US" altLang="ja-JP" sz="2000" dirty="0"/>
          </a:p>
          <a:p>
            <a:pPr lvl="1"/>
            <a:r>
              <a:rPr kumimoji="1" lang="ja-JP" altLang="en-US" sz="1600"/>
              <a:t>制御理論の話になります。わからない方はそちらから勉強してください。</a:t>
            </a:r>
          </a:p>
        </p:txBody>
      </p:sp>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グループ化 14">
            <a:extLst>
              <a:ext uri="{FF2B5EF4-FFF2-40B4-BE49-F238E27FC236}">
                <a16:creationId xmlns:a16="http://schemas.microsoft.com/office/drawing/2014/main" id="{5B68AA83-CA72-0655-9055-0424D39576CD}"/>
              </a:ext>
            </a:extLst>
          </p:cNvPr>
          <p:cNvGrpSpPr/>
          <p:nvPr/>
        </p:nvGrpSpPr>
        <p:grpSpPr>
          <a:xfrm flipV="1">
            <a:off x="5826723" y="2882611"/>
            <a:ext cx="5150278" cy="2716548"/>
            <a:chOff x="1979712" y="4733883"/>
            <a:chExt cx="2520280" cy="1296144"/>
          </a:xfrm>
        </p:grpSpPr>
        <p:sp>
          <p:nvSpPr>
            <p:cNvPr id="6" name="二等辺三角形 5">
              <a:extLst>
                <a:ext uri="{FF2B5EF4-FFF2-40B4-BE49-F238E27FC236}">
                  <a16:creationId xmlns:a16="http://schemas.microsoft.com/office/drawing/2014/main" id="{23C5E2C9-2761-823E-D5FF-48592148D8C0}"/>
                </a:ext>
              </a:extLst>
            </p:cNvPr>
            <p:cNvSpPr/>
            <p:nvPr/>
          </p:nvSpPr>
          <p:spPr>
            <a:xfrm rot="5400000">
              <a:off x="2771800" y="5021915"/>
              <a:ext cx="1008112" cy="100811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cxnSp>
          <p:nvCxnSpPr>
            <p:cNvPr id="7" name="直線コネクタ 6">
              <a:extLst>
                <a:ext uri="{FF2B5EF4-FFF2-40B4-BE49-F238E27FC236}">
                  <a16:creationId xmlns:a16="http://schemas.microsoft.com/office/drawing/2014/main" id="{4F079F17-C70B-EE64-5898-005F7347AA84}"/>
                </a:ext>
              </a:extLst>
            </p:cNvPr>
            <p:cNvCxnSpPr/>
            <p:nvPr/>
          </p:nvCxnSpPr>
          <p:spPr>
            <a:xfrm flipH="1">
              <a:off x="1979712" y="5814003"/>
              <a:ext cx="792088"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C2FED223-74B8-55B0-F6D2-C1CCB57A72C5}"/>
                </a:ext>
              </a:extLst>
            </p:cNvPr>
            <p:cNvCxnSpPr>
              <a:stCxn id="6" idx="0"/>
            </p:cNvCxnSpPr>
            <p:nvPr/>
          </p:nvCxnSpPr>
          <p:spPr>
            <a:xfrm>
              <a:off x="3779912" y="5525971"/>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A47672E2-6B59-C4A4-4F99-2F888A392CD5}"/>
                </a:ext>
              </a:extLst>
            </p:cNvPr>
            <p:cNvCxnSpPr/>
            <p:nvPr/>
          </p:nvCxnSpPr>
          <p:spPr>
            <a:xfrm flipH="1">
              <a:off x="2483768" y="5237939"/>
              <a:ext cx="28803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4FE7E0E0-2117-026A-84E3-D15BEEB2B480}"/>
                </a:ext>
              </a:extLst>
            </p:cNvPr>
            <p:cNvCxnSpPr/>
            <p:nvPr/>
          </p:nvCxnSpPr>
          <p:spPr>
            <a:xfrm flipV="1">
              <a:off x="2483768" y="4733883"/>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C3B105-159D-F108-FF05-320C8E70224C}"/>
                </a:ext>
              </a:extLst>
            </p:cNvPr>
            <p:cNvCxnSpPr/>
            <p:nvPr/>
          </p:nvCxnSpPr>
          <p:spPr>
            <a:xfrm>
              <a:off x="2483768" y="4733883"/>
              <a:ext cx="153861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EDBEFBA-5960-9808-CB58-0F8B90C765B4}"/>
                </a:ext>
              </a:extLst>
            </p:cNvPr>
            <p:cNvCxnSpPr/>
            <p:nvPr/>
          </p:nvCxnSpPr>
          <p:spPr>
            <a:xfrm>
              <a:off x="4022380" y="4733883"/>
              <a:ext cx="0" cy="792088"/>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02538803-0D31-A6A9-0797-12458D314D9E}"/>
                    </a:ext>
                  </a:extLst>
                </p:cNvPr>
                <p:cNvSpPr txBox="1"/>
                <p:nvPr/>
              </p:nvSpPr>
              <p:spPr>
                <a:xfrm>
                  <a:off x="2865188" y="509883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02538803-0D31-A6A9-0797-12458D314D9E}"/>
                    </a:ext>
                  </a:extLst>
                </p:cNvPr>
                <p:cNvSpPr txBox="1">
                  <a:spLocks noRot="1" noChangeAspect="1" noMove="1" noResize="1" noEditPoints="1" noAdjustHandles="1" noChangeArrowheads="1" noChangeShapeType="1" noTextEdit="1"/>
                </p:cNvSpPr>
                <p:nvPr/>
              </p:nvSpPr>
              <p:spPr>
                <a:xfrm>
                  <a:off x="2865188" y="5098836"/>
                  <a:ext cx="298159" cy="36933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3EAE80F-48A9-039F-D38B-14033B7C669C}"/>
                    </a:ext>
                  </a:extLst>
                </p:cNvPr>
                <p:cNvSpPr txBox="1"/>
                <p:nvPr/>
              </p:nvSpPr>
              <p:spPr>
                <a:xfrm>
                  <a:off x="2876099" y="553105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4" name="テキスト ボックス 13">
                  <a:extLst>
                    <a:ext uri="{FF2B5EF4-FFF2-40B4-BE49-F238E27FC236}">
                      <a16:creationId xmlns:a16="http://schemas.microsoft.com/office/drawing/2014/main" id="{E3EAE80F-48A9-039F-D38B-14033B7C669C}"/>
                    </a:ext>
                  </a:extLst>
                </p:cNvPr>
                <p:cNvSpPr txBox="1">
                  <a:spLocks noRot="1" noChangeAspect="1" noMove="1" noResize="1" noEditPoints="1" noAdjustHandles="1" noChangeArrowheads="1" noChangeShapeType="1" noTextEdit="1"/>
                </p:cNvSpPr>
                <p:nvPr/>
              </p:nvSpPr>
              <p:spPr>
                <a:xfrm>
                  <a:off x="2876099" y="5531056"/>
                  <a:ext cx="298159" cy="369332"/>
                </a:xfrm>
                <a:prstGeom prst="rect">
                  <a:avLst/>
                </a:prstGeom>
                <a:blipFill>
                  <a:blip r:embed="rId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8308455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66" name="Rectangle 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22CC2ED-DB1F-AC94-186D-0AAA93596036}"/>
              </a:ext>
            </a:extLst>
          </p:cNvPr>
          <p:cNvSpPr>
            <a:spLocks noGrp="1"/>
          </p:cNvSpPr>
          <p:nvPr>
            <p:ph type="title"/>
          </p:nvPr>
        </p:nvSpPr>
        <p:spPr>
          <a:xfrm>
            <a:off x="1043631" y="873940"/>
            <a:ext cx="4928291" cy="1035781"/>
          </a:xfrm>
        </p:spPr>
        <p:txBody>
          <a:bodyPr vert="horz" lIns="91440" tIns="45720" rIns="91440" bIns="45720" rtlCol="0" anchor="ctr">
            <a:normAutofit/>
          </a:bodyPr>
          <a:lstStyle/>
          <a:p>
            <a:r>
              <a:rPr kumimoji="1" lang="ja-JP" altLang="en-US" sz="3600"/>
              <a:t>位相とは？</a:t>
            </a:r>
          </a:p>
        </p:txBody>
      </p:sp>
      <p:sp>
        <p:nvSpPr>
          <p:cNvPr id="11" name="テキスト ボックス 10">
            <a:extLst>
              <a:ext uri="{FF2B5EF4-FFF2-40B4-BE49-F238E27FC236}">
                <a16:creationId xmlns:a16="http://schemas.microsoft.com/office/drawing/2014/main" id="{EB4D65A8-21D5-5B74-283E-EA7B3265DBCE}"/>
              </a:ext>
            </a:extLst>
          </p:cNvPr>
          <p:cNvSpPr txBox="1"/>
          <p:nvPr/>
        </p:nvSpPr>
        <p:spPr>
          <a:xfrm>
            <a:off x="1045029" y="2524721"/>
            <a:ext cx="4991629" cy="367712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a:t>線形系では入力の正弦波に対して</a:t>
            </a:r>
            <a:endParaRPr kumimoji="1" lang="en-US" altLang="ja-JP"/>
          </a:p>
          <a:p>
            <a:pPr indent="-228600">
              <a:lnSpc>
                <a:spcPct val="90000"/>
              </a:lnSpc>
              <a:spcAft>
                <a:spcPts val="600"/>
              </a:spcAft>
              <a:buFont typeface="Arial" panose="020B0604020202020204" pitchFamily="34" charset="0"/>
              <a:buChar char="•"/>
            </a:pPr>
            <a:r>
              <a:rPr kumimoji="1" lang="ja-JP" altLang="en-US"/>
              <a:t>　振幅と位相の異なる正弦波が出力される 　</a:t>
            </a:r>
            <a:endParaRPr kumimoji="1" lang="en-US" altLang="ja-JP"/>
          </a:p>
          <a:p>
            <a:pPr indent="-228600">
              <a:lnSpc>
                <a:spcPct val="90000"/>
              </a:lnSpc>
              <a:spcAft>
                <a:spcPts val="600"/>
              </a:spcAft>
              <a:buFont typeface="Arial" panose="020B0604020202020204" pitchFamily="34" charset="0"/>
              <a:buChar char="•"/>
            </a:pPr>
            <a:r>
              <a:rPr lang="ja-JP" altLang="en-US"/>
              <a:t>　</a:t>
            </a:r>
            <a:r>
              <a:rPr kumimoji="1" lang="en-US" altLang="ja-JP"/>
              <a:t>(</a:t>
            </a:r>
            <a:r>
              <a:rPr kumimoji="1" lang="ja-JP" altLang="en-US"/>
              <a:t>周波数変換は起きない</a:t>
            </a:r>
            <a:r>
              <a:rPr kumimoji="1" lang="en-US" altLang="ja-JP"/>
              <a:t>)</a:t>
            </a:r>
          </a:p>
        </p:txBody>
      </p:sp>
      <p:sp>
        <p:nvSpPr>
          <p:cNvPr id="72" name="Rectangle 7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26" name="グループ化 25">
            <a:extLst>
              <a:ext uri="{FF2B5EF4-FFF2-40B4-BE49-F238E27FC236}">
                <a16:creationId xmlns:a16="http://schemas.microsoft.com/office/drawing/2014/main" id="{FBE39B1A-3AF7-488E-59EF-8C9D1E7C1AF9}"/>
              </a:ext>
            </a:extLst>
          </p:cNvPr>
          <p:cNvGrpSpPr/>
          <p:nvPr/>
        </p:nvGrpSpPr>
        <p:grpSpPr>
          <a:xfrm>
            <a:off x="6828627" y="1310502"/>
            <a:ext cx="4305905" cy="1297474"/>
            <a:chOff x="2189634" y="1556792"/>
            <a:chExt cx="4614614" cy="1390496"/>
          </a:xfrm>
        </p:grpSpPr>
        <p:sp>
          <p:nvSpPr>
            <p:cNvPr id="4" name="正方形/長方形 3">
              <a:extLst>
                <a:ext uri="{FF2B5EF4-FFF2-40B4-BE49-F238E27FC236}">
                  <a16:creationId xmlns:a16="http://schemas.microsoft.com/office/drawing/2014/main" id="{6610F98C-0CE8-2611-7B72-49503259B061}"/>
                </a:ext>
              </a:extLst>
            </p:cNvPr>
            <p:cNvSpPr/>
            <p:nvPr/>
          </p:nvSpPr>
          <p:spPr>
            <a:xfrm>
              <a:off x="3563888" y="1556792"/>
              <a:ext cx="1728192" cy="9361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矢印コネクタ 4">
              <a:extLst>
                <a:ext uri="{FF2B5EF4-FFF2-40B4-BE49-F238E27FC236}">
                  <a16:creationId xmlns:a16="http://schemas.microsoft.com/office/drawing/2014/main" id="{E3A6B9F4-697D-7C86-0F08-E4D455860273}"/>
                </a:ext>
              </a:extLst>
            </p:cNvPr>
            <p:cNvCxnSpPr>
              <a:cxnSpLocks/>
              <a:endCxn id="4" idx="1"/>
            </p:cNvCxnSpPr>
            <p:nvPr/>
          </p:nvCxnSpPr>
          <p:spPr>
            <a:xfrm>
              <a:off x="2843808" y="2024844"/>
              <a:ext cx="7200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E2F503DB-F002-F170-B998-C04DA0A05BD5}"/>
                </a:ext>
              </a:extLst>
            </p:cNvPr>
            <p:cNvCxnSpPr>
              <a:stCxn id="4" idx="3"/>
            </p:cNvCxnSpPr>
            <p:nvPr/>
          </p:nvCxnSpPr>
          <p:spPr>
            <a:xfrm>
              <a:off x="5292080" y="2024844"/>
              <a:ext cx="79208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1B003064-3300-DB03-8FFD-F92FA19BFDF3}"/>
                </a:ext>
              </a:extLst>
            </p:cNvPr>
            <p:cNvSpPr txBox="1"/>
            <p:nvPr/>
          </p:nvSpPr>
          <p:spPr>
            <a:xfrm>
              <a:off x="2189634"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入力</a:t>
              </a:r>
              <a:endParaRPr kumimoji="1" lang="ja-JP" altLang="en-US" sz="2400">
                <a:latin typeface="Cambria Math" panose="02040503050406030204" pitchFamily="18" charset="0"/>
              </a:endParaRPr>
            </a:p>
          </p:txBody>
        </p:sp>
        <p:sp>
          <p:nvSpPr>
            <p:cNvPr id="8" name="テキスト ボックス 7">
              <a:extLst>
                <a:ext uri="{FF2B5EF4-FFF2-40B4-BE49-F238E27FC236}">
                  <a16:creationId xmlns:a16="http://schemas.microsoft.com/office/drawing/2014/main" id="{A7E04AEE-1F4F-FF8E-B7C1-3091AC7AFDE3}"/>
                </a:ext>
              </a:extLst>
            </p:cNvPr>
            <p:cNvSpPr txBox="1"/>
            <p:nvPr/>
          </p:nvSpPr>
          <p:spPr>
            <a:xfrm>
              <a:off x="6188695"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出力</a:t>
              </a:r>
              <a:endParaRPr kumimoji="1" lang="ja-JP" altLang="en-US" sz="240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E489CB0-FEEB-E818-81D5-7F1EC266F7E7}"/>
                    </a:ext>
                  </a:extLst>
                </p:cNvPr>
                <p:cNvSpPr txBox="1"/>
                <p:nvPr/>
              </p:nvSpPr>
              <p:spPr>
                <a:xfrm>
                  <a:off x="4267473" y="1840178"/>
                  <a:ext cx="274819" cy="369332"/>
                </a:xfrm>
                <a:prstGeom prst="rect">
                  <a:avLst/>
                </a:prstGeom>
                <a:noFill/>
              </p:spPr>
              <p:txBody>
                <a:bodyPr wrap="none" lIns="0" tIns="0" rIns="0" bIns="0" rtlCol="0">
                  <a:spAutoFit/>
                </a:bodyPr>
                <a:lstStyle/>
                <a:p>
                  <a:pPr defTabSz="851306">
                    <a:spcAft>
                      <a:spcPts val="588"/>
                    </a:spcAft>
                  </a:pPr>
                  <a14:m>
                    <m:oMathPara xmlns:m="http://schemas.openxmlformats.org/officeDocument/2006/math">
                      <m:oMathParaPr>
                        <m:jc m:val="centerGroup"/>
                      </m:oMathParaPr>
                      <m:oMath xmlns:m="http://schemas.openxmlformats.org/officeDocument/2006/math">
                        <m:r>
                          <a:rPr kumimoji="1" lang="en-US" altLang="ja-JP" sz="2234" i="1" kern="1200">
                            <a:solidFill>
                              <a:schemeClr val="tx1"/>
                            </a:solidFill>
                            <a:latin typeface="Cambria Math" panose="02040503050406030204" pitchFamily="18" charset="0"/>
                            <a:ea typeface="+mn-ea"/>
                            <a:cs typeface="+mn-cs"/>
                          </a:rPr>
                          <m:t>𝐺</m:t>
                        </m:r>
                      </m:oMath>
                    </m:oMathPara>
                  </a14:m>
                  <a:endParaRPr kumimoji="1" lang="ja-JP" altLang="en-US" sz="2400">
                    <a:latin typeface="Cambria Math" panose="02040503050406030204" pitchFamily="18" charset="0"/>
                  </a:endParaRPr>
                </a:p>
              </p:txBody>
            </p:sp>
          </mc:Choice>
          <mc:Fallback xmlns="">
            <p:sp>
              <p:nvSpPr>
                <p:cNvPr id="9" name="テキスト ボックス 8">
                  <a:extLst>
                    <a:ext uri="{FF2B5EF4-FFF2-40B4-BE49-F238E27FC236}">
                      <a16:creationId xmlns:a16="http://schemas.microsoft.com/office/drawing/2014/main" id="{CE489CB0-FEEB-E818-81D5-7F1EC266F7E7}"/>
                    </a:ext>
                  </a:extLst>
                </p:cNvPr>
                <p:cNvSpPr txBox="1">
                  <a:spLocks noRot="1" noChangeAspect="1" noMove="1" noResize="1" noEditPoints="1" noAdjustHandles="1" noChangeArrowheads="1" noChangeShapeType="1" noTextEdit="1"/>
                </p:cNvSpPr>
                <p:nvPr/>
              </p:nvSpPr>
              <p:spPr>
                <a:xfrm>
                  <a:off x="4267473" y="1840178"/>
                  <a:ext cx="274819" cy="369332"/>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53225B3-7894-BA54-A15C-1217FBCA8704}"/>
                </a:ext>
              </a:extLst>
            </p:cNvPr>
            <p:cNvSpPr txBox="1"/>
            <p:nvPr/>
          </p:nvSpPr>
          <p:spPr>
            <a:xfrm>
              <a:off x="3203848" y="2577956"/>
              <a:ext cx="247824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伝達関数 </a:t>
              </a:r>
              <a:r>
                <a:rPr kumimoji="1" lang="en-US" altLang="ja-JP" sz="2234" kern="1200">
                  <a:solidFill>
                    <a:schemeClr val="tx1"/>
                  </a:solidFill>
                  <a:latin typeface="Cambria Math" panose="02040503050406030204" pitchFamily="18" charset="0"/>
                  <a:ea typeface="+mn-ea"/>
                  <a:cs typeface="+mn-cs"/>
                </a:rPr>
                <a:t>(</a:t>
              </a:r>
              <a:r>
                <a:rPr kumimoji="1" lang="ja-JP" altLang="en-US" sz="2234" kern="1200">
                  <a:solidFill>
                    <a:schemeClr val="tx1"/>
                  </a:solidFill>
                  <a:latin typeface="Cambria Math" panose="02040503050406030204" pitchFamily="18" charset="0"/>
                  <a:ea typeface="+mn-ea"/>
                  <a:cs typeface="+mn-cs"/>
                </a:rPr>
                <a:t>複素数</a:t>
              </a:r>
              <a:r>
                <a:rPr kumimoji="1" lang="en-US" altLang="ja-JP" sz="2234" kern="1200">
                  <a:solidFill>
                    <a:schemeClr val="tx1"/>
                  </a:solidFill>
                  <a:latin typeface="Cambria Math" panose="02040503050406030204" pitchFamily="18" charset="0"/>
                  <a:ea typeface="+mn-ea"/>
                  <a:cs typeface="+mn-cs"/>
                </a:rPr>
                <a:t>)</a:t>
              </a:r>
              <a:endParaRPr kumimoji="1" lang="ja-JP" altLang="en-US" sz="2400">
                <a:latin typeface="Cambria Math" panose="02040503050406030204" pitchFamily="18" charset="0"/>
              </a:endParaRPr>
            </a:p>
          </p:txBody>
        </p:sp>
      </p:grpSp>
      <p:grpSp>
        <p:nvGrpSpPr>
          <p:cNvPr id="51" name="グループ化 50">
            <a:extLst>
              <a:ext uri="{FF2B5EF4-FFF2-40B4-BE49-F238E27FC236}">
                <a16:creationId xmlns:a16="http://schemas.microsoft.com/office/drawing/2014/main" id="{A0FEEF87-95B5-7962-843C-9587E849CDE0}"/>
              </a:ext>
            </a:extLst>
          </p:cNvPr>
          <p:cNvGrpSpPr/>
          <p:nvPr/>
        </p:nvGrpSpPr>
        <p:grpSpPr>
          <a:xfrm>
            <a:off x="6870943" y="3929696"/>
            <a:ext cx="4305905" cy="1881729"/>
            <a:chOff x="1033264" y="2677127"/>
            <a:chExt cx="7322807" cy="3200145"/>
          </a:xfrm>
        </p:grpSpPr>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239AAA2E-495E-6D79-CA0E-F6864A21948F}"/>
                    </a:ext>
                  </a:extLst>
                </p:cNvPr>
                <p:cNvSpPr txBox="1"/>
                <p:nvPr/>
              </p:nvSpPr>
              <p:spPr>
                <a:xfrm>
                  <a:off x="3193504" y="3640914"/>
                  <a:ext cx="5162567"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sSup>
                          <m:sSupPr>
                            <m:ctrlPr>
                              <a:rPr kumimoji="1" lang="en-US" altLang="ja-JP" sz="1392" i="1" kern="1200">
                                <a:solidFill>
                                  <a:schemeClr val="tx1"/>
                                </a:solidFill>
                                <a:latin typeface="Cambria Math" panose="02040503050406030204" pitchFamily="18" charset="0"/>
                                <a:ea typeface="+mn-ea"/>
                                <a:cs typeface="+mn-cs"/>
                              </a:rPr>
                            </m:ctrlPr>
                          </m:sSupPr>
                          <m:e>
                            <m:r>
                              <m:rPr>
                                <m:sty m:val="p"/>
                              </m:rPr>
                              <a:rPr kumimoji="1" lang="en-US" altLang="ja-JP" sz="1392" kern="1200">
                                <a:solidFill>
                                  <a:schemeClr val="tx1"/>
                                </a:solidFill>
                                <a:latin typeface="Cambria Math" panose="02040503050406030204" pitchFamily="18" charset="0"/>
                                <a:ea typeface="+mn-ea"/>
                                <a:cs typeface="+mn-cs"/>
                              </a:rPr>
                              <m:t>e</m:t>
                            </m:r>
                          </m:e>
                          <m:sup>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𝜙</m:t>
                            </m:r>
                          </m:sup>
                        </m:sSup>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cos</m:t>
                            </m:r>
                          </m:fName>
                          <m:e>
                            <m:r>
                              <a:rPr kumimoji="1" lang="ja-JP" altLang="en-US" sz="1392" i="1" kern="1200">
                                <a:solidFill>
                                  <a:schemeClr val="tx1"/>
                                </a:solidFill>
                                <a:latin typeface="Cambria Math" panose="02040503050406030204" pitchFamily="18" charset="0"/>
                                <a:ea typeface="+mn-ea"/>
                                <a:cs typeface="+mn-cs"/>
                              </a:rPr>
                              <m:t>𝜙</m:t>
                            </m:r>
                          </m:e>
                        </m:func>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sin</m:t>
                            </m:r>
                          </m:fName>
                          <m:e>
                            <m:r>
                              <a:rPr kumimoji="1" lang="ja-JP" altLang="en-US" sz="1392" i="1" kern="1200">
                                <a:solidFill>
                                  <a:schemeClr val="tx1"/>
                                </a:solidFill>
                                <a:latin typeface="Cambria Math" panose="02040503050406030204" pitchFamily="18" charset="0"/>
                                <a:ea typeface="+mn-ea"/>
                                <a:cs typeface="+mn-cs"/>
                              </a:rPr>
                              <m:t>𝜙</m:t>
                            </m:r>
                          </m:e>
                        </m:func>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239AAA2E-495E-6D79-CA0E-F6864A21948F}"/>
                    </a:ext>
                  </a:extLst>
                </p:cNvPr>
                <p:cNvSpPr txBox="1">
                  <a:spLocks noRot="1" noChangeAspect="1" noMove="1" noResize="1" noEditPoints="1" noAdjustHandles="1" noChangeArrowheads="1" noChangeShapeType="1" noTextEdit="1"/>
                </p:cNvSpPr>
                <p:nvPr/>
              </p:nvSpPr>
              <p:spPr>
                <a:xfrm>
                  <a:off x="3193504" y="3640914"/>
                  <a:ext cx="5162567" cy="751872"/>
                </a:xfrm>
                <a:prstGeom prst="rect">
                  <a:avLst/>
                </a:prstGeom>
                <a:blipFill>
                  <a:blip r:embed="rId3"/>
                  <a:stretch>
                    <a:fillRect/>
                  </a:stretch>
                </a:blipFill>
              </p:spPr>
              <p:txBody>
                <a:bodyPr/>
                <a:lstStyle/>
                <a:p>
                  <a:r>
                    <a:rPr lang="ja-JP" altLang="en-US">
                      <a:noFill/>
                    </a:rPr>
                    <a:t> </a:t>
                  </a:r>
                </a:p>
              </p:txBody>
            </p:sp>
          </mc:Fallback>
        </mc:AlternateContent>
        <p:cxnSp>
          <p:nvCxnSpPr>
            <p:cNvPr id="29" name="直線矢印コネクタ 28">
              <a:extLst>
                <a:ext uri="{FF2B5EF4-FFF2-40B4-BE49-F238E27FC236}">
                  <a16:creationId xmlns:a16="http://schemas.microsoft.com/office/drawing/2014/main" id="{92F2A014-36E5-9FD1-A24F-F8A173A19028}"/>
                </a:ext>
              </a:extLst>
            </p:cNvPr>
            <p:cNvCxnSpPr>
              <a:cxnSpLocks/>
            </p:cNvCxnSpPr>
            <p:nvPr/>
          </p:nvCxnSpPr>
          <p:spPr>
            <a:xfrm flipV="1">
              <a:off x="1609328" y="2852936"/>
              <a:ext cx="0" cy="30243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7D6EDA2-30B0-9454-8741-528541888043}"/>
                </a:ext>
              </a:extLst>
            </p:cNvPr>
            <p:cNvCxnSpPr/>
            <p:nvPr/>
          </p:nvCxnSpPr>
          <p:spPr>
            <a:xfrm>
              <a:off x="1033264" y="5157192"/>
              <a:ext cx="353873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2B816482-8F2F-75E3-A3D4-5997492E0327}"/>
                </a:ext>
              </a:extLst>
            </p:cNvPr>
            <p:cNvCxnSpPr/>
            <p:nvPr/>
          </p:nvCxnSpPr>
          <p:spPr>
            <a:xfrm flipV="1">
              <a:off x="1609328" y="3429000"/>
              <a:ext cx="1944216" cy="17281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8E8D1E57-308C-E846-A67C-04C57037AF2D}"/>
                </a:ext>
              </a:extLst>
            </p:cNvPr>
            <p:cNvSpPr txBox="1"/>
            <p:nvPr/>
          </p:nvSpPr>
          <p:spPr>
            <a:xfrm>
              <a:off x="1083222" y="2683533"/>
              <a:ext cx="652091" cy="521347"/>
            </a:xfrm>
            <a:prstGeom prst="rect">
              <a:avLst/>
            </a:prstGeom>
            <a:noFill/>
          </p:spPr>
          <p:txBody>
            <a:bodyPr wrap="none" rtlCol="0">
              <a:spAutoFit/>
            </a:bodyPr>
            <a:lstStyle/>
            <a:p>
              <a:pPr defTabSz="530352">
                <a:spcAft>
                  <a:spcPts val="600"/>
                </a:spcAft>
              </a:pPr>
              <a:r>
                <a:rPr kumimoji="1" lang="en-US" altLang="ja-JP" sz="1392" kern="1200">
                  <a:solidFill>
                    <a:schemeClr val="tx1"/>
                  </a:solidFill>
                  <a:latin typeface="Times New Roman" panose="02020603050405020304" pitchFamily="18" charset="0"/>
                  <a:ea typeface="+mn-ea"/>
                  <a:cs typeface="Times New Roman" panose="02020603050405020304" pitchFamily="18" charset="0"/>
                </a:rPr>
                <a:t>Im</a:t>
              </a:r>
              <a:endParaRPr kumimoji="1" lang="ja-JP" altLang="en-US" sz="2400">
                <a:latin typeface="Times New Roman" panose="02020603050405020304" pitchFamily="18" charset="0"/>
                <a:cs typeface="Times New Roman" panose="02020603050405020304" pitchFamily="18" charset="0"/>
              </a:endParaRPr>
            </a:p>
          </p:txBody>
        </p:sp>
        <p:sp>
          <p:nvSpPr>
            <p:cNvPr id="37" name="テキスト ボックス 36">
              <a:extLst>
                <a:ext uri="{FF2B5EF4-FFF2-40B4-BE49-F238E27FC236}">
                  <a16:creationId xmlns:a16="http://schemas.microsoft.com/office/drawing/2014/main" id="{83ACC6DF-C184-91E5-A206-B6928BF7FDD0}"/>
                </a:ext>
              </a:extLst>
            </p:cNvPr>
            <p:cNvSpPr txBox="1"/>
            <p:nvPr/>
          </p:nvSpPr>
          <p:spPr>
            <a:xfrm>
              <a:off x="4535961" y="4926359"/>
              <a:ext cx="526106" cy="461665"/>
            </a:xfrm>
            <a:prstGeom prst="rect">
              <a:avLst/>
            </a:prstGeom>
            <a:noFill/>
          </p:spPr>
          <p:txBody>
            <a:bodyPr wrap="none" rtlCol="0">
              <a:spAutoFit/>
            </a:bodyPr>
            <a:lstStyle/>
            <a:p>
              <a:pPr defTabSz="530352">
                <a:spcAft>
                  <a:spcPts val="600"/>
                </a:spcAft>
              </a:pPr>
              <a:r>
                <a:rPr kumimoji="1" lang="en-US" altLang="ja-JP" sz="1392" kern="1200">
                  <a:solidFill>
                    <a:schemeClr val="tx1"/>
                  </a:solidFill>
                  <a:latin typeface="Times New Roman" panose="02020603050405020304" pitchFamily="18" charset="0"/>
                  <a:ea typeface="+mn-ea"/>
                  <a:cs typeface="Times New Roman" panose="02020603050405020304" pitchFamily="18" charset="0"/>
                </a:rPr>
                <a:t>Re</a:t>
              </a:r>
              <a:endParaRPr kumimoji="1" lang="ja-JP" altLang="en-US" sz="24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951E1719-C596-D575-C68C-2FB3D1C1777B}"/>
                    </a:ext>
                  </a:extLst>
                </p:cNvPr>
                <p:cNvSpPr txBox="1"/>
                <p:nvPr/>
              </p:nvSpPr>
              <p:spPr>
                <a:xfrm>
                  <a:off x="2116434" y="4684494"/>
                  <a:ext cx="1690784" cy="36933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ja-JP" altLang="en-US" sz="1392" i="1" kern="1200">
                            <a:solidFill>
                              <a:schemeClr val="tx1"/>
                            </a:solidFill>
                            <a:latin typeface="Cambria Math" panose="02040503050406030204" pitchFamily="18" charset="0"/>
                            <a:ea typeface="+mn-ea"/>
                            <a:cs typeface="+mn-cs"/>
                          </a:rPr>
                          <m:t>∠</m:t>
                        </m:r>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r>
                          <a:rPr kumimoji="1" lang="ja-JP" altLang="en-US" sz="1392" i="1" kern="1200">
                            <a:solidFill>
                              <a:schemeClr val="tx1"/>
                            </a:solidFill>
                            <a:latin typeface="Cambria Math" panose="02040503050406030204" pitchFamily="18" charset="0"/>
                            <a:ea typeface="+mn-ea"/>
                            <a:cs typeface="+mn-cs"/>
                          </a:rPr>
                          <m:t>𝜙</m:t>
                        </m:r>
                      </m:oMath>
                    </m:oMathPara>
                  </a14:m>
                  <a:endParaRPr kumimoji="1" lang="ja-JP" altLang="en-US" sz="2400"/>
                </a:p>
              </p:txBody>
            </p:sp>
          </mc:Choice>
          <mc:Fallback xmlns="">
            <p:sp>
              <p:nvSpPr>
                <p:cNvPr id="39" name="テキスト ボックス 38">
                  <a:extLst>
                    <a:ext uri="{FF2B5EF4-FFF2-40B4-BE49-F238E27FC236}">
                      <a16:creationId xmlns:a16="http://schemas.microsoft.com/office/drawing/2014/main" id="{951E1719-C596-D575-C68C-2FB3D1C1777B}"/>
                    </a:ext>
                  </a:extLst>
                </p:cNvPr>
                <p:cNvSpPr txBox="1">
                  <a:spLocks noRot="1" noChangeAspect="1" noMove="1" noResize="1" noEditPoints="1" noAdjustHandles="1" noChangeArrowheads="1" noChangeShapeType="1" noTextEdit="1"/>
                </p:cNvSpPr>
                <p:nvPr/>
              </p:nvSpPr>
              <p:spPr>
                <a:xfrm>
                  <a:off x="2116434" y="4684494"/>
                  <a:ext cx="1690784" cy="369332"/>
                </a:xfrm>
                <a:prstGeom prst="rect">
                  <a:avLst/>
                </a:prstGeom>
                <a:blipFill>
                  <a:blip r:embed="rId4"/>
                  <a:stretch>
                    <a:fillRect l="-1840" r="-3681" b="-30556"/>
                  </a:stretch>
                </a:blipFill>
              </p:spPr>
              <p:txBody>
                <a:bodyPr/>
                <a:lstStyle/>
                <a:p>
                  <a:r>
                    <a:rPr lang="ja-JP" altLang="en-US">
                      <a:noFill/>
                    </a:rPr>
                    <a:t> </a:t>
                  </a:r>
                </a:p>
              </p:txBody>
            </p:sp>
          </mc:Fallback>
        </mc:AlternateContent>
        <p:sp>
          <p:nvSpPr>
            <p:cNvPr id="41" name="円弧 40">
              <a:extLst>
                <a:ext uri="{FF2B5EF4-FFF2-40B4-BE49-F238E27FC236}">
                  <a16:creationId xmlns:a16="http://schemas.microsoft.com/office/drawing/2014/main" id="{9DA846C2-5881-E79F-2646-8301C83C7994}"/>
                </a:ext>
              </a:extLst>
            </p:cNvPr>
            <p:cNvSpPr/>
            <p:nvPr/>
          </p:nvSpPr>
          <p:spPr>
            <a:xfrm>
              <a:off x="1036215" y="4633869"/>
              <a:ext cx="985189" cy="1046648"/>
            </a:xfrm>
            <a:prstGeom prst="arc">
              <a:avLst>
                <a:gd name="adj1" fmla="val 19514379"/>
                <a:gd name="adj2" fmla="val 0"/>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6F8DF3BC-73A2-350F-D448-5A18E3CE1531}"/>
                    </a:ext>
                  </a:extLst>
                </p:cNvPr>
                <p:cNvSpPr txBox="1"/>
                <p:nvPr/>
              </p:nvSpPr>
              <p:spPr>
                <a:xfrm>
                  <a:off x="2839174" y="2677127"/>
                  <a:ext cx="1771832"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d>
                          <m:dPr>
                            <m:begChr m:val="|"/>
                            <m:endChr m:val="|"/>
                            <m:ctrlPr>
                              <a:rPr kumimoji="1" lang="en-US" altLang="ja-JP" sz="1392" i="1" kern="1200">
                                <a:solidFill>
                                  <a:schemeClr val="tx1"/>
                                </a:solidFill>
                                <a:latin typeface="Cambria Math" panose="02040503050406030204" pitchFamily="18" charset="0"/>
                                <a:ea typeface="+mn-ea"/>
                                <a:cs typeface="+mn-cs"/>
                              </a:rPr>
                            </m:ctrlPr>
                          </m:dPr>
                          <m:e>
                            <m:r>
                              <a:rPr kumimoji="1" lang="en-US" altLang="ja-JP" sz="1392" i="1" kern="1200">
                                <a:solidFill>
                                  <a:schemeClr val="tx1"/>
                                </a:solidFill>
                                <a:latin typeface="Cambria Math" panose="02040503050406030204" pitchFamily="18" charset="0"/>
                                <a:ea typeface="+mn-ea"/>
                                <a:cs typeface="+mn-cs"/>
                              </a:rPr>
                              <m:t>𝐺</m:t>
                            </m:r>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r>
                              <a:rPr kumimoji="1" lang="en-US" altLang="ja-JP" sz="1392" i="1" kern="1200">
                                <a:solidFill>
                                  <a:schemeClr val="tx1"/>
                                </a:solidFill>
                                <a:latin typeface="Cambria Math" panose="02040503050406030204" pitchFamily="18" charset="0"/>
                                <a:ea typeface="+mn-ea"/>
                                <a:cs typeface="+mn-cs"/>
                              </a:rPr>
                              <m:t>)</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oMath>
                    </m:oMathPara>
                  </a14:m>
                  <a:endParaRPr kumimoji="1" lang="ja-JP" altLang="en-US" sz="2400"/>
                </a:p>
              </p:txBody>
            </p:sp>
          </mc:Choice>
          <mc:Fallback xmlns="">
            <p:sp>
              <p:nvSpPr>
                <p:cNvPr id="42" name="テキスト ボックス 41">
                  <a:extLst>
                    <a:ext uri="{FF2B5EF4-FFF2-40B4-BE49-F238E27FC236}">
                      <a16:creationId xmlns:a16="http://schemas.microsoft.com/office/drawing/2014/main" id="{6F8DF3BC-73A2-350F-D448-5A18E3CE1531}"/>
                    </a:ext>
                  </a:extLst>
                </p:cNvPr>
                <p:cNvSpPr txBox="1">
                  <a:spLocks noRot="1" noChangeAspect="1" noMove="1" noResize="1" noEditPoints="1" noAdjustHandles="1" noChangeArrowheads="1" noChangeShapeType="1" noTextEdit="1"/>
                </p:cNvSpPr>
                <p:nvPr/>
              </p:nvSpPr>
              <p:spPr>
                <a:xfrm>
                  <a:off x="2839174" y="2677127"/>
                  <a:ext cx="1771832" cy="751872"/>
                </a:xfrm>
                <a:prstGeom prst="rect">
                  <a:avLst/>
                </a:prstGeom>
                <a:blipFill>
                  <a:blip r:embed="rId5"/>
                  <a:stretch>
                    <a:fillRect/>
                  </a:stretch>
                </a:blipFill>
              </p:spPr>
              <p:txBody>
                <a:bodyPr/>
                <a:lstStyle/>
                <a:p>
                  <a:r>
                    <a:rPr lang="ja-JP" altLang="en-US">
                      <a:noFill/>
                    </a:rPr>
                    <a:t> </a:t>
                  </a:r>
                </a:p>
              </p:txBody>
            </p:sp>
          </mc:Fallback>
        </mc:AlternateContent>
        <p:sp>
          <p:nvSpPr>
            <p:cNvPr id="43" name="テキスト ボックス 42">
              <a:extLst>
                <a:ext uri="{FF2B5EF4-FFF2-40B4-BE49-F238E27FC236}">
                  <a16:creationId xmlns:a16="http://schemas.microsoft.com/office/drawing/2014/main" id="{5DF36EF6-937F-3FAC-EAD0-A006E2262B67}"/>
                </a:ext>
              </a:extLst>
            </p:cNvPr>
            <p:cNvSpPr txBox="1"/>
            <p:nvPr/>
          </p:nvSpPr>
          <p:spPr>
            <a:xfrm>
              <a:off x="4705672" y="2868397"/>
              <a:ext cx="2484976"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ベクトルの大きさ </a:t>
              </a:r>
              <a:r>
                <a:rPr kumimoji="1" lang="en-US" altLang="ja-JP" sz="1044" kern="1200">
                  <a:solidFill>
                    <a:srgbClr val="055B7D"/>
                  </a:solidFill>
                  <a:latin typeface="+mn-lt"/>
                  <a:ea typeface="+mn-ea"/>
                  <a:cs typeface="+mn-cs"/>
                </a:rPr>
                <a:t>=</a:t>
              </a:r>
              <a:r>
                <a:rPr kumimoji="1" lang="ja-JP" altLang="en-US" sz="1044" kern="1200">
                  <a:solidFill>
                    <a:srgbClr val="055B7D"/>
                  </a:solidFill>
                  <a:latin typeface="+mn-lt"/>
                  <a:ea typeface="+mn-ea"/>
                  <a:cs typeface="+mn-cs"/>
                </a:rPr>
                <a:t> 利得</a:t>
              </a:r>
              <a:endParaRPr kumimoji="1" lang="ja-JP" altLang="en-US">
                <a:solidFill>
                  <a:schemeClr val="accent1"/>
                </a:solidFill>
              </a:endParaRPr>
            </a:p>
          </p:txBody>
        </p:sp>
        <p:sp>
          <p:nvSpPr>
            <p:cNvPr id="44" name="テキスト ボックス 43">
              <a:extLst>
                <a:ext uri="{FF2B5EF4-FFF2-40B4-BE49-F238E27FC236}">
                  <a16:creationId xmlns:a16="http://schemas.microsoft.com/office/drawing/2014/main" id="{551E1459-58B9-16FC-BB00-38F93D6E93A0}"/>
                </a:ext>
              </a:extLst>
            </p:cNvPr>
            <p:cNvSpPr txBox="1"/>
            <p:nvPr/>
          </p:nvSpPr>
          <p:spPr>
            <a:xfrm>
              <a:off x="3807218" y="4701116"/>
              <a:ext cx="646331"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位相</a:t>
              </a:r>
              <a:endParaRPr kumimoji="1" lang="ja-JP" altLang="en-US">
                <a:solidFill>
                  <a:schemeClr val="accent1"/>
                </a:solidFill>
              </a:endParaRPr>
            </a:p>
          </p:txBody>
        </p:sp>
        <p:sp>
          <p:nvSpPr>
            <p:cNvPr id="46" name="テキスト ボックス 45">
              <a:extLst>
                <a:ext uri="{FF2B5EF4-FFF2-40B4-BE49-F238E27FC236}">
                  <a16:creationId xmlns:a16="http://schemas.microsoft.com/office/drawing/2014/main" id="{CB9B88C1-BA5B-1CFA-D90E-BF776B07A064}"/>
                </a:ext>
              </a:extLst>
            </p:cNvPr>
            <p:cNvSpPr txBox="1"/>
            <p:nvPr/>
          </p:nvSpPr>
          <p:spPr>
            <a:xfrm>
              <a:off x="5547409" y="4512331"/>
              <a:ext cx="2492990" cy="369332"/>
            </a:xfrm>
            <a:prstGeom prst="rect">
              <a:avLst/>
            </a:prstGeom>
            <a:noFill/>
          </p:spPr>
          <p:txBody>
            <a:bodyPr wrap="none" rtlCol="0">
              <a:spAutoFit/>
            </a:bodyPr>
            <a:lstStyle/>
            <a:p>
              <a:pPr defTabSz="530352">
                <a:spcAft>
                  <a:spcPts val="600"/>
                </a:spcAft>
              </a:pPr>
              <a:r>
                <a:rPr kumimoji="1" lang="ja-JP" altLang="en-US" sz="1044" kern="1200">
                  <a:solidFill>
                    <a:srgbClr val="B30000"/>
                  </a:solidFill>
                  <a:latin typeface="+mn-lt"/>
                  <a:ea typeface="+mn-ea"/>
                  <a:cs typeface="+mn-cs"/>
                </a:rPr>
                <a:t>伝達関数自体は複素数</a:t>
              </a:r>
              <a:endParaRPr kumimoji="1" lang="ja-JP" altLang="en-US">
                <a:solidFill>
                  <a:srgbClr val="FF0000"/>
                </a:solidFill>
              </a:endParaRPr>
            </a:p>
          </p:txBody>
        </p:sp>
      </p:grpSp>
    </p:spTree>
    <p:extLst>
      <p:ext uri="{BB962C8B-B14F-4D97-AF65-F5344CB8AC3E}">
        <p14:creationId xmlns:p14="http://schemas.microsoft.com/office/powerpoint/2010/main" val="19997777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7">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EBC74EA-6CAC-8E81-FEE0-23EB7A11A4A1}"/>
              </a:ext>
            </a:extLst>
          </p:cNvPr>
          <p:cNvSpPr>
            <a:spLocks noGrp="1"/>
          </p:cNvSpPr>
          <p:nvPr>
            <p:ph type="title"/>
          </p:nvPr>
        </p:nvSpPr>
        <p:spPr>
          <a:xfrm>
            <a:off x="6723665" y="679730"/>
            <a:ext cx="4779713" cy="3932729"/>
          </a:xfrm>
        </p:spPr>
        <p:txBody>
          <a:bodyPr vert="horz" lIns="91440" tIns="45720" rIns="91440" bIns="45720" rtlCol="0" anchor="b">
            <a:normAutofit/>
          </a:bodyPr>
          <a:lstStyle/>
          <a:p>
            <a:r>
              <a:rPr lang="ja-JP" altLang="en-US" sz="6000"/>
              <a:t>位相と不安定</a:t>
            </a:r>
            <a:endParaRPr kumimoji="1" lang="en-US" altLang="ja-JP" sz="6000"/>
          </a:p>
        </p:txBody>
      </p:sp>
      <p:grpSp>
        <p:nvGrpSpPr>
          <p:cNvPr id="26" name="Group 29">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1" name="Straight Connector 30">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グループ化 17">
            <a:extLst>
              <a:ext uri="{FF2B5EF4-FFF2-40B4-BE49-F238E27FC236}">
                <a16:creationId xmlns:a16="http://schemas.microsoft.com/office/drawing/2014/main" id="{CF798B7C-CA33-D16F-F020-4139AF58C9BA}"/>
              </a:ext>
            </a:extLst>
          </p:cNvPr>
          <p:cNvGrpSpPr/>
          <p:nvPr/>
        </p:nvGrpSpPr>
        <p:grpSpPr>
          <a:xfrm>
            <a:off x="914401" y="1232943"/>
            <a:ext cx="4902439" cy="1190475"/>
            <a:chOff x="565475" y="1412776"/>
            <a:chExt cx="8006385" cy="1944216"/>
          </a:xfrm>
        </p:grpSpPr>
        <p:grpSp>
          <p:nvGrpSpPr>
            <p:cNvPr id="16" name="グループ化 15">
              <a:extLst>
                <a:ext uri="{FF2B5EF4-FFF2-40B4-BE49-F238E27FC236}">
                  <a16:creationId xmlns:a16="http://schemas.microsoft.com/office/drawing/2014/main" id="{B623ED7E-A37B-3368-B1B1-0227B4EB5FC1}"/>
                </a:ext>
              </a:extLst>
            </p:cNvPr>
            <p:cNvGrpSpPr/>
            <p:nvPr/>
          </p:nvGrpSpPr>
          <p:grpSpPr>
            <a:xfrm>
              <a:off x="565475" y="1412776"/>
              <a:ext cx="1944216" cy="1944216"/>
              <a:chOff x="565475" y="1412776"/>
              <a:chExt cx="1944216" cy="1944216"/>
            </a:xfrm>
          </p:grpSpPr>
          <p:sp>
            <p:nvSpPr>
              <p:cNvPr id="4" name="二等辺三角形 3">
                <a:extLst>
                  <a:ext uri="{FF2B5EF4-FFF2-40B4-BE49-F238E27FC236}">
                    <a16:creationId xmlns:a16="http://schemas.microsoft.com/office/drawing/2014/main" id="{86CF4B28-3D2D-64FD-DB95-B66A8D6A6FDC}"/>
                  </a:ext>
                </a:extLst>
              </p:cNvPr>
              <p:cNvSpPr/>
              <p:nvPr/>
            </p:nvSpPr>
            <p:spPr>
              <a:xfrm rot="5400000">
                <a:off x="997523" y="1969381"/>
                <a:ext cx="668234" cy="57606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EDEB4CC2-28AA-0E55-9F2A-A55A4B70B0F1}"/>
                  </a:ext>
                </a:extLst>
              </p:cNvPr>
              <p:cNvCxnSpPr>
                <a:stCxn id="4" idx="3"/>
              </p:cNvCxnSpPr>
              <p:nvPr/>
            </p:nvCxnSpPr>
            <p:spPr>
              <a:xfrm flipH="1">
                <a:off x="565475"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0983C09C-F47D-522C-5B10-D8AFA997BE87}"/>
                  </a:ext>
                </a:extLst>
              </p:cNvPr>
              <p:cNvCxnSpPr/>
              <p:nvPr/>
            </p:nvCxnSpPr>
            <p:spPr>
              <a:xfrm flipH="1">
                <a:off x="1619672"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C29FA85C-EA3A-EAFA-5D76-CD5398B85E67}"/>
                  </a:ext>
                </a:extLst>
              </p:cNvPr>
              <p:cNvSpPr/>
              <p:nvPr/>
            </p:nvSpPr>
            <p:spPr>
              <a:xfrm>
                <a:off x="1835878"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B964405A-BD9B-4E11-BC0C-BB3AC53B37C1}"/>
                  </a:ext>
                </a:extLst>
              </p:cNvPr>
              <p:cNvSpPr/>
              <p:nvPr/>
            </p:nvSpPr>
            <p:spPr>
              <a:xfrm>
                <a:off x="781682"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コネクタ: カギ線 8">
                <a:extLst>
                  <a:ext uri="{FF2B5EF4-FFF2-40B4-BE49-F238E27FC236}">
                    <a16:creationId xmlns:a16="http://schemas.microsoft.com/office/drawing/2014/main" id="{040701BB-C8DD-5487-9648-06547F6031CF}"/>
                  </a:ext>
                </a:extLst>
              </p:cNvPr>
              <p:cNvCxnSpPr>
                <a:stCxn id="7" idx="5"/>
                <a:endCxn id="8" idx="4"/>
              </p:cNvCxnSpPr>
              <p:nvPr/>
            </p:nvCxnSpPr>
            <p:spPr>
              <a:xfrm rot="5400000">
                <a:off x="1336375" y="1739857"/>
                <a:ext cx="6695" cy="1070360"/>
              </a:xfrm>
              <a:prstGeom prst="bentConnector3">
                <a:avLst>
                  <a:gd name="adj1" fmla="val 7695534"/>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 name="円弧 9">
                <a:extLst>
                  <a:ext uri="{FF2B5EF4-FFF2-40B4-BE49-F238E27FC236}">
                    <a16:creationId xmlns:a16="http://schemas.microsoft.com/office/drawing/2014/main" id="{05CB6FED-193E-4B8A-7A19-29AFCB0AA56B}"/>
                  </a:ext>
                </a:extLst>
              </p:cNvPr>
              <p:cNvSpPr/>
              <p:nvPr/>
            </p:nvSpPr>
            <p:spPr>
              <a:xfrm>
                <a:off x="565475" y="1412776"/>
                <a:ext cx="1944216" cy="1944216"/>
              </a:xfrm>
              <a:prstGeom prst="arc">
                <a:avLst>
                  <a:gd name="adj1" fmla="val 11843069"/>
                  <a:gd name="adj2" fmla="val 1027417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1" name="テキスト ボックス 10">
              <a:extLst>
                <a:ext uri="{FF2B5EF4-FFF2-40B4-BE49-F238E27FC236}">
                  <a16:creationId xmlns:a16="http://schemas.microsoft.com/office/drawing/2014/main" id="{8B3C9D9B-226F-7796-3640-02EA9DA41AA8}"/>
                </a:ext>
              </a:extLst>
            </p:cNvPr>
            <p:cNvSpPr txBox="1"/>
            <p:nvPr/>
          </p:nvSpPr>
          <p:spPr>
            <a:xfrm>
              <a:off x="2888641" y="1700808"/>
              <a:ext cx="5683219" cy="1477328"/>
            </a:xfrm>
            <a:prstGeom prst="rect">
              <a:avLst/>
            </a:prstGeom>
            <a:noFill/>
          </p:spPr>
          <p:txBody>
            <a:bodyPr wrap="square" lIns="0" tIns="0" rIns="0" bIns="0" rtlCol="0">
              <a:spAutoFit/>
            </a:bodyPr>
            <a:lstStyle/>
            <a:p>
              <a:pPr defTabSz="557784">
                <a:spcAft>
                  <a:spcPts val="600"/>
                </a:spcAft>
              </a:pPr>
              <a:r>
                <a:rPr kumimoji="1" lang="ja-JP" altLang="en-US" sz="1952" kern="1200">
                  <a:solidFill>
                    <a:schemeClr val="tx1"/>
                  </a:solidFill>
                  <a:latin typeface="Cambria Math" panose="02040503050406030204" pitchFamily="18" charset="0"/>
                  <a:ea typeface="+mn-ea"/>
                  <a:cs typeface="+mn-cs"/>
                </a:rPr>
                <a:t>帰還されて戻ってくる間に位相が</a:t>
              </a:r>
              <a:r>
                <a:rPr kumimoji="1" lang="en-US" altLang="ja-JP" sz="1952" kern="1200">
                  <a:solidFill>
                    <a:schemeClr val="tx1"/>
                  </a:solidFill>
                  <a:latin typeface="Cambria Math" panose="02040503050406030204" pitchFamily="18" charset="0"/>
                  <a:ea typeface="+mn-ea"/>
                  <a:cs typeface="+mn-cs"/>
                </a:rPr>
                <a:t>180</a:t>
              </a:r>
              <a:r>
                <a:rPr kumimoji="1" lang="ja-JP" altLang="en-US" sz="1952" kern="1200">
                  <a:solidFill>
                    <a:schemeClr val="tx1"/>
                  </a:solidFill>
                  <a:latin typeface="Cambria Math" panose="02040503050406030204" pitchFamily="18" charset="0"/>
                  <a:ea typeface="+mn-ea"/>
                  <a:cs typeface="+mn-cs"/>
                </a:rPr>
                <a:t>度変わると</a:t>
              </a:r>
              <a:r>
                <a:rPr kumimoji="1" lang="ja-JP" altLang="en-US" sz="1952" kern="1200">
                  <a:solidFill>
                    <a:srgbClr val="B30000"/>
                  </a:solidFill>
                  <a:latin typeface="Cambria Math" panose="02040503050406030204" pitchFamily="18" charset="0"/>
                  <a:ea typeface="+mn-ea"/>
                  <a:cs typeface="+mn-cs"/>
                </a:rPr>
                <a:t>負帰還が正帰還になる</a:t>
              </a:r>
              <a:endParaRPr kumimoji="1" lang="ja-JP" altLang="en-US" sz="3200">
                <a:solidFill>
                  <a:srgbClr val="FF0000"/>
                </a:solidFill>
                <a:latin typeface="Cambria Math" panose="02040503050406030204" pitchFamily="18" charset="0"/>
              </a:endParaRPr>
            </a:p>
          </p:txBody>
        </p:sp>
      </p:grpSp>
      <p:grpSp>
        <p:nvGrpSpPr>
          <p:cNvPr id="19" name="グループ化 18">
            <a:extLst>
              <a:ext uri="{FF2B5EF4-FFF2-40B4-BE49-F238E27FC236}">
                <a16:creationId xmlns:a16="http://schemas.microsoft.com/office/drawing/2014/main" id="{F5477AB1-1615-5EB5-9789-3A32D2D900BE}"/>
              </a:ext>
            </a:extLst>
          </p:cNvPr>
          <p:cNvGrpSpPr/>
          <p:nvPr/>
        </p:nvGrpSpPr>
        <p:grpSpPr>
          <a:xfrm>
            <a:off x="914401" y="4416074"/>
            <a:ext cx="4902440" cy="873007"/>
            <a:chOff x="414407" y="4703484"/>
            <a:chExt cx="8208979" cy="1461820"/>
          </a:xfrm>
        </p:grpSpPr>
        <p:sp>
          <p:nvSpPr>
            <p:cNvPr id="20" name="テキスト ボックス 19">
              <a:extLst>
                <a:ext uri="{FF2B5EF4-FFF2-40B4-BE49-F238E27FC236}">
                  <a16:creationId xmlns:a16="http://schemas.microsoft.com/office/drawing/2014/main" id="{6BF02FA6-B053-38FF-9A4D-B640C2CA5384}"/>
                </a:ext>
              </a:extLst>
            </p:cNvPr>
            <p:cNvSpPr txBox="1"/>
            <p:nvPr/>
          </p:nvSpPr>
          <p:spPr>
            <a:xfrm>
              <a:off x="414407" y="4703484"/>
              <a:ext cx="8208979" cy="738664"/>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さらに，そのときの</a:t>
              </a:r>
              <a:endParaRPr kumimoji="1" lang="en-US" altLang="ja-JP" sz="1416" kern="1200">
                <a:solidFill>
                  <a:schemeClr val="tx1"/>
                </a:solidFill>
                <a:latin typeface="Cambria Math" panose="02040503050406030204" pitchFamily="18" charset="0"/>
                <a:ea typeface="+mn-ea"/>
                <a:cs typeface="+mn-cs"/>
              </a:endParaRPr>
            </a:p>
            <a:p>
              <a:pPr defTabSz="539496">
                <a:spcAft>
                  <a:spcPts val="600"/>
                </a:spcAft>
              </a:pPr>
              <a:r>
                <a:rPr kumimoji="1" lang="ja-JP" altLang="en-US" sz="1416" kern="1200">
                  <a:solidFill>
                    <a:schemeClr val="tx1"/>
                  </a:solidFill>
                  <a:latin typeface="Cambria Math" panose="02040503050406030204" pitchFamily="18" charset="0"/>
                  <a:ea typeface="+mn-ea"/>
                  <a:cs typeface="+mn-cs"/>
                </a:rPr>
                <a:t>一周する経路の利得 </a:t>
              </a:r>
              <a:r>
                <a:rPr kumimoji="1" lang="en-US" altLang="ja-JP" sz="1416" kern="1200">
                  <a:solidFill>
                    <a:schemeClr val="tx1"/>
                  </a:solidFill>
                  <a:latin typeface="Cambria Math" panose="02040503050406030204" pitchFamily="18" charset="0"/>
                  <a:ea typeface="+mn-ea"/>
                  <a:cs typeface="+mn-cs"/>
                </a:rPr>
                <a:t>&gt;1</a:t>
              </a:r>
              <a:r>
                <a:rPr kumimoji="1" lang="ja-JP" altLang="en-US" sz="1416" kern="1200">
                  <a:solidFill>
                    <a:schemeClr val="tx1"/>
                  </a:solidFill>
                  <a:latin typeface="Cambria Math" panose="02040503050406030204" pitchFamily="18" charset="0"/>
                  <a:ea typeface="+mn-ea"/>
                  <a:cs typeface="+mn-cs"/>
                </a:rPr>
                <a:t>の場合，周回によって無限に大きくなる</a:t>
              </a:r>
              <a:endParaRPr kumimoji="1" lang="ja-JP" altLang="en-US" sz="2400">
                <a:latin typeface="Cambria Math" panose="02040503050406030204" pitchFamily="18" charset="0"/>
              </a:endParaRPr>
            </a:p>
          </p:txBody>
        </p:sp>
        <p:sp>
          <p:nvSpPr>
            <p:cNvPr id="21" name="矢印: 右 20">
              <a:extLst>
                <a:ext uri="{FF2B5EF4-FFF2-40B4-BE49-F238E27FC236}">
                  <a16:creationId xmlns:a16="http://schemas.microsoft.com/office/drawing/2014/main" id="{176BAF54-DCE1-ABFD-2E71-F1A94B9F6771}"/>
                </a:ext>
              </a:extLst>
            </p:cNvPr>
            <p:cNvSpPr/>
            <p:nvPr/>
          </p:nvSpPr>
          <p:spPr>
            <a:xfrm>
              <a:off x="683568" y="5805264"/>
              <a:ext cx="432048" cy="36004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8073BAD-7257-D2FD-A075-0AFE7C3CDC78}"/>
                </a:ext>
              </a:extLst>
            </p:cNvPr>
            <p:cNvSpPr txBox="1"/>
            <p:nvPr/>
          </p:nvSpPr>
          <p:spPr>
            <a:xfrm>
              <a:off x="1259632" y="5795972"/>
              <a:ext cx="6258123" cy="369332"/>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帰還ループをまわり続ける成分が支配 </a:t>
              </a:r>
              <a:r>
                <a:rPr kumimoji="1" lang="en-US" altLang="ja-JP" sz="1416" kern="1200">
                  <a:solidFill>
                    <a:schemeClr val="tx1"/>
                  </a:solidFill>
                  <a:latin typeface="Cambria Math" panose="02040503050406030204" pitchFamily="18" charset="0"/>
                  <a:ea typeface="+mn-ea"/>
                  <a:cs typeface="+mn-cs"/>
                </a:rPr>
                <a:t>=</a:t>
              </a:r>
              <a:r>
                <a:rPr kumimoji="1" lang="ja-JP" altLang="en-US" sz="1416" kern="1200">
                  <a:solidFill>
                    <a:schemeClr val="tx1"/>
                  </a:solidFill>
                  <a:latin typeface="Cambria Math" panose="02040503050406030204" pitchFamily="18" charset="0"/>
                  <a:ea typeface="+mn-ea"/>
                  <a:cs typeface="+mn-cs"/>
                </a:rPr>
                <a:t> 不安定</a:t>
              </a:r>
              <a:endParaRPr kumimoji="1" lang="ja-JP" altLang="en-US" sz="2400">
                <a:latin typeface="Cambria Math" panose="02040503050406030204" pitchFamily="18" charset="0"/>
              </a:endParaRPr>
            </a:p>
          </p:txBody>
        </p:sp>
      </p:grpSp>
    </p:spTree>
    <p:extLst>
      <p:ext uri="{BB962C8B-B14F-4D97-AF65-F5344CB8AC3E}">
        <p14:creationId xmlns:p14="http://schemas.microsoft.com/office/powerpoint/2010/main" val="9271859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E6E09FE-616D-FDAD-03B8-84F237F21331}"/>
              </a:ext>
            </a:extLst>
          </p:cNvPr>
          <p:cNvSpPr>
            <a:spLocks noGrp="1"/>
          </p:cNvSpPr>
          <p:nvPr>
            <p:ph type="title"/>
          </p:nvPr>
        </p:nvSpPr>
        <p:spPr>
          <a:xfrm>
            <a:off x="645065" y="1463040"/>
            <a:ext cx="3796306" cy="2690949"/>
          </a:xfrm>
        </p:spPr>
        <p:txBody>
          <a:bodyPr anchor="t">
            <a:normAutofit/>
          </a:bodyPr>
          <a:lstStyle/>
          <a:p>
            <a:r>
              <a:rPr kumimoji="1" lang="ja-JP" altLang="en-US" sz="4800"/>
              <a:t>位相余裕と位相補償</a:t>
            </a:r>
          </a:p>
        </p:txBody>
      </p:sp>
      <p:grpSp>
        <p:nvGrpSpPr>
          <p:cNvPr id="39" name="Group 38">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40" name="Rectangle 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グループ化 31">
            <a:extLst>
              <a:ext uri="{FF2B5EF4-FFF2-40B4-BE49-F238E27FC236}">
                <a16:creationId xmlns:a16="http://schemas.microsoft.com/office/drawing/2014/main" id="{B72DE8BD-1CB0-41E2-DF6D-7DCDD4C7EA1F}"/>
              </a:ext>
            </a:extLst>
          </p:cNvPr>
          <p:cNvGrpSpPr/>
          <p:nvPr/>
        </p:nvGrpSpPr>
        <p:grpSpPr>
          <a:xfrm>
            <a:off x="5407704" y="1335582"/>
            <a:ext cx="5962721" cy="4336466"/>
            <a:chOff x="462256" y="1388292"/>
            <a:chExt cx="7325839" cy="5327812"/>
          </a:xfrm>
        </p:grpSpPr>
        <p:grpSp>
          <p:nvGrpSpPr>
            <p:cNvPr id="31" name="グループ化 30">
              <a:extLst>
                <a:ext uri="{FF2B5EF4-FFF2-40B4-BE49-F238E27FC236}">
                  <a16:creationId xmlns:a16="http://schemas.microsoft.com/office/drawing/2014/main" id="{47699524-2908-D0B2-5647-C937003C4C31}"/>
                </a:ext>
              </a:extLst>
            </p:cNvPr>
            <p:cNvGrpSpPr/>
            <p:nvPr/>
          </p:nvGrpSpPr>
          <p:grpSpPr>
            <a:xfrm>
              <a:off x="462256" y="1388292"/>
              <a:ext cx="7325839" cy="4764651"/>
              <a:chOff x="462256" y="1388292"/>
              <a:chExt cx="7325839" cy="4764651"/>
            </a:xfrm>
          </p:grpSpPr>
          <p:cxnSp>
            <p:nvCxnSpPr>
              <p:cNvPr id="4" name="直線矢印コネクタ 3">
                <a:extLst>
                  <a:ext uri="{FF2B5EF4-FFF2-40B4-BE49-F238E27FC236}">
                    <a16:creationId xmlns:a16="http://schemas.microsoft.com/office/drawing/2014/main" id="{AE395BF9-C6C9-1E8D-A0EB-D77B96EC1B23}"/>
                  </a:ext>
                </a:extLst>
              </p:cNvPr>
              <p:cNvCxnSpPr/>
              <p:nvPr/>
            </p:nvCxnSpPr>
            <p:spPr>
              <a:xfrm flipV="1">
                <a:off x="1344936" y="1388292"/>
                <a:ext cx="0" cy="18722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39558D31-61D5-F67A-6C4A-9732A9A6BDC2}"/>
                  </a:ext>
                </a:extLst>
              </p:cNvPr>
              <p:cNvCxnSpPr>
                <a:cxnSpLocks/>
              </p:cNvCxnSpPr>
              <p:nvPr/>
            </p:nvCxnSpPr>
            <p:spPr>
              <a:xfrm>
                <a:off x="984896" y="2612428"/>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58F01BE0-4DBF-F6DA-F9BC-0741482CCB29}"/>
                  </a:ext>
                </a:extLst>
              </p:cNvPr>
              <p:cNvCxnSpPr/>
              <p:nvPr/>
            </p:nvCxnSpPr>
            <p:spPr>
              <a:xfrm flipV="1">
                <a:off x="1344936" y="3548532"/>
                <a:ext cx="0" cy="25202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25D1CCFE-68C5-587C-931D-95266CDF04B6}"/>
                  </a:ext>
                </a:extLst>
              </p:cNvPr>
              <p:cNvCxnSpPr>
                <a:cxnSpLocks/>
              </p:cNvCxnSpPr>
              <p:nvPr/>
            </p:nvCxnSpPr>
            <p:spPr>
              <a:xfrm>
                <a:off x="984896" y="4124596"/>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フリーフォーム: 図形 7">
                <a:extLst>
                  <a:ext uri="{FF2B5EF4-FFF2-40B4-BE49-F238E27FC236}">
                    <a16:creationId xmlns:a16="http://schemas.microsoft.com/office/drawing/2014/main" id="{F54E18A5-73F4-5932-6147-E566FC5E7866}"/>
                  </a:ext>
                </a:extLst>
              </p:cNvPr>
              <p:cNvSpPr/>
              <p:nvPr/>
            </p:nvSpPr>
            <p:spPr>
              <a:xfrm>
                <a:off x="1340934" y="1802421"/>
                <a:ext cx="2538082" cy="1626579"/>
              </a:xfrm>
              <a:custGeom>
                <a:avLst/>
                <a:gdLst>
                  <a:gd name="connsiteX0" fmla="*/ 0 w 5319346"/>
                  <a:gd name="connsiteY0" fmla="*/ 70033 h 1371295"/>
                  <a:gd name="connsiteX1" fmla="*/ 140677 w 5319346"/>
                  <a:gd name="connsiteY1" fmla="*/ 87618 h 1371295"/>
                  <a:gd name="connsiteX2" fmla="*/ 3587261 w 5319346"/>
                  <a:gd name="connsiteY2" fmla="*/ 96410 h 1371295"/>
                  <a:gd name="connsiteX3" fmla="*/ 5319346 w 5319346"/>
                  <a:gd name="connsiteY3" fmla="*/ 1371295 h 1371295"/>
                  <a:gd name="connsiteX0" fmla="*/ 0 w 5319346"/>
                  <a:gd name="connsiteY0" fmla="*/ 0 h 1301262"/>
                  <a:gd name="connsiteX1" fmla="*/ 3587261 w 5319346"/>
                  <a:gd name="connsiteY1" fmla="*/ 26377 h 1301262"/>
                  <a:gd name="connsiteX2" fmla="*/ 5319346 w 5319346"/>
                  <a:gd name="connsiteY2" fmla="*/ 1301262 h 1301262"/>
                  <a:gd name="connsiteX0" fmla="*/ 0 w 5319346"/>
                  <a:gd name="connsiteY0" fmla="*/ 0 h 1301262"/>
                  <a:gd name="connsiteX1" fmla="*/ 3912576 w 5319346"/>
                  <a:gd name="connsiteY1" fmla="*/ 131884 h 1301262"/>
                  <a:gd name="connsiteX2" fmla="*/ 5319346 w 5319346"/>
                  <a:gd name="connsiteY2" fmla="*/ 1301262 h 1301262"/>
                  <a:gd name="connsiteX0" fmla="*/ 0 w 5319346"/>
                  <a:gd name="connsiteY0" fmla="*/ 1 h 1301263"/>
                  <a:gd name="connsiteX1" fmla="*/ 3543299 w 5319346"/>
                  <a:gd name="connsiteY1" fmla="*/ 0 h 1301263"/>
                  <a:gd name="connsiteX2" fmla="*/ 5319346 w 5319346"/>
                  <a:gd name="connsiteY2" fmla="*/ 1301263 h 1301263"/>
                  <a:gd name="connsiteX0" fmla="*/ 0 w 5319346"/>
                  <a:gd name="connsiteY0" fmla="*/ 33 h 1301295"/>
                  <a:gd name="connsiteX1" fmla="*/ 3543299 w 5319346"/>
                  <a:gd name="connsiteY1" fmla="*/ 32 h 1301295"/>
                  <a:gd name="connsiteX2" fmla="*/ 5319346 w 5319346"/>
                  <a:gd name="connsiteY2" fmla="*/ 1301295 h 1301295"/>
                  <a:gd name="connsiteX0" fmla="*/ 0 w 5319346"/>
                  <a:gd name="connsiteY0" fmla="*/ 33 h 1301295"/>
                  <a:gd name="connsiteX1" fmla="*/ 2611314 w 5319346"/>
                  <a:gd name="connsiteY1" fmla="*/ 32 h 1301295"/>
                  <a:gd name="connsiteX2" fmla="*/ 5319346 w 5319346"/>
                  <a:gd name="connsiteY2" fmla="*/ 1301295 h 1301295"/>
                  <a:gd name="connsiteX0" fmla="*/ 0 w 5609492"/>
                  <a:gd name="connsiteY0" fmla="*/ 112021 h 1624299"/>
                  <a:gd name="connsiteX1" fmla="*/ 2611314 w 5609492"/>
                  <a:gd name="connsiteY1" fmla="*/ 112020 h 1624299"/>
                  <a:gd name="connsiteX2" fmla="*/ 5609492 w 5609492"/>
                  <a:gd name="connsiteY2" fmla="*/ 1624299 h 1624299"/>
                  <a:gd name="connsiteX0" fmla="*/ 0 w 5609492"/>
                  <a:gd name="connsiteY0" fmla="*/ 312 h 1512590"/>
                  <a:gd name="connsiteX1" fmla="*/ 2611314 w 5609492"/>
                  <a:gd name="connsiteY1" fmla="*/ 311 h 1512590"/>
                  <a:gd name="connsiteX2" fmla="*/ 5609492 w 5609492"/>
                  <a:gd name="connsiteY2" fmla="*/ 1512590 h 1512590"/>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537498"/>
                  <a:gd name="connsiteY0" fmla="*/ 1 h 1529864"/>
                  <a:gd name="connsiteX1" fmla="*/ 1771192 w 5537498"/>
                  <a:gd name="connsiteY1" fmla="*/ 0 h 1529864"/>
                  <a:gd name="connsiteX2" fmla="*/ 3738909 w 5537498"/>
                  <a:gd name="connsiteY2" fmla="*/ 492369 h 1529864"/>
                  <a:gd name="connsiteX3" fmla="*/ 5537498 w 5537498"/>
                  <a:gd name="connsiteY3" fmla="*/ 1529864 h 1529864"/>
                  <a:gd name="connsiteX0" fmla="*/ 0 w 5537498"/>
                  <a:gd name="connsiteY0" fmla="*/ 1 h 1529864"/>
                  <a:gd name="connsiteX1" fmla="*/ 1771192 w 5537498"/>
                  <a:gd name="connsiteY1" fmla="*/ 0 h 1529864"/>
                  <a:gd name="connsiteX2" fmla="*/ 3108974 w 5537498"/>
                  <a:gd name="connsiteY2" fmla="*/ 422030 h 1529864"/>
                  <a:gd name="connsiteX3" fmla="*/ 5537498 w 5537498"/>
                  <a:gd name="connsiteY3" fmla="*/ 1529864 h 1529864"/>
                  <a:gd name="connsiteX0" fmla="*/ 0 w 5195533"/>
                  <a:gd name="connsiteY0" fmla="*/ 1 h 1617787"/>
                  <a:gd name="connsiteX1" fmla="*/ 1771192 w 5195533"/>
                  <a:gd name="connsiteY1" fmla="*/ 0 h 1617787"/>
                  <a:gd name="connsiteX2" fmla="*/ 3108974 w 5195533"/>
                  <a:gd name="connsiteY2" fmla="*/ 422030 h 1617787"/>
                  <a:gd name="connsiteX3" fmla="*/ 5195533 w 5195533"/>
                  <a:gd name="connsiteY3" fmla="*/ 1617787 h 1617787"/>
                  <a:gd name="connsiteX0" fmla="*/ 0 w 5195533"/>
                  <a:gd name="connsiteY0" fmla="*/ 8793 h 1626579"/>
                  <a:gd name="connsiteX1" fmla="*/ 1465224 w 5195533"/>
                  <a:gd name="connsiteY1" fmla="*/ 0 h 1626579"/>
                  <a:gd name="connsiteX2" fmla="*/ 3108974 w 5195533"/>
                  <a:gd name="connsiteY2" fmla="*/ 430822 h 1626579"/>
                  <a:gd name="connsiteX3" fmla="*/ 5195533 w 5195533"/>
                  <a:gd name="connsiteY3" fmla="*/ 1626579 h 1626579"/>
                </a:gdLst>
                <a:ahLst/>
                <a:cxnLst>
                  <a:cxn ang="0">
                    <a:pos x="connsiteX0" y="connsiteY0"/>
                  </a:cxn>
                  <a:cxn ang="0">
                    <a:pos x="connsiteX1" y="connsiteY1"/>
                  </a:cxn>
                  <a:cxn ang="0">
                    <a:pos x="connsiteX2" y="connsiteY2"/>
                  </a:cxn>
                  <a:cxn ang="0">
                    <a:pos x="connsiteX3" y="connsiteY3"/>
                  </a:cxn>
                </a:cxnLst>
                <a:rect l="l" t="t" r="r" b="b"/>
                <a:pathLst>
                  <a:path w="5195533" h="1626579">
                    <a:moveTo>
                      <a:pt x="0" y="8793"/>
                    </a:moveTo>
                    <a:lnTo>
                      <a:pt x="1465224" y="0"/>
                    </a:lnTo>
                    <a:cubicBezTo>
                      <a:pt x="2162746" y="0"/>
                      <a:pt x="2644447" y="117230"/>
                      <a:pt x="3108974" y="430822"/>
                    </a:cubicBezTo>
                    <a:cubicBezTo>
                      <a:pt x="3626255" y="744414"/>
                      <a:pt x="4931764" y="1436079"/>
                      <a:pt x="5195533" y="1626579"/>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リーフォーム: 図形 8">
                <a:extLst>
                  <a:ext uri="{FF2B5EF4-FFF2-40B4-BE49-F238E27FC236}">
                    <a16:creationId xmlns:a16="http://schemas.microsoft.com/office/drawing/2014/main" id="{DDEEC5FB-EF71-A96E-5619-974BD220C9B5}"/>
                  </a:ext>
                </a:extLst>
              </p:cNvPr>
              <p:cNvSpPr/>
              <p:nvPr/>
            </p:nvSpPr>
            <p:spPr>
              <a:xfrm>
                <a:off x="1365198" y="4130672"/>
                <a:ext cx="2940910" cy="2022271"/>
              </a:xfrm>
              <a:custGeom>
                <a:avLst/>
                <a:gdLst>
                  <a:gd name="connsiteX0" fmla="*/ 0 w 5890846"/>
                  <a:gd name="connsiteY0" fmla="*/ 3605 h 1790190"/>
                  <a:gd name="connsiteX1" fmla="*/ 2567354 w 5890846"/>
                  <a:gd name="connsiteY1" fmla="*/ 240997 h 1790190"/>
                  <a:gd name="connsiteX2" fmla="*/ 4352193 w 5890846"/>
                  <a:gd name="connsiteY2" fmla="*/ 1542258 h 1790190"/>
                  <a:gd name="connsiteX3" fmla="*/ 5890846 w 5890846"/>
                  <a:gd name="connsiteY3" fmla="*/ 1788443 h 1790190"/>
                  <a:gd name="connsiteX0" fmla="*/ 0 w 5908681"/>
                  <a:gd name="connsiteY0" fmla="*/ 3605 h 2102299"/>
                  <a:gd name="connsiteX1" fmla="*/ 2567354 w 5908681"/>
                  <a:gd name="connsiteY1" fmla="*/ 240997 h 2102299"/>
                  <a:gd name="connsiteX2" fmla="*/ 4352193 w 5908681"/>
                  <a:gd name="connsiteY2" fmla="*/ 1542258 h 2102299"/>
                  <a:gd name="connsiteX3" fmla="*/ 5908681 w 5908681"/>
                  <a:gd name="connsiteY3" fmla="*/ 2102217 h 2102299"/>
                  <a:gd name="connsiteX0" fmla="*/ 0 w 5908681"/>
                  <a:gd name="connsiteY0" fmla="*/ 3605 h 2102217"/>
                  <a:gd name="connsiteX1" fmla="*/ 2567354 w 5908681"/>
                  <a:gd name="connsiteY1" fmla="*/ 240997 h 2102217"/>
                  <a:gd name="connsiteX2" fmla="*/ 4352193 w 5908681"/>
                  <a:gd name="connsiteY2" fmla="*/ 1542258 h 2102217"/>
                  <a:gd name="connsiteX3" fmla="*/ 5908681 w 5908681"/>
                  <a:gd name="connsiteY3" fmla="*/ 2102217 h 2102217"/>
                </a:gdLst>
                <a:ahLst/>
                <a:cxnLst>
                  <a:cxn ang="0">
                    <a:pos x="connsiteX0" y="connsiteY0"/>
                  </a:cxn>
                  <a:cxn ang="0">
                    <a:pos x="connsiteX1" y="connsiteY1"/>
                  </a:cxn>
                  <a:cxn ang="0">
                    <a:pos x="connsiteX2" y="connsiteY2"/>
                  </a:cxn>
                  <a:cxn ang="0">
                    <a:pos x="connsiteX3" y="connsiteY3"/>
                  </a:cxn>
                </a:cxnLst>
                <a:rect l="l" t="t" r="r" b="b"/>
                <a:pathLst>
                  <a:path w="5908681" h="2102217">
                    <a:moveTo>
                      <a:pt x="0" y="3605"/>
                    </a:moveTo>
                    <a:cubicBezTo>
                      <a:pt x="920994" y="-5920"/>
                      <a:pt x="1841989" y="-15445"/>
                      <a:pt x="2567354" y="240997"/>
                    </a:cubicBezTo>
                    <a:cubicBezTo>
                      <a:pt x="3292719" y="497439"/>
                      <a:pt x="3798278" y="1284350"/>
                      <a:pt x="4352193" y="1542258"/>
                    </a:cubicBezTo>
                    <a:cubicBezTo>
                      <a:pt x="4906108" y="1800166"/>
                      <a:pt x="5416313" y="1988105"/>
                      <a:pt x="5908681" y="2102217"/>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D21A98AA-5C68-9770-3810-B77700CFBC0A}"/>
                  </a:ext>
                </a:extLst>
              </p:cNvPr>
              <p:cNvSpPr txBox="1"/>
              <p:nvPr/>
            </p:nvSpPr>
            <p:spPr>
              <a:xfrm>
                <a:off x="584786" y="1409535"/>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利得</a:t>
                </a:r>
                <a:endParaRPr kumimoji="1" lang="en-US" altLang="ja-JP" sz="1944" kern="1200">
                  <a:solidFill>
                    <a:schemeClr val="tx1"/>
                  </a:solidFill>
                  <a:latin typeface="+mn-lt"/>
                  <a:ea typeface="+mn-ea"/>
                  <a:cs typeface="+mn-cs"/>
                </a:endParaRPr>
              </a:p>
              <a:p>
                <a:pPr defTabSz="740664">
                  <a:spcAft>
                    <a:spcPts val="600"/>
                  </a:spcAft>
                </a:pPr>
                <a:r>
                  <a:rPr kumimoji="1" lang="en-US" altLang="ja-JP" sz="1944" kern="1200">
                    <a:solidFill>
                      <a:schemeClr val="tx1"/>
                    </a:solidFill>
                    <a:latin typeface="+mn-lt"/>
                    <a:ea typeface="+mn-ea"/>
                    <a:cs typeface="+mn-cs"/>
                  </a:rPr>
                  <a:t>[dB]</a:t>
                </a:r>
                <a:endParaRPr kumimoji="1" lang="ja-JP" altLang="en-US" sz="2400"/>
              </a:p>
            </p:txBody>
          </p:sp>
          <p:sp>
            <p:nvSpPr>
              <p:cNvPr id="11" name="テキスト ボックス 10">
                <a:extLst>
                  <a:ext uri="{FF2B5EF4-FFF2-40B4-BE49-F238E27FC236}">
                    <a16:creationId xmlns:a16="http://schemas.microsoft.com/office/drawing/2014/main" id="{9D9C1203-A45E-AE92-E7BC-6D3C90333028}"/>
                  </a:ext>
                </a:extLst>
              </p:cNvPr>
              <p:cNvSpPr txBox="1"/>
              <p:nvPr/>
            </p:nvSpPr>
            <p:spPr>
              <a:xfrm>
                <a:off x="462256" y="3317413"/>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a:t>
                </a:r>
                <a:endParaRPr kumimoji="1" lang="en-US" altLang="ja-JP" sz="1944" kern="1200">
                  <a:solidFill>
                    <a:schemeClr val="tx1"/>
                  </a:solidFill>
                  <a:latin typeface="+mn-lt"/>
                  <a:ea typeface="+mn-ea"/>
                  <a:cs typeface="+mn-cs"/>
                </a:endParaRPr>
              </a:p>
              <a:p>
                <a:pPr defTabSz="740664">
                  <a:spcAft>
                    <a:spcPts val="600"/>
                  </a:spcAft>
                </a:pPr>
                <a:r>
                  <a:rPr kumimoji="1" lang="en-US" altLang="ja-JP" sz="1944" kern="1200">
                    <a:solidFill>
                      <a:schemeClr val="tx1"/>
                    </a:solidFill>
                    <a:latin typeface="+mn-lt"/>
                    <a:ea typeface="+mn-ea"/>
                    <a:cs typeface="+mn-cs"/>
                  </a:rPr>
                  <a:t>[°]</a:t>
                </a:r>
                <a:endParaRPr kumimoji="1" lang="ja-JP" altLang="en-US" sz="2400"/>
              </a:p>
            </p:txBody>
          </p:sp>
          <p:sp>
            <p:nvSpPr>
              <p:cNvPr id="12" name="テキスト ボックス 11">
                <a:extLst>
                  <a:ext uri="{FF2B5EF4-FFF2-40B4-BE49-F238E27FC236}">
                    <a16:creationId xmlns:a16="http://schemas.microsoft.com/office/drawing/2014/main" id="{FF7F60B8-5C3C-384E-5C0F-FB3983D7106D}"/>
                  </a:ext>
                </a:extLst>
              </p:cNvPr>
              <p:cNvSpPr txBox="1"/>
              <p:nvPr/>
            </p:nvSpPr>
            <p:spPr>
              <a:xfrm>
                <a:off x="3705728" y="2093563"/>
                <a:ext cx="1305870"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w</a:t>
                </a:r>
                <a:r>
                  <a:rPr kumimoji="1" lang="en-US" altLang="ja-JP" sz="1944" kern="1200">
                    <a:solidFill>
                      <a:schemeClr val="tx1"/>
                    </a:solidFill>
                    <a:latin typeface="+mn-lt"/>
                    <a:ea typeface="+mn-ea"/>
                    <a:cs typeface="+mn-cs"/>
                  </a:rPr>
                  <a:t> [rad/s]</a:t>
                </a:r>
                <a:endParaRPr kumimoji="1" lang="ja-JP" altLang="en-US" sz="2400"/>
              </a:p>
            </p:txBody>
          </p:sp>
          <p:sp>
            <p:nvSpPr>
              <p:cNvPr id="13" name="テキスト ボックス 12">
                <a:extLst>
                  <a:ext uri="{FF2B5EF4-FFF2-40B4-BE49-F238E27FC236}">
                    <a16:creationId xmlns:a16="http://schemas.microsoft.com/office/drawing/2014/main" id="{E167B734-D6CF-F0CC-9BDA-AE0319C263C5}"/>
                  </a:ext>
                </a:extLst>
              </p:cNvPr>
              <p:cNvSpPr txBox="1"/>
              <p:nvPr/>
            </p:nvSpPr>
            <p:spPr>
              <a:xfrm>
                <a:off x="1063511" y="2280907"/>
                <a:ext cx="301686" cy="369332"/>
              </a:xfrm>
              <a:prstGeom prst="rect">
                <a:avLst/>
              </a:prstGeom>
              <a:noFill/>
            </p:spPr>
            <p:txBody>
              <a:bodyPr wrap="none" rtlCol="0">
                <a:spAutoFit/>
              </a:bodyPr>
              <a:lstStyle/>
              <a:p>
                <a:pPr defTabSz="740664">
                  <a:spcAft>
                    <a:spcPts val="600"/>
                  </a:spcAft>
                </a:pPr>
                <a:r>
                  <a:rPr kumimoji="1" lang="en-US" altLang="ja-JP" sz="1458" kern="1200">
                    <a:solidFill>
                      <a:schemeClr val="tx1"/>
                    </a:solidFill>
                    <a:latin typeface="+mn-lt"/>
                    <a:ea typeface="+mn-ea"/>
                    <a:cs typeface="+mn-cs"/>
                  </a:rPr>
                  <a:t>0</a:t>
                </a:r>
                <a:endParaRPr kumimoji="1" lang="ja-JP" altLang="en-US"/>
              </a:p>
            </p:txBody>
          </p:sp>
          <p:sp>
            <p:nvSpPr>
              <p:cNvPr id="14" name="テキスト ボックス 13">
                <a:extLst>
                  <a:ext uri="{FF2B5EF4-FFF2-40B4-BE49-F238E27FC236}">
                    <a16:creationId xmlns:a16="http://schemas.microsoft.com/office/drawing/2014/main" id="{CA99741B-C742-FC35-597E-8BB5C200C832}"/>
                  </a:ext>
                </a:extLst>
              </p:cNvPr>
              <p:cNvSpPr txBox="1"/>
              <p:nvPr/>
            </p:nvSpPr>
            <p:spPr>
              <a:xfrm>
                <a:off x="1083319" y="3789462"/>
                <a:ext cx="301686" cy="369332"/>
              </a:xfrm>
              <a:prstGeom prst="rect">
                <a:avLst/>
              </a:prstGeom>
              <a:noFill/>
            </p:spPr>
            <p:txBody>
              <a:bodyPr wrap="none" rtlCol="0">
                <a:spAutoFit/>
              </a:bodyPr>
              <a:lstStyle/>
              <a:p>
                <a:pPr defTabSz="740664">
                  <a:spcAft>
                    <a:spcPts val="600"/>
                  </a:spcAft>
                </a:pPr>
                <a:r>
                  <a:rPr kumimoji="1" lang="en-US" altLang="ja-JP" sz="1458" kern="1200">
                    <a:solidFill>
                      <a:schemeClr val="tx1"/>
                    </a:solidFill>
                    <a:latin typeface="+mn-lt"/>
                    <a:ea typeface="+mn-ea"/>
                    <a:cs typeface="+mn-cs"/>
                  </a:rPr>
                  <a:t>0</a:t>
                </a:r>
                <a:endParaRPr kumimoji="1" lang="ja-JP" altLang="en-US"/>
              </a:p>
            </p:txBody>
          </p:sp>
          <p:sp>
            <p:nvSpPr>
              <p:cNvPr id="15" name="テキスト ボックス 14">
                <a:extLst>
                  <a:ext uri="{FF2B5EF4-FFF2-40B4-BE49-F238E27FC236}">
                    <a16:creationId xmlns:a16="http://schemas.microsoft.com/office/drawing/2014/main" id="{B40147AD-573F-BFB9-A95A-180927592A29}"/>
                  </a:ext>
                </a:extLst>
              </p:cNvPr>
              <p:cNvSpPr txBox="1"/>
              <p:nvPr/>
            </p:nvSpPr>
            <p:spPr>
              <a:xfrm>
                <a:off x="3705728" y="4153949"/>
                <a:ext cx="1305870"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w</a:t>
                </a:r>
                <a:r>
                  <a:rPr kumimoji="1" lang="en-US" altLang="ja-JP" sz="1944" kern="1200">
                    <a:solidFill>
                      <a:schemeClr val="tx1"/>
                    </a:solidFill>
                    <a:latin typeface="+mn-lt"/>
                    <a:ea typeface="+mn-ea"/>
                    <a:cs typeface="+mn-cs"/>
                  </a:rPr>
                  <a:t> [rad/s]</a:t>
                </a:r>
                <a:endParaRPr kumimoji="1" lang="ja-JP" altLang="en-US" sz="2400"/>
              </a:p>
            </p:txBody>
          </p:sp>
          <p:cxnSp>
            <p:nvCxnSpPr>
              <p:cNvPr id="16" name="直線矢印コネクタ 15">
                <a:extLst>
                  <a:ext uri="{FF2B5EF4-FFF2-40B4-BE49-F238E27FC236}">
                    <a16:creationId xmlns:a16="http://schemas.microsoft.com/office/drawing/2014/main" id="{CB664AF1-0DCF-5616-EBCC-ADD5E05D0BF1}"/>
                  </a:ext>
                </a:extLst>
              </p:cNvPr>
              <p:cNvCxnSpPr>
                <a:cxnSpLocks/>
              </p:cNvCxnSpPr>
              <p:nvPr/>
            </p:nvCxnSpPr>
            <p:spPr>
              <a:xfrm>
                <a:off x="984895" y="5708772"/>
                <a:ext cx="3240360" cy="0"/>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CB12A37A-A59D-6683-EE5E-1920B39CBAD4}"/>
                  </a:ext>
                </a:extLst>
              </p:cNvPr>
              <p:cNvSpPr txBox="1"/>
              <p:nvPr/>
            </p:nvSpPr>
            <p:spPr>
              <a:xfrm>
                <a:off x="521479" y="5298017"/>
                <a:ext cx="819455" cy="461665"/>
              </a:xfrm>
              <a:prstGeom prst="rect">
                <a:avLst/>
              </a:prstGeom>
              <a:noFill/>
            </p:spPr>
            <p:txBody>
              <a:bodyPr wrap="none" rtlCol="0">
                <a:spAutoFit/>
              </a:bodyPr>
              <a:lstStyle/>
              <a:p>
                <a:pPr defTabSz="740664">
                  <a:spcAft>
                    <a:spcPts val="600"/>
                  </a:spcAft>
                </a:pPr>
                <a:r>
                  <a:rPr kumimoji="1" lang="en-US" altLang="ja-JP" sz="1944" kern="1200">
                    <a:solidFill>
                      <a:schemeClr val="tx1"/>
                    </a:solidFill>
                    <a:latin typeface="Symbol" panose="05050102010706020507" pitchFamily="18" charset="2"/>
                    <a:ea typeface="+mn-ea"/>
                    <a:cs typeface="+mn-cs"/>
                  </a:rPr>
                  <a:t>-</a:t>
                </a:r>
                <a:r>
                  <a:rPr kumimoji="1" lang="en-US" altLang="ja-JP" sz="1944" kern="1200">
                    <a:solidFill>
                      <a:schemeClr val="tx1"/>
                    </a:solidFill>
                    <a:latin typeface="+mn-lt"/>
                    <a:ea typeface="+mn-ea"/>
                    <a:cs typeface="+mn-cs"/>
                  </a:rPr>
                  <a:t>180</a:t>
                </a:r>
                <a:endParaRPr kumimoji="1" lang="ja-JP" altLang="en-US" sz="2400"/>
              </a:p>
            </p:txBody>
          </p:sp>
          <p:cxnSp>
            <p:nvCxnSpPr>
              <p:cNvPr id="18" name="直線矢印コネクタ 17">
                <a:extLst>
                  <a:ext uri="{FF2B5EF4-FFF2-40B4-BE49-F238E27FC236}">
                    <a16:creationId xmlns:a16="http://schemas.microsoft.com/office/drawing/2014/main" id="{8E2D71A8-6744-E2A4-5577-0CE96D43B4AB}"/>
                  </a:ext>
                </a:extLst>
              </p:cNvPr>
              <p:cNvCxnSpPr>
                <a:cxnSpLocks/>
              </p:cNvCxnSpPr>
              <p:nvPr/>
            </p:nvCxnSpPr>
            <p:spPr>
              <a:xfrm flipV="1">
                <a:off x="3634704" y="2650239"/>
                <a:ext cx="0" cy="3058533"/>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D5334B64-F202-5893-C817-28EACA269683}"/>
                  </a:ext>
                </a:extLst>
              </p:cNvPr>
              <p:cNvCxnSpPr>
                <a:cxnSpLocks/>
              </p:cNvCxnSpPr>
              <p:nvPr/>
            </p:nvCxnSpPr>
            <p:spPr>
              <a:xfrm>
                <a:off x="3193446" y="2612428"/>
                <a:ext cx="0" cy="3096344"/>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F3FEEDB-4C6B-279C-9080-66544C6D8009}"/>
                  </a:ext>
                </a:extLst>
              </p:cNvPr>
              <p:cNvCxnSpPr/>
              <p:nvPr/>
            </p:nvCxnSpPr>
            <p:spPr>
              <a:xfrm flipH="1">
                <a:off x="2733350" y="5138784"/>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BEE9612-E744-DCC8-0707-03D45A213192}"/>
                  </a:ext>
                </a:extLst>
              </p:cNvPr>
              <p:cNvCxnSpPr>
                <a:cxnSpLocks/>
              </p:cNvCxnSpPr>
              <p:nvPr/>
            </p:nvCxnSpPr>
            <p:spPr>
              <a:xfrm flipV="1">
                <a:off x="2949374" y="5138784"/>
                <a:ext cx="0" cy="569988"/>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03874084-9DC2-DB42-6D70-6E7FB54BF7AC}"/>
                  </a:ext>
                </a:extLst>
              </p:cNvPr>
              <p:cNvCxnSpPr/>
              <p:nvPr/>
            </p:nvCxnSpPr>
            <p:spPr>
              <a:xfrm flipH="1">
                <a:off x="3648968" y="3122560"/>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9DFEAD8-EDCF-71B2-1360-C3A95E72FF4C}"/>
                  </a:ext>
                </a:extLst>
              </p:cNvPr>
              <p:cNvCxnSpPr>
                <a:cxnSpLocks/>
              </p:cNvCxnSpPr>
              <p:nvPr/>
            </p:nvCxnSpPr>
            <p:spPr>
              <a:xfrm flipV="1">
                <a:off x="3879016" y="2612428"/>
                <a:ext cx="0" cy="510132"/>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7EE72259-ED8F-CF46-4597-221EB5168E07}"/>
                  </a:ext>
                </a:extLst>
              </p:cNvPr>
              <p:cNvSpPr txBox="1"/>
              <p:nvPr/>
            </p:nvSpPr>
            <p:spPr>
              <a:xfrm>
                <a:off x="1500916" y="5173583"/>
                <a:ext cx="1415772"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位相余有</a:t>
                </a:r>
                <a:endParaRPr kumimoji="1" lang="ja-JP" altLang="en-US" sz="2400"/>
              </a:p>
            </p:txBody>
          </p:sp>
          <p:sp>
            <p:nvSpPr>
              <p:cNvPr id="25" name="テキスト ボックス 24">
                <a:extLst>
                  <a:ext uri="{FF2B5EF4-FFF2-40B4-BE49-F238E27FC236}">
                    <a16:creationId xmlns:a16="http://schemas.microsoft.com/office/drawing/2014/main" id="{07C37B84-F6F0-BB6F-9F91-5D84CD76620F}"/>
                  </a:ext>
                </a:extLst>
              </p:cNvPr>
              <p:cNvSpPr txBox="1"/>
              <p:nvPr/>
            </p:nvSpPr>
            <p:spPr>
              <a:xfrm>
                <a:off x="3957475" y="2669629"/>
                <a:ext cx="1616148"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ゲイン余有</a:t>
                </a:r>
                <a:endParaRPr kumimoji="1" lang="ja-JP" altLang="en-US" sz="2400"/>
              </a:p>
            </p:txBody>
          </p:sp>
          <p:cxnSp>
            <p:nvCxnSpPr>
              <p:cNvPr id="26" name="直線矢印コネクタ 25">
                <a:extLst>
                  <a:ext uri="{FF2B5EF4-FFF2-40B4-BE49-F238E27FC236}">
                    <a16:creationId xmlns:a16="http://schemas.microsoft.com/office/drawing/2014/main" id="{2B7A45CF-CAB6-E801-FFDD-9776799C6C89}"/>
                  </a:ext>
                </a:extLst>
              </p:cNvPr>
              <p:cNvCxnSpPr/>
              <p:nvPr/>
            </p:nvCxnSpPr>
            <p:spPr>
              <a:xfrm>
                <a:off x="3193446" y="2036364"/>
                <a:ext cx="0" cy="5188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E251349-4801-9003-E799-5A67A898836F}"/>
                  </a:ext>
                </a:extLst>
              </p:cNvPr>
              <p:cNvSpPr txBox="1"/>
              <p:nvPr/>
            </p:nvSpPr>
            <p:spPr>
              <a:xfrm>
                <a:off x="2703049" y="1411661"/>
                <a:ext cx="5085046" cy="954107"/>
              </a:xfrm>
              <a:prstGeom prst="rect">
                <a:avLst/>
              </a:prstGeom>
              <a:noFill/>
            </p:spPr>
            <p:txBody>
              <a:bodyPr wrap="none" rtlCol="0">
                <a:spAutoFit/>
              </a:bodyPr>
              <a:lstStyle/>
              <a:p>
                <a:pPr defTabSz="740664">
                  <a:spcAft>
                    <a:spcPts val="600"/>
                  </a:spcAft>
                </a:pPr>
                <a:r>
                  <a:rPr kumimoji="1" lang="ja-JP" altLang="en-US" sz="2268" kern="1200">
                    <a:solidFill>
                      <a:srgbClr val="B30000"/>
                    </a:solidFill>
                    <a:latin typeface="+mn-lt"/>
                    <a:ea typeface="+mn-ea"/>
                    <a:cs typeface="+mn-cs"/>
                  </a:rPr>
                  <a:t>単位利得周波数</a:t>
                </a:r>
                <a:r>
                  <a:rPr kumimoji="1" lang="en-US" altLang="ja-JP" sz="2268" kern="1200">
                    <a:solidFill>
                      <a:srgbClr val="B30000"/>
                    </a:solidFill>
                    <a:latin typeface="+mn-lt"/>
                    <a:ea typeface="+mn-ea"/>
                    <a:cs typeface="+mn-cs"/>
                  </a:rPr>
                  <a:t>:</a:t>
                </a:r>
                <a:r>
                  <a:rPr kumimoji="1" lang="ja-JP" altLang="en-US" sz="2268" kern="1200">
                    <a:solidFill>
                      <a:srgbClr val="B30000"/>
                    </a:solidFill>
                    <a:latin typeface="+mn-lt"/>
                    <a:ea typeface="+mn-ea"/>
                    <a:cs typeface="+mn-cs"/>
                  </a:rPr>
                  <a:t> 利得が</a:t>
                </a:r>
                <a:r>
                  <a:rPr kumimoji="1" lang="en-US" altLang="ja-JP" sz="2268" kern="1200">
                    <a:solidFill>
                      <a:srgbClr val="B30000"/>
                    </a:solidFill>
                    <a:latin typeface="+mn-lt"/>
                    <a:ea typeface="+mn-ea"/>
                    <a:cs typeface="+mn-cs"/>
                  </a:rPr>
                  <a:t>1</a:t>
                </a:r>
                <a:r>
                  <a:rPr kumimoji="1" lang="ja-JP" altLang="en-US" sz="2268" kern="1200">
                    <a:solidFill>
                      <a:srgbClr val="B30000"/>
                    </a:solidFill>
                    <a:latin typeface="+mn-lt"/>
                    <a:ea typeface="+mn-ea"/>
                    <a:cs typeface="+mn-cs"/>
                  </a:rPr>
                  <a:t> </a:t>
                </a:r>
                <a:r>
                  <a:rPr kumimoji="1" lang="en-US" altLang="ja-JP" sz="2268" kern="1200">
                    <a:solidFill>
                      <a:srgbClr val="B30000"/>
                    </a:solidFill>
                    <a:latin typeface="+mn-lt"/>
                    <a:ea typeface="+mn-ea"/>
                    <a:cs typeface="+mn-cs"/>
                  </a:rPr>
                  <a:t>(0 dB)</a:t>
                </a:r>
              </a:p>
              <a:p>
                <a:pPr algn="r" defTabSz="740664">
                  <a:spcAft>
                    <a:spcPts val="600"/>
                  </a:spcAft>
                </a:pPr>
                <a:r>
                  <a:rPr kumimoji="1" lang="ja-JP" altLang="en-US" sz="2268" kern="1200">
                    <a:solidFill>
                      <a:srgbClr val="B30000"/>
                    </a:solidFill>
                    <a:latin typeface="+mn-lt"/>
                    <a:ea typeface="+mn-ea"/>
                    <a:cs typeface="+mn-cs"/>
                  </a:rPr>
                  <a:t> になる周波数</a:t>
                </a:r>
                <a:endParaRPr kumimoji="1" lang="ja-JP" altLang="en-US" sz="2800">
                  <a:solidFill>
                    <a:srgbClr val="FF0000"/>
                  </a:solidFill>
                </a:endParaRPr>
              </a:p>
            </p:txBody>
          </p:sp>
        </p:grpSp>
        <p:sp>
          <p:nvSpPr>
            <p:cNvPr id="29" name="テキスト ボックス 28">
              <a:extLst>
                <a:ext uri="{FF2B5EF4-FFF2-40B4-BE49-F238E27FC236}">
                  <a16:creationId xmlns:a16="http://schemas.microsoft.com/office/drawing/2014/main" id="{7F24B712-FFED-E321-72B0-4918DB5DADBF}"/>
                </a:ext>
              </a:extLst>
            </p:cNvPr>
            <p:cNvSpPr txBox="1"/>
            <p:nvPr/>
          </p:nvSpPr>
          <p:spPr>
            <a:xfrm>
              <a:off x="1304282" y="6285217"/>
              <a:ext cx="6275757" cy="430887"/>
            </a:xfrm>
            <a:prstGeom prst="rect">
              <a:avLst/>
            </a:prstGeom>
            <a:noFill/>
          </p:spPr>
          <p:txBody>
            <a:bodyPr wrap="none" lIns="0" tIns="0" rIns="0" bIns="0" rtlCol="0">
              <a:spAutoFit/>
            </a:bodyPr>
            <a:lstStyle/>
            <a:p>
              <a:pPr defTabSz="740664">
                <a:spcAft>
                  <a:spcPts val="600"/>
                </a:spcAft>
              </a:pPr>
              <a:r>
                <a:rPr kumimoji="1" lang="ja-JP" altLang="en-US" sz="2268" kern="1200">
                  <a:solidFill>
                    <a:srgbClr val="B30000"/>
                  </a:solidFill>
                  <a:latin typeface="Cambria Math" panose="02040503050406030204" pitchFamily="18" charset="0"/>
                  <a:ea typeface="+mn-ea"/>
                  <a:cs typeface="+mn-cs"/>
                </a:rPr>
                <a:t>この位相余裕を確保するのが「位相補償」</a:t>
              </a:r>
              <a:endParaRPr kumimoji="1" lang="ja-JP" altLang="en-US" sz="2800">
                <a:solidFill>
                  <a:srgbClr val="FF0000"/>
                </a:solidFill>
                <a:latin typeface="Cambria Math" panose="02040503050406030204" pitchFamily="18" charset="0"/>
              </a:endParaRPr>
            </a:p>
          </p:txBody>
        </p:sp>
      </p:grpSp>
    </p:spTree>
    <p:extLst>
      <p:ext uri="{BB962C8B-B14F-4D97-AF65-F5344CB8AC3E}">
        <p14:creationId xmlns:p14="http://schemas.microsoft.com/office/powerpoint/2010/main" val="29339699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910387D-EB31-9F09-A4DA-449833260141}"/>
              </a:ext>
            </a:extLst>
          </p:cNvPr>
          <p:cNvSpPr>
            <a:spLocks noGrp="1"/>
          </p:cNvSpPr>
          <p:nvPr>
            <p:ph type="title"/>
          </p:nvPr>
        </p:nvSpPr>
        <p:spPr>
          <a:xfrm>
            <a:off x="1043631" y="809898"/>
            <a:ext cx="9942716" cy="1554480"/>
          </a:xfrm>
        </p:spPr>
        <p:txBody>
          <a:bodyPr anchor="ctr">
            <a:normAutofit/>
          </a:bodyPr>
          <a:lstStyle/>
          <a:p>
            <a:r>
              <a:rPr kumimoji="1" lang="ja-JP" altLang="en-US" sz="4800"/>
              <a:t>極と零点</a:t>
            </a:r>
          </a:p>
        </p:txBody>
      </p:sp>
      <p:sp>
        <p:nvSpPr>
          <p:cNvPr id="3" name="コンテンツ プレースホルダー 2">
            <a:extLst>
              <a:ext uri="{FF2B5EF4-FFF2-40B4-BE49-F238E27FC236}">
                <a16:creationId xmlns:a16="http://schemas.microsoft.com/office/drawing/2014/main" id="{31BCBE69-EF7C-8C8B-DCEE-550BD8E24A72}"/>
              </a:ext>
            </a:extLst>
          </p:cNvPr>
          <p:cNvSpPr>
            <a:spLocks noGrp="1"/>
          </p:cNvSpPr>
          <p:nvPr>
            <p:ph idx="1"/>
          </p:nvPr>
        </p:nvSpPr>
        <p:spPr>
          <a:xfrm>
            <a:off x="1045028" y="3017522"/>
            <a:ext cx="9941319" cy="3124658"/>
          </a:xfrm>
        </p:spPr>
        <p:txBody>
          <a:bodyPr anchor="ctr">
            <a:normAutofit/>
          </a:bodyPr>
          <a:lstStyle/>
          <a:p>
            <a:r>
              <a:rPr kumimoji="1" lang="ja-JP" altLang="en-US" sz="2000"/>
              <a:t>極</a:t>
            </a:r>
            <a:endParaRPr kumimoji="1" lang="en-US" altLang="ja-JP" sz="2000" dirty="0"/>
          </a:p>
          <a:p>
            <a:pPr lvl="1"/>
            <a:r>
              <a:rPr lang="ja-JP" altLang="en-US" sz="2000" b="1"/>
              <a:t>特定の周波数において、システムの出力が無限大に発散する（共振する）点</a:t>
            </a:r>
            <a:endParaRPr lang="en-US" altLang="ja-JP" sz="1600" dirty="0"/>
          </a:p>
          <a:p>
            <a:pPr lvl="1"/>
            <a:r>
              <a:rPr lang="ja-JP" altLang="en-US" sz="2000"/>
              <a:t>対策</a:t>
            </a:r>
            <a:endParaRPr lang="en-US" altLang="ja-JP" sz="2000" dirty="0"/>
          </a:p>
          <a:p>
            <a:pPr lvl="2"/>
            <a:r>
              <a:rPr lang="en-US" altLang="ja-JP" dirty="0"/>
              <a:t>pole-splitting</a:t>
            </a:r>
            <a:r>
              <a:rPr lang="ja-JP" altLang="en-US"/>
              <a:t>＝位相補償容量</a:t>
            </a:r>
            <a:endParaRPr lang="en-US" altLang="ja-JP" dirty="0"/>
          </a:p>
          <a:p>
            <a:r>
              <a:rPr kumimoji="1" lang="ja-JP" altLang="en-US" sz="2000"/>
              <a:t>零点</a:t>
            </a:r>
            <a:endParaRPr kumimoji="1" lang="en-US" altLang="ja-JP" sz="2000" dirty="0"/>
          </a:p>
          <a:p>
            <a:pPr lvl="1"/>
            <a:r>
              <a:rPr lang="ja-JP" altLang="en-US" sz="2000" b="1"/>
              <a:t>特定の周波数において、システムが入力信号を完全に遮断し、出力がゼロになる点</a:t>
            </a:r>
            <a:endParaRPr lang="en-US" altLang="ja-JP" sz="2000" b="1" dirty="0"/>
          </a:p>
          <a:p>
            <a:pPr lvl="1"/>
            <a:r>
              <a:rPr lang="ja-JP" altLang="en-US" sz="2000"/>
              <a:t>対策</a:t>
            </a:r>
            <a:endParaRPr lang="en-US" altLang="ja-JP" sz="2000" dirty="0"/>
          </a:p>
          <a:p>
            <a:pPr lvl="2"/>
            <a:r>
              <a:rPr lang="ja-JP" altLang="en-US"/>
              <a:t>バイアスレプリカ＝補償抵抗</a:t>
            </a:r>
            <a:endParaRPr lang="en-US" altLang="ja-JP" b="1"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B321FC80-93C6-9491-CA6F-B440B6742910}"/>
              </a:ext>
            </a:extLst>
          </p:cNvPr>
          <p:cNvSpPr txBox="1"/>
          <p:nvPr/>
        </p:nvSpPr>
        <p:spPr>
          <a:xfrm>
            <a:off x="1043631" y="6488668"/>
            <a:ext cx="5262979" cy="369332"/>
          </a:xfrm>
          <a:prstGeom prst="rect">
            <a:avLst/>
          </a:prstGeom>
          <a:noFill/>
        </p:spPr>
        <p:txBody>
          <a:bodyPr wrap="none" rtlCol="0">
            <a:spAutoFit/>
          </a:bodyPr>
          <a:lstStyle/>
          <a:p>
            <a:r>
              <a:rPr lang="en-US" altLang="ja-JP" dirty="0">
                <a:solidFill>
                  <a:srgbClr val="FF0000"/>
                </a:solidFill>
                <a:latin typeface="Times New Roman" panose="02020603050405020304" pitchFamily="18" charset="0"/>
                <a:cs typeface="Times New Roman" panose="02020603050405020304" pitchFamily="18" charset="0"/>
              </a:rPr>
              <a:t>※</a:t>
            </a:r>
            <a:r>
              <a:rPr lang="ja-JP" altLang="en-US">
                <a:solidFill>
                  <a:srgbClr val="FF0000"/>
                </a:solidFill>
                <a:latin typeface="Times New Roman" panose="02020603050405020304" pitchFamily="18" charset="0"/>
                <a:cs typeface="Times New Roman" panose="02020603050405020304" pitchFamily="18" charset="0"/>
              </a:rPr>
              <a:t>段数ごとに第</a:t>
            </a:r>
            <a:r>
              <a:rPr lang="en-US" altLang="ja-JP" dirty="0">
                <a:solidFill>
                  <a:srgbClr val="FF0000"/>
                </a:solidFill>
                <a:latin typeface="Times New Roman" panose="02020603050405020304" pitchFamily="18" charset="0"/>
                <a:cs typeface="Times New Roman" panose="02020603050405020304" pitchFamily="18" charset="0"/>
              </a:rPr>
              <a:t>1</a:t>
            </a:r>
            <a:r>
              <a:rPr lang="ja-JP" altLang="en-US">
                <a:solidFill>
                  <a:srgbClr val="FF0000"/>
                </a:solidFill>
                <a:latin typeface="Times New Roman" panose="02020603050405020304" pitchFamily="18" charset="0"/>
                <a:cs typeface="Times New Roman" panose="02020603050405020304" pitchFamily="18" charset="0"/>
              </a:rPr>
              <a:t>極、第</a:t>
            </a:r>
            <a:r>
              <a:rPr lang="en-US" altLang="ja-JP" dirty="0">
                <a:solidFill>
                  <a:srgbClr val="FF0000"/>
                </a:solidFill>
                <a:latin typeface="Times New Roman" panose="02020603050405020304" pitchFamily="18" charset="0"/>
                <a:cs typeface="Times New Roman" panose="02020603050405020304" pitchFamily="18" charset="0"/>
              </a:rPr>
              <a:t>2</a:t>
            </a:r>
            <a:r>
              <a:rPr lang="ja-JP" altLang="en-US">
                <a:solidFill>
                  <a:srgbClr val="FF0000"/>
                </a:solidFill>
                <a:latin typeface="Times New Roman" panose="02020603050405020304" pitchFamily="18" charset="0"/>
                <a:cs typeface="Times New Roman" panose="02020603050405020304" pitchFamily="18" charset="0"/>
              </a:rPr>
              <a:t>極など段数分発生します</a:t>
            </a:r>
            <a:endParaRPr kumimoji="1" lang="ja-JP" altLang="en-US">
              <a:solidFill>
                <a:srgbClr val="FF0000"/>
              </a:solidFill>
            </a:endParaRPr>
          </a:p>
        </p:txBody>
      </p:sp>
    </p:spTree>
    <p:extLst>
      <p:ext uri="{BB962C8B-B14F-4D97-AF65-F5344CB8AC3E}">
        <p14:creationId xmlns:p14="http://schemas.microsoft.com/office/powerpoint/2010/main" val="36116692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E1ED3A7-7444-D97A-5668-39D746222ECD}"/>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ja-JP" altLang="en-US" sz="3600" kern="1200">
                <a:solidFill>
                  <a:schemeClr val="tx1"/>
                </a:solidFill>
                <a:latin typeface="+mj-lt"/>
                <a:ea typeface="+mj-ea"/>
                <a:cs typeface="+mj-cs"/>
              </a:rPr>
              <a:t>位相補償容量による</a:t>
            </a:r>
            <a:br>
              <a:rPr lang="en-US" altLang="ja-JP" sz="3600" kern="1200">
                <a:solidFill>
                  <a:schemeClr val="tx1"/>
                </a:solidFill>
                <a:latin typeface="+mj-lt"/>
                <a:ea typeface="+mj-ea"/>
                <a:cs typeface="+mj-cs"/>
              </a:rPr>
            </a:br>
            <a:r>
              <a:rPr kumimoji="1" lang="en-US" altLang="ja-JP" sz="3600" kern="1200">
                <a:solidFill>
                  <a:schemeClr val="tx1"/>
                </a:solidFill>
                <a:latin typeface="+mj-lt"/>
                <a:ea typeface="+mj-ea"/>
                <a:cs typeface="+mj-cs"/>
              </a:rPr>
              <a:t>Pole-splitting</a:t>
            </a:r>
          </a:p>
        </p:txBody>
      </p:sp>
      <p:sp>
        <p:nvSpPr>
          <p:cNvPr id="42" name="Rectangle 4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DA2B1C1-387A-9B53-8F1D-4D27747D90FD}"/>
                  </a:ext>
                </a:extLst>
              </p:cNvPr>
              <p:cNvSpPr txBox="1"/>
              <p:nvPr/>
            </p:nvSpPr>
            <p:spPr>
              <a:xfrm>
                <a:off x="645065" y="2031101"/>
                <a:ext cx="4737831"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sz="2400"/>
                  <a:t>ミラー効果により</a:t>
                </a:r>
                <a:r>
                  <a:rPr kumimoji="1" lang="en-US" altLang="ja-JP" sz="2400"/>
                  <a:t>1</a:t>
                </a:r>
                <a:r>
                  <a:rPr kumimoji="1" lang="ja-JP" altLang="en-US" sz="2400"/>
                  <a:t>つの容量で</a:t>
                </a:r>
                <a:endParaRPr kumimoji="1" lang="en-US" altLang="ja-JP" sz="2400"/>
              </a:p>
              <a:p>
                <a:pPr>
                  <a:lnSpc>
                    <a:spcPct val="90000"/>
                  </a:lnSpc>
                  <a:spcAft>
                    <a:spcPts val="600"/>
                  </a:spcAft>
                </a:pPr>
                <a14:m>
                  <m:oMath xmlns:m="http://schemas.openxmlformats.org/officeDocument/2006/math">
                    <m:r>
                      <a:rPr lang="ja-JP" altLang="en-US" sz="2400" b="0" i="1" dirty="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ja-JP" altLang="en-US" sz="2400" b="0" i="1">
                            <a:latin typeface="Cambria Math" panose="02040503050406030204" pitchFamily="18" charset="0"/>
                          </a:rPr>
                          <m:t>𝐺</m:t>
                        </m:r>
                      </m:e>
                      <m:sub>
                        <m:r>
                          <a:rPr kumimoji="1" lang="en-US" altLang="ja-JP" sz="2400" b="0" i="1">
                            <a:latin typeface="Cambria Math" panose="02040503050406030204" pitchFamily="18" charset="0"/>
                          </a:rPr>
                          <m:t>1</m:t>
                        </m:r>
                      </m:sub>
                    </m:sSub>
                  </m:oMath>
                </a14:m>
                <a:r>
                  <a:rPr kumimoji="1" lang="en-US" altLang="ja-JP" sz="2400"/>
                  <a:t> </a:t>
                </a:r>
                <a:r>
                  <a:rPr kumimoji="1" lang="ja-JP" altLang="en-US" sz="2400"/>
                  <a:t>の負荷に </a:t>
                </a:r>
                <a14:m>
                  <m:oMath xmlns:m="http://schemas.openxmlformats.org/officeDocument/2006/math">
                    <m:d>
                      <m:dPr>
                        <m:begChr m:val="|"/>
                        <m:endChr m:val="|"/>
                        <m:ctrlPr>
                          <a:rPr kumimoji="1" lang="en-US" altLang="ja-JP" sz="2400" i="1">
                            <a:latin typeface="Cambria Math" panose="02040503050406030204" pitchFamily="18" charset="0"/>
                          </a:rPr>
                        </m:ctrlPr>
                      </m:dPr>
                      <m:e>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𝐴</m:t>
                            </m:r>
                          </m:e>
                          <m:sub>
                            <m:r>
                              <a:rPr kumimoji="1" lang="en-US" altLang="ja-JP" sz="2400" b="0" i="1">
                                <a:latin typeface="Cambria Math" panose="02040503050406030204" pitchFamily="18" charset="0"/>
                              </a:rPr>
                              <m:t>2</m:t>
                            </m:r>
                          </m:sub>
                        </m:sSub>
                      </m:e>
                    </m:d>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𝐶</m:t>
                        </m:r>
                      </m:e>
                      <m:sub>
                        <m:r>
                          <m:rPr>
                            <m:sty m:val="p"/>
                          </m:rPr>
                          <a:rPr kumimoji="1" lang="en-US" altLang="ja-JP" sz="2400" b="0" i="0">
                            <a:latin typeface="Cambria Math" panose="02040503050406030204" pitchFamily="18" charset="0"/>
                          </a:rPr>
                          <m:t>c</m:t>
                        </m:r>
                      </m:sub>
                    </m:sSub>
                  </m:oMath>
                </a14:m>
                <a:r>
                  <a:rPr kumimoji="1" lang="ja-JP" altLang="en-US" sz="2400"/>
                  <a:t>を追加し</a:t>
                </a:r>
                <a:endParaRPr kumimoji="1" lang="en-US" altLang="ja-JP" sz="2400"/>
              </a:p>
              <a:p>
                <a:pPr>
                  <a:lnSpc>
                    <a:spcPct val="90000"/>
                  </a:lnSpc>
                  <a:spcAft>
                    <a:spcPts val="600"/>
                  </a:spcAft>
                </a:pPr>
                <a:r>
                  <a:rPr kumimoji="1" lang="ja-JP" altLang="en-US" sz="2400"/>
                  <a:t>　第</a:t>
                </a:r>
                <a:r>
                  <a:rPr kumimoji="1" lang="en-US" altLang="ja-JP" sz="2400"/>
                  <a:t>1</a:t>
                </a:r>
                <a:r>
                  <a:rPr kumimoji="1" lang="ja-JP" altLang="en-US" sz="2400"/>
                  <a:t>極を低周波</a:t>
                </a:r>
                <a:r>
                  <a:rPr lang="ja-JP" altLang="en-US" sz="2400"/>
                  <a:t>側</a:t>
                </a:r>
                <a:r>
                  <a:rPr kumimoji="1" lang="ja-JP" altLang="en-US" sz="2400"/>
                  <a:t>へ</a:t>
                </a:r>
                <a:endParaRPr kumimoji="1" lang="en-US" altLang="ja-JP" sz="2400"/>
              </a:p>
              <a:p>
                <a:pPr>
                  <a:lnSpc>
                    <a:spcPct val="90000"/>
                  </a:lnSpc>
                  <a:spcAft>
                    <a:spcPts val="600"/>
                  </a:spcAft>
                </a:pPr>
                <a:r>
                  <a:rPr kumimoji="1" lang="ja-JP" altLang="en-US" sz="2400"/>
                  <a:t>　第</a:t>
                </a:r>
                <a:r>
                  <a:rPr kumimoji="1" lang="en-US" altLang="ja-JP" sz="2400"/>
                  <a:t>2</a:t>
                </a:r>
                <a:r>
                  <a:rPr kumimoji="1" lang="ja-JP" altLang="en-US" sz="2400"/>
                  <a:t>極は高周波側へ</a:t>
                </a:r>
                <a:endParaRPr kumimoji="1" lang="en-US" altLang="ja-JP" sz="2400"/>
              </a:p>
            </p:txBody>
          </p:sp>
        </mc:Choice>
        <mc:Fallback xmlns="">
          <p:sp>
            <p:nvSpPr>
              <p:cNvPr id="34" name="テキスト ボックス 33">
                <a:extLst>
                  <a:ext uri="{FF2B5EF4-FFF2-40B4-BE49-F238E27FC236}">
                    <a16:creationId xmlns:a16="http://schemas.microsoft.com/office/drawing/2014/main" id="{5DA2B1C1-387A-9B53-8F1D-4D27747D90FD}"/>
                  </a:ext>
                </a:extLst>
              </p:cNvPr>
              <p:cNvSpPr txBox="1">
                <a:spLocks noRot="1" noChangeAspect="1" noMove="1" noResize="1" noEditPoints="1" noAdjustHandles="1" noChangeArrowheads="1" noChangeShapeType="1" noTextEdit="1"/>
              </p:cNvSpPr>
              <p:nvPr/>
            </p:nvSpPr>
            <p:spPr>
              <a:xfrm>
                <a:off x="645065" y="2031101"/>
                <a:ext cx="4737831" cy="3511943"/>
              </a:xfrm>
              <a:prstGeom prst="rect">
                <a:avLst/>
              </a:prstGeom>
              <a:blipFill>
                <a:blip r:embed="rId2"/>
                <a:stretch>
                  <a:fillRect l="-1802"/>
                </a:stretch>
              </a:blipFill>
            </p:spPr>
            <p:txBody>
              <a:bodyPr/>
              <a:lstStyle/>
              <a:p>
                <a:r>
                  <a:rPr lang="ja-JP" altLang="en-US">
                    <a:noFill/>
                  </a:rPr>
                  <a:t> </a:t>
                </a:r>
              </a:p>
            </p:txBody>
          </p:sp>
        </mc:Fallback>
      </mc:AlternateContent>
      <p:sp>
        <p:nvSpPr>
          <p:cNvPr id="44" name="Rectangle 4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グループ化 34">
            <a:extLst>
              <a:ext uri="{FF2B5EF4-FFF2-40B4-BE49-F238E27FC236}">
                <a16:creationId xmlns:a16="http://schemas.microsoft.com/office/drawing/2014/main" id="{A57A0240-3B9B-C032-B724-F54CBE9CEF8F}"/>
              </a:ext>
            </a:extLst>
          </p:cNvPr>
          <p:cNvGrpSpPr/>
          <p:nvPr/>
        </p:nvGrpSpPr>
        <p:grpSpPr>
          <a:xfrm>
            <a:off x="6326027" y="650494"/>
            <a:ext cx="4951437" cy="5324144"/>
            <a:chOff x="899592" y="1484784"/>
            <a:chExt cx="4536504" cy="4877974"/>
          </a:xfrm>
        </p:grpSpPr>
        <p:sp>
          <p:nvSpPr>
            <p:cNvPr id="4" name="二等辺三角形 3">
              <a:extLst>
                <a:ext uri="{FF2B5EF4-FFF2-40B4-BE49-F238E27FC236}">
                  <a16:creationId xmlns:a16="http://schemas.microsoft.com/office/drawing/2014/main" id="{90E3815C-6E9D-CF23-1914-0B9F11DB5A5D}"/>
                </a:ext>
              </a:extLst>
            </p:cNvPr>
            <p:cNvSpPr/>
            <p:nvPr/>
          </p:nvSpPr>
          <p:spPr>
            <a:xfrm rot="5400000">
              <a:off x="1511660"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二等辺三角形 4">
              <a:extLst>
                <a:ext uri="{FF2B5EF4-FFF2-40B4-BE49-F238E27FC236}">
                  <a16:creationId xmlns:a16="http://schemas.microsoft.com/office/drawing/2014/main" id="{BDEACB8E-7F4C-0F22-8647-1503730A684C}"/>
                </a:ext>
              </a:extLst>
            </p:cNvPr>
            <p:cNvSpPr/>
            <p:nvPr/>
          </p:nvSpPr>
          <p:spPr>
            <a:xfrm rot="5400000">
              <a:off x="3527884"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3533331-7181-CEA8-2ECE-65399E061481}"/>
                </a:ext>
              </a:extLst>
            </p:cNvPr>
            <p:cNvCxnSpPr>
              <a:stCxn id="4" idx="3"/>
            </p:cNvCxnSpPr>
            <p:nvPr/>
          </p:nvCxnSpPr>
          <p:spPr>
            <a:xfrm flipH="1">
              <a:off x="899592" y="2528900"/>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99C054E6-DFE6-EED6-6578-95DC72FBCF5D}"/>
                </a:ext>
              </a:extLst>
            </p:cNvPr>
            <p:cNvCxnSpPr>
              <a:stCxn id="4" idx="0"/>
              <a:endCxn id="5" idx="3"/>
            </p:cNvCxnSpPr>
            <p:nvPr/>
          </p:nvCxnSpPr>
          <p:spPr>
            <a:xfrm>
              <a:off x="2699792" y="2528900"/>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40FC466-DA32-E9B4-DD94-6063099459F4}"/>
                </a:ext>
              </a:extLst>
            </p:cNvPr>
            <p:cNvCxnSpPr>
              <a:stCxn id="5" idx="0"/>
            </p:cNvCxnSpPr>
            <p:nvPr/>
          </p:nvCxnSpPr>
          <p:spPr>
            <a:xfrm>
              <a:off x="4716016" y="2528900"/>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61C9A87-5C26-4A19-39E7-9E8E26DE9E36}"/>
                    </a:ext>
                  </a:extLst>
                </p:cNvPr>
                <p:cNvSpPr txBox="1"/>
                <p:nvPr/>
              </p:nvSpPr>
              <p:spPr>
                <a:xfrm>
                  <a:off x="1740839" y="2299439"/>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9" name="テキスト ボックス 8">
                  <a:extLst>
                    <a:ext uri="{FF2B5EF4-FFF2-40B4-BE49-F238E27FC236}">
                      <a16:creationId xmlns:a16="http://schemas.microsoft.com/office/drawing/2014/main" id="{961C9A87-5C26-4A19-39E7-9E8E26DE9E36}"/>
                    </a:ext>
                  </a:extLst>
                </p:cNvPr>
                <p:cNvSpPr txBox="1">
                  <a:spLocks noRot="1" noChangeAspect="1" noMove="1" noResize="1" noEditPoints="1" noAdjustHandles="1" noChangeArrowheads="1" noChangeShapeType="1" noTextEdit="1"/>
                </p:cNvSpPr>
                <p:nvPr/>
              </p:nvSpPr>
              <p:spPr>
                <a:xfrm>
                  <a:off x="1740839" y="2299439"/>
                  <a:ext cx="389337" cy="36933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7E7E23B-3084-C814-326A-4E9F18E00FAB}"/>
                    </a:ext>
                  </a:extLst>
                </p:cNvPr>
                <p:cNvSpPr txBox="1"/>
                <p:nvPr/>
              </p:nvSpPr>
              <p:spPr>
                <a:xfrm>
                  <a:off x="3735619" y="2299439"/>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10" name="テキスト ボックス 9">
                  <a:extLst>
                    <a:ext uri="{FF2B5EF4-FFF2-40B4-BE49-F238E27FC236}">
                      <a16:creationId xmlns:a16="http://schemas.microsoft.com/office/drawing/2014/main" id="{A7E7E23B-3084-C814-326A-4E9F18E00FAB}"/>
                    </a:ext>
                  </a:extLst>
                </p:cNvPr>
                <p:cNvSpPr txBox="1">
                  <a:spLocks noRot="1" noChangeAspect="1" noMove="1" noResize="1" noEditPoints="1" noAdjustHandles="1" noChangeArrowheads="1" noChangeShapeType="1" noTextEdit="1"/>
                </p:cNvSpPr>
                <p:nvPr/>
              </p:nvSpPr>
              <p:spPr>
                <a:xfrm>
                  <a:off x="3735619" y="2299439"/>
                  <a:ext cx="396454" cy="369332"/>
                </a:xfrm>
                <a:prstGeom prst="rect">
                  <a:avLst/>
                </a:prstGeom>
                <a:blipFill>
                  <a:blip r:embed="rId4"/>
                  <a:stretch>
                    <a:fillRect/>
                  </a:stretch>
                </a:blipFill>
              </p:spPr>
              <p:txBody>
                <a:bodyPr/>
                <a:lstStyle/>
                <a:p>
                  <a:r>
                    <a:rPr lang="ja-JP" altLang="en-US">
                      <a:noFill/>
                    </a:rPr>
                    <a:t> </a:t>
                  </a:r>
                </a:p>
              </p:txBody>
            </p:sp>
          </mc:Fallback>
        </mc:AlternateContent>
        <p:cxnSp>
          <p:nvCxnSpPr>
            <p:cNvPr id="11" name="直線コネクタ 10">
              <a:extLst>
                <a:ext uri="{FF2B5EF4-FFF2-40B4-BE49-F238E27FC236}">
                  <a16:creationId xmlns:a16="http://schemas.microsoft.com/office/drawing/2014/main" id="{AE87F1A5-EB76-82B5-1942-850AD2B35BCD}"/>
                </a:ext>
              </a:extLst>
            </p:cNvPr>
            <p:cNvCxnSpPr/>
            <p:nvPr/>
          </p:nvCxnSpPr>
          <p:spPr>
            <a:xfrm>
              <a:off x="3923928"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9F6441BD-CB5D-B5EF-87F5-951A41C2ACF2}"/>
                </a:ext>
              </a:extLst>
            </p:cNvPr>
            <p:cNvCxnSpPr/>
            <p:nvPr/>
          </p:nvCxnSpPr>
          <p:spPr>
            <a:xfrm>
              <a:off x="4067944"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C100352B-A14C-B638-4928-B23845B89B43}"/>
                </a:ext>
              </a:extLst>
            </p:cNvPr>
            <p:cNvSpPr/>
            <p:nvPr/>
          </p:nvSpPr>
          <p:spPr>
            <a:xfrm>
              <a:off x="3023829" y="2494448"/>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89D83FB-64BF-0FA4-4CFD-D9AD3AEBC387}"/>
                </a:ext>
              </a:extLst>
            </p:cNvPr>
            <p:cNvSpPr/>
            <p:nvPr/>
          </p:nvSpPr>
          <p:spPr>
            <a:xfrm>
              <a:off x="5102692" y="2496099"/>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コネクタ: カギ線 14">
              <a:extLst>
                <a:ext uri="{FF2B5EF4-FFF2-40B4-BE49-F238E27FC236}">
                  <a16:creationId xmlns:a16="http://schemas.microsoft.com/office/drawing/2014/main" id="{6D2BBC2F-A2F8-F150-D7A8-7AB537183296}"/>
                </a:ext>
              </a:extLst>
            </p:cNvPr>
            <p:cNvCxnSpPr>
              <a:cxnSpLocks/>
              <a:endCxn id="14" idx="0"/>
            </p:cNvCxnSpPr>
            <p:nvPr/>
          </p:nvCxnSpPr>
          <p:spPr>
            <a:xfrm>
              <a:off x="4065419" y="1664804"/>
              <a:ext cx="1073276" cy="831295"/>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 name="コネクタ: カギ線 15">
              <a:extLst>
                <a:ext uri="{FF2B5EF4-FFF2-40B4-BE49-F238E27FC236}">
                  <a16:creationId xmlns:a16="http://schemas.microsoft.com/office/drawing/2014/main" id="{80AAEE74-5A4B-9D4C-BA2B-8EF7F69F2B05}"/>
                </a:ext>
              </a:extLst>
            </p:cNvPr>
            <p:cNvCxnSpPr>
              <a:cxnSpLocks/>
              <a:endCxn id="13" idx="0"/>
            </p:cNvCxnSpPr>
            <p:nvPr/>
          </p:nvCxnSpPr>
          <p:spPr>
            <a:xfrm rot="10800000" flipV="1">
              <a:off x="3059833" y="1664804"/>
              <a:ext cx="861571" cy="829644"/>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FEE0E45E-3444-C9EF-D06B-CC0FCD5CB92E}"/>
                    </a:ext>
                  </a:extLst>
                </p:cNvPr>
                <p:cNvSpPr txBox="1"/>
                <p:nvPr/>
              </p:nvSpPr>
              <p:spPr>
                <a:xfrm>
                  <a:off x="4096970" y="1675486"/>
                  <a:ext cx="36894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oMath>
                    </m:oMathPara>
                  </a14:m>
                  <a:endParaRPr kumimoji="1" lang="ja-JP" altLang="en-US" sz="2400">
                    <a:solidFill>
                      <a:srgbClr val="FF0000"/>
                    </a:solidFill>
                  </a:endParaRPr>
                </a:p>
              </p:txBody>
            </p:sp>
          </mc:Choice>
          <mc:Fallback xmlns="">
            <p:sp>
              <p:nvSpPr>
                <p:cNvPr id="17" name="テキスト ボックス 16">
                  <a:extLst>
                    <a:ext uri="{FF2B5EF4-FFF2-40B4-BE49-F238E27FC236}">
                      <a16:creationId xmlns:a16="http://schemas.microsoft.com/office/drawing/2014/main" id="{FEE0E45E-3444-C9EF-D06B-CC0FCD5CB92E}"/>
                    </a:ext>
                  </a:extLst>
                </p:cNvPr>
                <p:cNvSpPr txBox="1">
                  <a:spLocks noRot="1" noChangeAspect="1" noMove="1" noResize="1" noEditPoints="1" noAdjustHandles="1" noChangeArrowheads="1" noChangeShapeType="1" noTextEdit="1"/>
                </p:cNvSpPr>
                <p:nvPr/>
              </p:nvSpPr>
              <p:spPr>
                <a:xfrm>
                  <a:off x="4096970" y="1675486"/>
                  <a:ext cx="368947" cy="369332"/>
                </a:xfrm>
                <a:prstGeom prst="rect">
                  <a:avLst/>
                </a:prstGeom>
                <a:blipFill>
                  <a:blip r:embed="rId5"/>
                  <a:stretch>
                    <a:fillRect/>
                  </a:stretch>
                </a:blipFill>
              </p:spPr>
              <p:txBody>
                <a:bodyPr/>
                <a:lstStyle/>
                <a:p>
                  <a:r>
                    <a:rPr lang="ja-JP" altLang="en-US">
                      <a:noFill/>
                    </a:rPr>
                    <a:t> </a:t>
                  </a:r>
                </a:p>
              </p:txBody>
            </p:sp>
          </mc:Fallback>
        </mc:AlternateContent>
        <p:sp>
          <p:nvSpPr>
            <p:cNvPr id="18" name="矢印: 下 17">
              <a:extLst>
                <a:ext uri="{FF2B5EF4-FFF2-40B4-BE49-F238E27FC236}">
                  <a16:creationId xmlns:a16="http://schemas.microsoft.com/office/drawing/2014/main" id="{8A6BB2AA-E050-190B-B3EF-5CB273274ABC}"/>
                </a:ext>
              </a:extLst>
            </p:cNvPr>
            <p:cNvSpPr/>
            <p:nvPr/>
          </p:nvSpPr>
          <p:spPr>
            <a:xfrm>
              <a:off x="3095835" y="3429000"/>
              <a:ext cx="396045" cy="50405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C81CE64-5FF5-AF7A-2F97-CDD71BA9E7D9}"/>
                </a:ext>
              </a:extLst>
            </p:cNvPr>
            <p:cNvSpPr txBox="1"/>
            <p:nvPr/>
          </p:nvSpPr>
          <p:spPr>
            <a:xfrm>
              <a:off x="3667647" y="3444628"/>
              <a:ext cx="1520673" cy="369332"/>
            </a:xfrm>
            <a:prstGeom prst="rect">
              <a:avLst/>
            </a:prstGeom>
            <a:noFill/>
          </p:spPr>
          <p:txBody>
            <a:bodyPr wrap="none" lIns="0" tIns="0" rIns="0" bIns="0" rtlCol="0">
              <a:spAutoFit/>
            </a:bodyPr>
            <a:lstStyle/>
            <a:p>
              <a:pPr defTabSz="996696">
                <a:spcAft>
                  <a:spcPts val="600"/>
                </a:spcAft>
              </a:pPr>
              <a:r>
                <a:rPr kumimoji="1" lang="en-US" altLang="ja-JP" sz="2616" kern="1200" dirty="0">
                  <a:solidFill>
                    <a:schemeClr val="tx1"/>
                  </a:solidFill>
                  <a:latin typeface="+mn-lt"/>
                  <a:ea typeface="+mn-ea"/>
                  <a:cs typeface="+mn-cs"/>
                </a:rPr>
                <a:t>Miller effect</a:t>
              </a:r>
              <a:endParaRPr kumimoji="1" lang="ja-JP" altLang="en-US" sz="2400"/>
            </a:p>
          </p:txBody>
        </p:sp>
        <p:sp>
          <p:nvSpPr>
            <p:cNvPr id="20" name="二等辺三角形 19">
              <a:extLst>
                <a:ext uri="{FF2B5EF4-FFF2-40B4-BE49-F238E27FC236}">
                  <a16:creationId xmlns:a16="http://schemas.microsoft.com/office/drawing/2014/main" id="{582F42B2-8AB5-55F2-CD7A-14D131D50CC5}"/>
                </a:ext>
              </a:extLst>
            </p:cNvPr>
            <p:cNvSpPr/>
            <p:nvPr/>
          </p:nvSpPr>
          <p:spPr>
            <a:xfrm rot="5400000">
              <a:off x="1511660"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0">
              <a:extLst>
                <a:ext uri="{FF2B5EF4-FFF2-40B4-BE49-F238E27FC236}">
                  <a16:creationId xmlns:a16="http://schemas.microsoft.com/office/drawing/2014/main" id="{78060C21-D909-9C5B-B5A9-A8399CDBA7D9}"/>
                </a:ext>
              </a:extLst>
            </p:cNvPr>
            <p:cNvSpPr/>
            <p:nvPr/>
          </p:nvSpPr>
          <p:spPr>
            <a:xfrm rot="5400000">
              <a:off x="3527884"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F8CB542-E56E-7E35-5394-64C954D72288}"/>
                </a:ext>
              </a:extLst>
            </p:cNvPr>
            <p:cNvCxnSpPr>
              <a:stCxn id="20" idx="3"/>
            </p:cNvCxnSpPr>
            <p:nvPr/>
          </p:nvCxnSpPr>
          <p:spPr>
            <a:xfrm flipH="1">
              <a:off x="899592" y="4766766"/>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F6B50A4-1EDF-CFBC-FAD4-6FC828B3B986}"/>
                </a:ext>
              </a:extLst>
            </p:cNvPr>
            <p:cNvCxnSpPr>
              <a:stCxn id="20" idx="0"/>
              <a:endCxn id="21" idx="3"/>
            </p:cNvCxnSpPr>
            <p:nvPr/>
          </p:nvCxnSpPr>
          <p:spPr>
            <a:xfrm>
              <a:off x="2699792" y="4766766"/>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F7304384-F8B8-114A-827C-E596B6C7BA78}"/>
                </a:ext>
              </a:extLst>
            </p:cNvPr>
            <p:cNvCxnSpPr>
              <a:stCxn id="21" idx="0"/>
            </p:cNvCxnSpPr>
            <p:nvPr/>
          </p:nvCxnSpPr>
          <p:spPr>
            <a:xfrm>
              <a:off x="4716016" y="4766766"/>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D0EF8536-1A4F-F9CB-3DAC-7FE8716705CF}"/>
                    </a:ext>
                  </a:extLst>
                </p:cNvPr>
                <p:cNvSpPr txBox="1"/>
                <p:nvPr/>
              </p:nvSpPr>
              <p:spPr>
                <a:xfrm>
                  <a:off x="1740839" y="4537305"/>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25" name="テキスト ボックス 24">
                  <a:extLst>
                    <a:ext uri="{FF2B5EF4-FFF2-40B4-BE49-F238E27FC236}">
                      <a16:creationId xmlns:a16="http://schemas.microsoft.com/office/drawing/2014/main" id="{D0EF8536-1A4F-F9CB-3DAC-7FE8716705CF}"/>
                    </a:ext>
                  </a:extLst>
                </p:cNvPr>
                <p:cNvSpPr txBox="1">
                  <a:spLocks noRot="1" noChangeAspect="1" noMove="1" noResize="1" noEditPoints="1" noAdjustHandles="1" noChangeArrowheads="1" noChangeShapeType="1" noTextEdit="1"/>
                </p:cNvSpPr>
                <p:nvPr/>
              </p:nvSpPr>
              <p:spPr>
                <a:xfrm>
                  <a:off x="1740839" y="4537305"/>
                  <a:ext cx="389337"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5172569-771F-75AB-62E6-7BC1D6FDFCBF}"/>
                    </a:ext>
                  </a:extLst>
                </p:cNvPr>
                <p:cNvSpPr txBox="1"/>
                <p:nvPr/>
              </p:nvSpPr>
              <p:spPr>
                <a:xfrm>
                  <a:off x="3735619" y="4537305"/>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26" name="テキスト ボックス 25">
                  <a:extLst>
                    <a:ext uri="{FF2B5EF4-FFF2-40B4-BE49-F238E27FC236}">
                      <a16:creationId xmlns:a16="http://schemas.microsoft.com/office/drawing/2014/main" id="{75172569-771F-75AB-62E6-7BC1D6FDFCBF}"/>
                    </a:ext>
                  </a:extLst>
                </p:cNvPr>
                <p:cNvSpPr txBox="1">
                  <a:spLocks noRot="1" noChangeAspect="1" noMove="1" noResize="1" noEditPoints="1" noAdjustHandles="1" noChangeArrowheads="1" noChangeShapeType="1" noTextEdit="1"/>
                </p:cNvSpPr>
                <p:nvPr/>
              </p:nvSpPr>
              <p:spPr>
                <a:xfrm>
                  <a:off x="3735619" y="4537305"/>
                  <a:ext cx="396454" cy="369332"/>
                </a:xfrm>
                <a:prstGeom prst="rect">
                  <a:avLst/>
                </a:prstGeom>
                <a:blipFill>
                  <a:blip r:embed="rId7"/>
                  <a:stretch>
                    <a:fillRect/>
                  </a:stretch>
                </a:blipFill>
              </p:spPr>
              <p:txBody>
                <a:bodyPr/>
                <a:lstStyle/>
                <a:p>
                  <a:r>
                    <a:rPr lang="ja-JP" altLang="en-US">
                      <a:noFill/>
                    </a:rPr>
                    <a:t> </a:t>
                  </a:r>
                </a:p>
              </p:txBody>
            </p:sp>
          </mc:Fallback>
        </mc:AlternateContent>
        <p:sp>
          <p:nvSpPr>
            <p:cNvPr id="27" name="楕円 26">
              <a:extLst>
                <a:ext uri="{FF2B5EF4-FFF2-40B4-BE49-F238E27FC236}">
                  <a16:creationId xmlns:a16="http://schemas.microsoft.com/office/drawing/2014/main" id="{22FEB7C2-0CE1-45BC-AD06-6EF28212AD31}"/>
                </a:ext>
              </a:extLst>
            </p:cNvPr>
            <p:cNvSpPr/>
            <p:nvPr/>
          </p:nvSpPr>
          <p:spPr>
            <a:xfrm>
              <a:off x="3023829" y="4732314"/>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5839FAAF-0319-E7C0-5EB6-192C0ECAE7F1}"/>
                    </a:ext>
                  </a:extLst>
                </p:cNvPr>
                <p:cNvSpPr txBox="1"/>
                <p:nvPr/>
              </p:nvSpPr>
              <p:spPr>
                <a:xfrm>
                  <a:off x="1518161" y="5993426"/>
                  <a:ext cx="2638543"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(1−</m:t>
                            </m:r>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𝐴</m:t>
                                </m:r>
                              </m:e>
                              <m:sub>
                                <m:r>
                                  <a:rPr kumimoji="1" lang="en-US" altLang="ja-JP" sz="2616" i="1" kern="1200">
                                    <a:solidFill>
                                      <a:srgbClr val="B30000"/>
                                    </a:solidFill>
                                    <a:latin typeface="Cambria Math" panose="02040503050406030204" pitchFamily="18" charset="0"/>
                                    <a:ea typeface="+mn-ea"/>
                                    <a:cs typeface="+mn-cs"/>
                                  </a:rPr>
                                  <m:t>2</m:t>
                                </m:r>
                              </m:sub>
                            </m:sSub>
                            <m:r>
                              <a:rPr kumimoji="1" lang="en-US" altLang="ja-JP" sz="2616" i="1" kern="1200">
                                <a:solidFill>
                                  <a:srgbClr val="B30000"/>
                                </a:solidFill>
                                <a:latin typeface="Cambria Math" panose="02040503050406030204" pitchFamily="18" charset="0"/>
                                <a:ea typeface="+mn-ea"/>
                                <a:cs typeface="+mn-cs"/>
                              </a:rPr>
                              <m:t>)</m:t>
                            </m:r>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m:t>
                        </m:r>
                        <m:d>
                          <m:dPr>
                            <m:begChr m:val="|"/>
                            <m:endChr m:val="|"/>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dPr>
                          <m:e>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𝐴</m:t>
                                </m:r>
                              </m:e>
                              <m: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2</m:t>
                                </m:r>
                              </m:sub>
                            </m:sSub>
                          </m:e>
                        </m:d>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𝐶</m:t>
                            </m:r>
                          </m:e>
                          <m:sub>
                            <m:r>
                              <m:rPr>
                                <m:sty m:val="p"/>
                              </m:rPr>
                              <a:rPr kumimoji="1" lang="en-US" altLang="ja-JP" sz="2616" kern="1200">
                                <a:solidFill>
                                  <a:srgbClr val="B30000"/>
                                </a:solidFill>
                                <a:latin typeface="Cambria Math" panose="02040503050406030204" pitchFamily="18" charset="0"/>
                                <a:ea typeface="Cambria Math" panose="02040503050406030204" pitchFamily="18" charset="0"/>
                                <a:cs typeface="+mn-cs"/>
                              </a:rPr>
                              <m:t>c</m:t>
                            </m:r>
                          </m:sub>
                        </m:sSub>
                      </m:oMath>
                    </m:oMathPara>
                  </a14:m>
                  <a:endParaRPr kumimoji="1" lang="ja-JP" altLang="en-US" sz="2400">
                    <a:solidFill>
                      <a:srgbClr val="FF0000"/>
                    </a:solidFill>
                  </a:endParaRPr>
                </a:p>
              </p:txBody>
            </p:sp>
          </mc:Choice>
          <mc:Fallback xmlns="">
            <p:sp>
              <p:nvSpPr>
                <p:cNvPr id="28" name="テキスト ボックス 27">
                  <a:extLst>
                    <a:ext uri="{FF2B5EF4-FFF2-40B4-BE49-F238E27FC236}">
                      <a16:creationId xmlns:a16="http://schemas.microsoft.com/office/drawing/2014/main" id="{5839FAAF-0319-E7C0-5EB6-192C0ECAE7F1}"/>
                    </a:ext>
                  </a:extLst>
                </p:cNvPr>
                <p:cNvSpPr txBox="1">
                  <a:spLocks noRot="1" noChangeAspect="1" noMove="1" noResize="1" noEditPoints="1" noAdjustHandles="1" noChangeArrowheads="1" noChangeShapeType="1" noTextEdit="1"/>
                </p:cNvSpPr>
                <p:nvPr/>
              </p:nvSpPr>
              <p:spPr>
                <a:xfrm>
                  <a:off x="1518161" y="5993426"/>
                  <a:ext cx="2638543" cy="369332"/>
                </a:xfrm>
                <a:prstGeom prst="rect">
                  <a:avLst/>
                </a:prstGeom>
                <a:blipFill>
                  <a:blip r:embed="rId8"/>
                  <a:stretch>
                    <a:fillRect/>
                  </a:stretch>
                </a:blipFill>
              </p:spPr>
              <p:txBody>
                <a:bodyPr/>
                <a:lstStyle/>
                <a:p>
                  <a:r>
                    <a:rPr lang="ja-JP" altLang="en-US">
                      <a:noFill/>
                    </a:rPr>
                    <a:t> </a:t>
                  </a:r>
                </a:p>
              </p:txBody>
            </p:sp>
          </mc:Fallback>
        </mc:AlternateContent>
        <p:cxnSp>
          <p:nvCxnSpPr>
            <p:cNvPr id="29" name="直線コネクタ 28">
              <a:extLst>
                <a:ext uri="{FF2B5EF4-FFF2-40B4-BE49-F238E27FC236}">
                  <a16:creationId xmlns:a16="http://schemas.microsoft.com/office/drawing/2014/main" id="{34D4610B-610B-3C44-7DB3-86C2FCF46ED0}"/>
                </a:ext>
              </a:extLst>
            </p:cNvPr>
            <p:cNvCxnSpPr/>
            <p:nvPr/>
          </p:nvCxnSpPr>
          <p:spPr>
            <a:xfrm>
              <a:off x="2883890" y="5255195"/>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5EFEA5F5-EC35-41A9-2E57-33417B472E0F}"/>
                </a:ext>
              </a:extLst>
            </p:cNvPr>
            <p:cNvCxnSpPr/>
            <p:nvPr/>
          </p:nvCxnSpPr>
          <p:spPr>
            <a:xfrm>
              <a:off x="2879682" y="5399211"/>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099BB91-91A0-B7C7-2A5D-5CA5742E3530}"/>
                </a:ext>
              </a:extLst>
            </p:cNvPr>
            <p:cNvCxnSpPr>
              <a:endCxn id="27" idx="4"/>
            </p:cNvCxnSpPr>
            <p:nvPr/>
          </p:nvCxnSpPr>
          <p:spPr>
            <a:xfrm flipV="1">
              <a:off x="3059832" y="4804320"/>
              <a:ext cx="0" cy="450875"/>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32" name="二等辺三角形 31">
              <a:extLst>
                <a:ext uri="{FF2B5EF4-FFF2-40B4-BE49-F238E27FC236}">
                  <a16:creationId xmlns:a16="http://schemas.microsoft.com/office/drawing/2014/main" id="{FC8F57F4-F62E-BABA-3729-94314AF827CE}"/>
                </a:ext>
              </a:extLst>
            </p:cNvPr>
            <p:cNvSpPr/>
            <p:nvPr/>
          </p:nvSpPr>
          <p:spPr>
            <a:xfrm flipV="1">
              <a:off x="2987466" y="5706070"/>
              <a:ext cx="144008" cy="144016"/>
            </a:xfrm>
            <a:prstGeom prst="triangl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FF8B78D1-5C2F-74F9-4B6C-B068BAC786A4}"/>
                </a:ext>
              </a:extLst>
            </p:cNvPr>
            <p:cNvCxnSpPr>
              <a:stCxn id="32" idx="3"/>
            </p:cNvCxnSpPr>
            <p:nvPr/>
          </p:nvCxnSpPr>
          <p:spPr>
            <a:xfrm flipV="1">
              <a:off x="3059470" y="5399211"/>
              <a:ext cx="0" cy="306859"/>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98871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E286821-E054-94BF-4939-9873BCC0240B}"/>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altLang="ja-JP" sz="3600" kern="1200">
                <a:solidFill>
                  <a:schemeClr val="tx1"/>
                </a:solidFill>
                <a:latin typeface="+mj-lt"/>
                <a:ea typeface="+mj-ea"/>
                <a:cs typeface="+mj-cs"/>
              </a:rPr>
              <a:t>2</a:t>
            </a:r>
            <a:r>
              <a:rPr lang="ja-JP" altLang="en-US" sz="3600" kern="1200">
                <a:solidFill>
                  <a:schemeClr val="tx1"/>
                </a:solidFill>
                <a:latin typeface="+mj-lt"/>
                <a:ea typeface="+mj-ea"/>
                <a:cs typeface="+mj-cs"/>
              </a:rPr>
              <a:t>段目の極は</a:t>
            </a:r>
            <a:br>
              <a:rPr lang="en-US" altLang="ja-JP" sz="3600" kern="1200">
                <a:solidFill>
                  <a:schemeClr val="tx1"/>
                </a:solidFill>
                <a:latin typeface="+mj-lt"/>
                <a:ea typeface="+mj-ea"/>
                <a:cs typeface="+mj-cs"/>
              </a:rPr>
            </a:br>
            <a:r>
              <a:rPr lang="ja-JP" altLang="en-US" sz="3600" kern="1200">
                <a:solidFill>
                  <a:schemeClr val="tx1"/>
                </a:solidFill>
                <a:latin typeface="+mj-lt"/>
                <a:ea typeface="+mj-ea"/>
                <a:cs typeface="+mj-cs"/>
              </a:rPr>
              <a:t>なぜ上がるか</a:t>
            </a:r>
            <a:endParaRPr kumimoji="1" lang="en-US" altLang="ja-JP" sz="3600" kern="1200">
              <a:solidFill>
                <a:schemeClr val="tx1"/>
              </a:solidFill>
              <a:latin typeface="+mj-lt"/>
              <a:ea typeface="+mj-ea"/>
              <a:cs typeface="+mj-cs"/>
            </a:endParaRPr>
          </a:p>
        </p:txBody>
      </p:sp>
      <p:sp>
        <p:nvSpPr>
          <p:cNvPr id="83" name="Rectangle 8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テキスト ボックス 4">
            <a:extLst>
              <a:ext uri="{FF2B5EF4-FFF2-40B4-BE49-F238E27FC236}">
                <a16:creationId xmlns:a16="http://schemas.microsoft.com/office/drawing/2014/main" id="{2D70488B-3EC9-CFEC-7A24-55CCD37AD5B7}"/>
              </a:ext>
            </a:extLst>
          </p:cNvPr>
          <p:cNvSpPr txBox="1"/>
          <p:nvPr/>
        </p:nvSpPr>
        <p:spPr>
          <a:xfrm>
            <a:off x="645066" y="2031101"/>
            <a:ext cx="5099790"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en-US" altLang="ja-JP" i="1"/>
              <a:t>C</a:t>
            </a:r>
            <a:r>
              <a:rPr kumimoji="1" lang="en-US" altLang="ja-JP" baseline="-25000"/>
              <a:t>C</a:t>
            </a:r>
            <a:r>
              <a:rPr kumimoji="1" lang="ja-JP" altLang="en-US"/>
              <a:t>は高周波で近似的に短絡と見なせるとして</a:t>
            </a:r>
            <a:endParaRPr kumimoji="1" lang="en-US" altLang="ja-JP"/>
          </a:p>
          <a:p>
            <a:pPr>
              <a:lnSpc>
                <a:spcPct val="90000"/>
              </a:lnSpc>
              <a:spcAft>
                <a:spcPts val="600"/>
              </a:spcAft>
            </a:pPr>
            <a:r>
              <a:rPr kumimoji="1" lang="ja-JP" altLang="en-US"/>
              <a:t>　</a:t>
            </a:r>
            <a:r>
              <a:rPr kumimoji="1" lang="en-US" altLang="ja-JP"/>
              <a:t> </a:t>
            </a:r>
            <a:r>
              <a:rPr kumimoji="1" lang="en-US" altLang="ja-JP" i="1"/>
              <a:t>v</a:t>
            </a:r>
            <a:r>
              <a:rPr kumimoji="1" lang="en-US" altLang="ja-JP" baseline="-25000"/>
              <a:t>1</a:t>
            </a:r>
            <a:r>
              <a:rPr kumimoji="1" lang="ja-JP" altLang="en-US"/>
              <a:t>から</a:t>
            </a:r>
            <a:r>
              <a:rPr kumimoji="1" lang="en-US" altLang="ja-JP" i="1"/>
              <a:t>v</a:t>
            </a:r>
            <a:r>
              <a:rPr kumimoji="1" lang="en-US" altLang="ja-JP" baseline="-25000"/>
              <a:t>out</a:t>
            </a:r>
            <a:r>
              <a:rPr kumimoji="1" lang="ja-JP" altLang="en-US"/>
              <a:t>への伝達関数を求める</a:t>
            </a:r>
          </a:p>
        </p:txBody>
      </p:sp>
      <p:sp>
        <p:nvSpPr>
          <p:cNvPr id="85" name="Rectangle 8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グループ化 75">
            <a:extLst>
              <a:ext uri="{FF2B5EF4-FFF2-40B4-BE49-F238E27FC236}">
                <a16:creationId xmlns:a16="http://schemas.microsoft.com/office/drawing/2014/main" id="{A0379A09-83A1-4EFC-BAA9-F79EE89CEB31}"/>
              </a:ext>
            </a:extLst>
          </p:cNvPr>
          <p:cNvGrpSpPr/>
          <p:nvPr/>
        </p:nvGrpSpPr>
        <p:grpSpPr>
          <a:xfrm>
            <a:off x="5987738" y="1596440"/>
            <a:ext cx="5665017" cy="3432254"/>
            <a:chOff x="921644" y="2390516"/>
            <a:chExt cx="7215788" cy="4371812"/>
          </a:xfrm>
        </p:grpSpPr>
        <p:sp>
          <p:nvSpPr>
            <p:cNvPr id="6" name="円/楕円 4">
              <a:extLst>
                <a:ext uri="{FF2B5EF4-FFF2-40B4-BE49-F238E27FC236}">
                  <a16:creationId xmlns:a16="http://schemas.microsoft.com/office/drawing/2014/main" id="{642E1B84-8C69-A72D-9F07-BCDA9ECAECC1}"/>
                </a:ext>
              </a:extLst>
            </p:cNvPr>
            <p:cNvSpPr/>
            <p:nvPr/>
          </p:nvSpPr>
          <p:spPr>
            <a:xfrm>
              <a:off x="1827891" y="3274555"/>
              <a:ext cx="432048" cy="442477"/>
            </a:xfrm>
            <a:prstGeom prst="ellipse">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E6359877-2126-4836-A287-FEDC09922FC9}"/>
                </a:ext>
              </a:extLst>
            </p:cNvPr>
            <p:cNvCxnSpPr/>
            <p:nvPr/>
          </p:nvCxnSpPr>
          <p:spPr>
            <a:xfrm>
              <a:off x="2043915" y="3310615"/>
              <a:ext cx="0" cy="351356"/>
            </a:xfrm>
            <a:prstGeom prst="line">
              <a:avLst/>
            </a:prstGeom>
            <a:ln w="19050">
              <a:solidFill>
                <a:schemeClr val="bg1">
                  <a:lumMod val="75000"/>
                </a:schemeClr>
              </a:solidFill>
              <a:headEnd type="triangle"/>
              <a:tailEnd type="none" w="lg" len="lg"/>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FB7C66C5-E28A-EEBB-8901-8ABADA2248E2}"/>
                </a:ext>
              </a:extLst>
            </p:cNvPr>
            <p:cNvCxnSpPr/>
            <p:nvPr/>
          </p:nvCxnSpPr>
          <p:spPr>
            <a:xfrm>
              <a:off x="2043915" y="2987311"/>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F84C466-52CC-70D4-65F2-CCA076B718E7}"/>
                </a:ext>
              </a:extLst>
            </p:cNvPr>
            <p:cNvCxnSpPr/>
            <p:nvPr/>
          </p:nvCxnSpPr>
          <p:spPr>
            <a:xfrm>
              <a:off x="963795" y="4005064"/>
              <a:ext cx="66247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A91CE0C-56DE-064D-CBEC-EFF7FE1E728B}"/>
                </a:ext>
              </a:extLst>
            </p:cNvPr>
            <p:cNvCxnSpPr/>
            <p:nvPr/>
          </p:nvCxnSpPr>
          <p:spPr>
            <a:xfrm>
              <a:off x="2031836" y="3717032"/>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0BCD8BE-CFF9-034D-B3EB-B521DB7FBF49}"/>
                </a:ext>
              </a:extLst>
            </p:cNvPr>
            <p:cNvCxnSpPr/>
            <p:nvPr/>
          </p:nvCxnSpPr>
          <p:spPr>
            <a:xfrm>
              <a:off x="2053203" y="2997305"/>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4924A78F-E2AB-CD41-2102-528C8A37F96D}"/>
                </a:ext>
              </a:extLst>
            </p:cNvPr>
            <p:cNvCxnSpPr/>
            <p:nvPr/>
          </p:nvCxnSpPr>
          <p:spPr>
            <a:xfrm>
              <a:off x="1039100" y="2992582"/>
              <a:ext cx="48717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08EDEAC4-516C-91ED-1492-0B450EDC1A20}"/>
                </a:ext>
              </a:extLst>
            </p:cNvPr>
            <p:cNvSpPr/>
            <p:nvPr/>
          </p:nvSpPr>
          <p:spPr>
            <a:xfrm>
              <a:off x="2569308" y="3225496"/>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0F0B7CB-808E-32B3-76F6-6B393424D5C5}"/>
                </a:ext>
              </a:extLst>
            </p:cNvPr>
            <p:cNvCxnSpPr/>
            <p:nvPr/>
          </p:nvCxnSpPr>
          <p:spPr>
            <a:xfrm>
              <a:off x="2662227" y="2977517"/>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D5FFA9A-7728-6248-8D3B-206CD4CAE7CE}"/>
                </a:ext>
              </a:extLst>
            </p:cNvPr>
            <p:cNvCxnSpPr/>
            <p:nvPr/>
          </p:nvCxnSpPr>
          <p:spPr>
            <a:xfrm>
              <a:off x="2668043" y="3777504"/>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円/楕円 14">
              <a:extLst>
                <a:ext uri="{FF2B5EF4-FFF2-40B4-BE49-F238E27FC236}">
                  <a16:creationId xmlns:a16="http://schemas.microsoft.com/office/drawing/2014/main" id="{1CD04248-B70A-D903-FEF7-D69CCBB50023}"/>
                </a:ext>
              </a:extLst>
            </p:cNvPr>
            <p:cNvSpPr/>
            <p:nvPr/>
          </p:nvSpPr>
          <p:spPr>
            <a:xfrm>
              <a:off x="1988212" y="397690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5">
              <a:extLst>
                <a:ext uri="{FF2B5EF4-FFF2-40B4-BE49-F238E27FC236}">
                  <a16:creationId xmlns:a16="http://schemas.microsoft.com/office/drawing/2014/main" id="{AAD072BE-C813-5A23-65EE-4001FF48DC4A}"/>
                </a:ext>
              </a:extLst>
            </p:cNvPr>
            <p:cNvSpPr/>
            <p:nvPr/>
          </p:nvSpPr>
          <p:spPr>
            <a:xfrm>
              <a:off x="2619918" y="397231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6">
              <a:extLst>
                <a:ext uri="{FF2B5EF4-FFF2-40B4-BE49-F238E27FC236}">
                  <a16:creationId xmlns:a16="http://schemas.microsoft.com/office/drawing/2014/main" id="{04540787-7DB0-9E8D-3E24-7AD2997A48D9}"/>
                </a:ext>
              </a:extLst>
            </p:cNvPr>
            <p:cNvSpPr/>
            <p:nvPr/>
          </p:nvSpPr>
          <p:spPr>
            <a:xfrm>
              <a:off x="2633352" y="293901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F32EF10B-98E6-E437-E908-66B8131F1E06}"/>
                </a:ext>
              </a:extLst>
            </p:cNvPr>
            <p:cNvSpPr txBox="1"/>
            <p:nvPr/>
          </p:nvSpPr>
          <p:spPr>
            <a:xfrm>
              <a:off x="1500808" y="2390516"/>
              <a:ext cx="1015021" cy="523220"/>
            </a:xfrm>
            <a:prstGeom prst="rect">
              <a:avLst/>
            </a:prstGeom>
            <a:noFill/>
          </p:spPr>
          <p:txBody>
            <a:bodyPr wrap="none" rtlCol="0">
              <a:spAutoFit/>
            </a:bodyPr>
            <a:lstStyle/>
            <a:p>
              <a:pPr defTabSz="713232">
                <a:spcAft>
                  <a:spcPts val="600"/>
                </a:spcAft>
              </a:pPr>
              <a:r>
                <a:rPr kumimoji="1" lang="en-US" altLang="ja-JP" sz="2184" i="1" kern="1200">
                  <a:solidFill>
                    <a:srgbClr val="555555"/>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rgbClr val="555555"/>
                  </a:solidFill>
                  <a:latin typeface="Times New Roman" panose="02020603050405020304" pitchFamily="18" charset="0"/>
                  <a:ea typeface="+mn-ea"/>
                  <a:cs typeface="Times New Roman" panose="02020603050405020304" pitchFamily="18" charset="0"/>
                </a:rPr>
                <a:t>m1</a:t>
              </a:r>
              <a:r>
                <a:rPr kumimoji="1" lang="en-US" altLang="ja-JP" sz="2184" i="1" kern="1200">
                  <a:solidFill>
                    <a:srgbClr val="555555"/>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rgbClr val="555555"/>
                  </a:solidFill>
                  <a:latin typeface="Times New Roman" panose="02020603050405020304" pitchFamily="18" charset="0"/>
                  <a:ea typeface="+mn-ea"/>
                  <a:cs typeface="Times New Roman" panose="02020603050405020304" pitchFamily="18" charset="0"/>
                </a:rPr>
                <a:t>in</a:t>
              </a:r>
              <a:endParaRPr kumimoji="1" lang="ja-JP" altLang="en-US" sz="2800" baseline="-25000">
                <a:solidFill>
                  <a:schemeClr val="bg1">
                    <a:lumMod val="75000"/>
                  </a:schemeClr>
                </a:solidFill>
                <a:latin typeface="Times New Roman" panose="02020603050405020304" pitchFamily="18" charset="0"/>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F929569C-47D8-7ECF-4AC0-148133E7F01B}"/>
                </a:ext>
              </a:extLst>
            </p:cNvPr>
            <p:cNvSpPr txBox="1"/>
            <p:nvPr/>
          </p:nvSpPr>
          <p:spPr>
            <a:xfrm>
              <a:off x="2757603" y="3211306"/>
              <a:ext cx="623889"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o1 </a:t>
              </a:r>
              <a:endParaRPr kumimoji="1" lang="ja-JP" altLang="en-US" sz="2800">
                <a:latin typeface="Times New Roman" panose="02020603050405020304" pitchFamily="18" charset="0"/>
                <a:cs typeface="Times New Roman" panose="02020603050405020304" pitchFamily="18" charset="0"/>
              </a:endParaRPr>
            </a:p>
          </p:txBody>
        </p:sp>
        <p:cxnSp>
          <p:nvCxnSpPr>
            <p:cNvPr id="21" name="直線コネクタ 20">
              <a:extLst>
                <a:ext uri="{FF2B5EF4-FFF2-40B4-BE49-F238E27FC236}">
                  <a16:creationId xmlns:a16="http://schemas.microsoft.com/office/drawing/2014/main" id="{AE4156AB-2E19-F092-7AA6-9BCDF1C24D0E}"/>
                </a:ext>
              </a:extLst>
            </p:cNvPr>
            <p:cNvCxnSpPr/>
            <p:nvPr/>
          </p:nvCxnSpPr>
          <p:spPr>
            <a:xfrm>
              <a:off x="3561012" y="2390516"/>
              <a:ext cx="0" cy="1038484"/>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208A482-024A-6808-F947-989DB1FF62C4}"/>
                </a:ext>
              </a:extLst>
            </p:cNvPr>
            <p:cNvCxnSpPr/>
            <p:nvPr/>
          </p:nvCxnSpPr>
          <p:spPr>
            <a:xfrm>
              <a:off x="3569648" y="3573016"/>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円/楕円 29">
              <a:extLst>
                <a:ext uri="{FF2B5EF4-FFF2-40B4-BE49-F238E27FC236}">
                  <a16:creationId xmlns:a16="http://schemas.microsoft.com/office/drawing/2014/main" id="{7199D473-E25A-59A7-D9F2-A5D6C648D3DD}"/>
                </a:ext>
              </a:extLst>
            </p:cNvPr>
            <p:cNvSpPr/>
            <p:nvPr/>
          </p:nvSpPr>
          <p:spPr>
            <a:xfrm>
              <a:off x="3526024" y="39508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30">
              <a:extLst>
                <a:ext uri="{FF2B5EF4-FFF2-40B4-BE49-F238E27FC236}">
                  <a16:creationId xmlns:a16="http://schemas.microsoft.com/office/drawing/2014/main" id="{F3F9595F-B31D-90E8-5F9D-0250403FDB4C}"/>
                </a:ext>
              </a:extLst>
            </p:cNvPr>
            <p:cNvSpPr/>
            <p:nvPr/>
          </p:nvSpPr>
          <p:spPr>
            <a:xfrm>
              <a:off x="3529501" y="295905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74CF71D9-C8C3-DFC5-392B-47E3E6A18A21}"/>
                </a:ext>
              </a:extLst>
            </p:cNvPr>
            <p:cNvCxnSpPr/>
            <p:nvPr/>
          </p:nvCxnSpPr>
          <p:spPr>
            <a:xfrm>
              <a:off x="2662227" y="3940684"/>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6" name="二等辺三角形 25">
              <a:extLst>
                <a:ext uri="{FF2B5EF4-FFF2-40B4-BE49-F238E27FC236}">
                  <a16:creationId xmlns:a16="http://schemas.microsoft.com/office/drawing/2014/main" id="{26965C8E-B9C8-C092-ED7A-049BB68482E4}"/>
                </a:ext>
              </a:extLst>
            </p:cNvPr>
            <p:cNvSpPr/>
            <p:nvPr/>
          </p:nvSpPr>
          <p:spPr>
            <a:xfrm flipV="1">
              <a:off x="2520825" y="4288513"/>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73C5D0C7-5488-2EB0-4384-FCA8EED81B57}"/>
                </a:ext>
              </a:extLst>
            </p:cNvPr>
            <p:cNvCxnSpPr/>
            <p:nvPr/>
          </p:nvCxnSpPr>
          <p:spPr>
            <a:xfrm flipV="1">
              <a:off x="4299388" y="3089005"/>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00328C15-5D39-24E8-9D97-334BFC8D7919}"/>
                </a:ext>
              </a:extLst>
            </p:cNvPr>
            <p:cNvSpPr txBox="1"/>
            <p:nvPr/>
          </p:nvSpPr>
          <p:spPr>
            <a:xfrm>
              <a:off x="7440763" y="3138751"/>
              <a:ext cx="696669" cy="545737"/>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out</a:t>
              </a:r>
              <a:endParaRPr kumimoji="1" lang="ja-JP" altLang="en-US" sz="2800" baseline="-25000">
                <a:latin typeface="Times New Roman" panose="02020603050405020304" pitchFamily="18" charset="0"/>
                <a:cs typeface="Times New Roman" panose="02020603050405020304" pitchFamily="18" charset="0"/>
              </a:endParaRPr>
            </a:p>
          </p:txBody>
        </p:sp>
        <p:cxnSp>
          <p:nvCxnSpPr>
            <p:cNvPr id="29" name="直線コネクタ 28">
              <a:extLst>
                <a:ext uri="{FF2B5EF4-FFF2-40B4-BE49-F238E27FC236}">
                  <a16:creationId xmlns:a16="http://schemas.microsoft.com/office/drawing/2014/main" id="{28566AEA-13C6-BC69-C6F3-0359136C17D8}"/>
                </a:ext>
              </a:extLst>
            </p:cNvPr>
            <p:cNvCxnSpPr/>
            <p:nvPr/>
          </p:nvCxnSpPr>
          <p:spPr>
            <a:xfrm flipH="1">
              <a:off x="3359250" y="342900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CE8292B-9306-35F3-59C2-538DCF26D08F}"/>
                </a:ext>
              </a:extLst>
            </p:cNvPr>
            <p:cNvCxnSpPr/>
            <p:nvPr/>
          </p:nvCxnSpPr>
          <p:spPr>
            <a:xfrm flipH="1">
              <a:off x="3359250" y="3573016"/>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FDBE519A-5DD0-3339-15B6-78A1B6560BA9}"/>
                </a:ext>
              </a:extLst>
            </p:cNvPr>
            <p:cNvSpPr txBox="1"/>
            <p:nvPr/>
          </p:nvSpPr>
          <p:spPr>
            <a:xfrm>
              <a:off x="3690438" y="3247386"/>
              <a:ext cx="603050"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 </a:t>
              </a:r>
              <a:endParaRPr kumimoji="1" lang="ja-JP" altLang="en-US" sz="2800">
                <a:latin typeface="Times New Roman" panose="02020603050405020304" pitchFamily="18" charset="0"/>
                <a:cs typeface="Times New Roman" panose="02020603050405020304" pitchFamily="18" charset="0"/>
              </a:endParaRPr>
            </a:p>
          </p:txBody>
        </p:sp>
        <p:sp>
          <p:nvSpPr>
            <p:cNvPr id="32" name="テキスト ボックス 31">
              <a:extLst>
                <a:ext uri="{FF2B5EF4-FFF2-40B4-BE49-F238E27FC236}">
                  <a16:creationId xmlns:a16="http://schemas.microsoft.com/office/drawing/2014/main" id="{EC238155-400E-FA3D-D5A9-090AAEC27C76}"/>
                </a:ext>
              </a:extLst>
            </p:cNvPr>
            <p:cNvSpPr txBox="1"/>
            <p:nvPr/>
          </p:nvSpPr>
          <p:spPr>
            <a:xfrm>
              <a:off x="4326855" y="3188855"/>
              <a:ext cx="463588"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cxnSp>
          <p:nvCxnSpPr>
            <p:cNvPr id="33" name="直線コネクタ 32">
              <a:extLst>
                <a:ext uri="{FF2B5EF4-FFF2-40B4-BE49-F238E27FC236}">
                  <a16:creationId xmlns:a16="http://schemas.microsoft.com/office/drawing/2014/main" id="{461A2B08-6579-B790-A682-C9B949FC407F}"/>
                </a:ext>
              </a:extLst>
            </p:cNvPr>
            <p:cNvCxnSpPr>
              <a:endCxn id="54" idx="0"/>
            </p:cNvCxnSpPr>
            <p:nvPr/>
          </p:nvCxnSpPr>
          <p:spPr>
            <a:xfrm>
              <a:off x="5163469" y="2396917"/>
              <a:ext cx="0" cy="78351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93F4DCF5-5878-C962-B6E0-ACB2BCC1CEEC}"/>
                </a:ext>
              </a:extLst>
            </p:cNvPr>
            <p:cNvCxnSpPr/>
            <p:nvPr/>
          </p:nvCxnSpPr>
          <p:spPr>
            <a:xfrm>
              <a:off x="5155579" y="3729086"/>
              <a:ext cx="0" cy="28803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D3116403-A438-3E4A-6739-16342A6F32E4}"/>
                </a:ext>
              </a:extLst>
            </p:cNvPr>
            <p:cNvSpPr/>
            <p:nvPr/>
          </p:nvSpPr>
          <p:spPr>
            <a:xfrm>
              <a:off x="5693051" y="3237550"/>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3F4AF536-C3A6-E24F-26CC-22AD53281925}"/>
                </a:ext>
              </a:extLst>
            </p:cNvPr>
            <p:cNvCxnSpPr/>
            <p:nvPr/>
          </p:nvCxnSpPr>
          <p:spPr>
            <a:xfrm>
              <a:off x="5785970" y="2989571"/>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E9AC0655-5BA8-1332-633E-D547F3D9E996}"/>
                </a:ext>
              </a:extLst>
            </p:cNvPr>
            <p:cNvCxnSpPr/>
            <p:nvPr/>
          </p:nvCxnSpPr>
          <p:spPr>
            <a:xfrm>
              <a:off x="5791786" y="378955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円/楕円 14">
              <a:extLst>
                <a:ext uri="{FF2B5EF4-FFF2-40B4-BE49-F238E27FC236}">
                  <a16:creationId xmlns:a16="http://schemas.microsoft.com/office/drawing/2014/main" id="{1623768C-29AF-25CE-8FCD-5E627410D2F9}"/>
                </a:ext>
              </a:extLst>
            </p:cNvPr>
            <p:cNvSpPr/>
            <p:nvPr/>
          </p:nvSpPr>
          <p:spPr>
            <a:xfrm>
              <a:off x="5111955" y="398895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5">
              <a:extLst>
                <a:ext uri="{FF2B5EF4-FFF2-40B4-BE49-F238E27FC236}">
                  <a16:creationId xmlns:a16="http://schemas.microsoft.com/office/drawing/2014/main" id="{54E5C64B-EDF6-5D29-C1EC-C43992B831D9}"/>
                </a:ext>
              </a:extLst>
            </p:cNvPr>
            <p:cNvSpPr/>
            <p:nvPr/>
          </p:nvSpPr>
          <p:spPr>
            <a:xfrm>
              <a:off x="5743661" y="398437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16">
              <a:extLst>
                <a:ext uri="{FF2B5EF4-FFF2-40B4-BE49-F238E27FC236}">
                  <a16:creationId xmlns:a16="http://schemas.microsoft.com/office/drawing/2014/main" id="{B3932BC2-71E6-A229-3D64-8FDBE66302D6}"/>
                </a:ext>
              </a:extLst>
            </p:cNvPr>
            <p:cNvSpPr/>
            <p:nvPr/>
          </p:nvSpPr>
          <p:spPr>
            <a:xfrm>
              <a:off x="5757095" y="295107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CEAF174A-578D-E57E-4978-28DC42BB0289}"/>
                </a:ext>
              </a:extLst>
            </p:cNvPr>
            <p:cNvSpPr txBox="1"/>
            <p:nvPr/>
          </p:nvSpPr>
          <p:spPr>
            <a:xfrm>
              <a:off x="5881346" y="3223360"/>
              <a:ext cx="623889"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o2 </a:t>
              </a:r>
              <a:endParaRPr kumimoji="1" lang="ja-JP" altLang="en-US" sz="2800">
                <a:latin typeface="Times New Roman" panose="02020603050405020304" pitchFamily="18" charset="0"/>
                <a:cs typeface="Times New Roman" panose="02020603050405020304" pitchFamily="18" charset="0"/>
              </a:endParaRPr>
            </a:p>
          </p:txBody>
        </p:sp>
        <p:cxnSp>
          <p:nvCxnSpPr>
            <p:cNvPr id="42" name="直線コネクタ 41">
              <a:extLst>
                <a:ext uri="{FF2B5EF4-FFF2-40B4-BE49-F238E27FC236}">
                  <a16:creationId xmlns:a16="http://schemas.microsoft.com/office/drawing/2014/main" id="{BD766A2B-FDE0-C673-4693-27A8A8B2F567}"/>
                </a:ext>
              </a:extLst>
            </p:cNvPr>
            <p:cNvCxnSpPr/>
            <p:nvPr/>
          </p:nvCxnSpPr>
          <p:spPr>
            <a:xfrm>
              <a:off x="6684755" y="3023079"/>
              <a:ext cx="0" cy="41797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B5D60211-2F5E-D2C2-490E-198172F66A1A}"/>
                </a:ext>
              </a:extLst>
            </p:cNvPr>
            <p:cNvCxnSpPr/>
            <p:nvPr/>
          </p:nvCxnSpPr>
          <p:spPr>
            <a:xfrm>
              <a:off x="6693391" y="3585070"/>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円/楕円 29">
              <a:extLst>
                <a:ext uri="{FF2B5EF4-FFF2-40B4-BE49-F238E27FC236}">
                  <a16:creationId xmlns:a16="http://schemas.microsoft.com/office/drawing/2014/main" id="{E607C4EA-6AF0-B7B1-9327-3615E406A3A7}"/>
                </a:ext>
              </a:extLst>
            </p:cNvPr>
            <p:cNvSpPr/>
            <p:nvPr/>
          </p:nvSpPr>
          <p:spPr>
            <a:xfrm>
              <a:off x="6649767" y="396287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30">
              <a:extLst>
                <a:ext uri="{FF2B5EF4-FFF2-40B4-BE49-F238E27FC236}">
                  <a16:creationId xmlns:a16="http://schemas.microsoft.com/office/drawing/2014/main" id="{6AFEF898-0075-F747-2589-4B04608C3407}"/>
                </a:ext>
              </a:extLst>
            </p:cNvPr>
            <p:cNvSpPr/>
            <p:nvPr/>
          </p:nvSpPr>
          <p:spPr>
            <a:xfrm>
              <a:off x="6653244" y="297111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9BE5AE45-0F0E-79DC-0BA9-B0CA9C1B0DDF}"/>
                </a:ext>
              </a:extLst>
            </p:cNvPr>
            <p:cNvCxnSpPr/>
            <p:nvPr/>
          </p:nvCxnSpPr>
          <p:spPr>
            <a:xfrm flipH="1">
              <a:off x="6482993" y="3441054"/>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F76B839-C93D-9BF7-4B85-9E5EA2E75DBE}"/>
                </a:ext>
              </a:extLst>
            </p:cNvPr>
            <p:cNvCxnSpPr/>
            <p:nvPr/>
          </p:nvCxnSpPr>
          <p:spPr>
            <a:xfrm flipH="1">
              <a:off x="6482993" y="358507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CB8F1B79-1633-0813-FC6F-A9FD853AF02C}"/>
                </a:ext>
              </a:extLst>
            </p:cNvPr>
            <p:cNvCxnSpPr/>
            <p:nvPr/>
          </p:nvCxnSpPr>
          <p:spPr>
            <a:xfrm>
              <a:off x="5167658" y="2973121"/>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45D03402-FA5F-1C9D-8B41-216B61E89A8E}"/>
                </a:ext>
              </a:extLst>
            </p:cNvPr>
            <p:cNvCxnSpPr/>
            <p:nvPr/>
          </p:nvCxnSpPr>
          <p:spPr>
            <a:xfrm flipV="1">
              <a:off x="7440763" y="3086907"/>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68B0D3E6-3165-34A3-445D-A61AB24C2459}"/>
                </a:ext>
              </a:extLst>
            </p:cNvPr>
            <p:cNvSpPr txBox="1"/>
            <p:nvPr/>
          </p:nvSpPr>
          <p:spPr>
            <a:xfrm>
              <a:off x="6805163" y="3297625"/>
              <a:ext cx="603050"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2 </a:t>
              </a:r>
              <a:endParaRPr kumimoji="1" lang="ja-JP" altLang="en-US" sz="2800">
                <a:latin typeface="Times New Roman" panose="02020603050405020304" pitchFamily="18" charset="0"/>
                <a:cs typeface="Times New Roman" panose="02020603050405020304" pitchFamily="18" charset="0"/>
              </a:endParaRPr>
            </a:p>
          </p:txBody>
        </p:sp>
        <p:sp>
          <p:nvSpPr>
            <p:cNvPr id="51" name="テキスト ボックス 50">
              <a:extLst>
                <a:ext uri="{FF2B5EF4-FFF2-40B4-BE49-F238E27FC236}">
                  <a16:creationId xmlns:a16="http://schemas.microsoft.com/office/drawing/2014/main" id="{7D2C0645-8AE6-0763-27FC-DD4BD22168A8}"/>
                </a:ext>
              </a:extLst>
            </p:cNvPr>
            <p:cNvSpPr txBox="1"/>
            <p:nvPr/>
          </p:nvSpPr>
          <p:spPr>
            <a:xfrm>
              <a:off x="4658307" y="4088774"/>
              <a:ext cx="2472152" cy="523220"/>
            </a:xfrm>
            <a:prstGeom prst="rect">
              <a:avLst/>
            </a:prstGeom>
            <a:noFill/>
          </p:spPr>
          <p:txBody>
            <a:bodyPr wrap="none" rtlCol="0">
              <a:spAutoFit/>
            </a:bodyPr>
            <a:lstStyle/>
            <a:p>
              <a:pPr defTabSz="713232">
                <a:spcAft>
                  <a:spcPts val="600"/>
                </a:spcAft>
              </a:pPr>
              <a:r>
                <a:rPr kumimoji="1" lang="en-US" altLang="ja-JP" sz="2184" kern="1200">
                  <a:solidFill>
                    <a:srgbClr val="B30000"/>
                  </a:solidFill>
                  <a:latin typeface="Times New Roman" panose="02020603050405020304" pitchFamily="18" charset="0"/>
                  <a:ea typeface="+mn-ea"/>
                  <a:cs typeface="Times New Roman" panose="02020603050405020304" pitchFamily="18" charset="0"/>
                </a:rPr>
                <a:t>1/</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m2</a:t>
              </a:r>
              <a:r>
                <a:rPr kumimoji="1" lang="en-US" altLang="ja-JP" sz="2184" kern="1200">
                  <a:solidFill>
                    <a:srgbClr val="B30000"/>
                  </a:solidFill>
                  <a:latin typeface="Times New Roman" panose="02020603050405020304" pitchFamily="18" charset="0"/>
                  <a:ea typeface="+mn-ea"/>
                  <a:cs typeface="Times New Roman" panose="02020603050405020304" pitchFamily="18" charset="0"/>
                </a:rPr>
                <a:t>&lt;&lt;</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 </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r</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o1</a:t>
              </a:r>
              <a:r>
                <a:rPr kumimoji="1" lang="en-US" altLang="ja-JP" sz="2184" i="1" kern="1200">
                  <a:solidFill>
                    <a:srgbClr val="B30000"/>
                  </a:solidFill>
                  <a:latin typeface="Times New Roman" panose="02020603050405020304" pitchFamily="18" charset="0"/>
                  <a:ea typeface="+mn-ea"/>
                  <a:cs typeface="Times New Roman" panose="02020603050405020304" pitchFamily="18" charset="0"/>
                </a:rPr>
                <a:t> , r</a:t>
              </a:r>
              <a:r>
                <a:rPr kumimoji="1" lang="en-US" altLang="ja-JP" sz="2184" kern="1200" baseline="-25000">
                  <a:solidFill>
                    <a:srgbClr val="B30000"/>
                  </a:solidFill>
                  <a:latin typeface="Times New Roman" panose="02020603050405020304" pitchFamily="18" charset="0"/>
                  <a:ea typeface="+mn-ea"/>
                  <a:cs typeface="Times New Roman" panose="02020603050405020304" pitchFamily="18" charset="0"/>
                </a:rPr>
                <a:t>o2</a:t>
              </a:r>
              <a:endParaRPr kumimoji="1" lang="ja-JP" altLang="en-US" sz="2800" baseline="-25000">
                <a:solidFill>
                  <a:srgbClr val="FF0000"/>
                </a:solidFill>
                <a:latin typeface="Times New Roman" panose="02020603050405020304" pitchFamily="18" charset="0"/>
                <a:cs typeface="Times New Roman" panose="02020603050405020304" pitchFamily="18" charset="0"/>
              </a:endParaRPr>
            </a:p>
          </p:txBody>
        </p:sp>
        <p:cxnSp>
          <p:nvCxnSpPr>
            <p:cNvPr id="52" name="直線コネクタ 51">
              <a:extLst>
                <a:ext uri="{FF2B5EF4-FFF2-40B4-BE49-F238E27FC236}">
                  <a16:creationId xmlns:a16="http://schemas.microsoft.com/office/drawing/2014/main" id="{DF28F7F2-A3EA-A847-DBF6-9B60C9E149BE}"/>
                </a:ext>
              </a:extLst>
            </p:cNvPr>
            <p:cNvCxnSpPr/>
            <p:nvPr/>
          </p:nvCxnSpPr>
          <p:spPr>
            <a:xfrm>
              <a:off x="3561012" y="2390516"/>
              <a:ext cx="1606646"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78AFDAD-FBEB-5072-D47F-F7EB042427B8}"/>
                </a:ext>
              </a:extLst>
            </p:cNvPr>
            <p:cNvCxnSpPr/>
            <p:nvPr/>
          </p:nvCxnSpPr>
          <p:spPr>
            <a:xfrm>
              <a:off x="1039100" y="2994735"/>
              <a:ext cx="0" cy="1012533"/>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54" name="正方形/長方形 53">
              <a:extLst>
                <a:ext uri="{FF2B5EF4-FFF2-40B4-BE49-F238E27FC236}">
                  <a16:creationId xmlns:a16="http://schemas.microsoft.com/office/drawing/2014/main" id="{581E6D6E-C7E8-A772-6D80-C8B9B44A0770}"/>
                </a:ext>
              </a:extLst>
            </p:cNvPr>
            <p:cNvSpPr/>
            <p:nvPr/>
          </p:nvSpPr>
          <p:spPr>
            <a:xfrm>
              <a:off x="5069894" y="3180432"/>
              <a:ext cx="187150" cy="5405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CC5EA078-40FE-6381-DD71-ADB9C6A7D732}"/>
                </a:ext>
              </a:extLst>
            </p:cNvPr>
            <p:cNvSpPr txBox="1"/>
            <p:nvPr/>
          </p:nvSpPr>
          <p:spPr>
            <a:xfrm>
              <a:off x="5257044" y="2408640"/>
              <a:ext cx="1649811" cy="369332"/>
            </a:xfrm>
            <a:prstGeom prst="rect">
              <a:avLst/>
            </a:prstGeom>
            <a:noFill/>
          </p:spPr>
          <p:txBody>
            <a:bodyPr wrap="none" rtlCol="0">
              <a:spAutoFit/>
            </a:bodyPr>
            <a:lstStyle/>
            <a:p>
              <a:pPr defTabSz="713232">
                <a:spcAft>
                  <a:spcPts val="600"/>
                </a:spcAft>
              </a:pPr>
              <a:r>
                <a:rPr kumimoji="1" lang="ja-JP" altLang="en-US" sz="1404" kern="1200">
                  <a:solidFill>
                    <a:srgbClr val="B30000"/>
                  </a:solidFill>
                  <a:latin typeface="+mn-lt"/>
                  <a:ea typeface="+mn-ea"/>
                  <a:cs typeface="+mn-cs"/>
                </a:rPr>
                <a:t>ダイオード接続</a:t>
              </a:r>
              <a:endParaRPr kumimoji="1" lang="ja-JP" altLang="en-US">
                <a:solidFill>
                  <a:srgbClr val="FF0000"/>
                </a:solidFill>
              </a:endParaRPr>
            </a:p>
          </p:txBody>
        </p:sp>
        <p:cxnSp>
          <p:nvCxnSpPr>
            <p:cNvPr id="56" name="直線コネクタ 55">
              <a:extLst>
                <a:ext uri="{FF2B5EF4-FFF2-40B4-BE49-F238E27FC236}">
                  <a16:creationId xmlns:a16="http://schemas.microsoft.com/office/drawing/2014/main" id="{A1B30DF5-31A9-B151-04EB-33BADE1818A5}"/>
                </a:ext>
              </a:extLst>
            </p:cNvPr>
            <p:cNvCxnSpPr/>
            <p:nvPr/>
          </p:nvCxnSpPr>
          <p:spPr>
            <a:xfrm>
              <a:off x="1429575" y="6262855"/>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6B4C83E6-DCB0-D9A0-13D0-499BECE7B7FA}"/>
                </a:ext>
              </a:extLst>
            </p:cNvPr>
            <p:cNvCxnSpPr/>
            <p:nvPr/>
          </p:nvCxnSpPr>
          <p:spPr>
            <a:xfrm>
              <a:off x="1429575" y="5255096"/>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CCEC63E8-14C1-B053-3D97-CC35DB381FF3}"/>
                </a:ext>
              </a:extLst>
            </p:cNvPr>
            <p:cNvSpPr/>
            <p:nvPr/>
          </p:nvSpPr>
          <p:spPr>
            <a:xfrm>
              <a:off x="1945680" y="5483287"/>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9" name="直線コネクタ 58">
              <a:extLst>
                <a:ext uri="{FF2B5EF4-FFF2-40B4-BE49-F238E27FC236}">
                  <a16:creationId xmlns:a16="http://schemas.microsoft.com/office/drawing/2014/main" id="{AF56FC0C-E730-396B-2E43-CB8ACF0064F5}"/>
                </a:ext>
              </a:extLst>
            </p:cNvPr>
            <p:cNvCxnSpPr/>
            <p:nvPr/>
          </p:nvCxnSpPr>
          <p:spPr>
            <a:xfrm>
              <a:off x="2038599" y="523530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B6A927D-45F4-FDE7-8FEF-C15EDFDF2606}"/>
                </a:ext>
              </a:extLst>
            </p:cNvPr>
            <p:cNvCxnSpPr/>
            <p:nvPr/>
          </p:nvCxnSpPr>
          <p:spPr>
            <a:xfrm>
              <a:off x="2044415" y="6035295"/>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1" name="円/楕円 15">
              <a:extLst>
                <a:ext uri="{FF2B5EF4-FFF2-40B4-BE49-F238E27FC236}">
                  <a16:creationId xmlns:a16="http://schemas.microsoft.com/office/drawing/2014/main" id="{3F207A7C-9439-2030-3E08-BABFDCFBD5F1}"/>
                </a:ext>
              </a:extLst>
            </p:cNvPr>
            <p:cNvSpPr/>
            <p:nvPr/>
          </p:nvSpPr>
          <p:spPr>
            <a:xfrm>
              <a:off x="1996290" y="623010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16">
              <a:extLst>
                <a:ext uri="{FF2B5EF4-FFF2-40B4-BE49-F238E27FC236}">
                  <a16:creationId xmlns:a16="http://schemas.microsoft.com/office/drawing/2014/main" id="{DD39DBF6-76F2-9E41-E037-0519D1AFC5C0}"/>
                </a:ext>
              </a:extLst>
            </p:cNvPr>
            <p:cNvSpPr/>
            <p:nvPr/>
          </p:nvSpPr>
          <p:spPr>
            <a:xfrm>
              <a:off x="2009724" y="51968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4E328D88-DCB9-3C2A-29D3-64DCB0CF7772}"/>
                </a:ext>
              </a:extLst>
            </p:cNvPr>
            <p:cNvSpPr txBox="1"/>
            <p:nvPr/>
          </p:nvSpPr>
          <p:spPr>
            <a:xfrm>
              <a:off x="2133975" y="5469097"/>
              <a:ext cx="1008609" cy="523220"/>
            </a:xfrm>
            <a:prstGeom prst="rect">
              <a:avLst/>
            </a:prstGeom>
            <a:noFill/>
          </p:spPr>
          <p:txBody>
            <a:bodyPr wrap="none" rtlCol="0">
              <a:spAutoFit/>
            </a:bodyPr>
            <a:lstStyle/>
            <a:p>
              <a:pPr defTabSz="713232">
                <a:spcAft>
                  <a:spcPts val="600"/>
                </a:spcAft>
              </a:pPr>
              <a:r>
                <a:rPr kumimoji="1" lang="en-US" altLang="ja-JP" sz="2184" kern="1200">
                  <a:solidFill>
                    <a:schemeClr val="tx1"/>
                  </a:solidFill>
                  <a:latin typeface="Times New Roman" panose="02020603050405020304" pitchFamily="18" charset="0"/>
                  <a:ea typeface="+mn-ea"/>
                  <a:cs typeface="Times New Roman" panose="02020603050405020304" pitchFamily="18" charset="0"/>
                </a:rPr>
                <a:t>1/</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g</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m2 </a:t>
              </a:r>
              <a:endParaRPr kumimoji="1" lang="ja-JP" altLang="en-US" sz="2800">
                <a:latin typeface="Times New Roman" panose="02020603050405020304" pitchFamily="18" charset="0"/>
                <a:cs typeface="Times New Roman" panose="02020603050405020304" pitchFamily="18" charset="0"/>
              </a:endParaRPr>
            </a:p>
          </p:txBody>
        </p:sp>
        <p:cxnSp>
          <p:nvCxnSpPr>
            <p:cNvPr id="64" name="直線コネクタ 63">
              <a:extLst>
                <a:ext uri="{FF2B5EF4-FFF2-40B4-BE49-F238E27FC236}">
                  <a16:creationId xmlns:a16="http://schemas.microsoft.com/office/drawing/2014/main" id="{6D1A0CC1-66B1-9C18-E22E-6ACE5B6E1A9A}"/>
                </a:ext>
              </a:extLst>
            </p:cNvPr>
            <p:cNvCxnSpPr/>
            <p:nvPr/>
          </p:nvCxnSpPr>
          <p:spPr>
            <a:xfrm>
              <a:off x="2038599" y="6198475"/>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5" name="二等辺三角形 64">
              <a:extLst>
                <a:ext uri="{FF2B5EF4-FFF2-40B4-BE49-F238E27FC236}">
                  <a16:creationId xmlns:a16="http://schemas.microsoft.com/office/drawing/2014/main" id="{FA71C41F-0265-B874-A8E1-6568E50E643B}"/>
                </a:ext>
              </a:extLst>
            </p:cNvPr>
            <p:cNvSpPr/>
            <p:nvPr/>
          </p:nvSpPr>
          <p:spPr>
            <a:xfrm flipV="1">
              <a:off x="1897197" y="6546304"/>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7EF35B3D-8385-BE2F-16A3-D07C7356F28D}"/>
                </a:ext>
              </a:extLst>
            </p:cNvPr>
            <p:cNvCxnSpPr/>
            <p:nvPr/>
          </p:nvCxnSpPr>
          <p:spPr>
            <a:xfrm flipV="1">
              <a:off x="1452915" y="5440492"/>
              <a:ext cx="0" cy="6894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4928BB78-A9D8-0606-D574-F0D21299DCE2}"/>
                </a:ext>
              </a:extLst>
            </p:cNvPr>
            <p:cNvSpPr txBox="1"/>
            <p:nvPr/>
          </p:nvSpPr>
          <p:spPr>
            <a:xfrm>
              <a:off x="921644" y="5397340"/>
              <a:ext cx="463588"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2F594634-9299-2135-E65C-2A6E567B5BF5}"/>
                </a:ext>
              </a:extLst>
            </p:cNvPr>
            <p:cNvSpPr txBox="1"/>
            <p:nvPr/>
          </p:nvSpPr>
          <p:spPr>
            <a:xfrm>
              <a:off x="3606206" y="5440492"/>
              <a:ext cx="1223412" cy="523220"/>
            </a:xfrm>
            <a:prstGeom prst="rect">
              <a:avLst/>
            </a:prstGeom>
            <a:noFill/>
          </p:spPr>
          <p:txBody>
            <a:bodyPr wrap="none" rtlCol="0">
              <a:spAutoFit/>
            </a:bodyPr>
            <a:lstStyle/>
            <a:p>
              <a:pPr defTabSz="713232">
                <a:spcAft>
                  <a:spcPts val="600"/>
                </a:spcAft>
              </a:pP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1 </a:t>
              </a:r>
              <a:r>
                <a:rPr kumimoji="1" lang="en-US" altLang="ja-JP" sz="2184" kern="1200">
                  <a:solidFill>
                    <a:schemeClr val="tx1"/>
                  </a:solidFill>
                  <a:latin typeface="Times New Roman" panose="02020603050405020304" pitchFamily="18" charset="0"/>
                  <a:ea typeface="+mn-ea"/>
                  <a:cs typeface="Times New Roman" panose="02020603050405020304" pitchFamily="18" charset="0"/>
                </a:rPr>
                <a:t>+</a:t>
              </a:r>
              <a:r>
                <a:rPr kumimoji="1" lang="en-US" altLang="ja-JP" sz="2184"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a:solidFill>
                    <a:schemeClr val="tx1"/>
                  </a:solidFill>
                  <a:latin typeface="Times New Roman" panose="02020603050405020304" pitchFamily="18" charset="0"/>
                  <a:ea typeface="+mn-ea"/>
                  <a:cs typeface="Times New Roman" panose="02020603050405020304" pitchFamily="18" charset="0"/>
                </a:rPr>
                <a:t>2 </a:t>
              </a:r>
              <a:endParaRPr lang="ja-JP" altLang="en-US" sz="2800">
                <a:latin typeface="Times New Roman" panose="02020603050405020304" pitchFamily="18" charset="0"/>
                <a:cs typeface="Times New Roman" panose="02020603050405020304" pitchFamily="18" charset="0"/>
              </a:endParaRPr>
            </a:p>
          </p:txBody>
        </p:sp>
        <p:cxnSp>
          <p:nvCxnSpPr>
            <p:cNvPr id="69" name="直線コネクタ 68">
              <a:extLst>
                <a:ext uri="{FF2B5EF4-FFF2-40B4-BE49-F238E27FC236}">
                  <a16:creationId xmlns:a16="http://schemas.microsoft.com/office/drawing/2014/main" id="{ACA5C460-A367-9CF5-C245-0B1F424913C7}"/>
                </a:ext>
              </a:extLst>
            </p:cNvPr>
            <p:cNvCxnSpPr/>
            <p:nvPr/>
          </p:nvCxnSpPr>
          <p:spPr>
            <a:xfrm>
              <a:off x="3428011" y="5272209"/>
              <a:ext cx="0" cy="39687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F03C8F1-792D-4B02-D2B3-A5AC538B47B9}"/>
                </a:ext>
              </a:extLst>
            </p:cNvPr>
            <p:cNvCxnSpPr/>
            <p:nvPr/>
          </p:nvCxnSpPr>
          <p:spPr>
            <a:xfrm>
              <a:off x="3428011" y="5818169"/>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14FC5CF9-6A56-43D9-6E70-BA992FCF6117}"/>
                </a:ext>
              </a:extLst>
            </p:cNvPr>
            <p:cNvCxnSpPr/>
            <p:nvPr/>
          </p:nvCxnSpPr>
          <p:spPr>
            <a:xfrm flipH="1">
              <a:off x="3217613" y="5674153"/>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12BA947-CBD7-AFB7-AED3-F1F8FC0A31D2}"/>
                </a:ext>
              </a:extLst>
            </p:cNvPr>
            <p:cNvCxnSpPr/>
            <p:nvPr/>
          </p:nvCxnSpPr>
          <p:spPr>
            <a:xfrm flipH="1">
              <a:off x="3217613" y="5818169"/>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下矢印 148">
              <a:extLst>
                <a:ext uri="{FF2B5EF4-FFF2-40B4-BE49-F238E27FC236}">
                  <a16:creationId xmlns:a16="http://schemas.microsoft.com/office/drawing/2014/main" id="{8D74BB7C-7AB1-6EAC-F743-974930AF197D}"/>
                </a:ext>
              </a:extLst>
            </p:cNvPr>
            <p:cNvSpPr/>
            <p:nvPr/>
          </p:nvSpPr>
          <p:spPr>
            <a:xfrm>
              <a:off x="1918997" y="4543736"/>
              <a:ext cx="360040" cy="4366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43328C51-24A4-7558-BC17-A918DC40932F}"/>
                </a:ext>
              </a:extLst>
            </p:cNvPr>
            <p:cNvSpPr txBox="1"/>
            <p:nvPr/>
          </p:nvSpPr>
          <p:spPr>
            <a:xfrm>
              <a:off x="2417838" y="4589181"/>
              <a:ext cx="877163" cy="369332"/>
            </a:xfrm>
            <a:prstGeom prst="rect">
              <a:avLst/>
            </a:prstGeom>
            <a:noFill/>
          </p:spPr>
          <p:txBody>
            <a:bodyPr wrap="none" rtlCol="0">
              <a:spAutoFit/>
            </a:bodyPr>
            <a:lstStyle/>
            <a:p>
              <a:pPr defTabSz="713232">
                <a:spcAft>
                  <a:spcPts val="600"/>
                </a:spcAft>
              </a:pPr>
              <a:r>
                <a:rPr kumimoji="1" lang="ja-JP" altLang="en-US" sz="1404" kern="1200">
                  <a:solidFill>
                    <a:schemeClr val="tx1"/>
                  </a:solidFill>
                  <a:latin typeface="+mn-lt"/>
                  <a:ea typeface="+mn-ea"/>
                  <a:cs typeface="+mn-cs"/>
                </a:rPr>
                <a:t>二段目</a:t>
              </a:r>
              <a:endParaRPr kumimoji="1" lang="ja-JP" altLang="en-US"/>
            </a:p>
          </p:txBody>
        </p:sp>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49D10388-AD16-C5A6-618B-55FDD842E8A5}"/>
                    </a:ext>
                  </a:extLst>
                </p:cNvPr>
                <p:cNvSpPr txBox="1"/>
                <p:nvPr/>
              </p:nvSpPr>
              <p:spPr>
                <a:xfrm>
                  <a:off x="5343334" y="5342348"/>
                  <a:ext cx="2218043" cy="692947"/>
                </a:xfrm>
                <a:prstGeom prst="rect">
                  <a:avLst/>
                </a:prstGeom>
                <a:noFill/>
              </p:spPr>
              <p:txBody>
                <a:bodyPr wrap="none" lIns="0" tIns="0" rIns="0" bIns="0" rtlCol="0">
                  <a:spAutoFit/>
                </a:bodyPr>
                <a:lstStyle/>
                <a:p>
                  <a:pPr defTabSz="713232">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872" i="1" kern="1200">
                                <a:solidFill>
                                  <a:srgbClr val="055B7D"/>
                                </a:solidFill>
                                <a:latin typeface="Cambria Math" panose="02040503050406030204" pitchFamily="18" charset="0"/>
                                <a:ea typeface="+mn-ea"/>
                                <a:cs typeface="+mn-cs"/>
                              </a:rPr>
                            </m:ctrlPr>
                          </m:sSubPr>
                          <m:e>
                            <m:r>
                              <a:rPr kumimoji="1" lang="ja-JP" altLang="en-US" sz="1872" i="1" kern="1200">
                                <a:solidFill>
                                  <a:srgbClr val="055B7D"/>
                                </a:solidFill>
                                <a:latin typeface="Cambria Math" panose="02040503050406030204" pitchFamily="18" charset="0"/>
                                <a:ea typeface="+mn-ea"/>
                                <a:cs typeface="+mn-cs"/>
                              </a:rPr>
                              <m:t>𝜔</m:t>
                            </m:r>
                            <m:r>
                              <a:rPr kumimoji="1" lang="en-US" altLang="ja-JP" sz="1872" i="1" kern="1200">
                                <a:solidFill>
                                  <a:srgbClr val="055B7D"/>
                                </a:solidFill>
                                <a:latin typeface="Cambria Math" panose="02040503050406030204" pitchFamily="18" charset="0"/>
                                <a:ea typeface="+mn-ea"/>
                                <a:cs typeface="+mn-cs"/>
                              </a:rPr>
                              <m:t>′</m:t>
                            </m:r>
                          </m:e>
                          <m:sub>
                            <m:r>
                              <m:rPr>
                                <m:sty m:val="p"/>
                              </m:rPr>
                              <a:rPr kumimoji="1" lang="en-US" altLang="ja-JP" sz="1872" kern="1200">
                                <a:solidFill>
                                  <a:srgbClr val="055B7D"/>
                                </a:solidFill>
                                <a:latin typeface="Cambria Math" panose="02040503050406030204" pitchFamily="18" charset="0"/>
                                <a:ea typeface="+mn-ea"/>
                                <a:cs typeface="+mn-cs"/>
                              </a:rPr>
                              <m:t>p</m:t>
                            </m:r>
                            <m:r>
                              <a:rPr kumimoji="1" lang="en-US" altLang="ja-JP" sz="1872" i="1" kern="1200">
                                <a:solidFill>
                                  <a:srgbClr val="055B7D"/>
                                </a:solidFill>
                                <a:latin typeface="Cambria Math" panose="02040503050406030204" pitchFamily="18" charset="0"/>
                                <a:ea typeface="+mn-ea"/>
                                <a:cs typeface="+mn-cs"/>
                              </a:rPr>
                              <m:t>2</m:t>
                            </m:r>
                          </m:sub>
                        </m:sSub>
                        <m:r>
                          <a:rPr kumimoji="1" lang="en-US" altLang="ja-JP" sz="1872" i="1" kern="1200">
                            <a:solidFill>
                              <a:srgbClr val="055B7D"/>
                            </a:solidFill>
                            <a:latin typeface="Cambria Math" panose="02040503050406030204" pitchFamily="18" charset="0"/>
                            <a:ea typeface="Cambria Math" panose="02040503050406030204" pitchFamily="18" charset="0"/>
                            <a:cs typeface="+mn-cs"/>
                          </a:rPr>
                          <m:t>~</m:t>
                        </m:r>
                        <m:r>
                          <a:rPr kumimoji="1" lang="en-US" altLang="ja-JP" sz="1872" i="1" kern="1200">
                            <a:solidFill>
                              <a:srgbClr val="055B7D"/>
                            </a:solidFill>
                            <a:latin typeface="Cambria Math" panose="02040503050406030204" pitchFamily="18" charset="0"/>
                            <a:ea typeface="+mn-ea"/>
                            <a:cs typeface="+mn-cs"/>
                          </a:rPr>
                          <m:t>−</m:t>
                        </m:r>
                        <m:f>
                          <m:fPr>
                            <m:ctrlPr>
                              <a:rPr kumimoji="1" lang="en-US" altLang="ja-JP" sz="1872" i="1" kern="1200">
                                <a:solidFill>
                                  <a:srgbClr val="055B7D"/>
                                </a:solidFill>
                                <a:latin typeface="Cambria Math" panose="02040503050406030204" pitchFamily="18" charset="0"/>
                                <a:ea typeface="+mn-ea"/>
                                <a:cs typeface="+mn-cs"/>
                              </a:rPr>
                            </m:ctrlPr>
                          </m:fPr>
                          <m:num>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𝑔</m:t>
                                </m:r>
                              </m:e>
                              <m:sub>
                                <m:r>
                                  <m:rPr>
                                    <m:sty m:val="p"/>
                                  </m:rPr>
                                  <a:rPr kumimoji="1" lang="en-US" altLang="ja-JP" sz="1872" kern="1200">
                                    <a:solidFill>
                                      <a:srgbClr val="055B7D"/>
                                    </a:solidFill>
                                    <a:latin typeface="Cambria Math" panose="02040503050406030204" pitchFamily="18" charset="0"/>
                                    <a:ea typeface="+mn-ea"/>
                                    <a:cs typeface="+mn-cs"/>
                                  </a:rPr>
                                  <m:t>m</m:t>
                                </m:r>
                                <m:r>
                                  <a:rPr kumimoji="1" lang="en-US" altLang="ja-JP" sz="1872" kern="1200">
                                    <a:solidFill>
                                      <a:srgbClr val="055B7D"/>
                                    </a:solidFill>
                                    <a:latin typeface="Cambria Math" panose="02040503050406030204" pitchFamily="18" charset="0"/>
                                    <a:ea typeface="+mn-ea"/>
                                    <a:cs typeface="+mn-cs"/>
                                  </a:rPr>
                                  <m:t>2</m:t>
                                </m:r>
                              </m:sub>
                            </m:sSub>
                          </m:num>
                          <m:den>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1</m:t>
                                </m:r>
                              </m:sub>
                            </m:sSub>
                            <m:r>
                              <a:rPr kumimoji="1" lang="en-US" altLang="ja-JP" sz="1872" i="1" kern="1200">
                                <a:solidFill>
                                  <a:srgbClr val="055B7D"/>
                                </a:solidFill>
                                <a:latin typeface="Cambria Math" panose="02040503050406030204" pitchFamily="18" charset="0"/>
                                <a:ea typeface="+mn-ea"/>
                                <a:cs typeface="+mn-cs"/>
                              </a:rPr>
                              <m:t>+</m:t>
                            </m:r>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2</m:t>
                                </m:r>
                              </m:sub>
                            </m:sSub>
                          </m:den>
                        </m:f>
                      </m:oMath>
                    </m:oMathPara>
                  </a14:m>
                  <a:endParaRPr kumimoji="1" lang="ja-JP" altLang="en-US" sz="2400">
                    <a:solidFill>
                      <a:schemeClr val="accent1"/>
                    </a:solidFill>
                  </a:endParaRPr>
                </a:p>
              </p:txBody>
            </p:sp>
          </mc:Choice>
          <mc:Fallback xmlns="">
            <p:sp>
              <p:nvSpPr>
                <p:cNvPr id="75" name="テキスト ボックス 74">
                  <a:extLst>
                    <a:ext uri="{FF2B5EF4-FFF2-40B4-BE49-F238E27FC236}">
                      <a16:creationId xmlns:a16="http://schemas.microsoft.com/office/drawing/2014/main" id="{49D10388-AD16-C5A6-618B-55FDD842E8A5}"/>
                    </a:ext>
                  </a:extLst>
                </p:cNvPr>
                <p:cNvSpPr txBox="1">
                  <a:spLocks noRot="1" noChangeAspect="1" noMove="1" noResize="1" noEditPoints="1" noAdjustHandles="1" noChangeArrowheads="1" noChangeShapeType="1" noTextEdit="1"/>
                </p:cNvSpPr>
                <p:nvPr/>
              </p:nvSpPr>
              <p:spPr>
                <a:xfrm>
                  <a:off x="5343334" y="5342348"/>
                  <a:ext cx="2218043" cy="692947"/>
                </a:xfrm>
                <a:prstGeom prst="rect">
                  <a:avLst/>
                </a:prstGeom>
                <a:blipFill>
                  <a:blip r:embed="rId2"/>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6014703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890DB09-D71E-F6EC-5AF9-DF3717DC6B40}"/>
              </a:ext>
            </a:extLst>
          </p:cNvPr>
          <p:cNvSpPr>
            <a:spLocks noGrp="1"/>
          </p:cNvSpPr>
          <p:nvPr>
            <p:ph type="title"/>
          </p:nvPr>
        </p:nvSpPr>
        <p:spPr>
          <a:xfrm>
            <a:off x="645065" y="1463040"/>
            <a:ext cx="3796306" cy="2690949"/>
          </a:xfrm>
        </p:spPr>
        <p:txBody>
          <a:bodyPr anchor="t">
            <a:normAutofit/>
          </a:bodyPr>
          <a:lstStyle/>
          <a:p>
            <a:r>
              <a:rPr kumimoji="1" lang="ja-JP" altLang="en-US" sz="4800"/>
              <a:t>零点の影響</a:t>
            </a:r>
          </a:p>
        </p:txBody>
      </p:sp>
      <p:grpSp>
        <p:nvGrpSpPr>
          <p:cNvPr id="24" name="Group 23">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グループ化 16">
            <a:extLst>
              <a:ext uri="{FF2B5EF4-FFF2-40B4-BE49-F238E27FC236}">
                <a16:creationId xmlns:a16="http://schemas.microsoft.com/office/drawing/2014/main" id="{E149F9E6-B124-9D7C-D1F4-36355A4603DB}"/>
              </a:ext>
            </a:extLst>
          </p:cNvPr>
          <p:cNvGrpSpPr/>
          <p:nvPr/>
        </p:nvGrpSpPr>
        <p:grpSpPr>
          <a:xfrm>
            <a:off x="5407705" y="1380370"/>
            <a:ext cx="5962720" cy="4246890"/>
            <a:chOff x="1206661" y="1325985"/>
            <a:chExt cx="7515163" cy="5352603"/>
          </a:xfrm>
        </p:grpSpPr>
        <p:pic>
          <p:nvPicPr>
            <p:cNvPr id="4" name="図 3">
              <a:extLst>
                <a:ext uri="{FF2B5EF4-FFF2-40B4-BE49-F238E27FC236}">
                  <a16:creationId xmlns:a16="http://schemas.microsoft.com/office/drawing/2014/main" id="{B49E4AF8-6C93-E86C-0094-A6A09142D087}"/>
                </a:ext>
              </a:extLst>
            </p:cNvPr>
            <p:cNvPicPr>
              <a:picLocks noChangeAspect="1"/>
            </p:cNvPicPr>
            <p:nvPr/>
          </p:nvPicPr>
          <p:blipFill>
            <a:blip r:embed="rId2"/>
            <a:stretch>
              <a:fillRect/>
            </a:stretch>
          </p:blipFill>
          <p:spPr>
            <a:xfrm>
              <a:off x="1206661" y="1325985"/>
              <a:ext cx="6433542" cy="5352603"/>
            </a:xfrm>
            <a:prstGeom prst="rect">
              <a:avLst/>
            </a:prstGeom>
          </p:spPr>
        </p:pic>
        <p:cxnSp>
          <p:nvCxnSpPr>
            <p:cNvPr id="5" name="直線コネクタ 4">
              <a:extLst>
                <a:ext uri="{FF2B5EF4-FFF2-40B4-BE49-F238E27FC236}">
                  <a16:creationId xmlns:a16="http://schemas.microsoft.com/office/drawing/2014/main" id="{2705E95E-2F43-B8B1-5BC7-C76ADCC1D27B}"/>
                </a:ext>
              </a:extLst>
            </p:cNvPr>
            <p:cNvCxnSpPr/>
            <p:nvPr/>
          </p:nvCxnSpPr>
          <p:spPr>
            <a:xfrm>
              <a:off x="1547664" y="242088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92E7842-05B6-2FF2-F278-F3A9462D14C4}"/>
                </a:ext>
              </a:extLst>
            </p:cNvPr>
            <p:cNvCxnSpPr/>
            <p:nvPr/>
          </p:nvCxnSpPr>
          <p:spPr>
            <a:xfrm>
              <a:off x="1547664" y="530120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03043E3A-BB15-F0D7-DCCA-5EBA7C336146}"/>
                </a:ext>
              </a:extLst>
            </p:cNvPr>
            <p:cNvCxnSpPr/>
            <p:nvPr/>
          </p:nvCxnSpPr>
          <p:spPr>
            <a:xfrm>
              <a:off x="5623657" y="2420888"/>
              <a:ext cx="0" cy="3456384"/>
            </a:xfrm>
            <a:prstGeom prst="line">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479609D4-4A7C-3970-7C84-DCB328AE8633}"/>
                </a:ext>
              </a:extLst>
            </p:cNvPr>
            <p:cNvCxnSpPr/>
            <p:nvPr/>
          </p:nvCxnSpPr>
          <p:spPr>
            <a:xfrm>
              <a:off x="6084168" y="2420888"/>
              <a:ext cx="0" cy="3456384"/>
            </a:xfrm>
            <a:prstGeom prst="line">
              <a:avLst/>
            </a:prstGeom>
            <a:ln w="19050">
              <a:solidFill>
                <a:srgbClr val="00B0F0"/>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451B515-932B-CFD9-40D3-77116F8E3B39}"/>
                </a:ext>
              </a:extLst>
            </p:cNvPr>
            <p:cNvCxnSpPr/>
            <p:nvPr/>
          </p:nvCxnSpPr>
          <p:spPr>
            <a:xfrm>
              <a:off x="5508104" y="5085184"/>
              <a:ext cx="0" cy="216024"/>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99EDA675-57D3-32E0-5D74-9C56A772E25D}"/>
                </a:ext>
              </a:extLst>
            </p:cNvPr>
            <p:cNvCxnSpPr/>
            <p:nvPr/>
          </p:nvCxnSpPr>
          <p:spPr>
            <a:xfrm>
              <a:off x="6156176" y="5301208"/>
              <a:ext cx="0" cy="504056"/>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0476EFF-8828-FE8A-C542-F21C6533E66B}"/>
                </a:ext>
              </a:extLst>
            </p:cNvPr>
            <p:cNvCxnSpPr/>
            <p:nvPr/>
          </p:nvCxnSpPr>
          <p:spPr>
            <a:xfrm>
              <a:off x="5292080" y="1916832"/>
              <a:ext cx="0" cy="32874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C85E7CB-9C0D-FFB4-B599-0CA30323A8F3}"/>
                </a:ext>
              </a:extLst>
            </p:cNvPr>
            <p:cNvSpPr txBox="1"/>
            <p:nvPr/>
          </p:nvSpPr>
          <p:spPr>
            <a:xfrm>
              <a:off x="4867328" y="1499579"/>
              <a:ext cx="2433680"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この辺に</a:t>
              </a:r>
              <a:r>
                <a:rPr kumimoji="1" lang="en-US" altLang="ja-JP" sz="1422" i="1" kern="1200">
                  <a:solidFill>
                    <a:schemeClr val="tx1"/>
                  </a:solidFill>
                  <a:latin typeface="Times New Roman" panose="02020603050405020304" pitchFamily="18" charset="0"/>
                  <a:ea typeface="+mn-ea"/>
                  <a:cs typeface="Times New Roman" panose="02020603050405020304" pitchFamily="18" charset="0"/>
                </a:rPr>
                <a:t>C</a:t>
              </a:r>
              <a:r>
                <a:rPr kumimoji="1" lang="en-US" altLang="ja-JP" sz="1422" kern="1200" baseline="-25000">
                  <a:solidFill>
                    <a:schemeClr val="tx1"/>
                  </a:solidFill>
                  <a:latin typeface="Times New Roman" panose="02020603050405020304" pitchFamily="18" charset="0"/>
                  <a:ea typeface="+mn-ea"/>
                  <a:cs typeface="Times New Roman" panose="02020603050405020304" pitchFamily="18" charset="0"/>
                </a:rPr>
                <a:t>C</a:t>
              </a:r>
              <a:r>
                <a:rPr kumimoji="1" lang="ja-JP" altLang="en-US" sz="1422" kern="1200">
                  <a:solidFill>
                    <a:schemeClr val="tx1"/>
                  </a:solidFill>
                  <a:latin typeface="+mn-lt"/>
                  <a:ea typeface="+mn-ea"/>
                  <a:cs typeface="+mn-cs"/>
                </a:rPr>
                <a:t>による零点</a:t>
              </a:r>
              <a:endParaRPr kumimoji="1" lang="ja-JP" altLang="en-US"/>
            </a:p>
          </p:txBody>
        </p:sp>
        <p:sp>
          <p:nvSpPr>
            <p:cNvPr id="13" name="テキスト ボックス 12">
              <a:extLst>
                <a:ext uri="{FF2B5EF4-FFF2-40B4-BE49-F238E27FC236}">
                  <a16:creationId xmlns:a16="http://schemas.microsoft.com/office/drawing/2014/main" id="{8DA0C037-CFA0-9F65-654B-C5F6F61AC61A}"/>
                </a:ext>
              </a:extLst>
            </p:cNvPr>
            <p:cNvSpPr txBox="1"/>
            <p:nvPr/>
          </p:nvSpPr>
          <p:spPr>
            <a:xfrm>
              <a:off x="3895246" y="4221088"/>
              <a:ext cx="1497526"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期待した特性</a:t>
              </a:r>
              <a:endParaRPr kumimoji="1" lang="ja-JP" altLang="en-US"/>
            </a:p>
          </p:txBody>
        </p:sp>
        <p:sp>
          <p:nvSpPr>
            <p:cNvPr id="14" name="テキスト ボックス 13">
              <a:extLst>
                <a:ext uri="{FF2B5EF4-FFF2-40B4-BE49-F238E27FC236}">
                  <a16:creationId xmlns:a16="http://schemas.microsoft.com/office/drawing/2014/main" id="{818C3634-3C45-41C9-D56A-97EACE7C5826}"/>
                </a:ext>
              </a:extLst>
            </p:cNvPr>
            <p:cNvSpPr txBox="1"/>
            <p:nvPr/>
          </p:nvSpPr>
          <p:spPr>
            <a:xfrm>
              <a:off x="7382996" y="5332432"/>
              <a:ext cx="1338828" cy="646331"/>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実際の特性</a:t>
              </a:r>
              <a:endParaRPr kumimoji="1" lang="en-US" altLang="ja-JP" sz="1422" kern="1200">
                <a:solidFill>
                  <a:schemeClr val="tx1"/>
                </a:solidFill>
                <a:latin typeface="+mn-lt"/>
                <a:ea typeface="+mn-ea"/>
                <a:cs typeface="+mn-cs"/>
              </a:endParaRPr>
            </a:p>
            <a:p>
              <a:pPr defTabSz="722376">
                <a:spcAft>
                  <a:spcPts val="600"/>
                </a:spcAft>
              </a:pPr>
              <a:r>
                <a:rPr kumimoji="1" lang="en-US" altLang="ja-JP" sz="1422" kern="1200">
                  <a:solidFill>
                    <a:schemeClr val="tx1"/>
                  </a:solidFill>
                  <a:latin typeface="+mn-lt"/>
                  <a:ea typeface="+mn-ea"/>
                  <a:cs typeface="+mn-cs"/>
                </a:rPr>
                <a:t>(</a:t>
              </a:r>
              <a:r>
                <a:rPr kumimoji="1" lang="ja-JP" altLang="en-US" sz="1422" kern="1200">
                  <a:solidFill>
                    <a:schemeClr val="tx1"/>
                  </a:solidFill>
                  <a:latin typeface="+mn-lt"/>
                  <a:ea typeface="+mn-ea"/>
                  <a:cs typeface="+mn-cs"/>
                </a:rPr>
                <a:t>不安定</a:t>
              </a:r>
              <a:r>
                <a:rPr kumimoji="1" lang="en-US" altLang="ja-JP" sz="1422" kern="1200">
                  <a:solidFill>
                    <a:schemeClr val="tx1"/>
                  </a:solidFill>
                  <a:latin typeface="+mn-lt"/>
                  <a:ea typeface="+mn-ea"/>
                  <a:cs typeface="+mn-cs"/>
                </a:rPr>
                <a:t>)</a:t>
              </a:r>
              <a:endParaRPr kumimoji="1" lang="ja-JP" altLang="en-US"/>
            </a:p>
          </p:txBody>
        </p:sp>
        <p:cxnSp>
          <p:nvCxnSpPr>
            <p:cNvPr id="15" name="直線矢印コネクタ 14">
              <a:extLst>
                <a:ext uri="{FF2B5EF4-FFF2-40B4-BE49-F238E27FC236}">
                  <a16:creationId xmlns:a16="http://schemas.microsoft.com/office/drawing/2014/main" id="{9E689F42-4431-D6AE-6D47-35A4AD798B2F}"/>
                </a:ext>
              </a:extLst>
            </p:cNvPr>
            <p:cNvCxnSpPr/>
            <p:nvPr/>
          </p:nvCxnSpPr>
          <p:spPr>
            <a:xfrm>
              <a:off x="5076056" y="4590420"/>
              <a:ext cx="216024" cy="3507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990E6A9-FDA7-87D4-70D1-C4C632D6A7AE}"/>
                </a:ext>
              </a:extLst>
            </p:cNvPr>
            <p:cNvCxnSpPr/>
            <p:nvPr/>
          </p:nvCxnSpPr>
          <p:spPr>
            <a:xfrm flipH="1">
              <a:off x="6372200" y="5655597"/>
              <a:ext cx="1010796" cy="35640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72067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6C860A-3871-F128-7EE8-450AEDCDF508}"/>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kumimoji="1" lang="ja-JP" altLang="en-US" sz="4000"/>
              <a:t>補償抵抗による零点処理</a:t>
            </a:r>
          </a:p>
        </p:txBody>
      </p:sp>
      <p:cxnSp>
        <p:nvCxnSpPr>
          <p:cNvPr id="61" name="Straight Connector 52">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54">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47" name="グループ化 46">
            <a:extLst>
              <a:ext uri="{FF2B5EF4-FFF2-40B4-BE49-F238E27FC236}">
                <a16:creationId xmlns:a16="http://schemas.microsoft.com/office/drawing/2014/main" id="{C445D306-44E5-EC1B-21FD-99A152AF4FDD}"/>
              </a:ext>
            </a:extLst>
          </p:cNvPr>
          <p:cNvGrpSpPr/>
          <p:nvPr/>
        </p:nvGrpSpPr>
        <p:grpSpPr>
          <a:xfrm>
            <a:off x="3712459" y="1799299"/>
            <a:ext cx="5149257" cy="1028209"/>
            <a:chOff x="3618923" y="1413349"/>
            <a:chExt cx="5311521" cy="1060611"/>
          </a:xfrm>
        </p:grpSpPr>
        <p:sp>
          <p:nvSpPr>
            <p:cNvPr id="39" name="テキスト ボックス 38">
              <a:extLst>
                <a:ext uri="{FF2B5EF4-FFF2-40B4-BE49-F238E27FC236}">
                  <a16:creationId xmlns:a16="http://schemas.microsoft.com/office/drawing/2014/main" id="{6530D1AE-B51C-A323-7C47-0E05CFBED253}"/>
                </a:ext>
              </a:extLst>
            </p:cNvPr>
            <p:cNvSpPr txBox="1"/>
            <p:nvPr/>
          </p:nvSpPr>
          <p:spPr>
            <a:xfrm>
              <a:off x="3618923" y="1413349"/>
              <a:ext cx="2618024" cy="461665"/>
            </a:xfrm>
            <a:prstGeom prst="rect">
              <a:avLst/>
            </a:prstGeom>
            <a:noFill/>
          </p:spPr>
          <p:txBody>
            <a:bodyPr wrap="none" rtlCol="0">
              <a:spAutoFit/>
            </a:bodyPr>
            <a:lstStyle/>
            <a:p>
              <a:pPr defTabSz="877824">
                <a:spcAft>
                  <a:spcPts val="600"/>
                </a:spcAft>
              </a:pPr>
              <a:r>
                <a:rPr kumimoji="1" lang="ja-JP" altLang="en-US" sz="2304" kern="1200">
                  <a:solidFill>
                    <a:schemeClr val="accent1"/>
                  </a:solidFill>
                  <a:latin typeface="+mn-lt"/>
                  <a:ea typeface="+mn-ea"/>
                  <a:cs typeface="+mn-cs"/>
                </a:rPr>
                <a:t>補償抵抗</a:t>
              </a:r>
              <a:r>
                <a:rPr kumimoji="1" lang="en-US" altLang="ja-JP" sz="2304" i="1" kern="120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a:solidFill>
                    <a:schemeClr val="accent1"/>
                  </a:solidFill>
                  <a:latin typeface="Times New Roman" panose="02020603050405020304" pitchFamily="18" charset="0"/>
                  <a:ea typeface="+mn-ea"/>
                  <a:cs typeface="Times New Roman" panose="02020603050405020304" pitchFamily="18" charset="0"/>
                </a:rPr>
                <a:t>C</a:t>
              </a:r>
              <a:r>
                <a:rPr kumimoji="1" lang="ja-JP" altLang="en-US" sz="2304" kern="1200">
                  <a:solidFill>
                    <a:schemeClr val="accent1"/>
                  </a:solidFill>
                  <a:latin typeface="+mn-lt"/>
                  <a:ea typeface="+mn-ea"/>
                  <a:cs typeface="+mn-cs"/>
                </a:rPr>
                <a:t>を挿入</a:t>
              </a:r>
              <a:endParaRPr kumimoji="1" lang="ja-JP" altLang="en-US" sz="2400">
                <a:solidFill>
                  <a:schemeClr val="accent1"/>
                </a:solidFill>
              </a:endParaRP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3A52C8A3-44E5-FEDF-F30D-46E755116C2D}"/>
                    </a:ext>
                  </a:extLst>
                </p:cNvPr>
                <p:cNvSpPr txBox="1"/>
                <p:nvPr/>
              </p:nvSpPr>
              <p:spPr>
                <a:xfrm>
                  <a:off x="6329604" y="1413349"/>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a:solidFill>
                      <a:schemeClr val="accent1"/>
                    </a:solidFill>
                  </a:endParaRPr>
                </a:p>
              </p:txBody>
            </p:sp>
          </mc:Choice>
          <mc:Fallback xmlns="">
            <p:sp>
              <p:nvSpPr>
                <p:cNvPr id="40" name="テキスト ボックス 39">
                  <a:extLst>
                    <a:ext uri="{FF2B5EF4-FFF2-40B4-BE49-F238E27FC236}">
                      <a16:creationId xmlns:a16="http://schemas.microsoft.com/office/drawing/2014/main" id="{3A52C8A3-44E5-FEDF-F30D-46E755116C2D}"/>
                    </a:ext>
                  </a:extLst>
                </p:cNvPr>
                <p:cNvSpPr txBox="1">
                  <a:spLocks noRot="1" noChangeAspect="1" noMove="1" noResize="1" noEditPoints="1" noAdjustHandles="1" noChangeArrowheads="1" noChangeShapeType="1" noTextEdit="1"/>
                </p:cNvSpPr>
                <p:nvPr/>
              </p:nvSpPr>
              <p:spPr>
                <a:xfrm>
                  <a:off x="6329604" y="1413349"/>
                  <a:ext cx="2600840" cy="1060611"/>
                </a:xfrm>
                <a:prstGeom prst="rect">
                  <a:avLst/>
                </a:prstGeom>
                <a:blipFill>
                  <a:blip r:embed="rId2"/>
                  <a:stretch>
                    <a:fillRect/>
                  </a:stretch>
                </a:blipFill>
              </p:spPr>
              <p:txBody>
                <a:bodyPr/>
                <a:lstStyle/>
                <a:p>
                  <a:r>
                    <a:rPr lang="ja-JP" altLang="en-US">
                      <a:noFill/>
                    </a:rPr>
                    <a:t> </a:t>
                  </a:r>
                </a:p>
              </p:txBody>
            </p:sp>
          </mc:Fallback>
        </mc:AlternateContent>
      </p:grpSp>
      <p:sp>
        <p:nvSpPr>
          <p:cNvPr id="51" name="コンテンツ プレースホルダー 2">
            <a:extLst>
              <a:ext uri="{FF2B5EF4-FFF2-40B4-BE49-F238E27FC236}">
                <a16:creationId xmlns:a16="http://schemas.microsoft.com/office/drawing/2014/main" id="{61E1315E-413C-FC7C-0411-B4D806CBA40A}"/>
              </a:ext>
            </a:extLst>
          </p:cNvPr>
          <p:cNvSpPr>
            <a:spLocks noGrp="1"/>
          </p:cNvSpPr>
          <p:nvPr>
            <p:ph idx="1"/>
          </p:nvPr>
        </p:nvSpPr>
        <p:spPr>
          <a:xfrm>
            <a:off x="1025565" y="1841157"/>
            <a:ext cx="2405621" cy="432279"/>
          </a:xfrm>
        </p:spPr>
        <p:txBody>
          <a:bodyPr>
            <a:normAutofit fontScale="92500" lnSpcReduction="10000"/>
          </a:bodyPr>
          <a:lstStyle/>
          <a:p>
            <a:r>
              <a:rPr kumimoji="1" lang="ja-JP" altLang="en-US"/>
              <a:t>零点処理方法</a:t>
            </a:r>
            <a:endParaRPr kumimoji="1" lang="en-US" altLang="ja-JP"/>
          </a:p>
        </p:txBody>
      </p:sp>
      <p:sp>
        <p:nvSpPr>
          <p:cNvPr id="52" name="テキスト ボックス 51">
            <a:extLst>
              <a:ext uri="{FF2B5EF4-FFF2-40B4-BE49-F238E27FC236}">
                <a16:creationId xmlns:a16="http://schemas.microsoft.com/office/drawing/2014/main" id="{BEEB5917-411F-9807-A62C-ADFA1E4EE02F}"/>
              </a:ext>
            </a:extLst>
          </p:cNvPr>
          <p:cNvSpPr txBox="1"/>
          <p:nvPr/>
        </p:nvSpPr>
        <p:spPr>
          <a:xfrm>
            <a:off x="1210969" y="2312538"/>
            <a:ext cx="2517036" cy="369332"/>
          </a:xfrm>
          <a:prstGeom prst="rect">
            <a:avLst/>
          </a:prstGeom>
          <a:noFill/>
        </p:spPr>
        <p:txBody>
          <a:bodyPr wrap="none" rtlCol="0">
            <a:spAutoFit/>
          </a:bodyPr>
          <a:lstStyle/>
          <a:p>
            <a:r>
              <a:rPr kumimoji="1" lang="en-US" altLang="ja-JP"/>
              <a:t>(1)</a:t>
            </a:r>
            <a:r>
              <a:rPr kumimoji="1" lang="ja-JP" altLang="en-US"/>
              <a:t> 零点を無限に飛ばす</a:t>
            </a:r>
          </a:p>
        </p:txBody>
      </p:sp>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D919D1C2-F46A-44A0-0029-CE2CE87D9E6E}"/>
                  </a:ext>
                </a:extLst>
              </p:cNvPr>
              <p:cNvSpPr txBox="1"/>
              <p:nvPr/>
            </p:nvSpPr>
            <p:spPr>
              <a:xfrm>
                <a:off x="1812557" y="2720972"/>
                <a:ext cx="2211888" cy="5690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 ⇒ </m:t>
                      </m:r>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𝑅</m:t>
                          </m:r>
                        </m:e>
                        <m:sub>
                          <m:r>
                            <m:rPr>
                              <m:sty m:val="p"/>
                            </m:rPr>
                            <a:rPr kumimoji="1" lang="en-US" altLang="ja-JP" b="0" i="0" smtClean="0">
                              <a:latin typeface="Cambria Math" panose="02040503050406030204" pitchFamily="18" charset="0"/>
                              <a:ea typeface="Cambria Math" panose="02040503050406030204" pitchFamily="18" charset="0"/>
                            </a:rPr>
                            <m:t>C</m:t>
                          </m:r>
                        </m:sub>
                      </m:sSub>
                      <m:r>
                        <a:rPr kumimoji="1" lang="en-US" altLang="ja-JP" b="0" i="1" smtClean="0">
                          <a:latin typeface="Cambria Math" panose="02040503050406030204" pitchFamily="18" charset="0"/>
                          <a:ea typeface="Cambria Math" panose="02040503050406030204" pitchFamily="18" charset="0"/>
                        </a:rPr>
                        <m:t>=</m:t>
                      </m:r>
                      <m:f>
                        <m:fPr>
                          <m:ctrlPr>
                            <a:rPr kumimoji="1" lang="en-US" altLang="ja-JP" b="0" i="1" smtClean="0">
                              <a:latin typeface="Cambria Math" panose="02040503050406030204" pitchFamily="18" charset="0"/>
                              <a:ea typeface="Cambria Math" panose="02040503050406030204" pitchFamily="18" charset="0"/>
                            </a:rPr>
                          </m:ctrlPr>
                        </m:fPr>
                        <m:num>
                          <m:r>
                            <a:rPr kumimoji="1" lang="en-US" altLang="ja-JP" b="0" i="1" smtClean="0">
                              <a:latin typeface="Cambria Math" panose="02040503050406030204" pitchFamily="18" charset="0"/>
                              <a:ea typeface="Cambria Math" panose="02040503050406030204" pitchFamily="18" charset="0"/>
                            </a:rPr>
                            <m:t>1</m:t>
                          </m:r>
                        </m:num>
                        <m:den>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𝑔</m:t>
                              </m:r>
                            </m:e>
                            <m:sub>
                              <m:r>
                                <m:rPr>
                                  <m:sty m:val="p"/>
                                </m:rPr>
                                <a:rPr kumimoji="1" lang="en-US" altLang="ja-JP" b="0" i="0" smtClean="0">
                                  <a:latin typeface="Cambria Math" panose="02040503050406030204" pitchFamily="18" charset="0"/>
                                  <a:ea typeface="Cambria Math" panose="02040503050406030204" pitchFamily="18" charset="0"/>
                                </a:rPr>
                                <m:t>m</m:t>
                              </m:r>
                              <m:r>
                                <a:rPr kumimoji="1" lang="en-US" altLang="ja-JP" b="0" i="0" smtClean="0">
                                  <a:latin typeface="Cambria Math" panose="02040503050406030204" pitchFamily="18" charset="0"/>
                                  <a:ea typeface="Cambria Math" panose="02040503050406030204" pitchFamily="18" charset="0"/>
                                </a:rPr>
                                <m:t>7</m:t>
                              </m:r>
                            </m:sub>
                          </m:sSub>
                        </m:den>
                      </m:f>
                    </m:oMath>
                  </m:oMathPara>
                </a14:m>
                <a:endParaRPr kumimoji="1" lang="ja-JP" altLang="en-US"/>
              </a:p>
            </p:txBody>
          </p:sp>
        </mc:Choice>
        <mc:Fallback xmlns="">
          <p:sp>
            <p:nvSpPr>
              <p:cNvPr id="54" name="テキスト ボックス 53">
                <a:extLst>
                  <a:ext uri="{FF2B5EF4-FFF2-40B4-BE49-F238E27FC236}">
                    <a16:creationId xmlns:a16="http://schemas.microsoft.com/office/drawing/2014/main" id="{D919D1C2-F46A-44A0-0029-CE2CE87D9E6E}"/>
                  </a:ext>
                </a:extLst>
              </p:cNvPr>
              <p:cNvSpPr txBox="1">
                <a:spLocks noRot="1" noChangeAspect="1" noMove="1" noResize="1" noEditPoints="1" noAdjustHandles="1" noChangeArrowheads="1" noChangeShapeType="1" noTextEdit="1"/>
              </p:cNvSpPr>
              <p:nvPr/>
            </p:nvSpPr>
            <p:spPr>
              <a:xfrm>
                <a:off x="1812557" y="2720972"/>
                <a:ext cx="2211888" cy="56900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437806E2-20A7-8D9B-01C5-C630436823E3}"/>
                  </a:ext>
                </a:extLst>
              </p:cNvPr>
              <p:cNvSpPr txBox="1"/>
              <p:nvPr/>
            </p:nvSpPr>
            <p:spPr>
              <a:xfrm>
                <a:off x="1776456" y="3869306"/>
                <a:ext cx="2022990" cy="519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m:rPr>
                              <m:sty m:val="p"/>
                            </m:rPr>
                            <a:rPr lang="en-US" altLang="ja-JP" b="0" i="0" smtClean="0">
                              <a:latin typeface="Cambria Math" panose="02040503050406030204" pitchFamily="18" charset="0"/>
                            </a:rPr>
                            <m:t>p</m:t>
                          </m:r>
                          <m:r>
                            <a:rPr lang="en-US" altLang="ja-JP" b="0" i="0" smtClean="0">
                              <a:latin typeface="Cambria Math" panose="02040503050406030204" pitchFamily="18" charset="0"/>
                            </a:rPr>
                            <m:t>2</m:t>
                          </m:r>
                        </m:sub>
                      </m:sSub>
                      <m:r>
                        <a:rPr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den>
                      </m:f>
                    </m:oMath>
                  </m:oMathPara>
                </a14:m>
                <a:endParaRPr kumimoji="1" lang="ja-JP" altLang="en-US"/>
              </a:p>
            </p:txBody>
          </p:sp>
        </mc:Choice>
        <mc:Fallback xmlns="">
          <p:sp>
            <p:nvSpPr>
              <p:cNvPr id="58" name="テキスト ボックス 57">
                <a:extLst>
                  <a:ext uri="{FF2B5EF4-FFF2-40B4-BE49-F238E27FC236}">
                    <a16:creationId xmlns:a16="http://schemas.microsoft.com/office/drawing/2014/main" id="{437806E2-20A7-8D9B-01C5-C630436823E3}"/>
                  </a:ext>
                </a:extLst>
              </p:cNvPr>
              <p:cNvSpPr txBox="1">
                <a:spLocks noRot="1" noChangeAspect="1" noMove="1" noResize="1" noEditPoints="1" noAdjustHandles="1" noChangeArrowheads="1" noChangeShapeType="1" noTextEdit="1"/>
              </p:cNvSpPr>
              <p:nvPr/>
            </p:nvSpPr>
            <p:spPr>
              <a:xfrm>
                <a:off x="1776456" y="3869306"/>
                <a:ext cx="2022990" cy="519694"/>
              </a:xfrm>
              <a:prstGeom prst="rect">
                <a:avLst/>
              </a:prstGeom>
              <a:blipFill>
                <a:blip r:embed="rId4"/>
                <a:stretch>
                  <a:fillRect/>
                </a:stretch>
              </a:blipFill>
            </p:spPr>
            <p:txBody>
              <a:bodyPr/>
              <a:lstStyle/>
              <a:p>
                <a:r>
                  <a:rPr lang="ja-JP" altLang="en-US">
                    <a:noFill/>
                  </a:rPr>
                  <a:t> </a:t>
                </a:r>
              </a:p>
            </p:txBody>
          </p:sp>
        </mc:Fallback>
      </mc:AlternateContent>
      <p:sp>
        <p:nvSpPr>
          <p:cNvPr id="60" name="テキスト ボックス 59">
            <a:extLst>
              <a:ext uri="{FF2B5EF4-FFF2-40B4-BE49-F238E27FC236}">
                <a16:creationId xmlns:a16="http://schemas.microsoft.com/office/drawing/2014/main" id="{EECA0DCC-9F26-EA22-3B16-25EF5B27CF72}"/>
              </a:ext>
            </a:extLst>
          </p:cNvPr>
          <p:cNvSpPr txBox="1"/>
          <p:nvPr/>
        </p:nvSpPr>
        <p:spPr>
          <a:xfrm>
            <a:off x="1216263" y="3443365"/>
            <a:ext cx="2496196" cy="369332"/>
          </a:xfrm>
          <a:prstGeom prst="rect">
            <a:avLst/>
          </a:prstGeom>
          <a:noFill/>
        </p:spPr>
        <p:txBody>
          <a:bodyPr wrap="none" rtlCol="0">
            <a:spAutoFit/>
          </a:bodyPr>
          <a:lstStyle/>
          <a:p>
            <a:r>
              <a:rPr kumimoji="1" lang="en-US" altLang="ja-JP"/>
              <a:t>(2)</a:t>
            </a:r>
            <a:r>
              <a:rPr kumimoji="1" lang="ja-JP" altLang="en-US"/>
              <a:t> 零点と第二極で相殺</a:t>
            </a:r>
          </a:p>
        </p:txBody>
      </p:sp>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F13538AA-1485-31C3-CA37-580E4AD6EA1C}"/>
                  </a:ext>
                </a:extLst>
              </p:cNvPr>
              <p:cNvSpPr txBox="1"/>
              <p:nvPr/>
            </p:nvSpPr>
            <p:spPr>
              <a:xfrm>
                <a:off x="1903658" y="4551005"/>
                <a:ext cx="263123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den>
                      </m:f>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1+</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C</m:t>
                                  </m:r>
                                </m:sub>
                              </m:sSub>
                            </m:den>
                          </m:f>
                        </m:e>
                      </m:d>
                    </m:oMath>
                  </m:oMathPara>
                </a14:m>
                <a:endParaRPr kumimoji="1" lang="ja-JP" altLang="en-US"/>
              </a:p>
            </p:txBody>
          </p:sp>
        </mc:Choice>
        <mc:Fallback xmlns="">
          <p:sp>
            <p:nvSpPr>
              <p:cNvPr id="63" name="テキスト ボックス 62">
                <a:extLst>
                  <a:ext uri="{FF2B5EF4-FFF2-40B4-BE49-F238E27FC236}">
                    <a16:creationId xmlns:a16="http://schemas.microsoft.com/office/drawing/2014/main" id="{F13538AA-1485-31C3-CA37-580E4AD6EA1C}"/>
                  </a:ext>
                </a:extLst>
              </p:cNvPr>
              <p:cNvSpPr txBox="1">
                <a:spLocks noRot="1" noChangeAspect="1" noMove="1" noResize="1" noEditPoints="1" noAdjustHandles="1" noChangeArrowheads="1" noChangeShapeType="1" noTextEdit="1"/>
              </p:cNvSpPr>
              <p:nvPr/>
            </p:nvSpPr>
            <p:spPr>
              <a:xfrm>
                <a:off x="1903658" y="4551005"/>
                <a:ext cx="2631233" cy="622350"/>
              </a:xfrm>
              <a:prstGeom prst="rect">
                <a:avLst/>
              </a:prstGeom>
              <a:blipFill>
                <a:blip r:embed="rId5"/>
                <a:stretch>
                  <a:fillRect/>
                </a:stretch>
              </a:blipFill>
            </p:spPr>
            <p:txBody>
              <a:bodyPr/>
              <a:lstStyle/>
              <a:p>
                <a:r>
                  <a:rPr lang="ja-JP" altLang="en-US">
                    <a:noFill/>
                  </a:rPr>
                  <a:t> </a:t>
                </a:r>
              </a:p>
            </p:txBody>
          </p:sp>
        </mc:Fallback>
      </mc:AlternateContent>
      <p:sp>
        <p:nvSpPr>
          <p:cNvPr id="64" name="テキスト ボックス 63">
            <a:extLst>
              <a:ext uri="{FF2B5EF4-FFF2-40B4-BE49-F238E27FC236}">
                <a16:creationId xmlns:a16="http://schemas.microsoft.com/office/drawing/2014/main" id="{C757655C-1432-453F-E62E-BE6D95EC3977}"/>
              </a:ext>
            </a:extLst>
          </p:cNvPr>
          <p:cNvSpPr txBox="1"/>
          <p:nvPr/>
        </p:nvSpPr>
        <p:spPr>
          <a:xfrm>
            <a:off x="1055746" y="5393122"/>
            <a:ext cx="5044971" cy="923330"/>
          </a:xfrm>
          <a:prstGeom prst="rect">
            <a:avLst/>
          </a:prstGeom>
          <a:noFill/>
        </p:spPr>
        <p:txBody>
          <a:bodyPr wrap="none" rtlCol="0">
            <a:spAutoFit/>
          </a:bodyPr>
          <a:lstStyle/>
          <a:p>
            <a:r>
              <a:rPr kumimoji="1" lang="ja-JP" altLang="en-US">
                <a:solidFill>
                  <a:srgbClr val="FF0000"/>
                </a:solidFill>
              </a:rPr>
              <a:t>いずれにせよ「 </a:t>
            </a:r>
            <a:r>
              <a:rPr lang="en-US" altLang="ja-JP" i="1" dirty="0">
                <a:solidFill>
                  <a:srgbClr val="FF0000"/>
                </a:solidFill>
                <a:latin typeface="Times New Roman" panose="02020603050405020304" pitchFamily="18" charset="0"/>
                <a:cs typeface="Times New Roman" panose="02020603050405020304" pitchFamily="18" charset="0"/>
              </a:rPr>
              <a:t>g</a:t>
            </a:r>
            <a:r>
              <a:rPr lang="en-US" altLang="ja-JP" baseline="-25000" dirty="0">
                <a:solidFill>
                  <a:srgbClr val="FF0000"/>
                </a:solidFill>
                <a:latin typeface="Times New Roman" panose="02020603050405020304" pitchFamily="18" charset="0"/>
                <a:cs typeface="Times New Roman" panose="02020603050405020304" pitchFamily="18" charset="0"/>
              </a:rPr>
              <a:t>m7</a:t>
            </a:r>
            <a:r>
              <a:rPr lang="en-US" altLang="ja-JP" i="1" dirty="0">
                <a:solidFill>
                  <a:srgbClr val="FF0000"/>
                </a:solidFill>
                <a:latin typeface="Times New Roman" panose="02020603050405020304" pitchFamily="18" charset="0"/>
                <a:cs typeface="Times New Roman" panose="02020603050405020304" pitchFamily="18" charset="0"/>
              </a:rPr>
              <a:t>R</a:t>
            </a:r>
            <a:r>
              <a:rPr lang="en-US" altLang="ja-JP" baseline="-25000" dirty="0">
                <a:solidFill>
                  <a:srgbClr val="FF0000"/>
                </a:solidFill>
                <a:latin typeface="Times New Roman" panose="02020603050405020304" pitchFamily="18" charset="0"/>
                <a:cs typeface="Times New Roman" panose="02020603050405020304" pitchFamily="18" charset="0"/>
              </a:rPr>
              <a:t>C</a:t>
            </a:r>
            <a:r>
              <a:rPr lang="en-US" altLang="ja-JP" dirty="0">
                <a:solidFill>
                  <a:srgbClr val="FF0000"/>
                </a:solidFill>
              </a:rPr>
              <a:t>=</a:t>
            </a:r>
            <a:r>
              <a:rPr lang="ja-JP" altLang="en-US">
                <a:solidFill>
                  <a:srgbClr val="FF0000"/>
                </a:solidFill>
              </a:rPr>
              <a:t>一定」が必須条件</a:t>
            </a:r>
            <a:endParaRPr lang="en-US" altLang="ja-JP" dirty="0">
              <a:solidFill>
                <a:srgbClr val="FF0000"/>
              </a:solidFill>
            </a:endParaRPr>
          </a:p>
          <a:p>
            <a:r>
              <a:rPr lang="en-US" altLang="ja-JP" i="1" dirty="0">
                <a:solidFill>
                  <a:srgbClr val="FF0000"/>
                </a:solidFill>
                <a:latin typeface="Times New Roman" panose="02020603050405020304" pitchFamily="18" charset="0"/>
                <a:cs typeface="Times New Roman" panose="02020603050405020304" pitchFamily="18" charset="0"/>
              </a:rPr>
              <a:t>R</a:t>
            </a:r>
            <a:r>
              <a:rPr lang="en-US" altLang="ja-JP" baseline="-25000" dirty="0">
                <a:solidFill>
                  <a:srgbClr val="FF0000"/>
                </a:solidFill>
                <a:latin typeface="Times New Roman" panose="02020603050405020304" pitchFamily="18" charset="0"/>
                <a:cs typeface="Times New Roman" panose="02020603050405020304" pitchFamily="18" charset="0"/>
              </a:rPr>
              <a:t>C</a:t>
            </a:r>
            <a:r>
              <a:rPr lang="ja-JP" altLang="en-US">
                <a:solidFill>
                  <a:srgbClr val="FF0000"/>
                </a:solidFill>
                <a:latin typeface="Times New Roman" panose="02020603050405020304" pitchFamily="18" charset="0"/>
                <a:cs typeface="Times New Roman" panose="02020603050405020304" pitchFamily="18" charset="0"/>
              </a:rPr>
              <a:t>が固定値では位相補償が外れる可能性がある</a:t>
            </a:r>
            <a:br>
              <a:rPr lang="en-US" altLang="ja-JP" dirty="0">
                <a:solidFill>
                  <a:srgbClr val="FF0000"/>
                </a:solidFill>
                <a:latin typeface="Times New Roman" panose="02020603050405020304" pitchFamily="18" charset="0"/>
                <a:cs typeface="Times New Roman" panose="02020603050405020304" pitchFamily="18" charset="0"/>
              </a:rPr>
            </a:br>
            <a:r>
              <a:rPr lang="en-US" altLang="ja-JP" dirty="0">
                <a:solidFill>
                  <a:srgbClr val="FF0000"/>
                </a:solidFill>
                <a:latin typeface="Times New Roman" panose="02020603050405020304" pitchFamily="18" charset="0"/>
                <a:cs typeface="Times New Roman" panose="02020603050405020304" pitchFamily="18" charset="0"/>
              </a:rPr>
              <a:t>※</a:t>
            </a:r>
            <a:r>
              <a:rPr lang="ja-JP" altLang="en-US">
                <a:solidFill>
                  <a:srgbClr val="FF0000"/>
                </a:solidFill>
                <a:latin typeface="Times New Roman" panose="02020603050405020304" pitchFamily="18" charset="0"/>
                <a:cs typeface="Times New Roman" panose="02020603050405020304" pitchFamily="18" charset="0"/>
              </a:rPr>
              <a:t>「</a:t>
            </a:r>
            <a:r>
              <a:rPr lang="en-US" altLang="ja-JP" dirty="0" err="1">
                <a:solidFill>
                  <a:srgbClr val="FF0000"/>
                </a:solidFill>
                <a:latin typeface="Times New Roman" panose="02020603050405020304" pitchFamily="18" charset="0"/>
                <a:cs typeface="Times New Roman" panose="02020603050405020304" pitchFamily="18" charset="0"/>
              </a:rPr>
              <a:t>μCox</a:t>
            </a:r>
            <a:r>
              <a:rPr lang="ja-JP" altLang="en-US">
                <a:solidFill>
                  <a:srgbClr val="FF0000"/>
                </a:solidFill>
                <a:latin typeface="Times New Roman" panose="02020603050405020304" pitchFamily="18" charset="0"/>
                <a:cs typeface="Times New Roman" panose="02020603050405020304" pitchFamily="18" charset="0"/>
              </a:rPr>
              <a:t>」ページより</a:t>
            </a:r>
            <a:r>
              <a:rPr lang="en-US" altLang="ja-JP" i="1" dirty="0">
                <a:solidFill>
                  <a:srgbClr val="FF0000"/>
                </a:solidFill>
                <a:latin typeface="Times New Roman" panose="02020603050405020304" pitchFamily="18" charset="0"/>
                <a:cs typeface="Times New Roman" panose="02020603050405020304" pitchFamily="18" charset="0"/>
              </a:rPr>
              <a:t>g</a:t>
            </a:r>
            <a:r>
              <a:rPr lang="en-US" altLang="ja-JP" baseline="-25000" dirty="0">
                <a:solidFill>
                  <a:srgbClr val="FF0000"/>
                </a:solidFill>
                <a:latin typeface="Times New Roman" panose="02020603050405020304" pitchFamily="18" charset="0"/>
                <a:cs typeface="Times New Roman" panose="02020603050405020304" pitchFamily="18" charset="0"/>
              </a:rPr>
              <a:t>m</a:t>
            </a:r>
            <a:r>
              <a:rPr lang="ja-JP" altLang="en-US">
                <a:solidFill>
                  <a:srgbClr val="FF0000"/>
                </a:solidFill>
                <a:latin typeface="Times New Roman" panose="02020603050405020304" pitchFamily="18" charset="0"/>
                <a:cs typeface="Times New Roman" panose="02020603050405020304" pitchFamily="18" charset="0"/>
              </a:rPr>
              <a:t>は一定ではない</a:t>
            </a:r>
            <a:endParaRPr kumimoji="1" lang="ja-JP" altLang="en-US">
              <a:solidFill>
                <a:srgbClr val="FF0000"/>
              </a:solidFill>
            </a:endParaRPr>
          </a:p>
        </p:txBody>
      </p:sp>
      <p:grpSp>
        <p:nvGrpSpPr>
          <p:cNvPr id="65" name="グループ化 64">
            <a:extLst>
              <a:ext uri="{FF2B5EF4-FFF2-40B4-BE49-F238E27FC236}">
                <a16:creationId xmlns:a16="http://schemas.microsoft.com/office/drawing/2014/main" id="{08C38B8A-363E-46FF-F915-41B37B3FDE19}"/>
              </a:ext>
            </a:extLst>
          </p:cNvPr>
          <p:cNvGrpSpPr/>
          <p:nvPr/>
        </p:nvGrpSpPr>
        <p:grpSpPr>
          <a:xfrm>
            <a:off x="7806203" y="1727558"/>
            <a:ext cx="4338439" cy="4661918"/>
            <a:chOff x="7719661" y="1642639"/>
            <a:chExt cx="4338439" cy="4661918"/>
          </a:xfrm>
        </p:grpSpPr>
        <p:cxnSp>
          <p:nvCxnSpPr>
            <p:cNvPr id="66" name="直線コネクタ 65">
              <a:extLst>
                <a:ext uri="{FF2B5EF4-FFF2-40B4-BE49-F238E27FC236}">
                  <a16:creationId xmlns:a16="http://schemas.microsoft.com/office/drawing/2014/main" id="{597D9CA9-B189-B08C-8E0D-11AB91501F5A}"/>
                </a:ext>
              </a:extLst>
            </p:cNvPr>
            <p:cNvCxnSpPr/>
            <p:nvPr/>
          </p:nvCxnSpPr>
          <p:spPr>
            <a:xfrm>
              <a:off x="10518371" y="6304557"/>
              <a:ext cx="648072"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28EFCBD1-49CB-359B-8D31-8A2A3B7E2B99}"/>
                </a:ext>
              </a:extLst>
            </p:cNvPr>
            <p:cNvCxnSpPr/>
            <p:nvPr/>
          </p:nvCxnSpPr>
          <p:spPr>
            <a:xfrm>
              <a:off x="9798291" y="2326715"/>
              <a:ext cx="50405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4212997-9411-467F-A4E8-FED8BB5C930F}"/>
                </a:ext>
              </a:extLst>
            </p:cNvPr>
            <p:cNvCxnSpPr/>
            <p:nvPr/>
          </p:nvCxnSpPr>
          <p:spPr>
            <a:xfrm>
              <a:off x="10878411" y="2686755"/>
              <a:ext cx="0" cy="25202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FC5F692-86D2-0970-A075-A500C5558517}"/>
                </a:ext>
              </a:extLst>
            </p:cNvPr>
            <p:cNvCxnSpPr/>
            <p:nvPr/>
          </p:nvCxnSpPr>
          <p:spPr>
            <a:xfrm>
              <a:off x="10886955" y="1642639"/>
              <a:ext cx="0" cy="6840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749E9436-02E8-C8FC-0863-7306FFF20344}"/>
                </a:ext>
              </a:extLst>
            </p:cNvPr>
            <p:cNvCxnSpPr/>
            <p:nvPr/>
          </p:nvCxnSpPr>
          <p:spPr>
            <a:xfrm flipH="1">
              <a:off x="10670931" y="1642639"/>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8BCEBD2F-F9FD-8AF3-8C80-32425FCE8AFE}"/>
                </a:ext>
              </a:extLst>
            </p:cNvPr>
            <p:cNvCxnSpPr/>
            <p:nvPr/>
          </p:nvCxnSpPr>
          <p:spPr>
            <a:xfrm flipH="1">
              <a:off x="10451699" y="196667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44F2246-452E-3F78-1178-744EAD6A92DE}"/>
                </a:ext>
              </a:extLst>
            </p:cNvPr>
            <p:cNvCxnSpPr/>
            <p:nvPr/>
          </p:nvCxnSpPr>
          <p:spPr>
            <a:xfrm flipH="1">
              <a:off x="10451699" y="268675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BD2E2C6C-C62C-DC24-FCDD-A0FC490D7D19}"/>
                </a:ext>
              </a:extLst>
            </p:cNvPr>
            <p:cNvCxnSpPr/>
            <p:nvPr/>
          </p:nvCxnSpPr>
          <p:spPr>
            <a:xfrm>
              <a:off x="10451699"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FD6A0911-2223-C1D3-B5BB-3A67E9A9CFB6}"/>
                </a:ext>
              </a:extLst>
            </p:cNvPr>
            <p:cNvCxnSpPr/>
            <p:nvPr/>
          </p:nvCxnSpPr>
          <p:spPr>
            <a:xfrm>
              <a:off x="10307683"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E036A044-1F14-2724-8907-B55FB06D1AFC}"/>
                </a:ext>
              </a:extLst>
            </p:cNvPr>
            <p:cNvCxnSpPr/>
            <p:nvPr/>
          </p:nvCxnSpPr>
          <p:spPr>
            <a:xfrm flipH="1">
              <a:off x="10445283" y="2326715"/>
              <a:ext cx="438464" cy="0"/>
            </a:xfrm>
            <a:prstGeom prst="line">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5B7A6CD-06B7-53B3-2855-1683190DBD0B}"/>
                </a:ext>
              </a:extLst>
            </p:cNvPr>
            <p:cNvCxnSpPr/>
            <p:nvPr/>
          </p:nvCxnSpPr>
          <p:spPr>
            <a:xfrm flipH="1">
              <a:off x="10446363" y="520703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47175585-A2B9-B792-DF1A-0BE5D9A2F40F}"/>
                </a:ext>
              </a:extLst>
            </p:cNvPr>
            <p:cNvCxnSpPr/>
            <p:nvPr/>
          </p:nvCxnSpPr>
          <p:spPr>
            <a:xfrm flipH="1">
              <a:off x="10446363" y="592711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BEE9B0F4-2E4E-76AA-875B-4A5824DA8FD7}"/>
                </a:ext>
              </a:extLst>
            </p:cNvPr>
            <p:cNvCxnSpPr/>
            <p:nvPr/>
          </p:nvCxnSpPr>
          <p:spPr>
            <a:xfrm>
              <a:off x="10446363"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7046D07E-A195-2E6A-D812-0E56596D7350}"/>
                </a:ext>
              </a:extLst>
            </p:cNvPr>
            <p:cNvCxnSpPr/>
            <p:nvPr/>
          </p:nvCxnSpPr>
          <p:spPr>
            <a:xfrm>
              <a:off x="10302347"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C1757B1A-EA47-2943-545A-B2D607EF6146}"/>
                </a:ext>
              </a:extLst>
            </p:cNvPr>
            <p:cNvCxnSpPr/>
            <p:nvPr/>
          </p:nvCxnSpPr>
          <p:spPr>
            <a:xfrm flipH="1">
              <a:off x="10439947" y="5567075"/>
              <a:ext cx="438464" cy="0"/>
            </a:xfrm>
            <a:prstGeom prst="line">
              <a:avLst/>
            </a:prstGeom>
            <a:ln w="19050">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FBF4B44F-76B4-2CAA-FD42-1CB201BE77AC}"/>
                </a:ext>
              </a:extLst>
            </p:cNvPr>
            <p:cNvCxnSpPr/>
            <p:nvPr/>
          </p:nvCxnSpPr>
          <p:spPr>
            <a:xfrm>
              <a:off x="10878411" y="5583386"/>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E0042E05-6435-3EC9-AFFE-45DB053F98FF}"/>
                </a:ext>
              </a:extLst>
            </p:cNvPr>
            <p:cNvCxnSpPr/>
            <p:nvPr/>
          </p:nvCxnSpPr>
          <p:spPr>
            <a:xfrm>
              <a:off x="9798291" y="3824399"/>
              <a:ext cx="108866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3" name="円/楕円 19">
              <a:extLst>
                <a:ext uri="{FF2B5EF4-FFF2-40B4-BE49-F238E27FC236}">
                  <a16:creationId xmlns:a16="http://schemas.microsoft.com/office/drawing/2014/main" id="{C653EB0E-A7C2-5221-ED1D-85226CE4B57B}"/>
                </a:ext>
              </a:extLst>
            </p:cNvPr>
            <p:cNvSpPr/>
            <p:nvPr/>
          </p:nvSpPr>
          <p:spPr>
            <a:xfrm>
              <a:off x="10839820" y="379464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コネクタ 83">
              <a:extLst>
                <a:ext uri="{FF2B5EF4-FFF2-40B4-BE49-F238E27FC236}">
                  <a16:creationId xmlns:a16="http://schemas.microsoft.com/office/drawing/2014/main" id="{6FDAC5C0-56EB-D7E4-F30A-145461AA4DFD}"/>
                </a:ext>
              </a:extLst>
            </p:cNvPr>
            <p:cNvCxnSpPr/>
            <p:nvPr/>
          </p:nvCxnSpPr>
          <p:spPr>
            <a:xfrm>
              <a:off x="9798291"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13330576-F6C6-5F0B-B109-9008967000DD}"/>
                </a:ext>
              </a:extLst>
            </p:cNvPr>
            <p:cNvCxnSpPr/>
            <p:nvPr/>
          </p:nvCxnSpPr>
          <p:spPr>
            <a:xfrm>
              <a:off x="9654275"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24B0371B-DC66-A15B-FB8E-9056D576E12E}"/>
                </a:ext>
              </a:extLst>
            </p:cNvPr>
            <p:cNvCxnSpPr/>
            <p:nvPr/>
          </p:nvCxnSpPr>
          <p:spPr>
            <a:xfrm>
              <a:off x="9294125" y="3824404"/>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CB5DC730-8F66-6B1F-4868-EF188CD7557E}"/>
                </a:ext>
              </a:extLst>
            </p:cNvPr>
            <p:cNvCxnSpPr/>
            <p:nvPr/>
          </p:nvCxnSpPr>
          <p:spPr>
            <a:xfrm>
              <a:off x="8213895" y="5567076"/>
              <a:ext cx="2101313"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2C4F86E4-ADD5-4884-0FE0-2BF5049DBBB3}"/>
                </a:ext>
              </a:extLst>
            </p:cNvPr>
            <p:cNvCxnSpPr/>
            <p:nvPr/>
          </p:nvCxnSpPr>
          <p:spPr>
            <a:xfrm>
              <a:off x="8213895" y="3830647"/>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795A2E39-59C4-4347-D79A-155BC38A6A9C}"/>
                </a:ext>
              </a:extLst>
            </p:cNvPr>
            <p:cNvCxnSpPr/>
            <p:nvPr/>
          </p:nvCxnSpPr>
          <p:spPr>
            <a:xfrm flipV="1">
              <a:off x="8213895" y="3844006"/>
              <a:ext cx="0" cy="172306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01FED2E2-96E4-19A8-4EFD-2BDE8D3C79B7}"/>
                </a:ext>
              </a:extLst>
            </p:cNvPr>
            <p:cNvCxnSpPr/>
            <p:nvPr/>
          </p:nvCxnSpPr>
          <p:spPr>
            <a:xfrm>
              <a:off x="7853745" y="4494598"/>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1" name="円/楕円 19">
              <a:extLst>
                <a:ext uri="{FF2B5EF4-FFF2-40B4-BE49-F238E27FC236}">
                  <a16:creationId xmlns:a16="http://schemas.microsoft.com/office/drawing/2014/main" id="{E9636382-EE21-DB22-E7D7-1C6BDB082422}"/>
                </a:ext>
              </a:extLst>
            </p:cNvPr>
            <p:cNvSpPr/>
            <p:nvPr/>
          </p:nvSpPr>
          <p:spPr>
            <a:xfrm>
              <a:off x="8177891" y="446138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2" name="直線コネクタ 91">
              <a:extLst>
                <a:ext uri="{FF2B5EF4-FFF2-40B4-BE49-F238E27FC236}">
                  <a16:creationId xmlns:a16="http://schemas.microsoft.com/office/drawing/2014/main" id="{AD108816-0FB7-FB59-F22B-05A0F486632A}"/>
                </a:ext>
              </a:extLst>
            </p:cNvPr>
            <p:cNvCxnSpPr/>
            <p:nvPr/>
          </p:nvCxnSpPr>
          <p:spPr>
            <a:xfrm flipH="1">
              <a:off x="10886955" y="3828723"/>
              <a:ext cx="56752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3" name="円/楕円 20">
              <a:extLst>
                <a:ext uri="{FF2B5EF4-FFF2-40B4-BE49-F238E27FC236}">
                  <a16:creationId xmlns:a16="http://schemas.microsoft.com/office/drawing/2014/main" id="{6EDF3955-4AF3-D1AF-BBD3-B2B65C0953B9}"/>
                </a:ext>
              </a:extLst>
            </p:cNvPr>
            <p:cNvSpPr/>
            <p:nvPr/>
          </p:nvSpPr>
          <p:spPr>
            <a:xfrm>
              <a:off x="11390120" y="3755624"/>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20">
              <a:extLst>
                <a:ext uri="{FF2B5EF4-FFF2-40B4-BE49-F238E27FC236}">
                  <a16:creationId xmlns:a16="http://schemas.microsoft.com/office/drawing/2014/main" id="{3CFC98E9-9975-1F62-BD5D-2A4F6FC03589}"/>
                </a:ext>
              </a:extLst>
            </p:cNvPr>
            <p:cNvSpPr/>
            <p:nvPr/>
          </p:nvSpPr>
          <p:spPr>
            <a:xfrm>
              <a:off x="7719661" y="4414947"/>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356312D2-7307-94D8-7FF6-867365CC4E64}"/>
                </a:ext>
              </a:extLst>
            </p:cNvPr>
            <p:cNvSpPr txBox="1"/>
            <p:nvPr/>
          </p:nvSpPr>
          <p:spPr>
            <a:xfrm>
              <a:off x="9504813" y="3150782"/>
              <a:ext cx="407484" cy="369332"/>
            </a:xfrm>
            <a:prstGeom prst="rect">
              <a:avLst/>
            </a:prstGeom>
            <a:noFill/>
          </p:spPr>
          <p:txBody>
            <a:bodyPr wrap="none" rtlCol="0">
              <a:spAutoFit/>
            </a:bodyPr>
            <a:lstStyle/>
            <a:p>
              <a:r>
                <a:rPr kumimoji="1" lang="en-US" altLang="ja-JP" i="1">
                  <a:latin typeface="Times New Roman" panose="02020603050405020304" pitchFamily="18" charset="0"/>
                  <a:cs typeface="Times New Roman" panose="02020603050405020304" pitchFamily="18" charset="0"/>
                </a:rPr>
                <a:t>C</a:t>
              </a:r>
              <a:r>
                <a:rPr lang="en-US" altLang="ja-JP" baseline="-25000">
                  <a:latin typeface="Times New Roman" panose="02020603050405020304" pitchFamily="18" charset="0"/>
                  <a:cs typeface="Times New Roman" panose="02020603050405020304" pitchFamily="18" charset="0"/>
                </a:rPr>
                <a:t>c</a:t>
              </a:r>
              <a:endParaRPr kumimoji="1" lang="ja-JP" altLang="en-US" baseline="-25000">
                <a:latin typeface="Times New Roman" panose="02020603050405020304" pitchFamily="18" charset="0"/>
                <a:cs typeface="Times New Roman" panose="02020603050405020304" pitchFamily="18" charset="0"/>
              </a:endParaRPr>
            </a:p>
          </p:txBody>
        </p:sp>
        <p:sp>
          <p:nvSpPr>
            <p:cNvPr id="96" name="テキスト ボックス 95">
              <a:extLst>
                <a:ext uri="{FF2B5EF4-FFF2-40B4-BE49-F238E27FC236}">
                  <a16:creationId xmlns:a16="http://schemas.microsoft.com/office/drawing/2014/main" id="{F46DC640-17C0-31B9-6C9E-FD233B42914A}"/>
                </a:ext>
              </a:extLst>
            </p:cNvPr>
            <p:cNvSpPr txBox="1"/>
            <p:nvPr/>
          </p:nvSpPr>
          <p:spPr>
            <a:xfrm>
              <a:off x="11535200" y="3637015"/>
              <a:ext cx="522900" cy="369332"/>
            </a:xfrm>
            <a:prstGeom prst="rect">
              <a:avLst/>
            </a:prstGeom>
            <a:noFill/>
          </p:spPr>
          <p:txBody>
            <a:bodyPr wrap="none" rtlCol="0">
              <a:spAutoFit/>
            </a:bodyPr>
            <a:lstStyle/>
            <a:p>
              <a:r>
                <a:rPr kumimoji="1" lang="en-US" altLang="ja-JP" i="1">
                  <a:latin typeface="Times New Roman" panose="02020603050405020304" pitchFamily="18" charset="0"/>
                  <a:cs typeface="Times New Roman" panose="02020603050405020304" pitchFamily="18" charset="0"/>
                </a:rPr>
                <a:t>V</a:t>
              </a:r>
              <a:r>
                <a:rPr kumimoji="1" lang="en-US" altLang="ja-JP" baseline="-25000">
                  <a:latin typeface="Times New Roman" panose="02020603050405020304" pitchFamily="18" charset="0"/>
                  <a:cs typeface="Times New Roman" panose="02020603050405020304" pitchFamily="18" charset="0"/>
                </a:rPr>
                <a:t>out</a:t>
              </a:r>
              <a:endParaRPr kumimoji="1" lang="ja-JP" altLang="en-US" baseline="-25000">
                <a:latin typeface="Times New Roman" panose="02020603050405020304" pitchFamily="18" charset="0"/>
                <a:cs typeface="Times New Roman" panose="02020603050405020304" pitchFamily="18" charset="0"/>
              </a:endParaRPr>
            </a:p>
          </p:txBody>
        </p:sp>
        <p:sp>
          <p:nvSpPr>
            <p:cNvPr id="97" name="正方形/長方形 96">
              <a:extLst>
                <a:ext uri="{FF2B5EF4-FFF2-40B4-BE49-F238E27FC236}">
                  <a16:creationId xmlns:a16="http://schemas.microsoft.com/office/drawing/2014/main" id="{90D0EFF5-405B-174A-9B41-6128FD72BBF3}"/>
                </a:ext>
              </a:extLst>
            </p:cNvPr>
            <p:cNvSpPr/>
            <p:nvPr/>
          </p:nvSpPr>
          <p:spPr>
            <a:xfrm>
              <a:off x="8574045" y="3694867"/>
              <a:ext cx="720080" cy="2880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B7C512A1-0032-0F75-A459-029509EC2DE0}"/>
                </a:ext>
              </a:extLst>
            </p:cNvPr>
            <p:cNvSpPr txBox="1"/>
            <p:nvPr/>
          </p:nvSpPr>
          <p:spPr>
            <a:xfrm>
              <a:off x="8741620" y="3275118"/>
              <a:ext cx="394660" cy="369332"/>
            </a:xfrm>
            <a:prstGeom prst="rect">
              <a:avLst/>
            </a:prstGeom>
            <a:noFill/>
          </p:spPr>
          <p:txBody>
            <a:bodyPr wrap="none" rtlCol="0">
              <a:spAutoFit/>
            </a:bodyPr>
            <a:lstStyle/>
            <a:p>
              <a:r>
                <a:rPr kumimoji="1" lang="en-US" altLang="ja-JP" i="1">
                  <a:latin typeface="Times New Roman" panose="02020603050405020304" pitchFamily="18" charset="0"/>
                  <a:cs typeface="Times New Roman" panose="02020603050405020304" pitchFamily="18" charset="0"/>
                </a:rPr>
                <a:t>R</a:t>
              </a:r>
              <a:r>
                <a:rPr lang="en-US" altLang="ja-JP" baseline="-25000">
                  <a:latin typeface="Times New Roman" panose="02020603050405020304" pitchFamily="18" charset="0"/>
                  <a:cs typeface="Times New Roman" panose="02020603050405020304" pitchFamily="18" charset="0"/>
                </a:rPr>
                <a:t>c</a:t>
              </a:r>
              <a:endParaRPr kumimoji="1" lang="ja-JP" altLang="en-US" baseline="-25000">
                <a:latin typeface="Times New Roman" panose="02020603050405020304" pitchFamily="18" charset="0"/>
                <a:cs typeface="Times New Roman" panose="02020603050405020304" pitchFamily="18" charset="0"/>
              </a:endParaRPr>
            </a:p>
          </p:txBody>
        </p:sp>
        <p:sp>
          <p:nvSpPr>
            <p:cNvPr id="99" name="テキスト ボックス 98">
              <a:extLst>
                <a:ext uri="{FF2B5EF4-FFF2-40B4-BE49-F238E27FC236}">
                  <a16:creationId xmlns:a16="http://schemas.microsoft.com/office/drawing/2014/main" id="{66DFD092-F9CC-5A0A-C472-01F6EE9E9E9F}"/>
                </a:ext>
              </a:extLst>
            </p:cNvPr>
            <p:cNvSpPr txBox="1"/>
            <p:nvPr/>
          </p:nvSpPr>
          <p:spPr>
            <a:xfrm>
              <a:off x="10909323" y="5360327"/>
              <a:ext cx="466794" cy="369332"/>
            </a:xfrm>
            <a:prstGeom prst="rect">
              <a:avLst/>
            </a:prstGeom>
            <a:noFill/>
          </p:spPr>
          <p:txBody>
            <a:bodyPr wrap="none" rtlCol="0">
              <a:spAutoFit/>
            </a:bodyPr>
            <a:lstStyle/>
            <a:p>
              <a:r>
                <a:rPr kumimoji="1" lang="en-US" altLang="ja-JP">
                  <a:latin typeface="Times New Roman" panose="02020603050405020304" pitchFamily="18" charset="0"/>
                  <a:cs typeface="Times New Roman" panose="02020603050405020304" pitchFamily="18" charset="0"/>
                </a:rPr>
                <a:t>M</a:t>
              </a:r>
              <a:r>
                <a:rPr lang="en-US" altLang="ja-JP" baseline="-25000">
                  <a:latin typeface="Times New Roman" panose="02020603050405020304" pitchFamily="18" charset="0"/>
                  <a:cs typeface="Times New Roman" panose="02020603050405020304" pitchFamily="18" charset="0"/>
                </a:rPr>
                <a:t>7</a:t>
              </a:r>
              <a:endParaRPr kumimoji="1" lang="ja-JP" altLang="en-US" baseline="-25000">
                <a:latin typeface="Times New Roman" panose="02020603050405020304" pitchFamily="18" charset="0"/>
                <a:cs typeface="Times New Roman" panose="02020603050405020304" pitchFamily="18" charset="0"/>
              </a:endParaRPr>
            </a:p>
          </p:txBody>
        </p:sp>
        <p:sp>
          <p:nvSpPr>
            <p:cNvPr id="100" name="テキスト ボックス 99">
              <a:extLst>
                <a:ext uri="{FF2B5EF4-FFF2-40B4-BE49-F238E27FC236}">
                  <a16:creationId xmlns:a16="http://schemas.microsoft.com/office/drawing/2014/main" id="{17390A95-76DD-6B98-0C6A-48575009535F}"/>
                </a:ext>
              </a:extLst>
            </p:cNvPr>
            <p:cNvSpPr txBox="1"/>
            <p:nvPr/>
          </p:nvSpPr>
          <p:spPr>
            <a:xfrm>
              <a:off x="10923326" y="2128802"/>
              <a:ext cx="466794" cy="369332"/>
            </a:xfrm>
            <a:prstGeom prst="rect">
              <a:avLst/>
            </a:prstGeom>
            <a:noFill/>
          </p:spPr>
          <p:txBody>
            <a:bodyPr wrap="none" rtlCol="0">
              <a:spAutoFit/>
            </a:bodyPr>
            <a:lstStyle/>
            <a:p>
              <a:r>
                <a:rPr kumimoji="1" lang="en-US" altLang="ja-JP">
                  <a:latin typeface="Times New Roman" panose="02020603050405020304" pitchFamily="18" charset="0"/>
                  <a:cs typeface="Times New Roman" panose="02020603050405020304" pitchFamily="18" charset="0"/>
                </a:rPr>
                <a:t>M</a:t>
              </a:r>
              <a:r>
                <a:rPr lang="en-US" altLang="ja-JP" baseline="-25000">
                  <a:latin typeface="Times New Roman" panose="02020603050405020304" pitchFamily="18" charset="0"/>
                  <a:cs typeface="Times New Roman" panose="02020603050405020304" pitchFamily="18" charset="0"/>
                </a:rPr>
                <a:t>6</a:t>
              </a:r>
              <a:endParaRPr kumimoji="1" lang="ja-JP" altLang="en-US" baseline="-25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215604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4">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54" name="Rectangle 5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5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Rectangle 6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A9D9419-5FBC-6A1E-5784-B50548439166}"/>
              </a:ext>
            </a:extLst>
          </p:cNvPr>
          <p:cNvSpPr>
            <a:spLocks noGrp="1"/>
          </p:cNvSpPr>
          <p:nvPr>
            <p:ph type="title"/>
          </p:nvPr>
        </p:nvSpPr>
        <p:spPr>
          <a:xfrm>
            <a:off x="1043631" y="809898"/>
            <a:ext cx="10173010" cy="1554480"/>
          </a:xfrm>
        </p:spPr>
        <p:txBody>
          <a:bodyPr anchor="ctr">
            <a:normAutofit/>
          </a:bodyPr>
          <a:lstStyle/>
          <a:p>
            <a:r>
              <a:rPr kumimoji="1" lang="ja-JP" altLang="en-US" sz="4800"/>
              <a:t>バイアスレプリカ</a:t>
            </a:r>
          </a:p>
        </p:txBody>
      </p:sp>
      <p:cxnSp>
        <p:nvCxnSpPr>
          <p:cNvPr id="65" name="Straight Connector 6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テキスト ボックス 50">
                <a:extLst>
                  <a:ext uri="{FF2B5EF4-FFF2-40B4-BE49-F238E27FC236}">
                    <a16:creationId xmlns:a16="http://schemas.microsoft.com/office/drawing/2014/main" id="{31C909FB-253A-F3BA-92B1-BECCF5C8C3FB}"/>
                  </a:ext>
                </a:extLst>
              </p:cNvPr>
              <p:cNvSpPr txBox="1"/>
              <p:nvPr/>
            </p:nvSpPr>
            <p:spPr>
              <a:xfrm>
                <a:off x="2344786" y="2682277"/>
                <a:ext cx="3254096" cy="567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m:rPr>
                              <m:sty m:val="p"/>
                            </m:rPr>
                            <a:rPr kumimoji="1" lang="en-US" altLang="ja-JP" b="0" i="0" smtClean="0">
                              <a:latin typeface="Cambria Math" panose="02040503050406030204" pitchFamily="18" charset="0"/>
                            </a:rPr>
                            <m:t>ds</m:t>
                          </m:r>
                          <m:r>
                            <a:rPr kumimoji="1" lang="en-US" altLang="ja-JP" b="0" i="0" smtClean="0">
                              <a:latin typeface="Cambria Math" panose="02040503050406030204" pitchFamily="18" charset="0"/>
                            </a:rPr>
                            <m:t>12</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ja-JP" altLang="en-US" b="0" i="1" smtClean="0">
                              <a:latin typeface="Cambria Math" panose="02040503050406030204" pitchFamily="18" charset="0"/>
                            </a:rPr>
                            <m:t>𝜇</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ox</m:t>
                              </m:r>
                            </m:sub>
                          </m:sSub>
                          <m:sSub>
                            <m:sSubPr>
                              <m:ctrlPr>
                                <a:rPr kumimoji="1" lang="en-US" altLang="ja-JP" b="0" i="1" smtClean="0">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kumimoji="1" lang="en-US" altLang="ja-JP" b="0" i="1" smtClean="0">
                                  <a:latin typeface="Cambria Math" panose="02040503050406030204" pitchFamily="18" charset="0"/>
                                </a:rPr>
                                <m:t>12</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m:rPr>
                                  <m:sty m:val="p"/>
                                </m:rPr>
                                <a:rPr kumimoji="1" lang="en-US" altLang="ja-JP" b="0" i="0" smtClean="0">
                                  <a:latin typeface="Cambria Math" panose="02040503050406030204" pitchFamily="18" charset="0"/>
                                </a:rPr>
                                <m:t>od</m:t>
                              </m:r>
                              <m:r>
                                <a:rPr kumimoji="1" lang="en-US" altLang="ja-JP" b="0" i="0" smtClean="0">
                                  <a:latin typeface="Cambria Math" panose="02040503050406030204" pitchFamily="18" charset="0"/>
                                </a:rPr>
                                <m:t>12</m:t>
                              </m:r>
                            </m:sub>
                          </m:sSub>
                        </m:den>
                      </m:f>
                    </m:oMath>
                  </m:oMathPara>
                </a14:m>
                <a:endParaRPr kumimoji="1" lang="ja-JP" altLang="en-US"/>
              </a:p>
            </p:txBody>
          </p:sp>
        </mc:Choice>
        <mc:Fallback xmlns="">
          <p:sp>
            <p:nvSpPr>
              <p:cNvPr id="51" name="テキスト ボックス 50">
                <a:extLst>
                  <a:ext uri="{FF2B5EF4-FFF2-40B4-BE49-F238E27FC236}">
                    <a16:creationId xmlns:a16="http://schemas.microsoft.com/office/drawing/2014/main" id="{31C909FB-253A-F3BA-92B1-BECCF5C8C3FB}"/>
                  </a:ext>
                </a:extLst>
              </p:cNvPr>
              <p:cNvSpPr txBox="1">
                <a:spLocks noRot="1" noChangeAspect="1" noMove="1" noResize="1" noEditPoints="1" noAdjustHandles="1" noChangeArrowheads="1" noChangeShapeType="1" noTextEdit="1"/>
              </p:cNvSpPr>
              <p:nvPr/>
            </p:nvSpPr>
            <p:spPr>
              <a:xfrm>
                <a:off x="2344786" y="2682277"/>
                <a:ext cx="3254096" cy="56720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8A2DDD5-3AA5-F2FA-6E7F-C7C1CFD29B28}"/>
                  </a:ext>
                </a:extLst>
              </p:cNvPr>
              <p:cNvSpPr txBox="1"/>
              <p:nvPr/>
            </p:nvSpPr>
            <p:spPr>
              <a:xfrm>
                <a:off x="2352289" y="3434516"/>
                <a:ext cx="2573333" cy="3040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lang="ja-JP" altLang="en-US" i="1">
                              <a:latin typeface="Cambria Math" panose="02040503050406030204" pitchFamily="18" charset="0"/>
                            </a:rPr>
                            <m:t>𝜇</m:t>
                          </m:r>
                          <m:sSub>
                            <m:sSubPr>
                              <m:ctrlPr>
                                <a:rPr lang="en-US" altLang="ja-JP" i="1">
                                  <a:latin typeface="Cambria Math" panose="02040503050406030204" pitchFamily="18" charset="0"/>
                                </a:rPr>
                              </m:ctrlPr>
                            </m:sSubPr>
                            <m:e>
                              <m:r>
                                <a:rPr lang="en-US" altLang="ja-JP" i="1">
                                  <a:latin typeface="Cambria Math" panose="02040503050406030204" pitchFamily="18" charset="0"/>
                                </a:rPr>
                                <m:t>𝐶</m:t>
                              </m:r>
                            </m:e>
                            <m:sub>
                              <m:r>
                                <m:rPr>
                                  <m:sty m:val="p"/>
                                </m:rPr>
                                <a:rPr lang="en-US" altLang="ja-JP">
                                  <a:latin typeface="Cambria Math" panose="02040503050406030204" pitchFamily="18" charset="0"/>
                                </a:rPr>
                                <m:t>ox</m:t>
                              </m:r>
                            </m:sub>
                          </m:sSub>
                          <m:sSub>
                            <m:sSubPr>
                              <m:ctrlPr>
                                <a:rPr lang="en-US" altLang="ja-JP" i="1">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lang="en-US" altLang="ja-JP" b="0" i="1" smtClean="0">
                                  <a:latin typeface="Cambria Math" panose="02040503050406030204" pitchFamily="18" charset="0"/>
                                </a:rPr>
                                <m:t>7</m:t>
                              </m:r>
                            </m:sub>
                          </m:sSub>
                          <m:sSub>
                            <m:sSubPr>
                              <m:ctrlPr>
                                <a:rPr lang="en-US" altLang="ja-JP" i="1">
                                  <a:latin typeface="Cambria Math" panose="02040503050406030204" pitchFamily="18" charset="0"/>
                                </a:rPr>
                              </m:ctrlPr>
                            </m:sSubPr>
                            <m:e>
                              <m:r>
                                <a:rPr lang="en-US" altLang="ja-JP" i="1">
                                  <a:latin typeface="Cambria Math" panose="02040503050406030204" pitchFamily="18" charset="0"/>
                                </a:rPr>
                                <m:t>𝑉</m:t>
                              </m:r>
                            </m:e>
                            <m:sub>
                              <m:r>
                                <m:rPr>
                                  <m:sty m:val="p"/>
                                </m:rPr>
                                <a:rPr lang="en-US" altLang="ja-JP" b="0" i="0" smtClean="0">
                                  <a:latin typeface="Cambria Math" panose="02040503050406030204" pitchFamily="18" charset="0"/>
                                </a:rPr>
                                <m:t>od</m:t>
                              </m:r>
                              <m:r>
                                <a:rPr lang="en-US" altLang="ja-JP" b="0" i="1" smtClean="0">
                                  <a:latin typeface="Cambria Math" panose="02040503050406030204" pitchFamily="18" charset="0"/>
                                </a:rPr>
                                <m:t>7</m:t>
                              </m:r>
                            </m:sub>
                          </m:sSub>
                        </m:e>
                        <m:sub/>
                      </m:sSub>
                    </m:oMath>
                  </m:oMathPara>
                </a14:m>
                <a:endParaRPr kumimoji="1" lang="ja-JP" altLang="en-US"/>
              </a:p>
            </p:txBody>
          </p:sp>
        </mc:Choice>
        <mc:Fallback xmlns="">
          <p:sp>
            <p:nvSpPr>
              <p:cNvPr id="66" name="テキスト ボックス 65">
                <a:extLst>
                  <a:ext uri="{FF2B5EF4-FFF2-40B4-BE49-F238E27FC236}">
                    <a16:creationId xmlns:a16="http://schemas.microsoft.com/office/drawing/2014/main" id="{A8A2DDD5-3AA5-F2FA-6E7F-C7C1CFD29B28}"/>
                  </a:ext>
                </a:extLst>
              </p:cNvPr>
              <p:cNvSpPr txBox="1">
                <a:spLocks noRot="1" noChangeAspect="1" noMove="1" noResize="1" noEditPoints="1" noAdjustHandles="1" noChangeArrowheads="1" noChangeShapeType="1" noTextEdit="1"/>
              </p:cNvSpPr>
              <p:nvPr/>
            </p:nvSpPr>
            <p:spPr>
              <a:xfrm>
                <a:off x="2352289" y="3434516"/>
                <a:ext cx="2573333" cy="304058"/>
              </a:xfrm>
              <a:prstGeom prst="rect">
                <a:avLst/>
              </a:prstGeom>
              <a:blipFill>
                <a:blip r:embed="rId3"/>
                <a:stretch>
                  <a:fillRect l="-1896" b="-24000"/>
                </a:stretch>
              </a:blipFill>
            </p:spPr>
            <p:txBody>
              <a:bodyPr/>
              <a:lstStyle/>
              <a:p>
                <a:r>
                  <a:rPr lang="ja-JP" altLang="en-US">
                    <a:noFill/>
                  </a:rPr>
                  <a:t> </a:t>
                </a:r>
              </a:p>
            </p:txBody>
          </p:sp>
        </mc:Fallback>
      </mc:AlternateContent>
      <p:sp>
        <p:nvSpPr>
          <p:cNvPr id="67" name="テキスト ボックス 66">
            <a:extLst>
              <a:ext uri="{FF2B5EF4-FFF2-40B4-BE49-F238E27FC236}">
                <a16:creationId xmlns:a16="http://schemas.microsoft.com/office/drawing/2014/main" id="{DF57DD07-031A-ECCE-5DE1-952FBF35BB83}"/>
              </a:ext>
            </a:extLst>
          </p:cNvPr>
          <p:cNvSpPr txBox="1"/>
          <p:nvPr/>
        </p:nvSpPr>
        <p:spPr>
          <a:xfrm>
            <a:off x="2179249" y="5568315"/>
            <a:ext cx="4052713" cy="830997"/>
          </a:xfrm>
          <a:prstGeom prst="rect">
            <a:avLst/>
          </a:prstGeom>
          <a:noFill/>
        </p:spPr>
        <p:txBody>
          <a:bodyPr wrap="none" rtlCol="0">
            <a:spAutoFit/>
          </a:bodyPr>
          <a:lstStyle/>
          <a:p>
            <a:r>
              <a:rPr kumimoji="1" lang="ja-JP" altLang="en-US" sz="2400">
                <a:solidFill>
                  <a:srgbClr val="FF0000"/>
                </a:solidFill>
              </a:rPr>
              <a:t>つまり</a:t>
            </a:r>
            <a:endParaRPr kumimoji="1" lang="en-US" altLang="ja-JP" sz="2400">
              <a:solidFill>
                <a:srgbClr val="FF0000"/>
              </a:solidFill>
            </a:endParaRPr>
          </a:p>
          <a:p>
            <a:r>
              <a:rPr lang="en-US" altLang="ja-JP" sz="2400" i="1">
                <a:solidFill>
                  <a:srgbClr val="FF0000"/>
                </a:solidFill>
                <a:latin typeface="Times New Roman" panose="02020603050405020304" pitchFamily="18" charset="0"/>
                <a:cs typeface="Times New Roman" panose="02020603050405020304" pitchFamily="18" charset="0"/>
              </a:rPr>
              <a:t>V</a:t>
            </a:r>
            <a:r>
              <a:rPr lang="en-US" altLang="ja-JP" sz="2400" baseline="-25000">
                <a:solidFill>
                  <a:srgbClr val="FF0000"/>
                </a:solidFill>
                <a:latin typeface="Times New Roman" panose="02020603050405020304" pitchFamily="18" charset="0"/>
                <a:cs typeface="Times New Roman" panose="02020603050405020304" pitchFamily="18" charset="0"/>
              </a:rPr>
              <a:t>od7</a:t>
            </a:r>
            <a:r>
              <a:rPr lang="en-US" altLang="ja-JP" sz="2400">
                <a:solidFill>
                  <a:srgbClr val="FF0000"/>
                </a:solidFill>
                <a:latin typeface="Times New Roman" panose="02020603050405020304" pitchFamily="18" charset="0"/>
                <a:cs typeface="Times New Roman" panose="02020603050405020304" pitchFamily="18" charset="0"/>
              </a:rPr>
              <a:t>/</a:t>
            </a:r>
            <a:r>
              <a:rPr lang="en-US" altLang="ja-JP" sz="2400" i="1">
                <a:solidFill>
                  <a:srgbClr val="FF0000"/>
                </a:solidFill>
                <a:latin typeface="Times New Roman" panose="02020603050405020304" pitchFamily="18" charset="0"/>
                <a:cs typeface="Times New Roman" panose="02020603050405020304" pitchFamily="18" charset="0"/>
              </a:rPr>
              <a:t>V</a:t>
            </a:r>
            <a:r>
              <a:rPr lang="en-US" altLang="ja-JP" sz="2400" baseline="-25000">
                <a:solidFill>
                  <a:srgbClr val="FF0000"/>
                </a:solidFill>
                <a:latin typeface="Times New Roman" panose="02020603050405020304" pitchFamily="18" charset="0"/>
                <a:cs typeface="Times New Roman" panose="02020603050405020304" pitchFamily="18" charset="0"/>
              </a:rPr>
              <a:t>od12</a:t>
            </a:r>
            <a:r>
              <a:rPr lang="ja-JP" altLang="en-US" sz="2400" baseline="-25000">
                <a:solidFill>
                  <a:srgbClr val="FF0000"/>
                </a:solidFill>
                <a:latin typeface="Times New Roman" panose="02020603050405020304" pitchFamily="18" charset="0"/>
                <a:cs typeface="Times New Roman" panose="02020603050405020304" pitchFamily="18" charset="0"/>
              </a:rPr>
              <a:t> </a:t>
            </a:r>
            <a:r>
              <a:rPr lang="ja-JP" altLang="en-US" sz="2400">
                <a:solidFill>
                  <a:srgbClr val="FF0000"/>
                </a:solidFill>
                <a:latin typeface="Times New Roman" panose="02020603050405020304" pitchFamily="18" charset="0"/>
                <a:cs typeface="Times New Roman" panose="02020603050405020304" pitchFamily="18" charset="0"/>
              </a:rPr>
              <a:t>を一定にすればよい</a:t>
            </a:r>
            <a:endParaRPr kumimoji="1" lang="ja-JP" altLang="en-US" sz="2400">
              <a:solidFill>
                <a:srgbClr val="FF0000"/>
              </a:solidFill>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DFB4020C-C89A-EC4E-F5C1-2C42A7EFBF6A}"/>
              </a:ext>
            </a:extLst>
          </p:cNvPr>
          <p:cNvSpPr txBox="1"/>
          <p:nvPr/>
        </p:nvSpPr>
        <p:spPr>
          <a:xfrm>
            <a:off x="2250458" y="3936628"/>
            <a:ext cx="554960" cy="369332"/>
          </a:xfrm>
          <a:prstGeom prst="rect">
            <a:avLst/>
          </a:prstGeom>
          <a:noFill/>
        </p:spPr>
        <p:txBody>
          <a:bodyPr wrap="none" rtlCol="0">
            <a:spAutoFit/>
          </a:bodyPr>
          <a:lstStyle/>
          <a:p>
            <a:r>
              <a:rPr kumimoji="1" lang="ja-JP" altLang="en-US"/>
              <a:t>より</a:t>
            </a:r>
          </a:p>
        </p:txBody>
      </p:sp>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35122BA1-7A1A-989F-452A-04606644CD8D}"/>
                  </a:ext>
                </a:extLst>
              </p:cNvPr>
              <p:cNvSpPr txBox="1"/>
              <p:nvPr/>
            </p:nvSpPr>
            <p:spPr>
              <a:xfrm>
                <a:off x="2461359" y="4539710"/>
                <a:ext cx="3186000" cy="7791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𝑔</m:t>
                          </m:r>
                        </m:e>
                        <m:sub>
                          <m:r>
                            <m:rPr>
                              <m:sty m:val="p"/>
                            </m:rPr>
                            <a:rPr kumimoji="1" lang="en-US" altLang="ja-JP" sz="2400" b="0" i="0" smtClean="0">
                              <a:latin typeface="Cambria Math" panose="02040503050406030204" pitchFamily="18" charset="0"/>
                            </a:rPr>
                            <m:t>m</m:t>
                          </m:r>
                          <m:r>
                            <a:rPr kumimoji="1" lang="en-US" altLang="ja-JP" sz="2400" b="0" i="0" smtClean="0">
                              <a:latin typeface="Cambria Math" panose="02040503050406030204" pitchFamily="18" charset="0"/>
                            </a:rPr>
                            <m:t>7</m:t>
                          </m:r>
                        </m:sub>
                      </m:sSub>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m:t>
                          </m:r>
                        </m:e>
                        <m:sub>
                          <m:r>
                            <m:rPr>
                              <m:sty m:val="p"/>
                            </m:rPr>
                            <a:rPr kumimoji="1" lang="en-US" altLang="ja-JP" sz="2400" b="0" i="0" smtClean="0">
                              <a:latin typeface="Cambria Math" panose="02040503050406030204" pitchFamily="18" charset="0"/>
                            </a:rPr>
                            <m:t>C</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7</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7</m:t>
                              </m:r>
                            </m:sub>
                          </m:sSub>
                        </m:num>
                        <m:den>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12</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12</m:t>
                              </m:r>
                            </m:sub>
                          </m:sSub>
                        </m:den>
                      </m:f>
                    </m:oMath>
                  </m:oMathPara>
                </a14:m>
                <a:endParaRPr kumimoji="1" lang="ja-JP" altLang="en-US" sz="2400"/>
              </a:p>
            </p:txBody>
          </p:sp>
        </mc:Choice>
        <mc:Fallback xmlns="">
          <p:sp>
            <p:nvSpPr>
              <p:cNvPr id="70" name="テキスト ボックス 69">
                <a:extLst>
                  <a:ext uri="{FF2B5EF4-FFF2-40B4-BE49-F238E27FC236}">
                    <a16:creationId xmlns:a16="http://schemas.microsoft.com/office/drawing/2014/main" id="{35122BA1-7A1A-989F-452A-04606644CD8D}"/>
                  </a:ext>
                </a:extLst>
              </p:cNvPr>
              <p:cNvSpPr txBox="1">
                <a:spLocks noRot="1" noChangeAspect="1" noMove="1" noResize="1" noEditPoints="1" noAdjustHandles="1" noChangeArrowheads="1" noChangeShapeType="1" noTextEdit="1"/>
              </p:cNvSpPr>
              <p:nvPr/>
            </p:nvSpPr>
            <p:spPr>
              <a:xfrm>
                <a:off x="2461359" y="4539710"/>
                <a:ext cx="3186000" cy="779188"/>
              </a:xfrm>
              <a:prstGeom prst="rect">
                <a:avLst/>
              </a:prstGeom>
              <a:blipFill>
                <a:blip r:embed="rId4"/>
                <a:stretch>
                  <a:fillRect/>
                </a:stretch>
              </a:blipFill>
            </p:spPr>
            <p:txBody>
              <a:bodyPr/>
              <a:lstStyle/>
              <a:p>
                <a:r>
                  <a:rPr lang="ja-JP" altLang="en-US">
                    <a:noFill/>
                  </a:rPr>
                  <a:t> </a:t>
                </a:r>
              </a:p>
            </p:txBody>
          </p:sp>
        </mc:Fallback>
      </mc:AlternateContent>
      <p:pic>
        <p:nvPicPr>
          <p:cNvPr id="81" name="図 80" descr="ダイアグラム, 概略図&#10;&#10;AI 生成コンテンツは誤りを含む可能性があります。">
            <a:extLst>
              <a:ext uri="{FF2B5EF4-FFF2-40B4-BE49-F238E27FC236}">
                <a16:creationId xmlns:a16="http://schemas.microsoft.com/office/drawing/2014/main" id="{4B55F0E0-2408-928A-EF1B-800D5BA39C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2530" y="2578103"/>
            <a:ext cx="3865821" cy="3782813"/>
          </a:xfrm>
          <a:prstGeom prst="rect">
            <a:avLst/>
          </a:prstGeom>
        </p:spPr>
      </p:pic>
      <p:sp>
        <p:nvSpPr>
          <p:cNvPr id="82" name="テキスト ボックス 81">
            <a:extLst>
              <a:ext uri="{FF2B5EF4-FFF2-40B4-BE49-F238E27FC236}">
                <a16:creationId xmlns:a16="http://schemas.microsoft.com/office/drawing/2014/main" id="{4F68755C-E290-800B-07D2-2494612629DF}"/>
              </a:ext>
            </a:extLst>
          </p:cNvPr>
          <p:cNvSpPr txBox="1"/>
          <p:nvPr/>
        </p:nvSpPr>
        <p:spPr>
          <a:xfrm>
            <a:off x="2529082" y="6488668"/>
            <a:ext cx="2985882" cy="338554"/>
          </a:xfrm>
          <a:prstGeom prst="rect">
            <a:avLst/>
          </a:prstGeom>
          <a:noFill/>
        </p:spPr>
        <p:txBody>
          <a:bodyPr wrap="none" rtlCol="0">
            <a:spAutoFit/>
          </a:bodyPr>
          <a:lstStyle/>
          <a:p>
            <a:r>
              <a:rPr lang="en-US" altLang="ja-JP" sz="1600">
                <a:latin typeface="Times New Roman" panose="02020603050405020304" pitchFamily="18" charset="0"/>
                <a:cs typeface="Times New Roman" panose="02020603050405020304" pitchFamily="18" charset="0"/>
              </a:rPr>
              <a:t>※</a:t>
            </a:r>
            <a:r>
              <a:rPr kumimoji="1" lang="en-US" altLang="ja-JP" sz="1600">
                <a:latin typeface="Times New Roman" panose="02020603050405020304" pitchFamily="18" charset="0"/>
                <a:cs typeface="Times New Roman" panose="02020603050405020304" pitchFamily="18" charset="0"/>
              </a:rPr>
              <a:t>Vod = </a:t>
            </a:r>
            <a:r>
              <a:rPr kumimoji="1" lang="ja-JP" altLang="en-US" sz="1600">
                <a:latin typeface="Times New Roman" panose="02020603050405020304" pitchFamily="18" charset="0"/>
                <a:cs typeface="Times New Roman" panose="02020603050405020304" pitchFamily="18" charset="0"/>
              </a:rPr>
              <a:t>オーバードライブ電圧</a:t>
            </a:r>
          </a:p>
        </p:txBody>
      </p:sp>
    </p:spTree>
    <p:extLst>
      <p:ext uri="{BB962C8B-B14F-4D97-AF65-F5344CB8AC3E}">
        <p14:creationId xmlns:p14="http://schemas.microsoft.com/office/powerpoint/2010/main" val="1826562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3126904-1C79-14BA-F87E-CB5D96880B2D}"/>
              </a:ext>
            </a:extLst>
          </p:cNvPr>
          <p:cNvSpPr>
            <a:spLocks noGrp="1"/>
          </p:cNvSpPr>
          <p:nvPr>
            <p:ph type="title"/>
          </p:nvPr>
        </p:nvSpPr>
        <p:spPr>
          <a:xfrm>
            <a:off x="793662" y="386930"/>
            <a:ext cx="10066122" cy="1298448"/>
          </a:xfrm>
        </p:spPr>
        <p:txBody>
          <a:bodyPr anchor="b">
            <a:normAutofit/>
          </a:bodyPr>
          <a:lstStyle/>
          <a:p>
            <a:r>
              <a:rPr kumimoji="1" lang="ja-JP" altLang="en-US" sz="4800"/>
              <a:t>バイアスレプリカの設計</a:t>
            </a:r>
          </a:p>
        </p:txBody>
      </p:sp>
      <p:sp>
        <p:nvSpPr>
          <p:cNvPr id="51" name="Rectangle 5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CF4B1BB-81F0-1EF6-2A2B-79265A9B42BD}"/>
              </a:ext>
            </a:extLst>
          </p:cNvPr>
          <p:cNvSpPr>
            <a:spLocks noGrp="1"/>
          </p:cNvSpPr>
          <p:nvPr>
            <p:ph idx="1"/>
          </p:nvPr>
        </p:nvSpPr>
        <p:spPr>
          <a:xfrm>
            <a:off x="793660" y="2599509"/>
            <a:ext cx="5029765" cy="3639450"/>
          </a:xfrm>
        </p:spPr>
        <p:txBody>
          <a:bodyPr anchor="ctr">
            <a:normAutofit/>
          </a:bodyPr>
          <a:lstStyle/>
          <a:p>
            <a:pPr marL="342900" indent="-342900">
              <a:buFont typeface="+mj-lt"/>
              <a:buAutoNum type="arabicPeriod"/>
            </a:pPr>
            <a:r>
              <a:rPr lang="en-US" altLang="ja-JP" sz="1400" dirty="0"/>
              <a:t>Vgs7 = </a:t>
            </a:r>
            <a:r>
              <a:rPr lang="en-US" altLang="ja-JP" sz="1400" dirty="0" err="1"/>
              <a:t>Vb</a:t>
            </a:r>
            <a:r>
              <a:rPr lang="en-US" altLang="ja-JP" sz="1400" dirty="0"/>
              <a:t>, Vgs12 = </a:t>
            </a:r>
            <a:r>
              <a:rPr lang="en-US" altLang="ja-JP" sz="1400" dirty="0" err="1"/>
              <a:t>Vc</a:t>
            </a:r>
            <a:r>
              <a:rPr lang="en-US" altLang="ja-JP" sz="1400" dirty="0"/>
              <a:t> − </a:t>
            </a:r>
            <a:r>
              <a:rPr lang="en-US" altLang="ja-JP" sz="1400" dirty="0" err="1"/>
              <a:t>Vb</a:t>
            </a:r>
            <a:r>
              <a:rPr lang="en-US" altLang="ja-JP" sz="1400" dirty="0"/>
              <a:t> </a:t>
            </a:r>
            <a:r>
              <a:rPr lang="ja-JP" altLang="en-US" sz="1400"/>
              <a:t>ですから、 </a:t>
            </a:r>
            <a:r>
              <a:rPr lang="en-US" altLang="ja-JP" sz="1400" dirty="0" err="1"/>
              <a:t>Vc</a:t>
            </a:r>
            <a:r>
              <a:rPr lang="en-US" altLang="ja-JP" sz="1400" dirty="0"/>
              <a:t> = 2Vb </a:t>
            </a:r>
            <a:r>
              <a:rPr lang="ja-JP" altLang="en-US" sz="1400"/>
              <a:t>となるように </a:t>
            </a:r>
            <a:r>
              <a:rPr lang="en-US" altLang="ja-JP" sz="1400" dirty="0" err="1"/>
              <a:t>Vc</a:t>
            </a:r>
            <a:r>
              <a:rPr lang="en-US" altLang="ja-JP" sz="1400" dirty="0"/>
              <a:t> </a:t>
            </a:r>
            <a:r>
              <a:rPr lang="ja-JP" altLang="en-US" sz="1400"/>
              <a:t>を調整すればよい</a:t>
            </a:r>
            <a:endParaRPr lang="en-US" altLang="ja-JP" sz="1400" dirty="0"/>
          </a:p>
          <a:p>
            <a:pPr marL="800100" lvl="1" indent="-342900">
              <a:buFont typeface="+mj-lt"/>
              <a:buAutoNum type="arabicPeriod"/>
            </a:pPr>
            <a:r>
              <a:rPr lang="ja-JP" altLang="en-US" sz="1400"/>
              <a:t>この </a:t>
            </a:r>
            <a:r>
              <a:rPr lang="en-US" altLang="ja-JP" sz="1400" dirty="0" err="1"/>
              <a:t>Vc</a:t>
            </a:r>
            <a:r>
              <a:rPr lang="en-US" altLang="ja-JP" sz="1400" dirty="0"/>
              <a:t> </a:t>
            </a:r>
            <a:r>
              <a:rPr lang="ja-JP" altLang="en-US" sz="1400"/>
              <a:t>を作るのがバイアスレプリカ回路</a:t>
            </a:r>
            <a:endParaRPr lang="en-US" altLang="ja-JP" sz="1400" dirty="0"/>
          </a:p>
          <a:p>
            <a:pPr marL="342900" indent="-342900">
              <a:buFont typeface="+mj-lt"/>
              <a:buAutoNum type="arabicPeriod"/>
            </a:pPr>
            <a:r>
              <a:rPr lang="en-US" altLang="ja-JP" sz="1400" dirty="0"/>
              <a:t>M6 </a:t>
            </a:r>
            <a:r>
              <a:rPr lang="ja-JP" altLang="en-US" sz="1400"/>
              <a:t>と </a:t>
            </a:r>
            <a:r>
              <a:rPr lang="en-US" altLang="ja-JP" sz="1400" dirty="0"/>
              <a:t>M9 </a:t>
            </a:r>
            <a:r>
              <a:rPr lang="ja-JP" altLang="en-US" sz="1400"/>
              <a:t>でカレントミラーを構成し、</a:t>
            </a:r>
            <a:r>
              <a:rPr lang="en-US" altLang="ja-JP" sz="1400" dirty="0"/>
              <a:t>M7 </a:t>
            </a:r>
            <a:r>
              <a:rPr lang="ja-JP" altLang="en-US" sz="1400"/>
              <a:t>に流れる電流と </a:t>
            </a:r>
            <a:r>
              <a:rPr lang="en-US" altLang="ja-JP" sz="1400" dirty="0"/>
              <a:t>M9 </a:t>
            </a:r>
            <a:r>
              <a:rPr lang="ja-JP" altLang="en-US" sz="1400"/>
              <a:t>に流れる電流が連動する</a:t>
            </a:r>
            <a:endParaRPr lang="en-US" altLang="ja-JP" sz="1400" dirty="0"/>
          </a:p>
          <a:p>
            <a:pPr marL="342900" indent="-342900">
              <a:buFont typeface="+mj-lt"/>
              <a:buAutoNum type="arabicPeriod"/>
            </a:pPr>
            <a:r>
              <a:rPr lang="en-US" altLang="ja-JP" sz="1400" dirty="0"/>
              <a:t>M9 </a:t>
            </a:r>
            <a:r>
              <a:rPr lang="ja-JP" altLang="en-US" sz="1400"/>
              <a:t>に流れる電流は </a:t>
            </a:r>
            <a:r>
              <a:rPr lang="en-US" altLang="ja-JP" sz="1400" dirty="0"/>
              <a:t>M11 </a:t>
            </a:r>
            <a:r>
              <a:rPr lang="ja-JP" altLang="en-US" sz="1400"/>
              <a:t>に流れる電流に等しい</a:t>
            </a:r>
            <a:endParaRPr lang="en-US" altLang="ja-JP" sz="1400" dirty="0"/>
          </a:p>
          <a:p>
            <a:pPr marL="800100" lvl="1" indent="-342900">
              <a:buFont typeface="+mj-lt"/>
              <a:buAutoNum type="arabicPeriod"/>
            </a:pPr>
            <a:r>
              <a:rPr lang="ja-JP" altLang="en-US" sz="1400"/>
              <a:t> </a:t>
            </a:r>
            <a:r>
              <a:rPr lang="en-US" altLang="ja-JP" sz="1400" dirty="0"/>
              <a:t>W</a:t>
            </a:r>
            <a:r>
              <a:rPr lang="en-US" altLang="ja-JP" sz="1400" baseline="-25000" dirty="0"/>
              <a:t>6</a:t>
            </a:r>
            <a:r>
              <a:rPr lang="ja-JP" altLang="en-US" sz="1400"/>
              <a:t> </a:t>
            </a:r>
            <a:r>
              <a:rPr lang="en-US" altLang="ja-JP" sz="1400" dirty="0"/>
              <a:t>: W</a:t>
            </a:r>
            <a:r>
              <a:rPr lang="en-US" altLang="ja-JP" sz="1400" baseline="-25000" dirty="0"/>
              <a:t>9</a:t>
            </a:r>
            <a:r>
              <a:rPr lang="ja-JP" altLang="en-US" sz="1400"/>
              <a:t> </a:t>
            </a:r>
            <a:r>
              <a:rPr lang="en-US" altLang="ja-JP" sz="1400" dirty="0"/>
              <a:t>= W</a:t>
            </a:r>
            <a:r>
              <a:rPr lang="en-US" altLang="ja-JP" sz="1400" baseline="-25000" dirty="0"/>
              <a:t>7</a:t>
            </a:r>
            <a:r>
              <a:rPr lang="ja-JP" altLang="en-US" sz="1400"/>
              <a:t> </a:t>
            </a:r>
            <a:r>
              <a:rPr lang="en-US" altLang="ja-JP" sz="1400" dirty="0"/>
              <a:t>: W</a:t>
            </a:r>
            <a:r>
              <a:rPr lang="en-US" altLang="ja-JP" sz="1400" baseline="-25000" dirty="0"/>
              <a:t>11</a:t>
            </a:r>
            <a:r>
              <a:rPr lang="ja-JP" altLang="en-US" sz="1400"/>
              <a:t> </a:t>
            </a:r>
            <a:endParaRPr lang="en-US" altLang="ja-JP" sz="1400" dirty="0"/>
          </a:p>
          <a:p>
            <a:pPr marL="800100" lvl="1" indent="-342900">
              <a:buFont typeface="+mj-lt"/>
              <a:buAutoNum type="arabicPeriod"/>
            </a:pPr>
            <a:r>
              <a:rPr lang="en-US" altLang="ja-JP" sz="1400" dirty="0"/>
              <a:t>M11 </a:t>
            </a:r>
            <a:r>
              <a:rPr lang="ja-JP" altLang="en-US" sz="1400"/>
              <a:t>の </a:t>
            </a:r>
            <a:r>
              <a:rPr lang="en-US" altLang="ja-JP" sz="1400" dirty="0" err="1"/>
              <a:t>Vgs</a:t>
            </a:r>
            <a:r>
              <a:rPr lang="en-US" altLang="ja-JP" sz="1400" dirty="0"/>
              <a:t> </a:t>
            </a:r>
            <a:r>
              <a:rPr lang="ja-JP" altLang="en-US" sz="1400"/>
              <a:t>つまり </a:t>
            </a:r>
            <a:r>
              <a:rPr lang="en-US" altLang="ja-JP" sz="1400" dirty="0" err="1"/>
              <a:t>Vd</a:t>
            </a:r>
            <a:r>
              <a:rPr lang="en-US" altLang="ja-JP" sz="1400" dirty="0"/>
              <a:t> </a:t>
            </a:r>
            <a:r>
              <a:rPr lang="ja-JP" altLang="en-US" sz="1400"/>
              <a:t>は </a:t>
            </a:r>
            <a:r>
              <a:rPr lang="en-US" altLang="ja-JP" sz="1400" dirty="0" err="1"/>
              <a:t>Vb</a:t>
            </a:r>
            <a:r>
              <a:rPr lang="en-US" altLang="ja-JP" sz="1400" dirty="0"/>
              <a:t> </a:t>
            </a:r>
            <a:r>
              <a:rPr lang="ja-JP" altLang="en-US" sz="1400"/>
              <a:t>に等しい</a:t>
            </a:r>
            <a:endParaRPr lang="en-US" altLang="ja-JP" sz="1400" dirty="0"/>
          </a:p>
          <a:p>
            <a:pPr marL="342900" indent="-342900">
              <a:buFont typeface="+mj-lt"/>
              <a:buAutoNum type="arabicPeriod"/>
            </a:pPr>
            <a:r>
              <a:rPr lang="ja-JP" altLang="en-US" sz="1400"/>
              <a:t>同じサイズの </a:t>
            </a:r>
            <a:r>
              <a:rPr lang="en-US" altLang="ja-JP" sz="1400" dirty="0"/>
              <a:t>M10 </a:t>
            </a:r>
            <a:r>
              <a:rPr lang="ja-JP" altLang="en-US" sz="1400"/>
              <a:t>をつなぐと、同じ電流が流れる</a:t>
            </a:r>
            <a:endParaRPr lang="en-US" altLang="ja-JP" sz="1400" dirty="0"/>
          </a:p>
          <a:p>
            <a:pPr marL="800100" lvl="1" indent="-342900">
              <a:buFont typeface="+mj-lt"/>
              <a:buAutoNum type="arabicPeriod"/>
            </a:pPr>
            <a:r>
              <a:rPr lang="en-US" altLang="ja-JP" sz="1400" dirty="0"/>
              <a:t>Vgs</a:t>
            </a:r>
            <a:r>
              <a:rPr lang="en-US" altLang="ja-JP" sz="1400" baseline="-25000" dirty="0"/>
              <a:t>10</a:t>
            </a:r>
            <a:r>
              <a:rPr lang="ja-JP" altLang="en-US" sz="1400"/>
              <a:t> </a:t>
            </a:r>
            <a:r>
              <a:rPr lang="en-US" altLang="ja-JP" sz="1400" dirty="0"/>
              <a:t>= </a:t>
            </a:r>
            <a:r>
              <a:rPr lang="en-US" altLang="ja-JP" sz="1400" dirty="0" err="1"/>
              <a:t>Vd</a:t>
            </a:r>
            <a:r>
              <a:rPr lang="en-US" altLang="ja-JP" sz="1400" dirty="0"/>
              <a:t> = </a:t>
            </a:r>
            <a:r>
              <a:rPr lang="en-US" altLang="ja-JP" sz="1400" dirty="0" err="1"/>
              <a:t>Vb</a:t>
            </a:r>
            <a:r>
              <a:rPr lang="en-US" altLang="ja-JP" sz="1400" dirty="0"/>
              <a:t> </a:t>
            </a:r>
            <a:r>
              <a:rPr lang="ja-JP" altLang="en-US" sz="1400"/>
              <a:t>となり、 </a:t>
            </a:r>
            <a:r>
              <a:rPr lang="en-US" altLang="ja-JP" sz="1400" dirty="0" err="1"/>
              <a:t>Vc</a:t>
            </a:r>
            <a:r>
              <a:rPr lang="en-US" altLang="ja-JP" sz="1400" dirty="0"/>
              <a:t> = 2Vd = 2Vb </a:t>
            </a:r>
            <a:r>
              <a:rPr lang="ja-JP" altLang="en-US" sz="1400"/>
              <a:t>となる</a:t>
            </a:r>
          </a:p>
        </p:txBody>
      </p:sp>
      <p:pic>
        <p:nvPicPr>
          <p:cNvPr id="4" name="図 3" descr="ダイアグラム, 概略図&#10;&#10;AI 生成コンテンツは誤りを含む可能性があります。">
            <a:extLst>
              <a:ext uri="{FF2B5EF4-FFF2-40B4-BE49-F238E27FC236}">
                <a16:creationId xmlns:a16="http://schemas.microsoft.com/office/drawing/2014/main" id="{9D5CC6F1-1DA6-78D4-8B0A-719FD306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841359"/>
            <a:ext cx="5150277" cy="3000035"/>
          </a:xfrm>
          <a:prstGeom prst="rect">
            <a:avLst/>
          </a:prstGeom>
        </p:spPr>
      </p:pic>
      <p:sp>
        <p:nvSpPr>
          <p:cNvPr id="55" name="Rectangle 5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35996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F5A5F1D7-F0D0-4687-9BD3-CA6A0714C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07" name="Group 410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08" name="Rectangle 410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0" name="Rectangle 410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12" name="Rectangle 411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69409A6-D58C-576D-3421-86C08B9F0691}"/>
              </a:ext>
            </a:extLst>
          </p:cNvPr>
          <p:cNvSpPr>
            <a:spLocks noGrp="1"/>
          </p:cNvSpPr>
          <p:nvPr>
            <p:ph type="title"/>
          </p:nvPr>
        </p:nvSpPr>
        <p:spPr>
          <a:xfrm>
            <a:off x="1043631" y="873940"/>
            <a:ext cx="4928291" cy="1035781"/>
          </a:xfrm>
        </p:spPr>
        <p:txBody>
          <a:bodyPr anchor="ctr">
            <a:normAutofit/>
          </a:bodyPr>
          <a:lstStyle/>
          <a:p>
            <a:r>
              <a:rPr kumimoji="1" lang="ja-JP" altLang="en-US" sz="3300"/>
              <a:t>位相補償容量と補償抵抗設計</a:t>
            </a:r>
          </a:p>
        </p:txBody>
      </p:sp>
      <p:sp>
        <p:nvSpPr>
          <p:cNvPr id="3" name="コンテンツ プレースホルダー 2">
            <a:extLst>
              <a:ext uri="{FF2B5EF4-FFF2-40B4-BE49-F238E27FC236}">
                <a16:creationId xmlns:a16="http://schemas.microsoft.com/office/drawing/2014/main" id="{547557BB-1C45-4296-172A-1DFA0B43CEFA}"/>
              </a:ext>
            </a:extLst>
          </p:cNvPr>
          <p:cNvSpPr>
            <a:spLocks noGrp="1"/>
          </p:cNvSpPr>
          <p:nvPr>
            <p:ph idx="1"/>
          </p:nvPr>
        </p:nvSpPr>
        <p:spPr>
          <a:xfrm>
            <a:off x="1045029" y="2524721"/>
            <a:ext cx="4991629" cy="3677123"/>
          </a:xfrm>
        </p:spPr>
        <p:txBody>
          <a:bodyPr anchor="ctr">
            <a:normAutofit/>
          </a:bodyPr>
          <a:lstStyle/>
          <a:p>
            <a:r>
              <a:rPr kumimoji="1" lang="ja-JP" altLang="en-US" sz="2400"/>
              <a:t>位相補償容量ナシの場合</a:t>
            </a:r>
            <a:endParaRPr kumimoji="1" lang="en-US" altLang="ja-JP" sz="2400"/>
          </a:p>
          <a:p>
            <a:pPr lvl="1"/>
            <a:r>
              <a:rPr lang="ja-JP" altLang="en-US" sz="1800"/>
              <a:t>ほぼ</a:t>
            </a:r>
            <a:r>
              <a:rPr lang="en-US" altLang="ja-JP" sz="1800"/>
              <a:t>180</a:t>
            </a:r>
            <a:r>
              <a:rPr lang="ja-JP" altLang="en-US" sz="1800"/>
              <a:t>度くらいのところとなっている</a:t>
            </a:r>
            <a:endParaRPr lang="en-US" altLang="ja-JP" sz="1800"/>
          </a:p>
          <a:p>
            <a:pPr lvl="1"/>
            <a:r>
              <a:rPr kumimoji="1" lang="ja-JP" altLang="en-US" sz="1800"/>
              <a:t>位相余裕がないので位相補償容量が必要</a:t>
            </a:r>
            <a:endParaRPr kumimoji="1" lang="en-US" altLang="ja-JP" sz="1800"/>
          </a:p>
          <a:p>
            <a:pPr lvl="1"/>
            <a:endParaRPr lang="en-US" altLang="ja-JP" sz="1800"/>
          </a:p>
          <a:p>
            <a:pPr lvl="1"/>
            <a:r>
              <a:rPr kumimoji="1" lang="ja-JP" altLang="en-US" sz="1800"/>
              <a:t>サンプル：</a:t>
            </a:r>
            <a:r>
              <a:rPr kumimoji="1" lang="en-US" altLang="ja-JP" sz="1800"/>
              <a:t>2stage_ac.sch</a:t>
            </a:r>
          </a:p>
        </p:txBody>
      </p:sp>
      <p:cxnSp>
        <p:nvCxnSpPr>
          <p:cNvPr id="4114" name="Straight Connector 411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4744FE8A-1777-60A0-0890-95783A6A1A21}"/>
              </a:ext>
            </a:extLst>
          </p:cNvPr>
          <p:cNvPicPr>
            <a:picLocks noChangeAspect="1"/>
          </p:cNvPicPr>
          <p:nvPr/>
        </p:nvPicPr>
        <p:blipFill>
          <a:blip r:embed="rId2"/>
          <a:stretch>
            <a:fillRect/>
          </a:stretch>
        </p:blipFill>
        <p:spPr>
          <a:xfrm>
            <a:off x="7113736" y="-42387"/>
            <a:ext cx="3704429" cy="3169635"/>
          </a:xfrm>
          <a:prstGeom prst="rect">
            <a:avLst/>
          </a:prstGeom>
        </p:spPr>
      </p:pic>
      <p:pic>
        <p:nvPicPr>
          <p:cNvPr id="8" name="図 7">
            <a:extLst>
              <a:ext uri="{FF2B5EF4-FFF2-40B4-BE49-F238E27FC236}">
                <a16:creationId xmlns:a16="http://schemas.microsoft.com/office/drawing/2014/main" id="{D4A13858-DF65-5545-EC2C-CE5629514DF4}"/>
              </a:ext>
            </a:extLst>
          </p:cNvPr>
          <p:cNvPicPr>
            <a:picLocks noChangeAspect="1"/>
          </p:cNvPicPr>
          <p:nvPr/>
        </p:nvPicPr>
        <p:blipFill>
          <a:blip r:embed="rId3"/>
          <a:stretch>
            <a:fillRect/>
          </a:stretch>
        </p:blipFill>
        <p:spPr>
          <a:xfrm>
            <a:off x="7126262" y="3070801"/>
            <a:ext cx="3704443" cy="3276241"/>
          </a:xfrm>
          <a:prstGeom prst="rect">
            <a:avLst/>
          </a:prstGeom>
        </p:spPr>
      </p:pic>
      <p:cxnSp>
        <p:nvCxnSpPr>
          <p:cNvPr id="4" name="直線矢印コネクタ 3">
            <a:extLst>
              <a:ext uri="{FF2B5EF4-FFF2-40B4-BE49-F238E27FC236}">
                <a16:creationId xmlns:a16="http://schemas.microsoft.com/office/drawing/2014/main" id="{F5EA60CE-C9DA-0506-CE76-554E24E9AEBD}"/>
              </a:ext>
            </a:extLst>
          </p:cNvPr>
          <p:cNvCxnSpPr>
            <a:cxnSpLocks/>
          </p:cNvCxnSpPr>
          <p:nvPr/>
        </p:nvCxnSpPr>
        <p:spPr>
          <a:xfrm>
            <a:off x="9491709" y="1530304"/>
            <a:ext cx="0" cy="4432085"/>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4774867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2" name="Rectangle 514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44" name="Group 514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5145" name="Rectangle 514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6" name="Rectangle 514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48" name="Rectangle 514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ACC64A9-BD2E-DD32-2B85-4FB250738959}"/>
              </a:ext>
            </a:extLst>
          </p:cNvPr>
          <p:cNvSpPr>
            <a:spLocks noGrp="1"/>
          </p:cNvSpPr>
          <p:nvPr>
            <p:ph type="title"/>
          </p:nvPr>
        </p:nvSpPr>
        <p:spPr>
          <a:xfrm>
            <a:off x="1057025" y="922644"/>
            <a:ext cx="5040285" cy="1169585"/>
          </a:xfrm>
        </p:spPr>
        <p:txBody>
          <a:bodyPr anchor="b">
            <a:normAutofit/>
          </a:bodyPr>
          <a:lstStyle/>
          <a:p>
            <a:r>
              <a:rPr lang="ja-JP" altLang="en-US" sz="4000"/>
              <a:t>位相補償容量設計</a:t>
            </a:r>
            <a:endParaRPr kumimoji="1" lang="ja-JP" altLang="en-US" sz="4000"/>
          </a:p>
        </p:txBody>
      </p:sp>
      <p:sp>
        <p:nvSpPr>
          <p:cNvPr id="5150" name="Rectangle 514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ADA85AC-80DC-A87D-D931-20BE13962415}"/>
              </a:ext>
            </a:extLst>
          </p:cNvPr>
          <p:cNvSpPr>
            <a:spLocks noGrp="1"/>
          </p:cNvSpPr>
          <p:nvPr>
            <p:ph idx="1"/>
          </p:nvPr>
        </p:nvSpPr>
        <p:spPr>
          <a:xfrm>
            <a:off x="1055715" y="2508105"/>
            <a:ext cx="5040285" cy="3632493"/>
          </a:xfrm>
        </p:spPr>
        <p:txBody>
          <a:bodyPr anchor="ctr">
            <a:normAutofit/>
          </a:bodyPr>
          <a:lstStyle/>
          <a:p>
            <a:r>
              <a:rPr lang="ja-JP" altLang="en-US" sz="2000" b="1"/>
              <a:t>本来は </a:t>
            </a:r>
            <a:r>
              <a:rPr lang="en-US" altLang="ja-JP" sz="2000" b="1" dirty="0"/>
              <a:t>pole-zero </a:t>
            </a:r>
            <a:r>
              <a:rPr lang="ja-JP" altLang="en-US" sz="2000" b="1"/>
              <a:t>解析で極・零点の位置を決定する</a:t>
            </a:r>
            <a:endParaRPr lang="en-US" altLang="ja-JP" sz="2000" b="1" dirty="0"/>
          </a:p>
          <a:p>
            <a:pPr lvl="1"/>
            <a:r>
              <a:rPr lang="en-US" altLang="ja-JP" sz="2000" b="1" dirty="0" err="1"/>
              <a:t>ngspice</a:t>
            </a:r>
            <a:r>
              <a:rPr lang="en-US" altLang="ja-JP" sz="2000" b="1" dirty="0"/>
              <a:t> </a:t>
            </a:r>
            <a:r>
              <a:rPr lang="ja-JP" altLang="en-US" sz="2000" b="1"/>
              <a:t>の </a:t>
            </a:r>
            <a:r>
              <a:rPr lang="en-US" altLang="ja-JP" sz="2000" b="1" dirty="0"/>
              <a:t>pole-zero </a:t>
            </a:r>
            <a:r>
              <a:rPr lang="ja-JP" altLang="en-US" sz="2000" b="1"/>
              <a:t>解析（</a:t>
            </a:r>
            <a:r>
              <a:rPr lang="en-US" altLang="ja-JP" sz="2000" b="1" dirty="0" err="1"/>
              <a:t>pz</a:t>
            </a:r>
            <a:r>
              <a:rPr lang="ja-JP" altLang="en-US" sz="2000" b="1"/>
              <a:t>コマンド）が動作しない </a:t>
            </a:r>
            <a:r>
              <a:rPr lang="en-US" altLang="ja-JP" sz="2000" b="1" dirty="0"/>
              <a:t>(</a:t>
            </a:r>
            <a:r>
              <a:rPr lang="ja-JP" altLang="en-US" sz="2000" b="1"/>
              <a:t>原因不明</a:t>
            </a:r>
            <a:r>
              <a:rPr lang="en-US" altLang="ja-JP" sz="2000" b="1" dirty="0"/>
              <a:t>)</a:t>
            </a:r>
          </a:p>
          <a:p>
            <a:pPr lvl="2"/>
            <a:r>
              <a:rPr lang="ja-JP" altLang="en-US"/>
              <a:t>最大サイズの </a:t>
            </a:r>
            <a:r>
              <a:rPr lang="en-US" altLang="ja-JP" dirty="0"/>
              <a:t>8.856pF </a:t>
            </a:r>
            <a:r>
              <a:rPr lang="ja-JP" altLang="en-US"/>
              <a:t>にした</a:t>
            </a:r>
            <a:endParaRPr lang="en-US" altLang="ja-JP" dirty="0"/>
          </a:p>
          <a:p>
            <a:pPr lvl="3"/>
            <a:r>
              <a:rPr lang="ja-JP" altLang="en-US" sz="2000"/>
              <a:t>もっと位相余裕が欲しい場合は容量をデカくすること</a:t>
            </a:r>
            <a:endParaRPr lang="en-US" altLang="ja-JP" sz="2000" dirty="0"/>
          </a:p>
          <a:p>
            <a:pPr lvl="4"/>
            <a:r>
              <a:rPr lang="ja-JP" altLang="en-US"/>
              <a:t>周波数特性は悪くなるので注意</a:t>
            </a:r>
            <a:endParaRPr lang="en-US" altLang="ja-JP" dirty="0"/>
          </a:p>
          <a:p>
            <a:pPr lvl="2"/>
            <a:r>
              <a:rPr lang="ja-JP" altLang="en-US"/>
              <a:t>サンプル：</a:t>
            </a:r>
            <a:r>
              <a:rPr lang="en-US" altLang="ja-JP" dirty="0"/>
              <a:t>2stage_cc_ac.sch</a:t>
            </a:r>
          </a:p>
          <a:p>
            <a:pPr lvl="2"/>
            <a:endParaRPr kumimoji="1" lang="ja-JP" altLang="en-US"/>
          </a:p>
        </p:txBody>
      </p:sp>
      <p:pic>
        <p:nvPicPr>
          <p:cNvPr id="11" name="図 10">
            <a:extLst>
              <a:ext uri="{FF2B5EF4-FFF2-40B4-BE49-F238E27FC236}">
                <a16:creationId xmlns:a16="http://schemas.microsoft.com/office/drawing/2014/main" id="{C5768C8E-E778-9B88-7F6D-C0838DABE029}"/>
              </a:ext>
            </a:extLst>
          </p:cNvPr>
          <p:cNvPicPr>
            <a:picLocks noChangeAspect="1"/>
          </p:cNvPicPr>
          <p:nvPr/>
        </p:nvPicPr>
        <p:blipFill>
          <a:blip r:embed="rId2"/>
          <a:stretch>
            <a:fillRect/>
          </a:stretch>
        </p:blipFill>
        <p:spPr>
          <a:xfrm>
            <a:off x="7855546" y="0"/>
            <a:ext cx="2899777" cy="2412792"/>
          </a:xfrm>
          <a:prstGeom prst="rect">
            <a:avLst/>
          </a:prstGeom>
        </p:spPr>
      </p:pic>
      <p:pic>
        <p:nvPicPr>
          <p:cNvPr id="5" name="図 4">
            <a:extLst>
              <a:ext uri="{FF2B5EF4-FFF2-40B4-BE49-F238E27FC236}">
                <a16:creationId xmlns:a16="http://schemas.microsoft.com/office/drawing/2014/main" id="{02366815-9D45-38AE-9FE0-56F4079A9F28}"/>
              </a:ext>
            </a:extLst>
          </p:cNvPr>
          <p:cNvPicPr>
            <a:picLocks noChangeAspect="1"/>
          </p:cNvPicPr>
          <p:nvPr/>
        </p:nvPicPr>
        <p:blipFill>
          <a:blip r:embed="rId3"/>
          <a:stretch>
            <a:fillRect/>
          </a:stretch>
        </p:blipFill>
        <p:spPr>
          <a:xfrm>
            <a:off x="6216456" y="4394519"/>
            <a:ext cx="5728280" cy="2412793"/>
          </a:xfrm>
          <a:prstGeom prst="rect">
            <a:avLst/>
          </a:prstGeom>
        </p:spPr>
      </p:pic>
      <p:pic>
        <p:nvPicPr>
          <p:cNvPr id="13" name="図 12">
            <a:extLst>
              <a:ext uri="{FF2B5EF4-FFF2-40B4-BE49-F238E27FC236}">
                <a16:creationId xmlns:a16="http://schemas.microsoft.com/office/drawing/2014/main" id="{7743BD2A-9DD6-9DAF-A01D-5355EBC777C8}"/>
              </a:ext>
            </a:extLst>
          </p:cNvPr>
          <p:cNvPicPr>
            <a:picLocks noChangeAspect="1"/>
          </p:cNvPicPr>
          <p:nvPr/>
        </p:nvPicPr>
        <p:blipFill>
          <a:blip r:embed="rId4"/>
          <a:stretch>
            <a:fillRect/>
          </a:stretch>
        </p:blipFill>
        <p:spPr>
          <a:xfrm>
            <a:off x="7852428" y="2412792"/>
            <a:ext cx="2902895" cy="2594132"/>
          </a:xfrm>
          <a:prstGeom prst="rect">
            <a:avLst/>
          </a:prstGeom>
        </p:spPr>
      </p:pic>
      <p:cxnSp>
        <p:nvCxnSpPr>
          <p:cNvPr id="6" name="直線矢印コネクタ 5">
            <a:extLst>
              <a:ext uri="{FF2B5EF4-FFF2-40B4-BE49-F238E27FC236}">
                <a16:creationId xmlns:a16="http://schemas.microsoft.com/office/drawing/2014/main" id="{E70D383B-017A-4912-0A0E-488B558A74E5}"/>
              </a:ext>
            </a:extLst>
          </p:cNvPr>
          <p:cNvCxnSpPr>
            <a:cxnSpLocks/>
          </p:cNvCxnSpPr>
          <p:nvPr/>
        </p:nvCxnSpPr>
        <p:spPr>
          <a:xfrm>
            <a:off x="9456720" y="1344598"/>
            <a:ext cx="0" cy="3089616"/>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7334303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971EC45-8059-A68F-9486-DFFD99C3F7E6}"/>
              </a:ext>
            </a:extLst>
          </p:cNvPr>
          <p:cNvSpPr>
            <a:spLocks noGrp="1"/>
          </p:cNvSpPr>
          <p:nvPr>
            <p:ph type="title"/>
          </p:nvPr>
        </p:nvSpPr>
        <p:spPr>
          <a:xfrm>
            <a:off x="645064" y="525982"/>
            <a:ext cx="4282983" cy="1200361"/>
          </a:xfrm>
        </p:spPr>
        <p:txBody>
          <a:bodyPr anchor="b">
            <a:normAutofit/>
          </a:bodyPr>
          <a:lstStyle/>
          <a:p>
            <a:r>
              <a:rPr kumimoji="1" lang="ja-JP" altLang="en-US" sz="3600"/>
              <a:t>補償抵抗設計</a:t>
            </a:r>
          </a:p>
        </p:txBody>
      </p:sp>
      <p:sp>
        <p:nvSpPr>
          <p:cNvPr id="38" name="Rectangle 3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927A161-5724-F07D-B2CD-7378DCD42D7A}"/>
              </a:ext>
            </a:extLst>
          </p:cNvPr>
          <p:cNvSpPr>
            <a:spLocks noGrp="1"/>
          </p:cNvSpPr>
          <p:nvPr>
            <p:ph idx="1"/>
          </p:nvPr>
        </p:nvSpPr>
        <p:spPr>
          <a:xfrm>
            <a:off x="645065" y="2031101"/>
            <a:ext cx="4459017" cy="3511943"/>
          </a:xfrm>
        </p:spPr>
        <p:txBody>
          <a:bodyPr anchor="ctr">
            <a:normAutofit/>
          </a:bodyPr>
          <a:lstStyle/>
          <a:p>
            <a:pPr marL="457200" lvl="1" indent="0">
              <a:buNone/>
            </a:pPr>
            <a:endParaRPr lang="en-US" altLang="ja-JP" sz="1800"/>
          </a:p>
          <a:p>
            <a:pPr lvl="1"/>
            <a:r>
              <a:rPr lang="en-US" altLang="ja-JP" sz="1800"/>
              <a:t>M12</a:t>
            </a:r>
            <a:r>
              <a:rPr lang="ja-JP" altLang="en-US" sz="1800"/>
              <a:t>は</a:t>
            </a:r>
            <a:r>
              <a:rPr lang="en-US" altLang="ja-JP" sz="1800"/>
              <a:t>pz</a:t>
            </a:r>
            <a:r>
              <a:rPr lang="ja-JP" altLang="en-US" sz="1800"/>
              <a:t>コマンドが動かないため、</a:t>
            </a:r>
            <a:r>
              <a:rPr lang="en-US" altLang="ja-JP" sz="1800"/>
              <a:t>M7</a:t>
            </a:r>
            <a:r>
              <a:rPr lang="ja-JP" altLang="en-US" sz="1800"/>
              <a:t>の</a:t>
            </a:r>
            <a:r>
              <a:rPr lang="en-US" altLang="ja-JP" sz="1800"/>
              <a:t>1/5</a:t>
            </a:r>
            <a:r>
              <a:rPr lang="ja-JP" altLang="en-US" sz="1800"/>
              <a:t>などであたりをつけて、零点がなくなるように調整する</a:t>
            </a:r>
            <a:endParaRPr lang="en-US" altLang="ja-JP" sz="1800"/>
          </a:p>
        </p:txBody>
      </p:sp>
      <p:sp>
        <p:nvSpPr>
          <p:cNvPr id="40" name="Rectangle 3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グループ化 30">
            <a:extLst>
              <a:ext uri="{FF2B5EF4-FFF2-40B4-BE49-F238E27FC236}">
                <a16:creationId xmlns:a16="http://schemas.microsoft.com/office/drawing/2014/main" id="{63DD8858-8C40-B82D-6180-C1497968D502}"/>
              </a:ext>
            </a:extLst>
          </p:cNvPr>
          <p:cNvGrpSpPr/>
          <p:nvPr/>
        </p:nvGrpSpPr>
        <p:grpSpPr>
          <a:xfrm>
            <a:off x="6043930" y="1036301"/>
            <a:ext cx="5628017" cy="4616028"/>
            <a:chOff x="4221616" y="813247"/>
            <a:chExt cx="7781958" cy="4616028"/>
          </a:xfrm>
        </p:grpSpPr>
        <p:cxnSp>
          <p:nvCxnSpPr>
            <p:cNvPr id="4" name="直線矢印コネクタ 3">
              <a:extLst>
                <a:ext uri="{FF2B5EF4-FFF2-40B4-BE49-F238E27FC236}">
                  <a16:creationId xmlns:a16="http://schemas.microsoft.com/office/drawing/2014/main" id="{20C793A1-5EBF-8B9B-BC3A-CE14587DB16F}"/>
                </a:ext>
              </a:extLst>
            </p:cNvPr>
            <p:cNvCxnSpPr/>
            <p:nvPr/>
          </p:nvCxnSpPr>
          <p:spPr>
            <a:xfrm>
              <a:off x="4797680" y="1943227"/>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8F66EB89-F273-958B-ED9D-2C610B92B064}"/>
                </a:ext>
              </a:extLst>
            </p:cNvPr>
            <p:cNvCxnSpPr/>
            <p:nvPr/>
          </p:nvCxnSpPr>
          <p:spPr>
            <a:xfrm flipV="1">
              <a:off x="5157720" y="1295155"/>
              <a:ext cx="0" cy="1728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613F7CB-92F2-4476-4149-ACE571D1D3AA}"/>
                    </a:ext>
                  </a:extLst>
                </p:cNvPr>
                <p:cNvSpPr txBox="1"/>
                <p:nvPr/>
              </p:nvSpPr>
              <p:spPr>
                <a:xfrm>
                  <a:off x="4221616" y="813247"/>
                  <a:ext cx="2075696"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利得 </a:t>
                  </a:r>
                  <a14:m>
                    <m:oMath xmlns:m="http://schemas.openxmlformats.org/officeDocument/2006/math">
                      <m:d>
                        <m:dPr>
                          <m:begChr m:val="|"/>
                          <m:endChr m:val="|"/>
                          <m:ctrlPr>
                            <a:rPr kumimoji="1" lang="en-US" altLang="ja-JP" sz="1728" i="1" kern="1200">
                              <a:solidFill>
                                <a:schemeClr val="tx1"/>
                              </a:solidFill>
                              <a:latin typeface="Cambria Math" panose="02040503050406030204" pitchFamily="18" charset="0"/>
                              <a:ea typeface="+mn-ea"/>
                              <a:cs typeface="+mn-cs"/>
                            </a:rPr>
                          </m:ctrlPr>
                        </m:dPr>
                        <m:e>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e>
                      </m:d>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(dB)</a:t>
                  </a:r>
                  <a:endParaRPr kumimoji="1" lang="ja-JP" altLang="en-US" sz="2400"/>
                </a:p>
              </p:txBody>
            </p:sp>
          </mc:Choice>
          <mc:Fallback xmlns="">
            <p:sp>
              <p:nvSpPr>
                <p:cNvPr id="6" name="テキスト ボックス 5">
                  <a:extLst>
                    <a:ext uri="{FF2B5EF4-FFF2-40B4-BE49-F238E27FC236}">
                      <a16:creationId xmlns:a16="http://schemas.microsoft.com/office/drawing/2014/main" id="{2613F7CB-92F2-4476-4149-ACE571D1D3AA}"/>
                    </a:ext>
                  </a:extLst>
                </p:cNvPr>
                <p:cNvSpPr txBox="1">
                  <a:spLocks noRot="1" noChangeAspect="1" noMove="1" noResize="1" noEditPoints="1" noAdjustHandles="1" noChangeArrowheads="1" noChangeShapeType="1" noTextEdit="1"/>
                </p:cNvSpPr>
                <p:nvPr/>
              </p:nvSpPr>
              <p:spPr>
                <a:xfrm>
                  <a:off x="4221616" y="813247"/>
                  <a:ext cx="2075696" cy="369332"/>
                </a:xfrm>
                <a:prstGeom prst="rect">
                  <a:avLst/>
                </a:prstGeom>
                <a:blipFill>
                  <a:blip r:embed="rId2"/>
                  <a:stretch>
                    <a:fillRect l="-8907" t="-18033" r="-13765" b="-6557"/>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DDCC5C67-3125-57D8-1528-FF10E9006DBB}"/>
                </a:ext>
              </a:extLst>
            </p:cNvPr>
            <p:cNvCxnSpPr/>
            <p:nvPr/>
          </p:nvCxnSpPr>
          <p:spPr>
            <a:xfrm>
              <a:off x="4797680" y="3887443"/>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9DF2F45-7E07-1FEF-6061-E0B805768CAA}"/>
                </a:ext>
              </a:extLst>
            </p:cNvPr>
            <p:cNvCxnSpPr>
              <a:cxnSpLocks/>
            </p:cNvCxnSpPr>
            <p:nvPr/>
          </p:nvCxnSpPr>
          <p:spPr>
            <a:xfrm flipV="1">
              <a:off x="5157720" y="3527403"/>
              <a:ext cx="0" cy="1872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7DC160DD-5DD0-4E93-7581-A7C89B9E33D3}"/>
                    </a:ext>
                  </a:extLst>
                </p:cNvPr>
                <p:cNvSpPr txBox="1"/>
                <p:nvPr/>
              </p:nvSpPr>
              <p:spPr>
                <a:xfrm>
                  <a:off x="4221616" y="3086063"/>
                  <a:ext cx="2294474"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位相 </a:t>
                  </a: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oMath>
                  </a14:m>
                  <a:r>
                    <a:rPr kumimoji="1" lang="en-US" altLang="ja-JP" sz="1728" kern="1200">
                      <a:solidFill>
                        <a:schemeClr val="tx1"/>
                      </a:solidFill>
                      <a:latin typeface="+mn-lt"/>
                      <a:ea typeface="+mn-ea"/>
                      <a:cs typeface="+mn-cs"/>
                    </a:rPr>
                    <a:t> [deg.]</a:t>
                  </a:r>
                  <a:endParaRPr kumimoji="1" lang="ja-JP" altLang="en-US" sz="2400"/>
                </a:p>
              </p:txBody>
            </p:sp>
          </mc:Choice>
          <mc:Fallback xmlns="">
            <p:sp>
              <p:nvSpPr>
                <p:cNvPr id="13" name="テキスト ボックス 12">
                  <a:extLst>
                    <a:ext uri="{FF2B5EF4-FFF2-40B4-BE49-F238E27FC236}">
                      <a16:creationId xmlns:a16="http://schemas.microsoft.com/office/drawing/2014/main" id="{7DC160DD-5DD0-4E93-7581-A7C89B9E33D3}"/>
                    </a:ext>
                  </a:extLst>
                </p:cNvPr>
                <p:cNvSpPr txBox="1">
                  <a:spLocks noRot="1" noChangeAspect="1" noMove="1" noResize="1" noEditPoints="1" noAdjustHandles="1" noChangeArrowheads="1" noChangeShapeType="1" noTextEdit="1"/>
                </p:cNvSpPr>
                <p:nvPr/>
              </p:nvSpPr>
              <p:spPr>
                <a:xfrm>
                  <a:off x="4221616" y="3086063"/>
                  <a:ext cx="2294474" cy="369332"/>
                </a:xfrm>
                <a:prstGeom prst="rect">
                  <a:avLst/>
                </a:prstGeom>
                <a:blipFill>
                  <a:blip r:embed="rId3"/>
                  <a:stretch>
                    <a:fillRect l="-8059" t="-18333" r="-12454" b="-8333"/>
                  </a:stretch>
                </a:blipFill>
              </p:spPr>
              <p:txBody>
                <a:bodyPr/>
                <a:lstStyle/>
                <a:p>
                  <a:r>
                    <a:rPr lang="ja-JP" altLang="en-US">
                      <a:noFill/>
                    </a:rPr>
                    <a:t> </a:t>
                  </a:r>
                </a:p>
              </p:txBody>
            </p:sp>
          </mc:Fallback>
        </mc:AlternateContent>
        <p:sp>
          <p:nvSpPr>
            <p:cNvPr id="15" name="フリーフォーム: 図形 14">
              <a:extLst>
                <a:ext uri="{FF2B5EF4-FFF2-40B4-BE49-F238E27FC236}">
                  <a16:creationId xmlns:a16="http://schemas.microsoft.com/office/drawing/2014/main" id="{7D6050B0-05C1-6486-8F52-C040C0566E0C}"/>
                </a:ext>
              </a:extLst>
            </p:cNvPr>
            <p:cNvSpPr/>
            <p:nvPr/>
          </p:nvSpPr>
          <p:spPr>
            <a:xfrm>
              <a:off x="5158593" y="1940608"/>
              <a:ext cx="4127618" cy="1260695"/>
            </a:xfrm>
            <a:custGeom>
              <a:avLst/>
              <a:gdLst>
                <a:gd name="connsiteX0" fmla="*/ 0 w 4127618"/>
                <a:gd name="connsiteY0" fmla="*/ 103361 h 1351046"/>
                <a:gd name="connsiteX1" fmla="*/ 1653611 w 4127618"/>
                <a:gd name="connsiteY1" fmla="*/ 90542 h 1351046"/>
                <a:gd name="connsiteX2" fmla="*/ 2273181 w 4127618"/>
                <a:gd name="connsiteY2" fmla="*/ 94815 h 1351046"/>
                <a:gd name="connsiteX3" fmla="*/ 4127618 w 4127618"/>
                <a:gd name="connsiteY3" fmla="*/ 1351046 h 1351046"/>
                <a:gd name="connsiteX0" fmla="*/ 0 w 4127618"/>
                <a:gd name="connsiteY0" fmla="*/ 12970 h 1260655"/>
                <a:gd name="connsiteX1" fmla="*/ 1653611 w 4127618"/>
                <a:gd name="connsiteY1" fmla="*/ 151 h 1260655"/>
                <a:gd name="connsiteX2" fmla="*/ 2273181 w 4127618"/>
                <a:gd name="connsiteY2" fmla="*/ 4424 h 1260655"/>
                <a:gd name="connsiteX3" fmla="*/ 4127618 w 4127618"/>
                <a:gd name="connsiteY3" fmla="*/ 1260655 h 1260655"/>
                <a:gd name="connsiteX0" fmla="*/ 0 w 4127618"/>
                <a:gd name="connsiteY0" fmla="*/ 12840 h 1260525"/>
                <a:gd name="connsiteX1" fmla="*/ 1653611 w 4127618"/>
                <a:gd name="connsiteY1" fmla="*/ 21 h 1260525"/>
                <a:gd name="connsiteX2" fmla="*/ 2243270 w 4127618"/>
                <a:gd name="connsiteY2" fmla="*/ 68387 h 1260525"/>
                <a:gd name="connsiteX3" fmla="*/ 4127618 w 4127618"/>
                <a:gd name="connsiteY3" fmla="*/ 1260525 h 1260525"/>
                <a:gd name="connsiteX0" fmla="*/ 0 w 4127618"/>
                <a:gd name="connsiteY0" fmla="*/ 13010 h 1260695"/>
                <a:gd name="connsiteX1" fmla="*/ 1653611 w 4127618"/>
                <a:gd name="connsiteY1" fmla="*/ 191 h 1260695"/>
                <a:gd name="connsiteX2" fmla="*/ 2243270 w 4127618"/>
                <a:gd name="connsiteY2" fmla="*/ 68557 h 1260695"/>
                <a:gd name="connsiteX3" fmla="*/ 4127618 w 4127618"/>
                <a:gd name="connsiteY3" fmla="*/ 1260695 h 1260695"/>
              </a:gdLst>
              <a:ahLst/>
              <a:cxnLst>
                <a:cxn ang="0">
                  <a:pos x="connsiteX0" y="connsiteY0"/>
                </a:cxn>
                <a:cxn ang="0">
                  <a:pos x="connsiteX1" y="connsiteY1"/>
                </a:cxn>
                <a:cxn ang="0">
                  <a:pos x="connsiteX2" y="connsiteY2"/>
                </a:cxn>
                <a:cxn ang="0">
                  <a:pos x="connsiteX3" y="connsiteY3"/>
                </a:cxn>
              </a:cxnLst>
              <a:rect l="l" t="t" r="r" b="b"/>
              <a:pathLst>
                <a:path w="4127618" h="1260695">
                  <a:moveTo>
                    <a:pt x="0" y="13010"/>
                  </a:moveTo>
                  <a:lnTo>
                    <a:pt x="1653611" y="191"/>
                  </a:lnTo>
                  <a:cubicBezTo>
                    <a:pt x="2032474" y="-1233"/>
                    <a:pt x="2138585" y="3752"/>
                    <a:pt x="2243270" y="68557"/>
                  </a:cubicBezTo>
                  <a:cubicBezTo>
                    <a:pt x="2655605" y="278641"/>
                    <a:pt x="3406567" y="737621"/>
                    <a:pt x="4127618" y="126069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A67165E1-2CFB-4A9B-2CD3-62CEE14694E3}"/>
                </a:ext>
              </a:extLst>
            </p:cNvPr>
            <p:cNvCxnSpPr/>
            <p:nvPr/>
          </p:nvCxnSpPr>
          <p:spPr>
            <a:xfrm>
              <a:off x="7389968" y="1295155"/>
              <a:ext cx="0" cy="4032448"/>
            </a:xfrm>
            <a:prstGeom prst="line">
              <a:avLst/>
            </a:prstGeom>
            <a:ln w="254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96CFFF1-5142-AABA-8F92-D1327221B672}"/>
                    </a:ext>
                  </a:extLst>
                </p:cNvPr>
                <p:cNvSpPr txBox="1"/>
                <p:nvPr/>
              </p:nvSpPr>
              <p:spPr>
                <a:xfrm>
                  <a:off x="9694224" y="1468111"/>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[rad/s] (</a:t>
                  </a:r>
                  <a:r>
                    <a:rPr kumimoji="1" lang="ja-JP" altLang="en-US" sz="1728" kern="1200">
                      <a:solidFill>
                        <a:schemeClr val="tx1"/>
                      </a:solidFill>
                      <a:latin typeface="+mn-lt"/>
                      <a:ea typeface="+mn-ea"/>
                      <a:cs typeface="+mn-cs"/>
                    </a:rPr>
                    <a:t>対数軸</a:t>
                  </a:r>
                  <a:r>
                    <a:rPr kumimoji="1" lang="en-US" altLang="ja-JP" sz="1728" kern="1200">
                      <a:solidFill>
                        <a:schemeClr val="tx1"/>
                      </a:solidFill>
                      <a:latin typeface="+mn-lt"/>
                      <a:ea typeface="+mn-ea"/>
                      <a:cs typeface="+mn-cs"/>
                    </a:rPr>
                    <a:t>)</a:t>
                  </a:r>
                  <a:endParaRPr kumimoji="1" lang="ja-JP" altLang="en-US" sz="2400"/>
                </a:p>
              </p:txBody>
            </p:sp>
          </mc:Choice>
          <mc:Fallback xmlns="">
            <p:sp>
              <p:nvSpPr>
                <p:cNvPr id="17" name="テキスト ボックス 16">
                  <a:extLst>
                    <a:ext uri="{FF2B5EF4-FFF2-40B4-BE49-F238E27FC236}">
                      <a16:creationId xmlns:a16="http://schemas.microsoft.com/office/drawing/2014/main" id="{496CFFF1-5142-AABA-8F92-D1327221B672}"/>
                    </a:ext>
                  </a:extLst>
                </p:cNvPr>
                <p:cNvSpPr txBox="1">
                  <a:spLocks noRot="1" noChangeAspect="1" noMove="1" noResize="1" noEditPoints="1" noAdjustHandles="1" noChangeArrowheads="1" noChangeShapeType="1" noTextEdit="1"/>
                </p:cNvSpPr>
                <p:nvPr/>
              </p:nvSpPr>
              <p:spPr>
                <a:xfrm>
                  <a:off x="9694224" y="1468111"/>
                  <a:ext cx="2309350" cy="369332"/>
                </a:xfrm>
                <a:prstGeom prst="rect">
                  <a:avLst/>
                </a:prstGeom>
                <a:blipFill>
                  <a:blip r:embed="rId4"/>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6150E21-0288-F4CA-FDF5-69A59DB5B362}"/>
                    </a:ext>
                  </a:extLst>
                </p:cNvPr>
                <p:cNvSpPr txBox="1"/>
                <p:nvPr/>
              </p:nvSpPr>
              <p:spPr>
                <a:xfrm>
                  <a:off x="9691241" y="3455395"/>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[rad/s]</a:t>
                  </a:r>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a:t>
                  </a:r>
                  <a:r>
                    <a:rPr kumimoji="1" lang="ja-JP" altLang="en-US" sz="1728" kern="1200">
                      <a:solidFill>
                        <a:schemeClr val="tx1"/>
                      </a:solidFill>
                      <a:latin typeface="+mn-lt"/>
                      <a:ea typeface="+mn-ea"/>
                      <a:cs typeface="+mn-cs"/>
                    </a:rPr>
                    <a:t>対数軸</a:t>
                  </a:r>
                  <a:r>
                    <a:rPr kumimoji="1" lang="en-US" altLang="ja-JP" sz="1728" kern="1200">
                      <a:solidFill>
                        <a:schemeClr val="tx1"/>
                      </a:solidFill>
                      <a:latin typeface="+mn-lt"/>
                      <a:ea typeface="+mn-ea"/>
                      <a:cs typeface="+mn-cs"/>
                    </a:rPr>
                    <a:t>)</a:t>
                  </a:r>
                  <a:endParaRPr kumimoji="1" lang="ja-JP" altLang="en-US" sz="2400"/>
                </a:p>
              </p:txBody>
            </p:sp>
          </mc:Choice>
          <mc:Fallback xmlns="">
            <p:sp>
              <p:nvSpPr>
                <p:cNvPr id="18" name="テキスト ボックス 17">
                  <a:extLst>
                    <a:ext uri="{FF2B5EF4-FFF2-40B4-BE49-F238E27FC236}">
                      <a16:creationId xmlns:a16="http://schemas.microsoft.com/office/drawing/2014/main" id="{C6150E21-0288-F4CA-FDF5-69A59DB5B362}"/>
                    </a:ext>
                  </a:extLst>
                </p:cNvPr>
                <p:cNvSpPr txBox="1">
                  <a:spLocks noRot="1" noChangeAspect="1" noMove="1" noResize="1" noEditPoints="1" noAdjustHandles="1" noChangeArrowheads="1" noChangeShapeType="1" noTextEdit="1"/>
                </p:cNvSpPr>
                <p:nvPr/>
              </p:nvSpPr>
              <p:spPr>
                <a:xfrm>
                  <a:off x="9691241" y="3455395"/>
                  <a:ext cx="2309350" cy="369332"/>
                </a:xfrm>
                <a:prstGeom prst="rect">
                  <a:avLst/>
                </a:prstGeom>
                <a:blipFill>
                  <a:blip r:embed="rId5"/>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D0E07B7F-98E1-CC82-8F5C-C8E94458F588}"/>
                    </a:ext>
                  </a:extLst>
                </p:cNvPr>
                <p:cNvSpPr txBox="1"/>
                <p:nvPr/>
              </p:nvSpPr>
              <p:spPr>
                <a:xfrm>
                  <a:off x="7443890" y="1491424"/>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19" name="テキスト ボックス 18">
                  <a:extLst>
                    <a:ext uri="{FF2B5EF4-FFF2-40B4-BE49-F238E27FC236}">
                      <a16:creationId xmlns:a16="http://schemas.microsoft.com/office/drawing/2014/main" id="{D0E07B7F-98E1-CC82-8F5C-C8E94458F588}"/>
                    </a:ext>
                  </a:extLst>
                </p:cNvPr>
                <p:cNvSpPr txBox="1">
                  <a:spLocks noRot="1" noChangeAspect="1" noMove="1" noResize="1" noEditPoints="1" noAdjustHandles="1" noChangeArrowheads="1" noChangeShapeType="1" noTextEdit="1"/>
                </p:cNvSpPr>
                <p:nvPr/>
              </p:nvSpPr>
              <p:spPr>
                <a:xfrm>
                  <a:off x="7443890" y="1491424"/>
                  <a:ext cx="433580" cy="402226"/>
                </a:xfrm>
                <a:prstGeom prst="rect">
                  <a:avLst/>
                </a:prstGeom>
                <a:blipFill>
                  <a:blip r:embed="rId6"/>
                  <a:stretch>
                    <a:fillRect l="-9804" r="-5882"/>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D4B11654-94E1-7D3A-6F26-6E5EC9C9E625}"/>
                </a:ext>
              </a:extLst>
            </p:cNvPr>
            <p:cNvCxnSpPr/>
            <p:nvPr/>
          </p:nvCxnSpPr>
          <p:spPr>
            <a:xfrm>
              <a:off x="8110048" y="2231259"/>
              <a:ext cx="576064"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C3E970-7EFB-5D16-96C1-BA58166498C3}"/>
                    </a:ext>
                  </a:extLst>
                </p:cNvPr>
                <p:cNvSpPr txBox="1"/>
                <p:nvPr/>
              </p:nvSpPr>
              <p:spPr>
                <a:xfrm>
                  <a:off x="8626520" y="2159251"/>
                  <a:ext cx="1607812"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−20</m:t>
                      </m:r>
                    </m:oMath>
                  </a14:m>
                  <a:r>
                    <a:rPr kumimoji="1" lang="ja-JP" altLang="en-US" sz="1728" kern="1200">
                      <a:solidFill>
                        <a:schemeClr val="tx1"/>
                      </a:solidFill>
                      <a:latin typeface="+mn-lt"/>
                      <a:ea typeface="+mn-ea"/>
                      <a:cs typeface="+mn-cs"/>
                    </a:rPr>
                    <a:t> </a:t>
                  </a:r>
                  <a:r>
                    <a:rPr kumimoji="1" lang="en-US" altLang="ja-JP" sz="1728" kern="1200">
                      <a:solidFill>
                        <a:schemeClr val="tx1"/>
                      </a:solidFill>
                      <a:latin typeface="+mn-lt"/>
                      <a:ea typeface="+mn-ea"/>
                      <a:cs typeface="+mn-cs"/>
                    </a:rPr>
                    <a:t>dB/dec.</a:t>
                  </a:r>
                  <a:endParaRPr kumimoji="1" lang="ja-JP" altLang="en-US" sz="2400"/>
                </a:p>
              </p:txBody>
            </p:sp>
          </mc:Choice>
          <mc:Fallback xmlns="">
            <p:sp>
              <p:nvSpPr>
                <p:cNvPr id="21" name="テキスト ボックス 20">
                  <a:extLst>
                    <a:ext uri="{FF2B5EF4-FFF2-40B4-BE49-F238E27FC236}">
                      <a16:creationId xmlns:a16="http://schemas.microsoft.com/office/drawing/2014/main" id="{81C3E970-7EFB-5D16-96C1-BA58166498C3}"/>
                    </a:ext>
                  </a:extLst>
                </p:cNvPr>
                <p:cNvSpPr txBox="1">
                  <a:spLocks noRot="1" noChangeAspect="1" noMove="1" noResize="1" noEditPoints="1" noAdjustHandles="1" noChangeArrowheads="1" noChangeShapeType="1" noTextEdit="1"/>
                </p:cNvSpPr>
                <p:nvPr/>
              </p:nvSpPr>
              <p:spPr>
                <a:xfrm>
                  <a:off x="8626520" y="2159251"/>
                  <a:ext cx="1607812" cy="369332"/>
                </a:xfrm>
                <a:prstGeom prst="rect">
                  <a:avLst/>
                </a:prstGeom>
                <a:blipFill>
                  <a:blip r:embed="rId7"/>
                  <a:stretch>
                    <a:fillRect l="-3141" t="-18333" r="-20419" b="-8333"/>
                  </a:stretch>
                </a:blipFill>
              </p:spPr>
              <p:txBody>
                <a:bodyPr/>
                <a:lstStyle/>
                <a:p>
                  <a:r>
                    <a:rPr lang="ja-JP" altLang="en-US">
                      <a:noFill/>
                    </a:rPr>
                    <a:t> </a:t>
                  </a:r>
                </a:p>
              </p:txBody>
            </p:sp>
          </mc:Fallback>
        </mc:AlternateContent>
        <p:sp>
          <p:nvSpPr>
            <p:cNvPr id="22" name="フリーフォーム: 図形 21">
              <a:extLst>
                <a:ext uri="{FF2B5EF4-FFF2-40B4-BE49-F238E27FC236}">
                  <a16:creationId xmlns:a16="http://schemas.microsoft.com/office/drawing/2014/main" id="{9D0962D7-333E-59BB-8628-E8F989EEACD7}"/>
                </a:ext>
              </a:extLst>
            </p:cNvPr>
            <p:cNvSpPr/>
            <p:nvPr/>
          </p:nvSpPr>
          <p:spPr>
            <a:xfrm>
              <a:off x="5154320" y="3884968"/>
              <a:ext cx="4977925" cy="1455316"/>
            </a:xfrm>
            <a:custGeom>
              <a:avLst/>
              <a:gdLst>
                <a:gd name="connsiteX0" fmla="*/ 0 w 4977925"/>
                <a:gd name="connsiteY0" fmla="*/ 135690 h 1721309"/>
                <a:gd name="connsiteX1" fmla="*/ 1021222 w 4977925"/>
                <a:gd name="connsiteY1" fmla="*/ 139963 h 1721309"/>
                <a:gd name="connsiteX2" fmla="*/ 3542232 w 4977925"/>
                <a:gd name="connsiteY2" fmla="*/ 1579929 h 1721309"/>
                <a:gd name="connsiteX3" fmla="*/ 4977925 w 4977925"/>
                <a:gd name="connsiteY3" fmla="*/ 1588475 h 1721309"/>
                <a:gd name="connsiteX0" fmla="*/ 0 w 4977925"/>
                <a:gd name="connsiteY0" fmla="*/ 130310 h 1675121"/>
                <a:gd name="connsiteX1" fmla="*/ 1021222 w 4977925"/>
                <a:gd name="connsiteY1" fmla="*/ 134583 h 1675121"/>
                <a:gd name="connsiteX2" fmla="*/ 3499503 w 4977925"/>
                <a:gd name="connsiteY2" fmla="*/ 1497637 h 1675121"/>
                <a:gd name="connsiteX3" fmla="*/ 4977925 w 4977925"/>
                <a:gd name="connsiteY3" fmla="*/ 1583095 h 1675121"/>
                <a:gd name="connsiteX0" fmla="*/ 0 w 4977925"/>
                <a:gd name="connsiteY0" fmla="*/ 130310 h 1629405"/>
                <a:gd name="connsiteX1" fmla="*/ 1021222 w 4977925"/>
                <a:gd name="connsiteY1" fmla="*/ 134583 h 1629405"/>
                <a:gd name="connsiteX2" fmla="*/ 3499503 w 4977925"/>
                <a:gd name="connsiteY2" fmla="*/ 1497637 h 1629405"/>
                <a:gd name="connsiteX3" fmla="*/ 4977925 w 4977925"/>
                <a:gd name="connsiteY3" fmla="*/ 1583095 h 1629405"/>
                <a:gd name="connsiteX0" fmla="*/ 0 w 4977925"/>
                <a:gd name="connsiteY0" fmla="*/ 130310 h 1591241"/>
                <a:gd name="connsiteX1" fmla="*/ 1021222 w 4977925"/>
                <a:gd name="connsiteY1" fmla="*/ 134583 h 1591241"/>
                <a:gd name="connsiteX2" fmla="*/ 3499503 w 4977925"/>
                <a:gd name="connsiteY2" fmla="*/ 1497637 h 1591241"/>
                <a:gd name="connsiteX3" fmla="*/ 4977925 w 4977925"/>
                <a:gd name="connsiteY3" fmla="*/ 1583095 h 1591241"/>
                <a:gd name="connsiteX0" fmla="*/ 0 w 4977925"/>
                <a:gd name="connsiteY0" fmla="*/ 130310 h 1594657"/>
                <a:gd name="connsiteX1" fmla="*/ 1021222 w 4977925"/>
                <a:gd name="connsiteY1" fmla="*/ 134583 h 1594657"/>
                <a:gd name="connsiteX2" fmla="*/ 3499503 w 4977925"/>
                <a:gd name="connsiteY2" fmla="*/ 1497637 h 1594657"/>
                <a:gd name="connsiteX3" fmla="*/ 4977925 w 4977925"/>
                <a:gd name="connsiteY3" fmla="*/ 1583095 h 1594657"/>
                <a:gd name="connsiteX0" fmla="*/ 0 w 4977925"/>
                <a:gd name="connsiteY0" fmla="*/ 118195 h 1573511"/>
                <a:gd name="connsiteX1" fmla="*/ 1021222 w 4977925"/>
                <a:gd name="connsiteY1" fmla="*/ 122468 h 1573511"/>
                <a:gd name="connsiteX2" fmla="*/ 3230310 w 4977925"/>
                <a:gd name="connsiteY2" fmla="*/ 1310334 h 1573511"/>
                <a:gd name="connsiteX3" fmla="*/ 4977925 w 4977925"/>
                <a:gd name="connsiteY3" fmla="*/ 1570980 h 1573511"/>
                <a:gd name="connsiteX0" fmla="*/ 0 w 4977925"/>
                <a:gd name="connsiteY0" fmla="*/ 46739 h 1502055"/>
                <a:gd name="connsiteX1" fmla="*/ 1298961 w 4977925"/>
                <a:gd name="connsiteY1" fmla="*/ 247566 h 1502055"/>
                <a:gd name="connsiteX2" fmla="*/ 3230310 w 4977925"/>
                <a:gd name="connsiteY2" fmla="*/ 1238878 h 1502055"/>
                <a:gd name="connsiteX3" fmla="*/ 4977925 w 4977925"/>
                <a:gd name="connsiteY3" fmla="*/ 1499524 h 1502055"/>
                <a:gd name="connsiteX0" fmla="*/ 0 w 4977925"/>
                <a:gd name="connsiteY0" fmla="*/ 0 h 1455316"/>
                <a:gd name="connsiteX1" fmla="*/ 1298961 w 4977925"/>
                <a:gd name="connsiteY1" fmla="*/ 200827 h 1455316"/>
                <a:gd name="connsiteX2" fmla="*/ 3230310 w 4977925"/>
                <a:gd name="connsiteY2" fmla="*/ 1192139 h 1455316"/>
                <a:gd name="connsiteX3" fmla="*/ 4977925 w 4977925"/>
                <a:gd name="connsiteY3" fmla="*/ 1452785 h 1455316"/>
              </a:gdLst>
              <a:ahLst/>
              <a:cxnLst>
                <a:cxn ang="0">
                  <a:pos x="connsiteX0" y="connsiteY0"/>
                </a:cxn>
                <a:cxn ang="0">
                  <a:pos x="connsiteX1" y="connsiteY1"/>
                </a:cxn>
                <a:cxn ang="0">
                  <a:pos x="connsiteX2" y="connsiteY2"/>
                </a:cxn>
                <a:cxn ang="0">
                  <a:pos x="connsiteX3" y="connsiteY3"/>
                </a:cxn>
              </a:cxnLst>
              <a:rect l="l" t="t" r="r" b="b"/>
              <a:pathLst>
                <a:path w="4977925" h="1455316">
                  <a:moveTo>
                    <a:pt x="0" y="0"/>
                  </a:moveTo>
                  <a:cubicBezTo>
                    <a:pt x="480345" y="9970"/>
                    <a:pt x="760576" y="2137"/>
                    <a:pt x="1298961" y="200827"/>
                  </a:cubicBezTo>
                  <a:cubicBezTo>
                    <a:pt x="1837346" y="399517"/>
                    <a:pt x="2570860" y="950720"/>
                    <a:pt x="3230310" y="1192139"/>
                  </a:cubicBezTo>
                  <a:cubicBezTo>
                    <a:pt x="3492380" y="1288279"/>
                    <a:pt x="4021507" y="1479490"/>
                    <a:pt x="4977925" y="145278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7E5F4DF2-F6C6-51D4-523F-A5575D698059}"/>
                    </a:ext>
                  </a:extLst>
                </p:cNvPr>
                <p:cNvSpPr txBox="1"/>
                <p:nvPr/>
              </p:nvSpPr>
              <p:spPr>
                <a:xfrm>
                  <a:off x="7451427" y="3422501"/>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3" name="テキスト ボックス 22">
                  <a:extLst>
                    <a:ext uri="{FF2B5EF4-FFF2-40B4-BE49-F238E27FC236}">
                      <a16:creationId xmlns:a16="http://schemas.microsoft.com/office/drawing/2014/main" id="{7E5F4DF2-F6C6-51D4-523F-A5575D698059}"/>
                    </a:ext>
                  </a:extLst>
                </p:cNvPr>
                <p:cNvSpPr txBox="1">
                  <a:spLocks noRot="1" noChangeAspect="1" noMove="1" noResize="1" noEditPoints="1" noAdjustHandles="1" noChangeArrowheads="1" noChangeShapeType="1" noTextEdit="1"/>
                </p:cNvSpPr>
                <p:nvPr/>
              </p:nvSpPr>
              <p:spPr>
                <a:xfrm>
                  <a:off x="7451427" y="3422501"/>
                  <a:ext cx="433580" cy="402226"/>
                </a:xfrm>
                <a:prstGeom prst="rect">
                  <a:avLst/>
                </a:prstGeom>
                <a:blipFill>
                  <a:blip r:embed="rId8"/>
                  <a:stretch>
                    <a:fillRect l="-9804" r="-5882"/>
                  </a:stretch>
                </a:blipFill>
              </p:spPr>
              <p:txBody>
                <a:bodyPr/>
                <a:lstStyle/>
                <a:p>
                  <a:r>
                    <a:rPr lang="ja-JP" altLang="en-US">
                      <a:noFill/>
                    </a:rPr>
                    <a:t> </a:t>
                  </a:r>
                </a:p>
              </p:txBody>
            </p:sp>
          </mc:Fallback>
        </mc:AlternateContent>
        <p:cxnSp>
          <p:nvCxnSpPr>
            <p:cNvPr id="24" name="直線コネクタ 23">
              <a:extLst>
                <a:ext uri="{FF2B5EF4-FFF2-40B4-BE49-F238E27FC236}">
                  <a16:creationId xmlns:a16="http://schemas.microsoft.com/office/drawing/2014/main" id="{E1ED64E2-6A0F-E164-2967-410DAEA58100}"/>
                </a:ext>
              </a:extLst>
            </p:cNvPr>
            <p:cNvCxnSpPr/>
            <p:nvPr/>
          </p:nvCxnSpPr>
          <p:spPr>
            <a:xfrm>
              <a:off x="6381856" y="3884968"/>
              <a:ext cx="2098576" cy="144263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39FA3B0F-3E1A-ABC3-CAD4-6602990BD6EF}"/>
                </a:ext>
              </a:extLst>
            </p:cNvPr>
            <p:cNvCxnSpPr>
              <a:cxnSpLocks/>
            </p:cNvCxnSpPr>
            <p:nvPr/>
          </p:nvCxnSpPr>
          <p:spPr>
            <a:xfrm>
              <a:off x="8461041" y="3884968"/>
              <a:ext cx="0" cy="1455316"/>
            </a:xfrm>
            <a:prstGeom prst="line">
              <a:avLst/>
            </a:prstGeom>
            <a:ln w="127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5A6C2795-7B6E-F1AC-A671-A5FDBA5E5DC9}"/>
                </a:ext>
              </a:extLst>
            </p:cNvPr>
            <p:cNvCxnSpPr>
              <a:cxnSpLocks/>
              <a:endCxn id="22" idx="3"/>
            </p:cNvCxnSpPr>
            <p:nvPr/>
          </p:nvCxnSpPr>
          <p:spPr>
            <a:xfrm>
              <a:off x="5154320" y="5283582"/>
              <a:ext cx="4977925" cy="5417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AA623895-EC35-63C5-B13C-C1CDE7F28689}"/>
                    </a:ext>
                  </a:extLst>
                </p:cNvPr>
                <p:cNvSpPr txBox="1"/>
                <p:nvPr/>
              </p:nvSpPr>
              <p:spPr>
                <a:xfrm>
                  <a:off x="6516090" y="4482201"/>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−45</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7" name="テキスト ボックス 26">
                  <a:extLst>
                    <a:ext uri="{FF2B5EF4-FFF2-40B4-BE49-F238E27FC236}">
                      <a16:creationId xmlns:a16="http://schemas.microsoft.com/office/drawing/2014/main" id="{AA623895-EC35-63C5-B13C-C1CDE7F28689}"/>
                    </a:ext>
                  </a:extLst>
                </p:cNvPr>
                <p:cNvSpPr txBox="1">
                  <a:spLocks noRot="1" noChangeAspect="1" noMove="1" noResize="1" noEditPoints="1" noAdjustHandles="1" noChangeArrowheads="1" noChangeShapeType="1" noTextEdit="1"/>
                </p:cNvSpPr>
                <p:nvPr/>
              </p:nvSpPr>
              <p:spPr>
                <a:xfrm>
                  <a:off x="6516090" y="4482201"/>
                  <a:ext cx="753411" cy="369332"/>
                </a:xfrm>
                <a:prstGeom prst="rect">
                  <a:avLst/>
                </a:prstGeom>
                <a:blipFill>
                  <a:blip r:embed="rId9"/>
                  <a:stretch>
                    <a:fillRect l="-2247" r="-89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6777CEB7-20AE-AEE5-326D-56B5EF24EC5D}"/>
                    </a:ext>
                  </a:extLst>
                </p:cNvPr>
                <p:cNvSpPr txBox="1"/>
                <p:nvPr/>
              </p:nvSpPr>
              <p:spPr>
                <a:xfrm>
                  <a:off x="4420974" y="5059943"/>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−90</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6777CEB7-20AE-AEE5-326D-56B5EF24EC5D}"/>
                    </a:ext>
                  </a:extLst>
                </p:cNvPr>
                <p:cNvSpPr txBox="1">
                  <a:spLocks noRot="1" noChangeAspect="1" noMove="1" noResize="1" noEditPoints="1" noAdjustHandles="1" noChangeArrowheads="1" noChangeShapeType="1" noTextEdit="1"/>
                </p:cNvSpPr>
                <p:nvPr/>
              </p:nvSpPr>
              <p:spPr>
                <a:xfrm>
                  <a:off x="4420974" y="5059943"/>
                  <a:ext cx="753411" cy="369332"/>
                </a:xfrm>
                <a:prstGeom prst="rect">
                  <a:avLst/>
                </a:prstGeom>
                <a:blipFill>
                  <a:blip r:embed="rId10"/>
                  <a:stretch>
                    <a:fillRect l="-2247" r="-1011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E1FC6FD6-B58F-599A-44CC-64B28899B982}"/>
                    </a:ext>
                  </a:extLst>
                </p:cNvPr>
                <p:cNvSpPr txBox="1"/>
                <p:nvPr/>
              </p:nvSpPr>
              <p:spPr>
                <a:xfrm>
                  <a:off x="8168338" y="3422501"/>
                  <a:ext cx="603499"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en-US" altLang="ja-JP" sz="1728" i="1" kern="1200">
                                <a:solidFill>
                                  <a:schemeClr val="tx1"/>
                                </a:solidFill>
                                <a:latin typeface="Cambria Math" panose="02040503050406030204" pitchFamily="18" charset="0"/>
                                <a:ea typeface="+mn-ea"/>
                                <a:cs typeface="+mn-cs"/>
                              </a:rPr>
                              <m:t>5</m:t>
                            </m:r>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9" name="テキスト ボックス 28">
                  <a:extLst>
                    <a:ext uri="{FF2B5EF4-FFF2-40B4-BE49-F238E27FC236}">
                      <a16:creationId xmlns:a16="http://schemas.microsoft.com/office/drawing/2014/main" id="{E1FC6FD6-B58F-599A-44CC-64B28899B982}"/>
                    </a:ext>
                  </a:extLst>
                </p:cNvPr>
                <p:cNvSpPr txBox="1">
                  <a:spLocks noRot="1" noChangeAspect="1" noMove="1" noResize="1" noEditPoints="1" noAdjustHandles="1" noChangeArrowheads="1" noChangeShapeType="1" noTextEdit="1"/>
                </p:cNvSpPr>
                <p:nvPr/>
              </p:nvSpPr>
              <p:spPr>
                <a:xfrm>
                  <a:off x="8168338" y="3422501"/>
                  <a:ext cx="603499" cy="402226"/>
                </a:xfrm>
                <a:prstGeom prst="rect">
                  <a:avLst/>
                </a:prstGeom>
                <a:blipFill>
                  <a:blip r:embed="rId11"/>
                  <a:stretch>
                    <a:fillRect l="-12676" r="-422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C802F4D9-A324-12E0-11C7-F635AEFDBF8D}"/>
                    </a:ext>
                  </a:extLst>
                </p:cNvPr>
                <p:cNvSpPr txBox="1"/>
                <p:nvPr/>
              </p:nvSpPr>
              <p:spPr>
                <a:xfrm>
                  <a:off x="6093473" y="3370494"/>
                  <a:ext cx="754181"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r>
                          <a:rPr kumimoji="1" lang="en-US" altLang="ja-JP" sz="1728" i="1" kern="1200">
                            <a:solidFill>
                              <a:schemeClr val="tx1"/>
                            </a:solidFill>
                            <a:latin typeface="Cambria Math" panose="02040503050406030204" pitchFamily="18" charset="0"/>
                            <a:ea typeface="+mn-ea"/>
                            <a:cs typeface="+mn-cs"/>
                          </a:rPr>
                          <m:t>/5</m:t>
                        </m:r>
                      </m:oMath>
                    </m:oMathPara>
                  </a14:m>
                  <a:endParaRPr kumimoji="1" lang="ja-JP" altLang="en-US" sz="2400"/>
                </a:p>
              </p:txBody>
            </p:sp>
          </mc:Choice>
          <mc:Fallback xmlns="">
            <p:sp>
              <p:nvSpPr>
                <p:cNvPr id="30" name="テキスト ボックス 29">
                  <a:extLst>
                    <a:ext uri="{FF2B5EF4-FFF2-40B4-BE49-F238E27FC236}">
                      <a16:creationId xmlns:a16="http://schemas.microsoft.com/office/drawing/2014/main" id="{C802F4D9-A324-12E0-11C7-F635AEFDBF8D}"/>
                    </a:ext>
                  </a:extLst>
                </p:cNvPr>
                <p:cNvSpPr txBox="1">
                  <a:spLocks noRot="1" noChangeAspect="1" noMove="1" noResize="1" noEditPoints="1" noAdjustHandles="1" noChangeArrowheads="1" noChangeShapeType="1" noTextEdit="1"/>
                </p:cNvSpPr>
                <p:nvPr/>
              </p:nvSpPr>
              <p:spPr>
                <a:xfrm>
                  <a:off x="6093473" y="3370494"/>
                  <a:ext cx="754181" cy="402226"/>
                </a:xfrm>
                <a:prstGeom prst="rect">
                  <a:avLst/>
                </a:prstGeom>
                <a:blipFill>
                  <a:blip r:embed="rId12"/>
                  <a:stretch>
                    <a:fillRect l="-4494" r="-10112"/>
                  </a:stretch>
                </a:blipFill>
              </p:spPr>
              <p:txBody>
                <a:bodyPr/>
                <a:lstStyle/>
                <a:p>
                  <a:r>
                    <a:rPr lang="ja-JP" altLang="en-US">
                      <a:noFill/>
                    </a:rPr>
                    <a:t> </a:t>
                  </a:r>
                </a:p>
              </p:txBody>
            </p:sp>
          </mc:Fallback>
        </mc:AlternateContent>
      </p:grpSp>
      <p:grpSp>
        <p:nvGrpSpPr>
          <p:cNvPr id="8" name="グループ化 7">
            <a:extLst>
              <a:ext uri="{FF2B5EF4-FFF2-40B4-BE49-F238E27FC236}">
                <a16:creationId xmlns:a16="http://schemas.microsoft.com/office/drawing/2014/main" id="{FF55692D-1174-68EC-7832-3ED0ED5FFC0B}"/>
              </a:ext>
            </a:extLst>
          </p:cNvPr>
          <p:cNvGrpSpPr/>
          <p:nvPr/>
        </p:nvGrpSpPr>
        <p:grpSpPr>
          <a:xfrm>
            <a:off x="638758" y="2237532"/>
            <a:ext cx="4537265" cy="1028209"/>
            <a:chOff x="3885313" y="1340655"/>
            <a:chExt cx="4680244" cy="1060611"/>
          </a:xfrm>
        </p:grpSpPr>
        <p:sp>
          <p:nvSpPr>
            <p:cNvPr id="10" name="テキスト ボックス 9">
              <a:extLst>
                <a:ext uri="{FF2B5EF4-FFF2-40B4-BE49-F238E27FC236}">
                  <a16:creationId xmlns:a16="http://schemas.microsoft.com/office/drawing/2014/main" id="{7AB9352E-AE80-B4C0-BF81-3F386B584800}"/>
                </a:ext>
              </a:extLst>
            </p:cNvPr>
            <p:cNvSpPr txBox="1"/>
            <p:nvPr/>
          </p:nvSpPr>
          <p:spPr>
            <a:xfrm>
              <a:off x="3885313" y="1449975"/>
              <a:ext cx="1729910" cy="461001"/>
            </a:xfrm>
            <a:prstGeom prst="rect">
              <a:avLst/>
            </a:prstGeom>
            <a:noFill/>
          </p:spPr>
          <p:txBody>
            <a:bodyPr wrap="none" rtlCol="0">
              <a:spAutoFit/>
            </a:bodyPr>
            <a:lstStyle/>
            <a:p>
              <a:pPr defTabSz="877824">
                <a:spcAft>
                  <a:spcPts val="600"/>
                </a:spcAft>
              </a:pPr>
              <a:r>
                <a:rPr kumimoji="1" lang="ja-JP" altLang="en-US" sz="2304" kern="1200">
                  <a:solidFill>
                    <a:schemeClr val="accent1"/>
                  </a:solidFill>
                  <a:latin typeface="+mn-lt"/>
                  <a:ea typeface="+mn-ea"/>
                  <a:cs typeface="+mn-cs"/>
                </a:rPr>
                <a:t>補償抵抗</a:t>
              </a:r>
              <a:r>
                <a:rPr kumimoji="1" lang="en-US" altLang="ja-JP" sz="2304" i="1" kern="120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a:solidFill>
                    <a:schemeClr val="accent1"/>
                  </a:solidFill>
                  <a:latin typeface="Times New Roman" panose="02020603050405020304" pitchFamily="18" charset="0"/>
                  <a:ea typeface="+mn-ea"/>
                  <a:cs typeface="Times New Roman" panose="02020603050405020304" pitchFamily="18" charset="0"/>
                </a:rPr>
                <a:t>C</a:t>
              </a:r>
              <a:endParaRPr kumimoji="1" lang="ja-JP" altLang="en-US" sz="2400">
                <a:solidFill>
                  <a:schemeClr val="accent1"/>
                </a:solidFill>
              </a:endParaRP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5DAB52F-CEDA-E18E-370F-04C2FBF36EE9}"/>
                    </a:ext>
                  </a:extLst>
                </p:cNvPr>
                <p:cNvSpPr txBox="1"/>
                <p:nvPr/>
              </p:nvSpPr>
              <p:spPr>
                <a:xfrm>
                  <a:off x="5964717" y="1340655"/>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a:solidFill>
                      <a:schemeClr val="accent1"/>
                    </a:solidFill>
                  </a:endParaRPr>
                </a:p>
              </p:txBody>
            </p:sp>
          </mc:Choice>
          <mc:Fallback xmlns="">
            <p:sp>
              <p:nvSpPr>
                <p:cNvPr id="11" name="テキスト ボックス 10">
                  <a:extLst>
                    <a:ext uri="{FF2B5EF4-FFF2-40B4-BE49-F238E27FC236}">
                      <a16:creationId xmlns:a16="http://schemas.microsoft.com/office/drawing/2014/main" id="{C5DAB52F-CEDA-E18E-370F-04C2FBF36EE9}"/>
                    </a:ext>
                  </a:extLst>
                </p:cNvPr>
                <p:cNvSpPr txBox="1">
                  <a:spLocks noRot="1" noChangeAspect="1" noMove="1" noResize="1" noEditPoints="1" noAdjustHandles="1" noChangeArrowheads="1" noChangeShapeType="1" noTextEdit="1"/>
                </p:cNvSpPr>
                <p:nvPr/>
              </p:nvSpPr>
              <p:spPr>
                <a:xfrm>
                  <a:off x="5964717" y="1340655"/>
                  <a:ext cx="2600840" cy="1060611"/>
                </a:xfrm>
                <a:prstGeom prst="rect">
                  <a:avLst/>
                </a:prstGeom>
                <a:blipFill>
                  <a:blip r:embed="rId1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8027980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EFA35C4-D26A-F628-5A33-872160478ECF}"/>
              </a:ext>
            </a:extLst>
          </p:cNvPr>
          <p:cNvSpPr>
            <a:spLocks noGrp="1"/>
          </p:cNvSpPr>
          <p:nvPr>
            <p:ph type="title"/>
          </p:nvPr>
        </p:nvSpPr>
        <p:spPr>
          <a:xfrm>
            <a:off x="1113810" y="2319612"/>
            <a:ext cx="4629571" cy="2387600"/>
          </a:xfrm>
        </p:spPr>
        <p:txBody>
          <a:bodyPr vert="horz" lIns="91440" tIns="45720" rIns="91440" bIns="45720" rtlCol="0" anchor="t">
            <a:normAutofit fontScale="90000"/>
          </a:bodyPr>
          <a:lstStyle/>
          <a:p>
            <a:r>
              <a:rPr kumimoji="1" lang="ja-JP" altLang="en-US" sz="5400" kern="1200">
                <a:solidFill>
                  <a:schemeClr val="tx1"/>
                </a:solidFill>
                <a:latin typeface="+mj-lt"/>
                <a:ea typeface="+mj-ea"/>
                <a:cs typeface="+mj-cs"/>
              </a:rPr>
              <a:t>補償抵抗と</a:t>
            </a:r>
            <a:br>
              <a:rPr kumimoji="1" lang="en-US" altLang="ja-JP" sz="5400" kern="1200">
                <a:solidFill>
                  <a:schemeClr val="tx1"/>
                </a:solidFill>
                <a:latin typeface="+mj-lt"/>
                <a:ea typeface="+mj-ea"/>
                <a:cs typeface="+mj-cs"/>
              </a:rPr>
            </a:br>
            <a:r>
              <a:rPr kumimoji="1" lang="ja-JP" altLang="en-US" sz="5400" kern="1200">
                <a:solidFill>
                  <a:schemeClr val="tx1"/>
                </a:solidFill>
                <a:latin typeface="+mj-lt"/>
                <a:ea typeface="+mj-ea"/>
                <a:cs typeface="+mj-cs"/>
              </a:rPr>
              <a:t>バイアス</a:t>
            </a:r>
            <a:br>
              <a:rPr kumimoji="1" lang="en-US" altLang="ja-JP" sz="5400" kern="1200">
                <a:solidFill>
                  <a:schemeClr val="tx1"/>
                </a:solidFill>
                <a:latin typeface="+mj-lt"/>
                <a:ea typeface="+mj-ea"/>
                <a:cs typeface="+mj-cs"/>
              </a:rPr>
            </a:br>
            <a:r>
              <a:rPr kumimoji="1" lang="ja-JP" altLang="en-US" sz="5400" kern="1200">
                <a:solidFill>
                  <a:schemeClr val="tx1"/>
                </a:solidFill>
                <a:latin typeface="+mj-lt"/>
                <a:ea typeface="+mj-ea"/>
                <a:cs typeface="+mj-cs"/>
              </a:rPr>
              <a:t>レプリカの回路</a:t>
            </a:r>
          </a:p>
        </p:txBody>
      </p:sp>
      <p:grpSp>
        <p:nvGrpSpPr>
          <p:cNvPr id="6153" name="Group 615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154" name="Rectangle 615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8" name="Rectangle 615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0" name="Rectangle 615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7BB4C5B-89D7-9EB8-2757-287F4422D00D}"/>
              </a:ext>
            </a:extLst>
          </p:cNvPr>
          <p:cNvSpPr>
            <a:spLocks noGrp="1"/>
          </p:cNvSpPr>
          <p:nvPr>
            <p:ph idx="1"/>
          </p:nvPr>
        </p:nvSpPr>
        <p:spPr>
          <a:xfrm>
            <a:off x="1551139" y="4757988"/>
            <a:ext cx="9677400" cy="1600200"/>
          </a:xfrm>
        </p:spPr>
        <p:txBody>
          <a:bodyPr>
            <a:normAutofit lnSpcReduction="10000"/>
          </a:bodyPr>
          <a:lstStyle/>
          <a:p>
            <a:r>
              <a:rPr kumimoji="1" lang="ja-JP" altLang="en-US"/>
              <a:t>サンプル</a:t>
            </a:r>
            <a:endParaRPr kumimoji="1" lang="en-US" altLang="ja-JP"/>
          </a:p>
          <a:p>
            <a:pPr lvl="1"/>
            <a:r>
              <a:rPr kumimoji="1" lang="en-US" altLang="ja-JP"/>
              <a:t>2stage_pc.sch</a:t>
            </a:r>
          </a:p>
          <a:p>
            <a:pPr lvl="1"/>
            <a:r>
              <a:rPr lang="en-US" altLang="ja-JP"/>
              <a:t>2stage_pc_ac.sch</a:t>
            </a:r>
          </a:p>
          <a:p>
            <a:pPr lvl="1"/>
            <a:r>
              <a:rPr kumimoji="1" lang="en-US" altLang="ja-JP"/>
              <a:t>2stage_pc_tran.sch</a:t>
            </a:r>
          </a:p>
          <a:p>
            <a:pPr marL="0" indent="0">
              <a:buNone/>
            </a:pPr>
            <a:endParaRPr kumimoji="1" lang="ja-JP" altLang="en-US"/>
          </a:p>
        </p:txBody>
      </p:sp>
      <p:pic>
        <p:nvPicPr>
          <p:cNvPr id="9" name="図 8">
            <a:extLst>
              <a:ext uri="{FF2B5EF4-FFF2-40B4-BE49-F238E27FC236}">
                <a16:creationId xmlns:a16="http://schemas.microsoft.com/office/drawing/2014/main" id="{BAC6AFBC-6F88-1D52-8924-B4817434D37C}"/>
              </a:ext>
            </a:extLst>
          </p:cNvPr>
          <p:cNvPicPr>
            <a:picLocks noChangeAspect="1"/>
          </p:cNvPicPr>
          <p:nvPr/>
        </p:nvPicPr>
        <p:blipFill>
          <a:blip r:embed="rId2"/>
          <a:stretch>
            <a:fillRect/>
          </a:stretch>
        </p:blipFill>
        <p:spPr>
          <a:xfrm>
            <a:off x="5818834" y="4218138"/>
            <a:ext cx="5692518" cy="2565278"/>
          </a:xfrm>
          <a:prstGeom prst="rect">
            <a:avLst/>
          </a:prstGeom>
        </p:spPr>
      </p:pic>
      <p:pic>
        <p:nvPicPr>
          <p:cNvPr id="6" name="図 5">
            <a:extLst>
              <a:ext uri="{FF2B5EF4-FFF2-40B4-BE49-F238E27FC236}">
                <a16:creationId xmlns:a16="http://schemas.microsoft.com/office/drawing/2014/main" id="{7293284B-5388-0A8F-686F-B375EA59BD80}"/>
              </a:ext>
            </a:extLst>
          </p:cNvPr>
          <p:cNvPicPr>
            <a:picLocks noChangeAspect="1"/>
          </p:cNvPicPr>
          <p:nvPr/>
        </p:nvPicPr>
        <p:blipFill>
          <a:blip r:embed="rId3"/>
          <a:stretch>
            <a:fillRect/>
          </a:stretch>
        </p:blipFill>
        <p:spPr>
          <a:xfrm>
            <a:off x="5824035" y="58711"/>
            <a:ext cx="5687317" cy="4134039"/>
          </a:xfrm>
          <a:prstGeom prst="rect">
            <a:avLst/>
          </a:prstGeom>
        </p:spPr>
      </p:pic>
    </p:spTree>
    <p:extLst>
      <p:ext uri="{BB962C8B-B14F-4D97-AF65-F5344CB8AC3E}">
        <p14:creationId xmlns:p14="http://schemas.microsoft.com/office/powerpoint/2010/main" val="20437231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D9F958-D166-FA30-D86A-316A70D6144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DC7FEC1-3191-5F54-4E25-96589EADE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CF1F5BCF-1B1D-62F1-8B47-D1E504E3FE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7C1A210C-6D95-BEB3-766B-7F5AE8073E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0DC8CB2-5B4A-0272-DE65-EBD7DF800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E035CB16-1DF0-26F0-9D9F-AA55C1DBD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5879F9-9F53-C881-661C-CC6D82208DEE}"/>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性能評価編</a:t>
            </a:r>
          </a:p>
        </p:txBody>
      </p:sp>
    </p:spTree>
    <p:extLst>
      <p:ext uri="{BB962C8B-B14F-4D97-AF65-F5344CB8AC3E}">
        <p14:creationId xmlns:p14="http://schemas.microsoft.com/office/powerpoint/2010/main" val="20966055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862D0D-3732-71F8-E21E-EE2FC6941BC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6A11AE-50D5-C8A2-776E-D3061CE90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F31C6D7-E455-67AC-DE5F-33E173C4CB26}"/>
              </a:ext>
            </a:extLst>
          </p:cNvPr>
          <p:cNvSpPr>
            <a:spLocks noGrp="1"/>
          </p:cNvSpPr>
          <p:nvPr>
            <p:ph type="title"/>
          </p:nvPr>
        </p:nvSpPr>
        <p:spPr>
          <a:xfrm>
            <a:off x="589560" y="856180"/>
            <a:ext cx="4560584" cy="1128068"/>
          </a:xfrm>
        </p:spPr>
        <p:txBody>
          <a:bodyPr anchor="ctr">
            <a:normAutofit/>
          </a:bodyPr>
          <a:lstStyle/>
          <a:p>
            <a:r>
              <a:rPr kumimoji="1" lang="ja-JP" altLang="en-US" sz="4000"/>
              <a:t>飽和領域</a:t>
            </a:r>
          </a:p>
        </p:txBody>
      </p:sp>
      <p:grpSp>
        <p:nvGrpSpPr>
          <p:cNvPr id="11" name="Group 10">
            <a:extLst>
              <a:ext uri="{FF2B5EF4-FFF2-40B4-BE49-F238E27FC236}">
                <a16:creationId xmlns:a16="http://schemas.microsoft.com/office/drawing/2014/main" id="{2F6AFA9F-D983-86A8-FE92-A399653BB2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319814D0-5041-895B-4088-7DFB981CD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644E9DE-522D-86DD-4EF5-4899CDAC9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99E9D54-4CB0-89FB-8E6F-4CB99B790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262A02C8-AE69-ED85-9029-C99854AEB776}"/>
              </a:ext>
            </a:extLst>
          </p:cNvPr>
          <p:cNvSpPr>
            <a:spLocks noGrp="1"/>
          </p:cNvSpPr>
          <p:nvPr>
            <p:ph idx="1"/>
          </p:nvPr>
        </p:nvSpPr>
        <p:spPr>
          <a:xfrm>
            <a:off x="590719" y="2330505"/>
            <a:ext cx="4559425" cy="3979585"/>
          </a:xfrm>
        </p:spPr>
        <p:txBody>
          <a:bodyPr anchor="ctr">
            <a:normAutofit/>
          </a:bodyPr>
          <a:lstStyle/>
          <a:p>
            <a:r>
              <a:rPr kumimoji="1" lang="ja-JP" altLang="en-US" sz="2000"/>
              <a:t>必要なトランジスタが飽和領域で動作しているかの確認</a:t>
            </a:r>
            <a:endParaRPr kumimoji="1" lang="en-US" altLang="ja-JP" sz="2000"/>
          </a:p>
          <a:p>
            <a:pPr lvl="1"/>
            <a:r>
              <a:rPr kumimoji="1" lang="en-US" altLang="ja-JP" sz="2000"/>
              <a:t>op</a:t>
            </a:r>
            <a:r>
              <a:rPr kumimoji="1" lang="ja-JP" altLang="en-US" sz="2000"/>
              <a:t>コマンドや</a:t>
            </a:r>
            <a:r>
              <a:rPr lang="en-US" altLang="ja-JP" sz="2000"/>
              <a:t>show m</a:t>
            </a:r>
            <a:r>
              <a:rPr lang="ja-JP" altLang="en-US" sz="2000"/>
              <a:t>コマンドで確認すること</a:t>
            </a:r>
            <a:endParaRPr lang="en-US" altLang="ja-JP" sz="2000"/>
          </a:p>
          <a:p>
            <a:pPr lvl="1"/>
            <a:endParaRPr kumimoji="1" lang="en-US" altLang="ja-JP" sz="2000"/>
          </a:p>
          <a:p>
            <a:pPr lvl="1"/>
            <a:r>
              <a:rPr kumimoji="1" lang="ja-JP" altLang="en-US" sz="2000"/>
              <a:t>サンプル：</a:t>
            </a:r>
            <a:r>
              <a:rPr kumimoji="1" lang="en-US" altLang="ja-JP" sz="2000"/>
              <a:t>opamp_ac.sch</a:t>
            </a:r>
            <a:endParaRPr kumimoji="1" lang="ja-JP" altLang="en-US" sz="2000"/>
          </a:p>
        </p:txBody>
      </p:sp>
      <p:sp>
        <p:nvSpPr>
          <p:cNvPr id="17" name="Rectangle 16">
            <a:extLst>
              <a:ext uri="{FF2B5EF4-FFF2-40B4-BE49-F238E27FC236}">
                <a16:creationId xmlns:a16="http://schemas.microsoft.com/office/drawing/2014/main" id="{6D8D45B1-F1AB-FB5A-3587-8DB62D17F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466E73-CD5E-EE55-D7F5-AE1F25F54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コンテンツ プレースホルダー 3">
            <a:extLst>
              <a:ext uri="{FF2B5EF4-FFF2-40B4-BE49-F238E27FC236}">
                <a16:creationId xmlns:a16="http://schemas.microsoft.com/office/drawing/2014/main" id="{5DF57C11-4F84-09FB-ACCC-DB8A46646731}"/>
              </a:ext>
            </a:extLst>
          </p:cNvPr>
          <p:cNvPicPr>
            <a:picLocks noChangeAspect="1"/>
          </p:cNvPicPr>
          <p:nvPr/>
        </p:nvPicPr>
        <p:blipFill>
          <a:blip r:embed="rId2"/>
          <a:stretch>
            <a:fillRect/>
          </a:stretch>
        </p:blipFill>
        <p:spPr>
          <a:xfrm>
            <a:off x="7112332" y="722871"/>
            <a:ext cx="3185696" cy="5412258"/>
          </a:xfrm>
          <a:prstGeom prst="rect">
            <a:avLst/>
          </a:prstGeom>
        </p:spPr>
      </p:pic>
    </p:spTree>
    <p:extLst>
      <p:ext uri="{BB962C8B-B14F-4D97-AF65-F5344CB8AC3E}">
        <p14:creationId xmlns:p14="http://schemas.microsoft.com/office/powerpoint/2010/main" val="159070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C1B6A25-3FDC-A719-F16C-E6BE6226BB0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60B1477-5397-FD00-BB84-0600C99CC5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0659A8F-55F5-F176-3CB8-F65BF5775F2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F94B1F3-A616-8AA5-9EDB-6CD3581BCF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D13C036A-E532-AD6E-1FAD-E3CE01BFE9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E18875A-231C-F36D-8005-1AE5E688C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7B5EA6C-2FB4-93E9-364C-9B93C787E5B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プロセスコーナー</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818183656"/>
      </p:ext>
    </p:extLst>
  </p:cSld>
  <p:clrMapOvr>
    <a:overrideClrMapping bg1="dk1" tx1="lt1" bg2="dk2" tx2="lt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1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7"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FFDE6C4-500B-7CD8-06CA-663A0682467F}"/>
              </a:ext>
            </a:extLst>
          </p:cNvPr>
          <p:cNvSpPr>
            <a:spLocks noGrp="1"/>
          </p:cNvSpPr>
          <p:nvPr>
            <p:ph type="title"/>
          </p:nvPr>
        </p:nvSpPr>
        <p:spPr>
          <a:xfrm>
            <a:off x="1043631" y="873940"/>
            <a:ext cx="5052369" cy="1035781"/>
          </a:xfrm>
        </p:spPr>
        <p:txBody>
          <a:bodyPr anchor="ctr">
            <a:normAutofit/>
          </a:bodyPr>
          <a:lstStyle/>
          <a:p>
            <a:r>
              <a:rPr lang="ja-JP" altLang="en-US" sz="3600"/>
              <a:t>プロセスコーナー</a:t>
            </a:r>
            <a:endParaRPr kumimoji="1" lang="ja-JP" altLang="en-US" sz="3600"/>
          </a:p>
        </p:txBody>
      </p:sp>
      <p:sp>
        <p:nvSpPr>
          <p:cNvPr id="21" name="Rectangle 2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図 6">
            <a:extLst>
              <a:ext uri="{FF2B5EF4-FFF2-40B4-BE49-F238E27FC236}">
                <a16:creationId xmlns:a16="http://schemas.microsoft.com/office/drawing/2014/main" id="{4BD5B656-3B65-2B55-4C10-4F2CD2DD26C1}"/>
              </a:ext>
            </a:extLst>
          </p:cNvPr>
          <p:cNvPicPr>
            <a:picLocks noChangeAspect="1"/>
          </p:cNvPicPr>
          <p:nvPr/>
        </p:nvPicPr>
        <p:blipFill>
          <a:blip r:embed="rId2"/>
          <a:stretch>
            <a:fillRect/>
          </a:stretch>
        </p:blipFill>
        <p:spPr>
          <a:xfrm>
            <a:off x="6874461" y="484160"/>
            <a:ext cx="4223252" cy="2248880"/>
          </a:xfrm>
          <a:prstGeom prst="rect">
            <a:avLst/>
          </a:prstGeom>
        </p:spPr>
      </p:pic>
      <p:cxnSp>
        <p:nvCxnSpPr>
          <p:cNvPr id="23" name="Straight Connector 2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830FA4FD-889A-BB7C-E5A9-F7FB4AC642E9}"/>
              </a:ext>
            </a:extLst>
          </p:cNvPr>
          <p:cNvSpPr>
            <a:spLocks noGrp="1"/>
          </p:cNvSpPr>
          <p:nvPr>
            <p:ph idx="1"/>
          </p:nvPr>
        </p:nvSpPr>
        <p:spPr>
          <a:xfrm>
            <a:off x="1045029" y="2983297"/>
            <a:ext cx="10188298" cy="3218548"/>
          </a:xfrm>
        </p:spPr>
        <p:txBody>
          <a:bodyPr anchor="ctr">
            <a:normAutofit fontScale="70000" lnSpcReduction="20000"/>
          </a:bodyPr>
          <a:lstStyle/>
          <a:p>
            <a:r>
              <a:rPr lang="ja-JP" altLang="en-US"/>
              <a:t>半導体製造プロセスにおけるデバイス特性のばらつきの極端なケースを表現するためのモデル</a:t>
            </a:r>
          </a:p>
          <a:p>
            <a:pPr lvl="1"/>
            <a:r>
              <a:rPr lang="ja-JP" altLang="en-US"/>
              <a:t>製造される際に発生する物理的なばらつきを考慮し、設計がさまざまな条件下で正しく機能し、性能要件を満たすことを保証するために実施する</a:t>
            </a:r>
            <a:endParaRPr lang="en-US" altLang="ja-JP"/>
          </a:p>
          <a:p>
            <a:pPr lvl="2"/>
            <a:r>
              <a:rPr lang="en-US" altLang="ja-JP">
                <a:hlinkClick r:id="rId3"/>
              </a:rPr>
              <a:t>https://github.com/3zki/lsi1_analog1/blob/main/analog_tutorial_jp.pdf</a:t>
            </a:r>
            <a:endParaRPr lang="en-US" altLang="ja-JP"/>
          </a:p>
          <a:p>
            <a:r>
              <a:rPr lang="ja-JP" altLang="en-US"/>
              <a:t>種類</a:t>
            </a:r>
            <a:endParaRPr lang="en-US" altLang="ja-JP"/>
          </a:p>
          <a:p>
            <a:pPr lvl="1"/>
            <a:r>
              <a:rPr lang="en-US" altLang="ja-JP"/>
              <a:t>T (Typical)</a:t>
            </a:r>
            <a:r>
              <a:rPr lang="ja-JP" altLang="en-US"/>
              <a:t>：標準的、平均的な特性。</a:t>
            </a:r>
          </a:p>
          <a:p>
            <a:pPr lvl="1"/>
            <a:r>
              <a:rPr lang="en-US" altLang="ja-JP"/>
              <a:t>F (Fast)</a:t>
            </a:r>
            <a:r>
              <a:rPr lang="ja-JP" altLang="en-US"/>
              <a:t>：トランジスタのスイッチング速度が速く、電流駆動能力が高い特性</a:t>
            </a:r>
            <a:endParaRPr lang="en-US" altLang="ja-JP"/>
          </a:p>
          <a:p>
            <a:pPr lvl="2"/>
            <a:r>
              <a:rPr lang="ja-JP" altLang="en-US"/>
              <a:t>実効的なゲート長が短め、酸化膜が薄め、ドーピング濃度が高めなどが要因</a:t>
            </a:r>
          </a:p>
          <a:p>
            <a:pPr lvl="1"/>
            <a:r>
              <a:rPr lang="en-US" altLang="ja-JP"/>
              <a:t>S (Slow)</a:t>
            </a:r>
            <a:r>
              <a:rPr lang="ja-JP" altLang="en-US"/>
              <a:t>：トランジスタのスイッチング速度が遅く、電流駆動能力が低い特性</a:t>
            </a:r>
            <a:endParaRPr lang="en-US" altLang="ja-JP"/>
          </a:p>
          <a:p>
            <a:pPr lvl="2"/>
            <a:r>
              <a:rPr lang="ja-JP" altLang="en-US"/>
              <a:t>実効的なゲート長が長め、酸化膜が厚め、ドーピング濃度が低めなどが要因</a:t>
            </a:r>
            <a:endParaRPr lang="en-US" altLang="ja-JP"/>
          </a:p>
          <a:p>
            <a:pPr lvl="1"/>
            <a:endParaRPr lang="en-US" altLang="ja-JP"/>
          </a:p>
          <a:p>
            <a:pPr lvl="1"/>
            <a:r>
              <a:rPr lang="en-US" altLang="ja-JP">
                <a:solidFill>
                  <a:srgbClr val="FF0000"/>
                </a:solidFill>
              </a:rPr>
              <a:t>TR10</a:t>
            </a:r>
            <a:r>
              <a:rPr lang="ja-JP" altLang="en-US">
                <a:solidFill>
                  <a:srgbClr val="FF0000"/>
                </a:solidFill>
              </a:rPr>
              <a:t>では</a:t>
            </a:r>
            <a:r>
              <a:rPr lang="en-US" altLang="ja-JP">
                <a:solidFill>
                  <a:srgbClr val="FF0000"/>
                </a:solidFill>
              </a:rPr>
              <a:t>Typical</a:t>
            </a:r>
            <a:r>
              <a:rPr lang="ja-JP" altLang="en-US">
                <a:solidFill>
                  <a:srgbClr val="FF0000"/>
                </a:solidFill>
              </a:rPr>
              <a:t>しかないため実施は出来ない</a:t>
            </a:r>
            <a:endParaRPr lang="en-US" altLang="ja-JP">
              <a:solidFill>
                <a:srgbClr val="FF0000"/>
              </a:solidFill>
            </a:endParaRPr>
          </a:p>
          <a:p>
            <a:endParaRPr kumimoji="1" lang="ja-JP" altLang="en-US" sz="1800"/>
          </a:p>
        </p:txBody>
      </p:sp>
    </p:spTree>
    <p:extLst>
      <p:ext uri="{BB962C8B-B14F-4D97-AF65-F5344CB8AC3E}">
        <p14:creationId xmlns:p14="http://schemas.microsoft.com/office/powerpoint/2010/main" val="32471248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9061187-ADF8-F33F-110B-8D771EADFE74}"/>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C1350C12-BF5B-1477-E174-3008DD4C7C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D064A32-C7D8-C409-C3CE-5AC717A4DCE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90CC130-2E89-A3A8-BE12-A79F8FC0CB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7BD9810-B0B0-540F-0CD5-3060DFB929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3A739BF-8DD4-FBF2-72F1-4BC1A3A9B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83DD474-6AE0-8E37-B940-476A2473394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オープンループ特性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065316426"/>
      </p:ext>
    </p:extLst>
  </p:cSld>
  <p:clrMapOvr>
    <a:overrideClrMapping bg1="dk1" tx1="lt1" bg2="dk2" tx2="lt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79" name="Rectangle 10278">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81" name="Group 102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282" name="Rectangle 102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3" name="Rectangle 102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4" name="Rectangle 102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86" name="Rectangle 102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DD9C30D-2C45-98C3-1DD3-CC02A36274F0}"/>
              </a:ext>
            </a:extLst>
          </p:cNvPr>
          <p:cNvSpPr>
            <a:spLocks noGrp="1"/>
          </p:cNvSpPr>
          <p:nvPr>
            <p:ph type="title"/>
          </p:nvPr>
        </p:nvSpPr>
        <p:spPr>
          <a:xfrm>
            <a:off x="1043631" y="873940"/>
            <a:ext cx="4928291" cy="1035781"/>
          </a:xfrm>
        </p:spPr>
        <p:txBody>
          <a:bodyPr anchor="ctr">
            <a:normAutofit/>
          </a:bodyPr>
          <a:lstStyle/>
          <a:p>
            <a:r>
              <a:rPr kumimoji="1" lang="ja-JP" altLang="en-US" sz="3600"/>
              <a:t>オープンループ特性</a:t>
            </a:r>
          </a:p>
        </p:txBody>
      </p:sp>
      <p:sp>
        <p:nvSpPr>
          <p:cNvPr id="3" name="コンテンツ プレースホルダー 2">
            <a:extLst>
              <a:ext uri="{FF2B5EF4-FFF2-40B4-BE49-F238E27FC236}">
                <a16:creationId xmlns:a16="http://schemas.microsoft.com/office/drawing/2014/main" id="{F7AB0A8F-9A8B-727C-2ECB-634A333B3D05}"/>
              </a:ext>
            </a:extLst>
          </p:cNvPr>
          <p:cNvSpPr>
            <a:spLocks noGrp="1"/>
          </p:cNvSpPr>
          <p:nvPr>
            <p:ph idx="1"/>
          </p:nvPr>
        </p:nvSpPr>
        <p:spPr>
          <a:xfrm>
            <a:off x="1045029" y="2524721"/>
            <a:ext cx="5358945" cy="3677123"/>
          </a:xfrm>
        </p:spPr>
        <p:txBody>
          <a:bodyPr anchor="ctr">
            <a:normAutofit/>
          </a:bodyPr>
          <a:lstStyle/>
          <a:p>
            <a:r>
              <a:rPr lang="ja-JP" altLang="en-US" sz="1800"/>
              <a:t>結果</a:t>
            </a:r>
            <a:endParaRPr lang="en-US" altLang="ja-JP" sz="1800"/>
          </a:p>
          <a:p>
            <a:pPr lvl="1"/>
            <a:r>
              <a:rPr lang="zh-CN" altLang="en-US" sz="1800"/>
              <a:t>利得 </a:t>
            </a:r>
            <a:r>
              <a:rPr lang="en-US" altLang="zh-CN" sz="1800"/>
              <a:t>67.8 dB(1kHz)</a:t>
            </a:r>
          </a:p>
          <a:p>
            <a:pPr lvl="2"/>
            <a:r>
              <a:rPr lang="ja-JP" altLang="en-US" sz="1800"/>
              <a:t>もう少し、並行部が長いのがよさそう</a:t>
            </a:r>
            <a:endParaRPr lang="en-US" altLang="zh-CN" sz="1800"/>
          </a:p>
          <a:p>
            <a:pPr lvl="1"/>
            <a:r>
              <a:rPr lang="zh-CN" altLang="en-US" sz="1800"/>
              <a:t>単位利得周波数 </a:t>
            </a:r>
            <a:r>
              <a:rPr lang="en-US" altLang="zh-CN" sz="1800"/>
              <a:t>5.6MHz</a:t>
            </a:r>
          </a:p>
          <a:p>
            <a:pPr lvl="1"/>
            <a:r>
              <a:rPr lang="zh-CN" altLang="en-US" sz="1800"/>
              <a:t>位相余裕 </a:t>
            </a:r>
            <a:r>
              <a:rPr lang="en-US" altLang="zh-CN" sz="1800"/>
              <a:t>180-120.3=59.7</a:t>
            </a:r>
            <a:r>
              <a:rPr lang="zh-CN" altLang="en-US" sz="1800"/>
              <a:t>度</a:t>
            </a:r>
            <a:endParaRPr lang="en-US" altLang="zh-CN" sz="1800"/>
          </a:p>
          <a:p>
            <a:pPr lvl="1"/>
            <a:endParaRPr kumimoji="1" lang="en-US" altLang="ja-JP" sz="1800"/>
          </a:p>
          <a:p>
            <a:pPr lvl="1"/>
            <a:r>
              <a:rPr lang="zh-CN" altLang="en-US" sz="1800"/>
              <a:t>サンプル：</a:t>
            </a:r>
            <a:r>
              <a:rPr lang="en-US" altLang="zh-CN" sz="1800"/>
              <a:t>opamp_ac.sch</a:t>
            </a:r>
            <a:endParaRPr kumimoji="1" lang="ja-JP" altLang="en-US" sz="1800"/>
          </a:p>
        </p:txBody>
      </p:sp>
      <p:sp>
        <p:nvSpPr>
          <p:cNvPr id="10288" name="Rectangle 10287">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90" name="Straight Connector 102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42F9178B-5567-0B87-2225-785022572181}"/>
              </a:ext>
            </a:extLst>
          </p:cNvPr>
          <p:cNvPicPr>
            <a:picLocks noChangeAspect="1"/>
          </p:cNvPicPr>
          <p:nvPr/>
        </p:nvPicPr>
        <p:blipFill>
          <a:blip r:embed="rId2"/>
          <a:stretch>
            <a:fillRect/>
          </a:stretch>
        </p:blipFill>
        <p:spPr>
          <a:xfrm>
            <a:off x="6736560" y="4015946"/>
            <a:ext cx="4541444" cy="2099256"/>
          </a:xfrm>
          <a:prstGeom prst="rect">
            <a:avLst/>
          </a:prstGeom>
        </p:spPr>
      </p:pic>
      <p:pic>
        <p:nvPicPr>
          <p:cNvPr id="9" name="図 8">
            <a:extLst>
              <a:ext uri="{FF2B5EF4-FFF2-40B4-BE49-F238E27FC236}">
                <a16:creationId xmlns:a16="http://schemas.microsoft.com/office/drawing/2014/main" id="{3DDDB19D-36BF-3E7D-F5CE-1C93F6C4C5C3}"/>
              </a:ext>
            </a:extLst>
          </p:cNvPr>
          <p:cNvPicPr>
            <a:picLocks noChangeAspect="1"/>
          </p:cNvPicPr>
          <p:nvPr/>
        </p:nvPicPr>
        <p:blipFill>
          <a:blip r:embed="rId3"/>
          <a:stretch>
            <a:fillRect/>
          </a:stretch>
        </p:blipFill>
        <p:spPr>
          <a:xfrm>
            <a:off x="6830278" y="836848"/>
            <a:ext cx="2130117" cy="1923347"/>
          </a:xfrm>
          <a:prstGeom prst="rect">
            <a:avLst/>
          </a:prstGeom>
        </p:spPr>
      </p:pic>
      <p:pic>
        <p:nvPicPr>
          <p:cNvPr id="10" name="図 9">
            <a:extLst>
              <a:ext uri="{FF2B5EF4-FFF2-40B4-BE49-F238E27FC236}">
                <a16:creationId xmlns:a16="http://schemas.microsoft.com/office/drawing/2014/main" id="{133E7C4B-7273-2828-61CE-E360B4FB7AD9}"/>
              </a:ext>
            </a:extLst>
          </p:cNvPr>
          <p:cNvPicPr>
            <a:picLocks noChangeAspect="1"/>
          </p:cNvPicPr>
          <p:nvPr/>
        </p:nvPicPr>
        <p:blipFill>
          <a:blip r:embed="rId4"/>
          <a:stretch>
            <a:fillRect/>
          </a:stretch>
        </p:blipFill>
        <p:spPr>
          <a:xfrm>
            <a:off x="9018824" y="841681"/>
            <a:ext cx="2130117" cy="1931150"/>
          </a:xfrm>
          <a:prstGeom prst="rect">
            <a:avLst/>
          </a:prstGeom>
        </p:spPr>
      </p:pic>
      <p:pic>
        <p:nvPicPr>
          <p:cNvPr id="11" name="図 10">
            <a:extLst>
              <a:ext uri="{FF2B5EF4-FFF2-40B4-BE49-F238E27FC236}">
                <a16:creationId xmlns:a16="http://schemas.microsoft.com/office/drawing/2014/main" id="{F6B93464-FB2C-C610-2E75-60E05FC010BD}"/>
              </a:ext>
            </a:extLst>
          </p:cNvPr>
          <p:cNvPicPr>
            <a:picLocks noChangeAspect="1"/>
          </p:cNvPicPr>
          <p:nvPr/>
        </p:nvPicPr>
        <p:blipFill>
          <a:blip r:embed="rId5"/>
          <a:stretch>
            <a:fillRect/>
          </a:stretch>
        </p:blipFill>
        <p:spPr>
          <a:xfrm>
            <a:off x="7488474" y="2956348"/>
            <a:ext cx="3060700" cy="914400"/>
          </a:xfrm>
          <a:prstGeom prst="rect">
            <a:avLst/>
          </a:prstGeom>
        </p:spPr>
      </p:pic>
    </p:spTree>
    <p:extLst>
      <p:ext uri="{BB962C8B-B14F-4D97-AF65-F5344CB8AC3E}">
        <p14:creationId xmlns:p14="http://schemas.microsoft.com/office/powerpoint/2010/main" val="36186710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0860F44-389A-4C52-C225-145B5900EB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758010F-BA47-4776-5B0F-A91153A3BD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41ED45E-22E9-3124-83D2-E174CC6425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9E0B17B-6DED-5955-2AEB-EB1285034E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BB3CFD3-CE14-A5A2-C7BA-95B9B947A6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4FE6DB5-D1E2-5824-46E3-456D1D123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1F43EC5-8D70-FBCD-54B5-A869066D128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スルーレート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363854336"/>
      </p:ext>
    </p:extLst>
  </p:cSld>
  <p:clrMapOvr>
    <a:overrideClrMapping bg1="dk1" tx1="lt1" bg2="dk2" tx2="lt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3D2F8-EA54-FB32-0C15-D1D5C56DA42C}"/>
            </a:ext>
          </a:extLst>
        </p:cNvPr>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063FD74-3DAF-728F-34A7-3EE92F40E2F0}"/>
              </a:ext>
            </a:extLst>
          </p:cNvPr>
          <p:cNvSpPr>
            <a:spLocks noGrp="1"/>
          </p:cNvSpPr>
          <p:nvPr>
            <p:ph type="title"/>
          </p:nvPr>
        </p:nvSpPr>
        <p:spPr>
          <a:xfrm>
            <a:off x="589560" y="856180"/>
            <a:ext cx="5279408" cy="1128068"/>
          </a:xfrm>
        </p:spPr>
        <p:txBody>
          <a:bodyPr anchor="ctr">
            <a:normAutofit/>
          </a:bodyPr>
          <a:lstStyle/>
          <a:p>
            <a:r>
              <a:rPr kumimoji="1" lang="ja-JP" altLang="en-US" sz="4000"/>
              <a:t>スルーレート</a:t>
            </a:r>
          </a:p>
        </p:txBody>
      </p:sp>
      <p:grpSp>
        <p:nvGrpSpPr>
          <p:cNvPr id="8203" name="Group 820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204" name="Rectangle 820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07" name="Rectangle 820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56B4B615-D316-C0A5-FF5A-46DBD500F3E1}"/>
              </a:ext>
            </a:extLst>
          </p:cNvPr>
          <p:cNvSpPr>
            <a:spLocks noGrp="1"/>
          </p:cNvSpPr>
          <p:nvPr>
            <p:ph idx="1"/>
          </p:nvPr>
        </p:nvSpPr>
        <p:spPr>
          <a:xfrm>
            <a:off x="590719" y="2330505"/>
            <a:ext cx="5278066" cy="3979585"/>
          </a:xfrm>
        </p:spPr>
        <p:txBody>
          <a:bodyPr anchor="ctr">
            <a:normAutofit/>
          </a:bodyPr>
          <a:lstStyle/>
          <a:p>
            <a:r>
              <a:rPr lang="ja-JP" altLang="en-US" sz="2000"/>
              <a:t>ボルテージフォロワの形にして評価</a:t>
            </a:r>
            <a:endParaRPr lang="en-US" altLang="ja-JP" sz="2000" dirty="0"/>
          </a:p>
          <a:p>
            <a:pPr lvl="1"/>
            <a:r>
              <a:rPr lang="ja-JP" altLang="en-US" sz="1600"/>
              <a:t>スルーレートは </a:t>
            </a:r>
            <a:r>
              <a:rPr lang="en-US" altLang="ja-JP" sz="1600" dirty="0"/>
              <a:t>6.5V V/</a:t>
            </a:r>
            <a:r>
              <a:rPr lang="en-US" altLang="ja-JP" sz="1600" dirty="0" err="1"/>
              <a:t>μs</a:t>
            </a:r>
            <a:endParaRPr lang="en-US" altLang="ja-JP" sz="1600" dirty="0"/>
          </a:p>
          <a:p>
            <a:pPr lvl="2"/>
            <a:r>
              <a:rPr lang="en-US" altLang="ja-JP" sz="1200" dirty="0"/>
              <a:t>200kHz</a:t>
            </a:r>
          </a:p>
          <a:p>
            <a:pPr lvl="1"/>
            <a:r>
              <a:rPr lang="en-US" altLang="ja-JP" sz="1600" dirty="0"/>
              <a:t>Rail-to-Rail</a:t>
            </a:r>
            <a:r>
              <a:rPr lang="ja-JP" altLang="en-US" sz="1600"/>
              <a:t>動作ではなく、</a:t>
            </a:r>
            <a:r>
              <a:rPr lang="en-US" altLang="ja-JP" sz="1600" dirty="0"/>
              <a:t>0.5V</a:t>
            </a:r>
            <a:r>
              <a:rPr lang="ja-JP" altLang="en-US" sz="1600"/>
              <a:t>オフセットあり</a:t>
            </a:r>
            <a:endParaRPr lang="en-US" altLang="ja-JP" sz="1600" dirty="0"/>
          </a:p>
          <a:p>
            <a:pPr lvl="1"/>
            <a:endParaRPr kumimoji="1" lang="en-US" altLang="ja-JP" sz="1600" dirty="0"/>
          </a:p>
          <a:p>
            <a:pPr lvl="1"/>
            <a:r>
              <a:rPr lang="ja-JP" altLang="en-US" sz="1600"/>
              <a:t>サンプル：</a:t>
            </a:r>
            <a:r>
              <a:rPr lang="en-US" altLang="ja-JP" sz="1600" dirty="0" err="1"/>
              <a:t>opamp_tran.sch</a:t>
            </a:r>
            <a:endParaRPr kumimoji="1" lang="ja-JP" altLang="en-US" sz="1600"/>
          </a:p>
        </p:txBody>
      </p:sp>
      <p:sp>
        <p:nvSpPr>
          <p:cNvPr id="8209" name="Rectangle 820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1" name="Rectangle 821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3" name="Rectangle 821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92A3C906-7B3D-AA33-E76D-896003E8CDF1}"/>
              </a:ext>
            </a:extLst>
          </p:cNvPr>
          <p:cNvPicPr>
            <a:picLocks noChangeAspect="1"/>
          </p:cNvPicPr>
          <p:nvPr/>
        </p:nvPicPr>
        <p:blipFill>
          <a:blip r:embed="rId2"/>
          <a:stretch>
            <a:fillRect/>
          </a:stretch>
        </p:blipFill>
        <p:spPr>
          <a:xfrm>
            <a:off x="6944138" y="3825881"/>
            <a:ext cx="4657143" cy="2179280"/>
          </a:xfrm>
          <a:prstGeom prst="rect">
            <a:avLst/>
          </a:prstGeom>
        </p:spPr>
      </p:pic>
      <p:pic>
        <p:nvPicPr>
          <p:cNvPr id="6" name="図 5">
            <a:extLst>
              <a:ext uri="{FF2B5EF4-FFF2-40B4-BE49-F238E27FC236}">
                <a16:creationId xmlns:a16="http://schemas.microsoft.com/office/drawing/2014/main" id="{7E72B92E-9D17-14A1-6980-94E7B52C67D0}"/>
              </a:ext>
            </a:extLst>
          </p:cNvPr>
          <p:cNvPicPr>
            <a:picLocks noChangeAspect="1"/>
          </p:cNvPicPr>
          <p:nvPr/>
        </p:nvPicPr>
        <p:blipFill>
          <a:blip r:embed="rId3"/>
          <a:stretch>
            <a:fillRect/>
          </a:stretch>
        </p:blipFill>
        <p:spPr>
          <a:xfrm>
            <a:off x="7924412" y="499750"/>
            <a:ext cx="3010666" cy="2638979"/>
          </a:xfrm>
          <a:prstGeom prst="rect">
            <a:avLst/>
          </a:prstGeom>
        </p:spPr>
      </p:pic>
    </p:spTree>
    <p:extLst>
      <p:ext uri="{BB962C8B-B14F-4D97-AF65-F5344CB8AC3E}">
        <p14:creationId xmlns:p14="http://schemas.microsoft.com/office/powerpoint/2010/main" val="29646057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32236F-0EBA-84E1-A5A5-53A07003EA2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F7EF53D-0A96-D99E-5093-00276D7A2B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CC03F31-7F5E-CB78-C902-075CE4F09FC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D981CF-7853-89CE-182C-2392D37608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C74FC0E-B0D0-07AB-08AE-CF13B302A32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5269D78-CFCB-3B8A-3D1F-C6AA0A60B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3A8766AB-75FB-365F-54F5-511C36520C9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a:solidFill>
                  <a:schemeClr val="bg2"/>
                </a:solidFill>
                <a:latin typeface="+mj-lt"/>
                <a:ea typeface="+mj-ea"/>
                <a:cs typeface="+mj-cs"/>
              </a:rPr>
              <a:t>CMRR</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321109682"/>
      </p:ext>
    </p:extLst>
  </p:cSld>
  <p:clrMapOvr>
    <a:overrideClrMapping bg1="dk1" tx1="lt1" bg2="dk2" tx2="lt2" accent1="accent1" accent2="accent2" accent3="accent3" accent4="accent4" accent5="accent5" accent6="accent6" hlink="hlink" folHlink="folHlink"/>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618242-13A6-39AF-B894-BF040623ED2B}"/>
              </a:ext>
            </a:extLst>
          </p:cNvPr>
          <p:cNvSpPr>
            <a:spLocks noGrp="1"/>
          </p:cNvSpPr>
          <p:nvPr>
            <p:ph type="title"/>
          </p:nvPr>
        </p:nvSpPr>
        <p:spPr>
          <a:xfrm>
            <a:off x="589560" y="856180"/>
            <a:ext cx="5279408" cy="1128068"/>
          </a:xfrm>
        </p:spPr>
        <p:txBody>
          <a:bodyPr anchor="ctr">
            <a:normAutofit/>
          </a:bodyPr>
          <a:lstStyle/>
          <a:p>
            <a:r>
              <a:rPr kumimoji="1" lang="en-US" altLang="ja-JP" sz="4000"/>
              <a:t>CMRR</a:t>
            </a:r>
            <a:endParaRPr kumimoji="1" lang="ja-JP" altLang="en-US" sz="4000"/>
          </a:p>
        </p:txBody>
      </p:sp>
      <p:grpSp>
        <p:nvGrpSpPr>
          <p:cNvPr id="11275" name="Group 1127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76" name="Rectangle 1127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7" name="Rectangle 1127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279" name="Rectangle 1127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46A0DBF-D89B-32AC-1991-E814627FC55B}"/>
              </a:ext>
            </a:extLst>
          </p:cNvPr>
          <p:cNvSpPr>
            <a:spLocks noGrp="1"/>
          </p:cNvSpPr>
          <p:nvPr>
            <p:ph idx="1"/>
          </p:nvPr>
        </p:nvSpPr>
        <p:spPr>
          <a:xfrm>
            <a:off x="590719" y="2330505"/>
            <a:ext cx="5278066" cy="3979585"/>
          </a:xfrm>
        </p:spPr>
        <p:txBody>
          <a:bodyPr anchor="ctr">
            <a:normAutofit/>
          </a:bodyPr>
          <a:lstStyle/>
          <a:p>
            <a:r>
              <a:rPr lang="ja-JP" altLang="en-US" sz="2400"/>
              <a:t>同相信号除去比 </a:t>
            </a:r>
            <a:r>
              <a:rPr lang="en-US" altLang="ja-JP" sz="2400"/>
              <a:t>CMRR (Common-Mode Rejection Ratio) </a:t>
            </a:r>
            <a:r>
              <a:rPr lang="ja-JP" altLang="en-US" sz="2400"/>
              <a:t>は差動利得と同相利得の比</a:t>
            </a:r>
            <a:endParaRPr lang="en-US" altLang="ja-JP" sz="2400"/>
          </a:p>
          <a:p>
            <a:pPr lvl="1"/>
            <a:r>
              <a:rPr lang="ja-JP" altLang="en-US" sz="1800"/>
              <a:t>信号からのノイズ耐性</a:t>
            </a:r>
            <a:endParaRPr lang="en-US" altLang="ja-JP" sz="1800"/>
          </a:p>
          <a:p>
            <a:pPr lvl="2"/>
            <a:r>
              <a:rPr lang="ja-JP" altLang="en-US" sz="1400"/>
              <a:t>オペアンプは入力端子間の差だけを増幅するのが理想なので，同相信号に対してはまったく反応しない </a:t>
            </a:r>
            <a:r>
              <a:rPr lang="en-US" altLang="ja-JP" sz="1400"/>
              <a:t>(</a:t>
            </a:r>
            <a:r>
              <a:rPr lang="ja-JP" altLang="en-US" sz="1400"/>
              <a:t>利得 </a:t>
            </a:r>
            <a:r>
              <a:rPr lang="en-US" altLang="ja-JP" sz="1400"/>
              <a:t>0</a:t>
            </a:r>
            <a:r>
              <a:rPr lang="ja-JP" altLang="en-US" sz="1400"/>
              <a:t>倍， −∞ </a:t>
            </a:r>
            <a:r>
              <a:rPr lang="en-US" altLang="ja-JP" sz="1400"/>
              <a:t>dB) </a:t>
            </a:r>
            <a:r>
              <a:rPr lang="ja-JP" altLang="en-US" sz="1400"/>
              <a:t>ことが理想</a:t>
            </a:r>
            <a:endParaRPr lang="en-US" altLang="ja-JP" sz="1400"/>
          </a:p>
          <a:p>
            <a:pPr lvl="1"/>
            <a:r>
              <a:rPr lang="en-US" altLang="ja-JP" sz="1800"/>
              <a:t>80dB</a:t>
            </a:r>
            <a:r>
              <a:rPr lang="ja-JP" altLang="en-US" sz="1800"/>
              <a:t>くらいなので、そんなに良くはない</a:t>
            </a:r>
            <a:endParaRPr lang="en-US" altLang="ja-JP" sz="1800"/>
          </a:p>
          <a:p>
            <a:pPr lvl="1"/>
            <a:endParaRPr lang="en-US" altLang="ja-JP" sz="1800"/>
          </a:p>
          <a:p>
            <a:pPr lvl="1"/>
            <a:r>
              <a:rPr lang="ja-JP" altLang="en-US" sz="1800"/>
              <a:t>サンプル：</a:t>
            </a:r>
            <a:r>
              <a:rPr lang="en-US" altLang="ja-JP" sz="1800"/>
              <a:t>opamp_cmrr.sch</a:t>
            </a:r>
          </a:p>
        </p:txBody>
      </p:sp>
      <p:sp>
        <p:nvSpPr>
          <p:cNvPr id="11281" name="Rectangle 1128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3" name="Rectangle 1128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5" name="Rectangle 1128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DDA13EDA-FD37-B27A-986D-91A870FDEE0D}"/>
              </a:ext>
            </a:extLst>
          </p:cNvPr>
          <p:cNvPicPr>
            <a:picLocks noChangeAspect="1"/>
          </p:cNvPicPr>
          <p:nvPr/>
        </p:nvPicPr>
        <p:blipFill>
          <a:blip r:embed="rId2"/>
          <a:stretch>
            <a:fillRect/>
          </a:stretch>
        </p:blipFill>
        <p:spPr>
          <a:xfrm>
            <a:off x="7043242" y="531075"/>
            <a:ext cx="4401593" cy="2576329"/>
          </a:xfrm>
          <a:prstGeom prst="rect">
            <a:avLst/>
          </a:prstGeom>
        </p:spPr>
      </p:pic>
      <p:pic>
        <p:nvPicPr>
          <p:cNvPr id="7" name="図 6">
            <a:extLst>
              <a:ext uri="{FF2B5EF4-FFF2-40B4-BE49-F238E27FC236}">
                <a16:creationId xmlns:a16="http://schemas.microsoft.com/office/drawing/2014/main" id="{25B9D8CC-C2D0-C0F0-3742-E7AC0DAB97E4}"/>
              </a:ext>
            </a:extLst>
          </p:cNvPr>
          <p:cNvPicPr>
            <a:picLocks noChangeAspect="1"/>
          </p:cNvPicPr>
          <p:nvPr/>
        </p:nvPicPr>
        <p:blipFill>
          <a:blip r:embed="rId3"/>
          <a:stretch>
            <a:fillRect/>
          </a:stretch>
        </p:blipFill>
        <p:spPr>
          <a:xfrm>
            <a:off x="7780901" y="3593346"/>
            <a:ext cx="3106340" cy="2733579"/>
          </a:xfrm>
          <a:prstGeom prst="rect">
            <a:avLst/>
          </a:prstGeom>
        </p:spPr>
      </p:pic>
    </p:spTree>
    <p:extLst>
      <p:ext uri="{BB962C8B-B14F-4D97-AF65-F5344CB8AC3E}">
        <p14:creationId xmlns:p14="http://schemas.microsoft.com/office/powerpoint/2010/main" val="408986391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159B1AD-7AFA-0773-4103-C496197EBA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C4A7707-554D-7375-16FE-2B5F6A9968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66023EA-E697-691E-A10F-5A36DCC9F0C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CA9B4813-6D36-D4E2-D292-23F5F79C38B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15F48C4-6DE8-0E40-803E-CD5A5DEB952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3EF3ECDD-D76E-E986-A7C4-3C3E8A16B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29AE54A3-5539-829E-5C3E-E906F6A3AD85}"/>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PSRR</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029275546"/>
      </p:ext>
    </p:extLst>
  </p:cSld>
  <p:clrMapOvr>
    <a:overrideClrMapping bg1="dk1" tx1="lt1" bg2="dk2" tx2="lt2" accent1="accent1" accent2="accent2" accent3="accent3" accent4="accent4" accent5="accent5" accent6="accent6" hlink="hlink" folHlink="folHlink"/>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77ABC-225D-65DA-A510-A0AD909B546A}"/>
            </a:ext>
          </a:extLst>
        </p:cNvPr>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321412DE-3470-0AF7-D246-6E39052A8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9BFCDF0-EE47-2226-4282-CBAAFB0133B5}"/>
              </a:ext>
            </a:extLst>
          </p:cNvPr>
          <p:cNvSpPr>
            <a:spLocks noGrp="1"/>
          </p:cNvSpPr>
          <p:nvPr>
            <p:ph type="title"/>
          </p:nvPr>
        </p:nvSpPr>
        <p:spPr>
          <a:xfrm>
            <a:off x="589560" y="856180"/>
            <a:ext cx="5279408" cy="1128068"/>
          </a:xfrm>
        </p:spPr>
        <p:txBody>
          <a:bodyPr anchor="ctr">
            <a:normAutofit/>
          </a:bodyPr>
          <a:lstStyle/>
          <a:p>
            <a:r>
              <a:rPr lang="en-US" altLang="ja-JP" sz="4000"/>
              <a:t>PSRR</a:t>
            </a:r>
            <a:endParaRPr kumimoji="1" lang="ja-JP" altLang="en-US" sz="4000"/>
          </a:p>
        </p:txBody>
      </p:sp>
      <p:grpSp>
        <p:nvGrpSpPr>
          <p:cNvPr id="11275" name="Group 11274">
            <a:extLst>
              <a:ext uri="{FF2B5EF4-FFF2-40B4-BE49-F238E27FC236}">
                <a16:creationId xmlns:a16="http://schemas.microsoft.com/office/drawing/2014/main" id="{425BBBE3-886F-7969-E153-5D76A58891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76" name="Rectangle 11275">
              <a:extLst>
                <a:ext uri="{FF2B5EF4-FFF2-40B4-BE49-F238E27FC236}">
                  <a16:creationId xmlns:a16="http://schemas.microsoft.com/office/drawing/2014/main" id="{D6AB7A4D-D25D-3359-11D7-B8875C1D9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7" name="Rectangle 11276">
              <a:extLst>
                <a:ext uri="{FF2B5EF4-FFF2-40B4-BE49-F238E27FC236}">
                  <a16:creationId xmlns:a16="http://schemas.microsoft.com/office/drawing/2014/main" id="{1D745066-2241-9678-EAA6-D78FB3C4D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279" name="Rectangle 11278">
            <a:extLst>
              <a:ext uri="{FF2B5EF4-FFF2-40B4-BE49-F238E27FC236}">
                <a16:creationId xmlns:a16="http://schemas.microsoft.com/office/drawing/2014/main" id="{EC4EB868-D9A0-ACA6-C7E9-86E82249D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94F1C94-8086-5833-8A2E-CF030CC661CA}"/>
              </a:ext>
            </a:extLst>
          </p:cNvPr>
          <p:cNvSpPr>
            <a:spLocks noGrp="1"/>
          </p:cNvSpPr>
          <p:nvPr>
            <p:ph idx="1"/>
          </p:nvPr>
        </p:nvSpPr>
        <p:spPr>
          <a:xfrm>
            <a:off x="590719" y="2330505"/>
            <a:ext cx="5278066" cy="3979585"/>
          </a:xfrm>
        </p:spPr>
        <p:txBody>
          <a:bodyPr anchor="ctr">
            <a:normAutofit/>
          </a:bodyPr>
          <a:lstStyle/>
          <a:p>
            <a:r>
              <a:rPr lang="ja-JP" altLang="en-US" sz="2400"/>
              <a:t>電源電圧変動除去比（</a:t>
            </a:r>
            <a:r>
              <a:rPr lang="en-US" altLang="ja-JP" sz="2400"/>
              <a:t>Power Supply Rejection Ratio</a:t>
            </a:r>
            <a:r>
              <a:rPr lang="ja-JP" altLang="en-US" sz="2400"/>
              <a:t>）は電源電圧の変動値と出力電圧の変動値の比</a:t>
            </a:r>
            <a:endParaRPr lang="en-US" altLang="ja-JP" sz="2400"/>
          </a:p>
          <a:p>
            <a:pPr lvl="1"/>
            <a:r>
              <a:rPr lang="ja-JP" altLang="en-US" sz="1800"/>
              <a:t>電源電圧からのノイズ耐性</a:t>
            </a:r>
            <a:endParaRPr lang="en-US" altLang="ja-JP" sz="1800"/>
          </a:p>
          <a:p>
            <a:pPr lvl="2"/>
            <a:r>
              <a:rPr lang="ja-JP" altLang="en-US" sz="1400"/>
              <a:t>電源電圧の変動にまったく変動しないことが理想なので、値が大きいほど電源変動に対する除去能力が高い</a:t>
            </a:r>
            <a:endParaRPr lang="en-US" altLang="ja-JP" sz="1400"/>
          </a:p>
          <a:p>
            <a:pPr lvl="1"/>
            <a:r>
              <a:rPr lang="en-US" altLang="ja-JP" sz="1800"/>
              <a:t>40dB</a:t>
            </a:r>
            <a:r>
              <a:rPr lang="ja-JP" altLang="en-US" sz="1800"/>
              <a:t>くらいなので、そんなに良くはない</a:t>
            </a:r>
            <a:endParaRPr lang="en-US" altLang="ja-JP" sz="1800"/>
          </a:p>
          <a:p>
            <a:pPr lvl="1"/>
            <a:endParaRPr lang="en-US" altLang="ja-JP" sz="1800"/>
          </a:p>
          <a:p>
            <a:pPr lvl="1"/>
            <a:r>
              <a:rPr lang="ja-JP" altLang="en-US" sz="1800"/>
              <a:t>サンプル：</a:t>
            </a:r>
            <a:r>
              <a:rPr lang="en-US" altLang="ja-JP" sz="1800"/>
              <a:t>opamp_psrr.sch</a:t>
            </a:r>
          </a:p>
        </p:txBody>
      </p:sp>
      <p:sp>
        <p:nvSpPr>
          <p:cNvPr id="11281" name="Rectangle 11280">
            <a:extLst>
              <a:ext uri="{FF2B5EF4-FFF2-40B4-BE49-F238E27FC236}">
                <a16:creationId xmlns:a16="http://schemas.microsoft.com/office/drawing/2014/main" id="{44ADB3E0-109F-6156-C88F-5521E736C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3" name="Rectangle 11282">
            <a:extLst>
              <a:ext uri="{FF2B5EF4-FFF2-40B4-BE49-F238E27FC236}">
                <a16:creationId xmlns:a16="http://schemas.microsoft.com/office/drawing/2014/main" id="{58FF3834-6F9A-A081-3609-D56B9B5F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5" name="Rectangle 11284">
            <a:extLst>
              <a:ext uri="{FF2B5EF4-FFF2-40B4-BE49-F238E27FC236}">
                <a16:creationId xmlns:a16="http://schemas.microsoft.com/office/drawing/2014/main" id="{FA973992-9701-3CF8-3A21-F432EA11F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図 10">
            <a:extLst>
              <a:ext uri="{FF2B5EF4-FFF2-40B4-BE49-F238E27FC236}">
                <a16:creationId xmlns:a16="http://schemas.microsoft.com/office/drawing/2014/main" id="{01B4B96F-E404-ED3C-A0E2-630F101552F4}"/>
              </a:ext>
            </a:extLst>
          </p:cNvPr>
          <p:cNvPicPr>
            <a:picLocks noChangeAspect="1"/>
          </p:cNvPicPr>
          <p:nvPr/>
        </p:nvPicPr>
        <p:blipFill>
          <a:blip r:embed="rId2"/>
          <a:stretch>
            <a:fillRect/>
          </a:stretch>
        </p:blipFill>
        <p:spPr>
          <a:xfrm>
            <a:off x="6976645" y="938915"/>
            <a:ext cx="4677228" cy="1760649"/>
          </a:xfrm>
          <a:prstGeom prst="rect">
            <a:avLst/>
          </a:prstGeom>
        </p:spPr>
      </p:pic>
      <p:pic>
        <p:nvPicPr>
          <p:cNvPr id="13" name="図 12">
            <a:extLst>
              <a:ext uri="{FF2B5EF4-FFF2-40B4-BE49-F238E27FC236}">
                <a16:creationId xmlns:a16="http://schemas.microsoft.com/office/drawing/2014/main" id="{A312A4E4-D7C9-96F6-036C-6DBF98C2EFF5}"/>
              </a:ext>
            </a:extLst>
          </p:cNvPr>
          <p:cNvPicPr>
            <a:picLocks noChangeAspect="1"/>
          </p:cNvPicPr>
          <p:nvPr/>
        </p:nvPicPr>
        <p:blipFill>
          <a:blip r:embed="rId3"/>
          <a:stretch>
            <a:fillRect/>
          </a:stretch>
        </p:blipFill>
        <p:spPr>
          <a:xfrm>
            <a:off x="7773601" y="3598725"/>
            <a:ext cx="3069841" cy="2756256"/>
          </a:xfrm>
          <a:prstGeom prst="rect">
            <a:avLst/>
          </a:prstGeom>
        </p:spPr>
      </p:pic>
    </p:spTree>
    <p:extLst>
      <p:ext uri="{BB962C8B-B14F-4D97-AF65-F5344CB8AC3E}">
        <p14:creationId xmlns:p14="http://schemas.microsoft.com/office/powerpoint/2010/main" val="26484582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1CDC0E-0D0D-3FAE-B50A-B0F70BDD6D0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1EA3AF1-389A-C76C-49D3-93C0A5839E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5B9F1F4-AF9F-43D6-6003-A5038CCF7A7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1D30C0B-FE53-F94E-A31A-35193BACBEB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A56066F4-E2F0-A077-A071-BE37A1B0F3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FCEAC9DD-1D21-0364-FFE0-3F889FB2D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344E5CC-BDEE-FE6C-AA05-DBC053AD418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温度解析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448477178"/>
      </p:ext>
    </p:extLst>
  </p:cSld>
  <p:clrMapOvr>
    <a:overrideClrMapping bg1="dk1" tx1="lt1" bg2="dk2" tx2="lt2" accent1="accent1" accent2="accent2" accent3="accent3" accent4="accent4" accent5="accent5" accent6="accent6" hlink="hlink" folHlink="folHlink"/>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4" name="Rectangle 1229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BEE00F3-A2D5-1845-5F2A-73C027F7BB69}"/>
              </a:ext>
            </a:extLst>
          </p:cNvPr>
          <p:cNvSpPr>
            <a:spLocks noGrp="1"/>
          </p:cNvSpPr>
          <p:nvPr>
            <p:ph type="title"/>
          </p:nvPr>
        </p:nvSpPr>
        <p:spPr>
          <a:xfrm>
            <a:off x="589560" y="856180"/>
            <a:ext cx="5279408" cy="1128068"/>
          </a:xfrm>
        </p:spPr>
        <p:txBody>
          <a:bodyPr anchor="ctr">
            <a:normAutofit/>
          </a:bodyPr>
          <a:lstStyle/>
          <a:p>
            <a:r>
              <a:rPr kumimoji="1" lang="ja-JP" altLang="en-US" sz="4000"/>
              <a:t>温度解析</a:t>
            </a:r>
          </a:p>
        </p:txBody>
      </p:sp>
      <p:grpSp>
        <p:nvGrpSpPr>
          <p:cNvPr id="12295" name="Group 1229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296" name="Rectangle 1229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8" name="Rectangle 1230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02" name="Rectangle 1230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8F915D8C-437D-90C0-A518-32E47DC973FD}"/>
              </a:ext>
            </a:extLst>
          </p:cNvPr>
          <p:cNvSpPr>
            <a:spLocks noGrp="1"/>
          </p:cNvSpPr>
          <p:nvPr>
            <p:ph idx="1"/>
          </p:nvPr>
        </p:nvSpPr>
        <p:spPr>
          <a:xfrm>
            <a:off x="590719" y="2330505"/>
            <a:ext cx="5412516" cy="3979585"/>
          </a:xfrm>
        </p:spPr>
        <p:txBody>
          <a:bodyPr anchor="ctr">
            <a:normAutofit/>
          </a:bodyPr>
          <a:lstStyle/>
          <a:p>
            <a:r>
              <a:rPr kumimoji="1" lang="en-US" altLang="ja-JP" sz="2000"/>
              <a:t>spice</a:t>
            </a:r>
            <a:r>
              <a:rPr kumimoji="1" lang="ja-JP" altLang="en-US" sz="2000"/>
              <a:t>コマンド：</a:t>
            </a:r>
            <a:r>
              <a:rPr kumimoji="1" lang="en-US" altLang="ja-JP" sz="2000"/>
              <a:t>temp</a:t>
            </a:r>
            <a:r>
              <a:rPr kumimoji="1" lang="ja-JP" altLang="en-US" sz="2000"/>
              <a:t>で温度が指定可能</a:t>
            </a:r>
            <a:endParaRPr kumimoji="1" lang="en-US" altLang="ja-JP" sz="2000"/>
          </a:p>
          <a:p>
            <a:pPr lvl="1"/>
            <a:r>
              <a:rPr lang="en-US" altLang="ja-JP" sz="1600"/>
              <a:t>120</a:t>
            </a:r>
            <a:r>
              <a:rPr lang="ja-JP" altLang="en-US" sz="1600"/>
              <a:t>度の時の解析結果（赤丸内）</a:t>
            </a:r>
            <a:endParaRPr lang="en-US" altLang="ja-JP" sz="1600"/>
          </a:p>
          <a:p>
            <a:pPr lvl="1"/>
            <a:r>
              <a:rPr kumimoji="1" lang="en-US" altLang="ja-JP" sz="1600"/>
              <a:t>10dB</a:t>
            </a:r>
            <a:r>
              <a:rPr kumimoji="1" lang="ja-JP" altLang="en-US" sz="1600"/>
              <a:t>くらい利得が落ちている</a:t>
            </a:r>
            <a:endParaRPr kumimoji="1" lang="en-US" altLang="ja-JP" sz="1600"/>
          </a:p>
          <a:p>
            <a:pPr lvl="1"/>
            <a:endParaRPr lang="en-US" altLang="ja-JP" sz="1600"/>
          </a:p>
          <a:p>
            <a:pPr lvl="1"/>
            <a:r>
              <a:rPr kumimoji="1" lang="ja-JP" altLang="en-US" sz="1600"/>
              <a:t>サンプル：</a:t>
            </a:r>
            <a:r>
              <a:rPr kumimoji="1" lang="en-US" altLang="ja-JP" sz="1600"/>
              <a:t>opamp_ac_temp.sch</a:t>
            </a:r>
          </a:p>
        </p:txBody>
      </p:sp>
      <p:sp>
        <p:nvSpPr>
          <p:cNvPr id="12304" name="Rectangle 1230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6" name="Rectangle 1230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8" name="Rectangle 1230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4F87E3E5-6112-659D-09D8-A5B248B6864A}"/>
              </a:ext>
            </a:extLst>
          </p:cNvPr>
          <p:cNvPicPr>
            <a:picLocks noChangeAspect="1"/>
          </p:cNvPicPr>
          <p:nvPr/>
        </p:nvPicPr>
        <p:blipFill>
          <a:blip r:embed="rId2"/>
          <a:stretch>
            <a:fillRect/>
          </a:stretch>
        </p:blipFill>
        <p:spPr>
          <a:xfrm>
            <a:off x="7759629" y="3533438"/>
            <a:ext cx="3230910" cy="2776652"/>
          </a:xfrm>
          <a:prstGeom prst="rect">
            <a:avLst/>
          </a:prstGeom>
        </p:spPr>
      </p:pic>
      <p:pic>
        <p:nvPicPr>
          <p:cNvPr id="8" name="図 7">
            <a:extLst>
              <a:ext uri="{FF2B5EF4-FFF2-40B4-BE49-F238E27FC236}">
                <a16:creationId xmlns:a16="http://schemas.microsoft.com/office/drawing/2014/main" id="{85E962DF-303F-6B36-57E6-37D8610B5367}"/>
              </a:ext>
            </a:extLst>
          </p:cNvPr>
          <p:cNvPicPr>
            <a:picLocks noChangeAspect="1"/>
          </p:cNvPicPr>
          <p:nvPr/>
        </p:nvPicPr>
        <p:blipFill>
          <a:blip r:embed="rId3"/>
          <a:stretch>
            <a:fillRect/>
          </a:stretch>
        </p:blipFill>
        <p:spPr>
          <a:xfrm>
            <a:off x="7016547" y="720726"/>
            <a:ext cx="4631671" cy="2197027"/>
          </a:xfrm>
          <a:prstGeom prst="rect">
            <a:avLst/>
          </a:prstGeom>
        </p:spPr>
      </p:pic>
      <p:sp>
        <p:nvSpPr>
          <p:cNvPr id="4" name="楕円 3">
            <a:extLst>
              <a:ext uri="{FF2B5EF4-FFF2-40B4-BE49-F238E27FC236}">
                <a16:creationId xmlns:a16="http://schemas.microsoft.com/office/drawing/2014/main" id="{CABD713C-2744-C66B-8E3A-6EB15D73A32C}"/>
              </a:ext>
            </a:extLst>
          </p:cNvPr>
          <p:cNvSpPr/>
          <p:nvPr/>
        </p:nvSpPr>
        <p:spPr>
          <a:xfrm>
            <a:off x="7025496" y="1527555"/>
            <a:ext cx="681125" cy="20944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70957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8D2A8-702C-1540-07B4-EB0FC6AC281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90DBAEF-2120-5AEC-6D58-1C9AA63B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84E6BB0-6F44-915D-1F3C-B4A4F9F9BB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D0F636AC-9496-E85F-EBFF-F0D1AF0286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093F7FC-5491-FFCD-9D69-50FA79C71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7262E2B-819D-E1EF-B0B9-CF1E4693A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3B80EDD-90D4-57E5-7815-E16E1BB22CE0}"/>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レイアウト</a:t>
            </a:r>
            <a:br>
              <a:rPr kumimoji="1" lang="en-US" altLang="ja-JP" sz="6600" kern="1200">
                <a:solidFill>
                  <a:schemeClr val="tx1"/>
                </a:solidFill>
                <a:latin typeface="+mj-lt"/>
                <a:ea typeface="+mj-ea"/>
                <a:cs typeface="+mj-cs"/>
              </a:rPr>
            </a:br>
            <a:r>
              <a:rPr kumimoji="1" lang="ja-JP" altLang="en-US" sz="6600" kern="1200">
                <a:solidFill>
                  <a:schemeClr val="tx1"/>
                </a:solidFill>
                <a:latin typeface="+mj-lt"/>
                <a:ea typeface="+mj-ea"/>
                <a:cs typeface="+mj-cs"/>
              </a:rPr>
              <a:t>テクニック編</a:t>
            </a:r>
          </a:p>
        </p:txBody>
      </p:sp>
    </p:spTree>
    <p:extLst>
      <p:ext uri="{BB962C8B-B14F-4D97-AF65-F5344CB8AC3E}">
        <p14:creationId xmlns:p14="http://schemas.microsoft.com/office/powerpoint/2010/main" val="20321107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31C6A91-746E-FBEE-DB35-0098E45DEE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20B1228-9993-1B40-F113-5DE8FE8D13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2E6DBB3-B8A7-A80C-88D6-3114AD0038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D092C039-6900-2134-E4F2-879DEE0A703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5F047E04-0167-1691-CD7B-4ECE8A9117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408E40C-5D43-93B1-8811-17F2AE582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144EB2-8113-11FA-CA99-11F8CBB8C94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構造説明</a:t>
            </a:r>
          </a:p>
        </p:txBody>
      </p:sp>
    </p:spTree>
    <p:extLst>
      <p:ext uri="{BB962C8B-B14F-4D97-AF65-F5344CB8AC3E}">
        <p14:creationId xmlns:p14="http://schemas.microsoft.com/office/powerpoint/2010/main" val="2442292273"/>
      </p:ext>
    </p:extLst>
  </p:cSld>
  <p:clrMapOvr>
    <a:overrideClrMapping bg1="dk1" tx1="lt1" bg2="dk2" tx2="lt2" accent1="accent1" accent2="accent2" accent3="accent3" accent4="accent4" accent5="accent5" accent6="accent6" hlink="hlink" folHlink="folHlink"/>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AB713-0ED4-A3A1-B4DC-1319C638BD9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97C609-7A90-DD99-CE77-F513EE46E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A61F097-6A85-C516-2F74-AE121AE19B2A}"/>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72181FE4-2E39-2B9E-AF7A-8E0D938F3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E8906B-344F-0A6B-1C5A-AB0DD3B1A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7DFE24E0-B88D-BD18-3972-E218FCB26E95}"/>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4039DA1E-99D9-DA23-BA23-735D344D8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ボックス 5">
            <a:extLst>
              <a:ext uri="{FF2B5EF4-FFF2-40B4-BE49-F238E27FC236}">
                <a16:creationId xmlns:a16="http://schemas.microsoft.com/office/drawing/2014/main" id="{12C46693-D8FE-15D0-73BF-9681F5FC60C5}"/>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11009181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803439-9D76-52B9-758A-294B4758C67A}"/>
              </a:ext>
            </a:extLst>
          </p:cNvPr>
          <p:cNvSpPr>
            <a:spLocks noGrp="1"/>
          </p:cNvSpPr>
          <p:nvPr>
            <p:ph type="title"/>
          </p:nvPr>
        </p:nvSpPr>
        <p:spPr>
          <a:xfrm>
            <a:off x="1043631" y="873940"/>
            <a:ext cx="5052369" cy="1035781"/>
          </a:xfrm>
        </p:spPr>
        <p:txBody>
          <a:bodyPr anchor="ctr">
            <a:normAutofit/>
          </a:bodyPr>
          <a:lstStyle/>
          <a:p>
            <a:r>
              <a:rPr kumimoji="1" lang="ja-JP" altLang="en-US" sz="3600"/>
              <a:t>半導体的な素子</a:t>
            </a:r>
          </a:p>
        </p:txBody>
      </p:sp>
      <p:sp>
        <p:nvSpPr>
          <p:cNvPr id="3" name="コンテンツ プレースホルダー 2">
            <a:extLst>
              <a:ext uri="{FF2B5EF4-FFF2-40B4-BE49-F238E27FC236}">
                <a16:creationId xmlns:a16="http://schemas.microsoft.com/office/drawing/2014/main" id="{D7EDEFD3-F262-9A11-62C6-79A1DDCA5A85}"/>
              </a:ext>
            </a:extLst>
          </p:cNvPr>
          <p:cNvSpPr>
            <a:spLocks noGrp="1"/>
          </p:cNvSpPr>
          <p:nvPr>
            <p:ph idx="1"/>
          </p:nvPr>
        </p:nvSpPr>
        <p:spPr>
          <a:xfrm>
            <a:off x="1045029" y="2524721"/>
            <a:ext cx="4991629" cy="3677123"/>
          </a:xfrm>
        </p:spPr>
        <p:txBody>
          <a:bodyPr anchor="ctr">
            <a:normAutofit/>
          </a:bodyPr>
          <a:lstStyle/>
          <a:p>
            <a:r>
              <a:rPr kumimoji="1" lang="ja-JP" altLang="en-US" sz="1800"/>
              <a:t>ポリシリコン系</a:t>
            </a:r>
            <a:endParaRPr kumimoji="1" lang="en-US" altLang="ja-JP" sz="1800"/>
          </a:p>
          <a:p>
            <a:pPr lvl="1"/>
            <a:r>
              <a:rPr kumimoji="1" lang="ja-JP" altLang="en-US" sz="1800"/>
              <a:t>高抵抗・高容量</a:t>
            </a:r>
            <a:endParaRPr kumimoji="1" lang="en-US" altLang="ja-JP" sz="1800"/>
          </a:p>
          <a:p>
            <a:pPr lvl="2"/>
            <a:r>
              <a:rPr lang="ja-JP" altLang="en-US" sz="1800"/>
              <a:t>基本的にはこちらを使えばよい</a:t>
            </a:r>
            <a:endParaRPr kumimoji="1" lang="en-US" altLang="ja-JP" sz="1800"/>
          </a:p>
          <a:p>
            <a:r>
              <a:rPr lang="en-US" altLang="ja-JP" sz="1800"/>
              <a:t>P</a:t>
            </a:r>
            <a:r>
              <a:rPr lang="ja-JP" altLang="en-US" sz="1800"/>
              <a:t>型</a:t>
            </a:r>
            <a:r>
              <a:rPr lang="en-US" altLang="ja-JP" sz="1800"/>
              <a:t>N</a:t>
            </a:r>
            <a:r>
              <a:rPr lang="ja-JP" altLang="en-US" sz="1800"/>
              <a:t>型拡散層（</a:t>
            </a:r>
            <a:r>
              <a:rPr lang="en-US" altLang="ja-JP" sz="1800"/>
              <a:t>diffusion</a:t>
            </a:r>
            <a:r>
              <a:rPr lang="ja-JP" altLang="en-US" sz="1800"/>
              <a:t>層）</a:t>
            </a:r>
            <a:endParaRPr lang="en-US" altLang="ja-JP" sz="1800"/>
          </a:p>
          <a:p>
            <a:pPr lvl="1"/>
            <a:r>
              <a:rPr kumimoji="1" lang="ja-JP" altLang="en-US" sz="1800"/>
              <a:t>低抵抗・低容量</a:t>
            </a:r>
            <a:endParaRPr kumimoji="1" lang="en-US" altLang="ja-JP" sz="1800"/>
          </a:p>
          <a:p>
            <a:pPr lvl="2"/>
            <a:r>
              <a:rPr lang="ja-JP" altLang="en-US" sz="1800"/>
              <a:t>ポリシリコン系ではデカすぎる場合に利用</a:t>
            </a:r>
            <a:endParaRPr lang="en-US" altLang="ja-JP" sz="1800"/>
          </a:p>
          <a:p>
            <a:pPr lvl="1"/>
            <a:r>
              <a:rPr kumimoji="1" lang="ja-JP" altLang="en-US" sz="1800"/>
              <a:t>電圧依存性があるため、バラクタとして使えなくもない</a:t>
            </a:r>
            <a:endParaRPr kumimoji="1" lang="en-US" altLang="ja-JP" sz="180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2652ADBC-80B5-C795-77DC-65DBE9B4AB40}"/>
              </a:ext>
            </a:extLst>
          </p:cNvPr>
          <p:cNvPicPr>
            <a:picLocks noChangeAspect="1"/>
          </p:cNvPicPr>
          <p:nvPr/>
        </p:nvPicPr>
        <p:blipFill>
          <a:blip r:embed="rId2"/>
          <a:stretch>
            <a:fillRect/>
          </a:stretch>
        </p:blipFill>
        <p:spPr>
          <a:xfrm>
            <a:off x="7289814" y="901032"/>
            <a:ext cx="3504610"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406486C-5F8D-B93F-D722-CE6758D30978}"/>
              </a:ext>
            </a:extLst>
          </p:cNvPr>
          <p:cNvSpPr txBox="1"/>
          <p:nvPr/>
        </p:nvSpPr>
        <p:spPr>
          <a:xfrm>
            <a:off x="731525" y="6125217"/>
            <a:ext cx="7262579" cy="369332"/>
          </a:xfrm>
          <a:prstGeom prst="rect">
            <a:avLst/>
          </a:prstGeom>
          <a:noFill/>
        </p:spPr>
        <p:txBody>
          <a:bodyPr wrap="square" rtlCol="0">
            <a:spAutoFit/>
          </a:bodyPr>
          <a:lstStyle/>
          <a:p>
            <a:r>
              <a:rPr lang="ja-JP" altLang="en-US" u="sng">
                <a:hlinkClick r:id="rId3"/>
              </a:rPr>
              <a:t>出典： </a:t>
            </a:r>
            <a:r>
              <a:rPr lang="en-US" altLang="ja-JP" u="sng">
                <a:hlinkClick r:id="rId3"/>
              </a:rPr>
              <a:t>Open Source Silicon Magazine Vol.1 </a:t>
            </a:r>
            <a:r>
              <a:rPr lang="ja-JP" altLang="en-US" u="sng">
                <a:hlinkClick r:id="rId3"/>
              </a:rPr>
              <a:t>ーはじめての</a:t>
            </a:r>
            <a:r>
              <a:rPr lang="en-US" altLang="ja-JP" u="sng">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40974877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59F9ADD-8581-BAFF-B5E5-B73DE9C1EB5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17CFFB5-31FE-1B1F-9311-EA5C43A306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7255066-DE5B-C4B4-3440-41F8A90AD0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E8A30D-CD74-EA94-5D91-BE64DF93719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9F65EFE-CD44-03BA-0608-F49A789E15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4E2E8D8-D839-CEC1-9D36-9D9CFAEA9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9AE4CE4B-CE13-0EC4-6F23-8985375B4B5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s</a:t>
            </a:r>
            <a:r>
              <a:rPr kumimoji="1" lang="en-US" altLang="ja-JP" sz="4000" kern="1200">
                <a:solidFill>
                  <a:schemeClr val="bg2"/>
                </a:solidFill>
                <a:latin typeface="+mj-lt"/>
                <a:ea typeface="+mj-ea"/>
                <a:cs typeface="+mj-cs"/>
              </a:rPr>
              <a:t>chematic to place</a:t>
            </a:r>
            <a:r>
              <a:rPr kumimoji="1" lang="ja-JP" altLang="en-US" sz="4000" kern="1200">
                <a:solidFill>
                  <a:schemeClr val="bg2"/>
                </a:solidFill>
                <a:latin typeface="+mj-lt"/>
                <a:ea typeface="+mj-ea"/>
                <a:cs typeface="+mj-cs"/>
              </a:rPr>
              <a:t>レイアウト</a:t>
            </a:r>
          </a:p>
        </p:txBody>
      </p:sp>
    </p:spTree>
    <p:extLst>
      <p:ext uri="{BB962C8B-B14F-4D97-AF65-F5344CB8AC3E}">
        <p14:creationId xmlns:p14="http://schemas.microsoft.com/office/powerpoint/2010/main" val="3092218253"/>
      </p:ext>
    </p:extLst>
  </p:cSld>
  <p:clrMapOvr>
    <a:overrideClrMapping bg1="dk1" tx1="lt1" bg2="dk2" tx2="lt2" accent1="accent1" accent2="accent2" accent3="accent3" accent4="accent4" accent5="accent5" accent6="accent6" hlink="hlink" folHlink="folHlink"/>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38" name="Rectangle 13337">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40" name="Group 1333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341" name="Rectangle 1334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2" name="Rectangle 1334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3" name="Rectangle 1334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45" name="Rectangle 1334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FC976E2-D8C8-9A17-B93E-25AB52F6C46B}"/>
              </a:ext>
            </a:extLst>
          </p:cNvPr>
          <p:cNvSpPr>
            <a:spLocks noGrp="1"/>
          </p:cNvSpPr>
          <p:nvPr>
            <p:ph type="title"/>
          </p:nvPr>
        </p:nvSpPr>
        <p:spPr>
          <a:xfrm>
            <a:off x="1043631" y="873940"/>
            <a:ext cx="4928291" cy="1035781"/>
          </a:xfrm>
        </p:spPr>
        <p:txBody>
          <a:bodyPr anchor="ctr">
            <a:normAutofit/>
          </a:bodyPr>
          <a:lstStyle/>
          <a:p>
            <a:r>
              <a:rPr lang="en-US" altLang="ja-JP" sz="3300"/>
              <a:t>schematic to place</a:t>
            </a:r>
            <a:br>
              <a:rPr lang="en-US" altLang="ja-JP" sz="3300"/>
            </a:br>
            <a:r>
              <a:rPr lang="ja-JP" altLang="en-US" sz="3300"/>
              <a:t>レイアウト</a:t>
            </a:r>
            <a:endParaRPr kumimoji="1" lang="ja-JP" altLang="en-US" sz="3300"/>
          </a:p>
        </p:txBody>
      </p:sp>
      <p:sp>
        <p:nvSpPr>
          <p:cNvPr id="3" name="コンテンツ プレースホルダー 2">
            <a:extLst>
              <a:ext uri="{FF2B5EF4-FFF2-40B4-BE49-F238E27FC236}">
                <a16:creationId xmlns:a16="http://schemas.microsoft.com/office/drawing/2014/main" id="{DD4A959B-D980-575F-0661-1372BCAE56ED}"/>
              </a:ext>
            </a:extLst>
          </p:cNvPr>
          <p:cNvSpPr>
            <a:spLocks noGrp="1"/>
          </p:cNvSpPr>
          <p:nvPr>
            <p:ph idx="1"/>
          </p:nvPr>
        </p:nvSpPr>
        <p:spPr>
          <a:xfrm>
            <a:off x="1045029" y="2524721"/>
            <a:ext cx="4991629" cy="3677123"/>
          </a:xfrm>
        </p:spPr>
        <p:txBody>
          <a:bodyPr anchor="ctr">
            <a:normAutofit/>
          </a:bodyPr>
          <a:lstStyle/>
          <a:p>
            <a:r>
              <a:rPr lang="ja-JP" altLang="en-US" sz="1800"/>
              <a:t>回路図の見た目をそのままレイアウトにする方法</a:t>
            </a:r>
            <a:endParaRPr lang="en-US" altLang="ja-JP" sz="1800"/>
          </a:p>
          <a:p>
            <a:pPr lvl="1"/>
            <a:r>
              <a:rPr lang="ja-JP" altLang="en-US" sz="1800"/>
              <a:t>レイアウトテクニックとしては、フィンガーのみを使用</a:t>
            </a:r>
            <a:endParaRPr lang="en-US" altLang="ja-JP" sz="1800"/>
          </a:p>
          <a:p>
            <a:pPr lvl="2"/>
            <a:r>
              <a:rPr lang="ja-JP" altLang="en-US" sz="1800"/>
              <a:t>フィンガー解説</a:t>
            </a:r>
            <a:endParaRPr lang="en-US" altLang="ja-JP" sz="1800"/>
          </a:p>
          <a:p>
            <a:pPr lvl="3"/>
            <a:r>
              <a:rPr lang="en-US" altLang="ja-JP" u="sng">
                <a:hlinkClick r:id="rId2"/>
              </a:rPr>
              <a:t>Open Source Silicon Magazine Vol.1 </a:t>
            </a:r>
            <a:r>
              <a:rPr lang="ja-JP" altLang="en-US" u="sng">
                <a:hlinkClick r:id="rId2"/>
              </a:rPr>
              <a:t>ーはじめての</a:t>
            </a:r>
            <a:r>
              <a:rPr lang="en-US" altLang="ja-JP" u="sng">
                <a:hlinkClick r:id="rId2"/>
              </a:rPr>
              <a:t>IC</a:t>
            </a:r>
            <a:r>
              <a:rPr lang="ja-JP" altLang="en-US" u="sng">
                <a:hlinkClick r:id="rId2"/>
              </a:rPr>
              <a:t>設計ー</a:t>
            </a:r>
            <a:endParaRPr lang="ja-JP" altLang="en-US"/>
          </a:p>
        </p:txBody>
      </p:sp>
      <p:sp>
        <p:nvSpPr>
          <p:cNvPr id="13347" name="Rectangle 13346">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9" name="Rectangle 13348">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351" name="Straight Connector 133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97002DDC-61D5-5404-BD3E-D75B0EE17D01}"/>
              </a:ext>
            </a:extLst>
          </p:cNvPr>
          <p:cNvPicPr>
            <a:picLocks noChangeAspect="1"/>
          </p:cNvPicPr>
          <p:nvPr/>
        </p:nvPicPr>
        <p:blipFill>
          <a:blip r:embed="rId3"/>
          <a:stretch>
            <a:fillRect/>
          </a:stretch>
        </p:blipFill>
        <p:spPr>
          <a:xfrm>
            <a:off x="6722628" y="4454507"/>
            <a:ext cx="4541903" cy="1000383"/>
          </a:xfrm>
          <a:prstGeom prst="rect">
            <a:avLst/>
          </a:prstGeom>
        </p:spPr>
      </p:pic>
      <p:pic>
        <p:nvPicPr>
          <p:cNvPr id="8" name="図 7">
            <a:extLst>
              <a:ext uri="{FF2B5EF4-FFF2-40B4-BE49-F238E27FC236}">
                <a16:creationId xmlns:a16="http://schemas.microsoft.com/office/drawing/2014/main" id="{636769E4-5A5A-9CDC-BF6B-D5B4043EE8AC}"/>
              </a:ext>
            </a:extLst>
          </p:cNvPr>
          <p:cNvPicPr>
            <a:picLocks noChangeAspect="1"/>
          </p:cNvPicPr>
          <p:nvPr/>
        </p:nvPicPr>
        <p:blipFill>
          <a:blip r:embed="rId4"/>
          <a:stretch>
            <a:fillRect/>
          </a:stretch>
        </p:blipFill>
        <p:spPr>
          <a:xfrm>
            <a:off x="7365943" y="748472"/>
            <a:ext cx="3376639" cy="2454436"/>
          </a:xfrm>
          <a:prstGeom prst="rect">
            <a:avLst/>
          </a:prstGeom>
        </p:spPr>
      </p:pic>
    </p:spTree>
    <p:extLst>
      <p:ext uri="{BB962C8B-B14F-4D97-AF65-F5344CB8AC3E}">
        <p14:creationId xmlns:p14="http://schemas.microsoft.com/office/powerpoint/2010/main" val="16763852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F65BC7E-4AA2-121F-F7C0-A778FAE981D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7F841DC-24EA-FE02-558B-3FE1B3E817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F1A2BC9-779F-843D-7C2C-1B7292FEBD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02EF74F1-9247-B36B-8A10-7DA30D8A86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6CF0EF7-69A2-1C5E-C92F-9447589CAC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BC6A971F-0304-F09D-E20B-61DCB8174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26BD651-CA31-F54D-302E-856AA8FD8B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Cell</a:t>
            </a:r>
            <a:r>
              <a:rPr lang="ja-JP" altLang="en-US" sz="4000">
                <a:solidFill>
                  <a:schemeClr val="bg2"/>
                </a:solidFill>
              </a:rPr>
              <a:t>（セル）単位でのレイアウト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599495866"/>
      </p:ext>
    </p:extLst>
  </p:cSld>
  <p:clrMapOvr>
    <a:overrideClrMapping bg1="dk1" tx1="lt1" bg2="dk2" tx2="lt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345" name="Group 1434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346" name="Rectangle 1434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7" name="Rectangle 1434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8" name="Rectangle 1434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350" name="Rectangle 1434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A0F2061-D269-02F1-F089-EC78E8669416}"/>
              </a:ext>
            </a:extLst>
          </p:cNvPr>
          <p:cNvSpPr>
            <a:spLocks noGrp="1"/>
          </p:cNvSpPr>
          <p:nvPr>
            <p:ph type="title"/>
          </p:nvPr>
        </p:nvSpPr>
        <p:spPr>
          <a:xfrm>
            <a:off x="1043631" y="873940"/>
            <a:ext cx="5052369" cy="1035781"/>
          </a:xfrm>
        </p:spPr>
        <p:txBody>
          <a:bodyPr anchor="ctr">
            <a:normAutofit/>
          </a:bodyPr>
          <a:lstStyle/>
          <a:p>
            <a:r>
              <a:rPr lang="en-US" altLang="ja-JP" sz="3300"/>
              <a:t>Cell</a:t>
            </a:r>
            <a:r>
              <a:rPr lang="ja-JP" altLang="en-US" sz="3300"/>
              <a:t>（セル）単位でのレイアウト</a:t>
            </a:r>
            <a:endParaRPr kumimoji="1" lang="ja-JP" altLang="en-US" sz="3300"/>
          </a:p>
        </p:txBody>
      </p:sp>
      <p:sp>
        <p:nvSpPr>
          <p:cNvPr id="3" name="コンテンツ プレースホルダー 2">
            <a:extLst>
              <a:ext uri="{FF2B5EF4-FFF2-40B4-BE49-F238E27FC236}">
                <a16:creationId xmlns:a16="http://schemas.microsoft.com/office/drawing/2014/main" id="{C7840798-4EDB-3EC7-1D45-D7B3F50F1CCB}"/>
              </a:ext>
            </a:extLst>
          </p:cNvPr>
          <p:cNvSpPr>
            <a:spLocks noGrp="1"/>
          </p:cNvSpPr>
          <p:nvPr>
            <p:ph idx="1"/>
          </p:nvPr>
        </p:nvSpPr>
        <p:spPr>
          <a:xfrm>
            <a:off x="1045029" y="2524721"/>
            <a:ext cx="4991629" cy="3677123"/>
          </a:xfrm>
        </p:spPr>
        <p:txBody>
          <a:bodyPr anchor="ctr">
            <a:normAutofit/>
          </a:bodyPr>
          <a:lstStyle/>
          <a:p>
            <a:r>
              <a:rPr lang="en-US" altLang="ja-JP" sz="1800"/>
              <a:t>Cell≒</a:t>
            </a:r>
            <a:r>
              <a:rPr lang="ja-JP" altLang="en-US" sz="1800"/>
              <a:t>部品化手法</a:t>
            </a:r>
            <a:endParaRPr lang="en-US" altLang="ja-JP" sz="1800"/>
          </a:p>
          <a:p>
            <a:pPr lvl="1"/>
            <a:r>
              <a:rPr lang="ja-JP" altLang="en-US" sz="1800"/>
              <a:t>部品単位で性能の調整や変更を行えるようにする</a:t>
            </a:r>
            <a:endParaRPr lang="en-US" altLang="ja-JP" sz="1800"/>
          </a:p>
          <a:p>
            <a:r>
              <a:rPr lang="ja-JP" altLang="en-US" sz="1800"/>
              <a:t>やり方</a:t>
            </a:r>
            <a:endParaRPr lang="en-US" altLang="ja-JP" sz="1800"/>
          </a:p>
          <a:p>
            <a:pPr lvl="1"/>
            <a:r>
              <a:rPr lang="ja-JP" altLang="en-US" sz="1800"/>
              <a:t>普通にレイアウトをして、トップセル名をデフォルトの「</a:t>
            </a:r>
            <a:r>
              <a:rPr lang="en-US" altLang="ja-JP" sz="1800"/>
              <a:t>TOP</a:t>
            </a:r>
            <a:r>
              <a:rPr lang="ja-JP" altLang="en-US" sz="1800"/>
              <a:t>」から「</a:t>
            </a:r>
            <a:r>
              <a:rPr lang="en-US" altLang="ja-JP" sz="1800"/>
              <a:t>diff</a:t>
            </a:r>
            <a:r>
              <a:rPr lang="ja-JP" altLang="en-US" sz="1800"/>
              <a:t>」などの任意の名前として保存</a:t>
            </a:r>
            <a:br>
              <a:rPr lang="ja-JP" altLang="en-US" sz="1800"/>
            </a:br>
            <a:endParaRPr kumimoji="1" lang="ja-JP" altLang="en-US" sz="1800"/>
          </a:p>
        </p:txBody>
      </p:sp>
      <p:sp>
        <p:nvSpPr>
          <p:cNvPr id="14352" name="Rectangle 1435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8" name="Picture 2" descr="セルのリネーム">
            <a:extLst>
              <a:ext uri="{FF2B5EF4-FFF2-40B4-BE49-F238E27FC236}">
                <a16:creationId xmlns:a16="http://schemas.microsoft.com/office/drawing/2014/main" id="{6C9B27B5-D404-6649-23B1-41D28EA124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7253" y="901032"/>
            <a:ext cx="3069732" cy="5116220"/>
          </a:xfrm>
          <a:prstGeom prst="rect">
            <a:avLst/>
          </a:prstGeom>
          <a:noFill/>
          <a:extLst>
            <a:ext uri="{909E8E84-426E-40DD-AFC4-6F175D3DCCD1}">
              <a14:hiddenFill xmlns:a14="http://schemas.microsoft.com/office/drawing/2010/main">
                <a:solidFill>
                  <a:srgbClr val="FFFFFF"/>
                </a:solidFill>
              </a14:hiddenFill>
            </a:ext>
          </a:extLst>
        </p:spPr>
      </p:pic>
      <p:cxnSp>
        <p:nvCxnSpPr>
          <p:cNvPr id="14354" name="Straight Connector 1435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91100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3F92DBB-FF22-1D8B-946E-99930AE7396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a:t>Cell</a:t>
            </a:r>
            <a:r>
              <a:rPr lang="ja-JP" altLang="en-US" sz="5400"/>
              <a:t>（セル）のインポート</a:t>
            </a:r>
            <a:endParaRPr kumimoji="1" lang="en-US" altLang="ja-JP" sz="5400"/>
          </a:p>
        </p:txBody>
      </p:sp>
      <p:grpSp>
        <p:nvGrpSpPr>
          <p:cNvPr id="15371" name="Group 1537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5372" name="Rectangle 1537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3" name="Rectangle 1537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4" name="Rectangle 1537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376" name="Rectangle 1537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8" name="Rectangle 15377">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セルのインポート 1">
            <a:extLst>
              <a:ext uri="{FF2B5EF4-FFF2-40B4-BE49-F238E27FC236}">
                <a16:creationId xmlns:a16="http://schemas.microsoft.com/office/drawing/2014/main" id="{B11B0ECA-DB01-E65C-3FE8-4C3D87D8879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54813" y="471748"/>
            <a:ext cx="2443546" cy="2552007"/>
          </a:xfrm>
          <a:prstGeom prst="rect">
            <a:avLst/>
          </a:prstGeom>
          <a:noFill/>
          <a:extLst>
            <a:ext uri="{909E8E84-426E-40DD-AFC4-6F175D3DCCD1}">
              <a14:hiddenFill xmlns:a14="http://schemas.microsoft.com/office/drawing/2010/main">
                <a:solidFill>
                  <a:srgbClr val="FFFFFF"/>
                </a:solidFill>
              </a14:hiddenFill>
            </a:ext>
          </a:extLst>
        </p:spPr>
      </p:pic>
      <p:sp>
        <p:nvSpPr>
          <p:cNvPr id="15380" name="Rectangle 1537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セルのインポート 3">
            <a:extLst>
              <a:ext uri="{FF2B5EF4-FFF2-40B4-BE49-F238E27FC236}">
                <a16:creationId xmlns:a16="http://schemas.microsoft.com/office/drawing/2014/main" id="{92911DAE-AD4F-6C6E-2AF3-623FC4583F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29916" y="3676230"/>
            <a:ext cx="3093341"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1359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3" name="Rectangle 16392">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96FD06D-4126-0170-8075-5DB94AFAB11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kern="1200">
                <a:solidFill>
                  <a:schemeClr val="tx1"/>
                </a:solidFill>
                <a:latin typeface="+mj-lt"/>
                <a:ea typeface="+mj-ea"/>
                <a:cs typeface="+mj-cs"/>
              </a:rPr>
              <a:t>Cell</a:t>
            </a:r>
            <a:r>
              <a:rPr lang="ja-JP" altLang="en-US" sz="5400" kern="1200">
                <a:solidFill>
                  <a:schemeClr val="tx1"/>
                </a:solidFill>
                <a:latin typeface="+mj-lt"/>
                <a:ea typeface="+mj-ea"/>
                <a:cs typeface="+mj-cs"/>
              </a:rPr>
              <a:t>（セル）の使い方</a:t>
            </a:r>
            <a:endParaRPr kumimoji="1" lang="en-US" altLang="ja-JP" sz="5400" kern="1200">
              <a:solidFill>
                <a:schemeClr val="tx1"/>
              </a:solidFill>
              <a:latin typeface="+mj-lt"/>
              <a:ea typeface="+mj-ea"/>
              <a:cs typeface="+mj-cs"/>
            </a:endParaRPr>
          </a:p>
        </p:txBody>
      </p:sp>
      <p:grpSp>
        <p:nvGrpSpPr>
          <p:cNvPr id="16395" name="Group 1639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396" name="Rectangle 1639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7" name="Rectangle 1639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8" name="Rectangle 1639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00" name="Rectangle 1639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2" name="Rectangle 16401">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8" name="Picture 4" descr="セルの使い方 1">
            <a:extLst>
              <a:ext uri="{FF2B5EF4-FFF2-40B4-BE49-F238E27FC236}">
                <a16:creationId xmlns:a16="http://schemas.microsoft.com/office/drawing/2014/main" id="{15DC99A7-7532-6EC3-586F-0735C0634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652"/>
          <a:stretch>
            <a:fillRect/>
          </a:stretch>
        </p:blipFill>
        <p:spPr bwMode="auto">
          <a:xfrm>
            <a:off x="7114162" y="471748"/>
            <a:ext cx="4324849" cy="2552007"/>
          </a:xfrm>
          <a:prstGeom prst="rect">
            <a:avLst/>
          </a:prstGeom>
          <a:noFill/>
          <a:extLst>
            <a:ext uri="{909E8E84-426E-40DD-AFC4-6F175D3DCCD1}">
              <a14:hiddenFill xmlns:a14="http://schemas.microsoft.com/office/drawing/2010/main">
                <a:solidFill>
                  <a:srgbClr val="FFFFFF"/>
                </a:solidFill>
              </a14:hiddenFill>
            </a:ext>
          </a:extLst>
        </p:spPr>
      </p:pic>
      <p:sp>
        <p:nvSpPr>
          <p:cNvPr id="16404" name="Rectangle 1640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6" name="Picture 2" descr="セルの使い方 2">
            <a:extLst>
              <a:ext uri="{FF2B5EF4-FFF2-40B4-BE49-F238E27FC236}">
                <a16:creationId xmlns:a16="http://schemas.microsoft.com/office/drawing/2014/main" id="{99F47E48-CFD4-3E05-15E9-EE6116CA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632" r="2" b="22555"/>
          <a:stretch>
            <a:fillRect/>
          </a:stretch>
        </p:blipFill>
        <p:spPr bwMode="auto">
          <a:xfrm>
            <a:off x="7114162" y="3676230"/>
            <a:ext cx="4324849"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52683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A80CD31-0A19-2DF4-3890-396EC65E237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C32FE6B-0350-E829-698E-113FF64DF4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E0191C3-3596-25F8-20A1-BB849D321A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AD47ED2B-F2D1-DE6D-F909-02A1E5A0594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01163742-37C4-C4F8-91F9-49214CE598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F1C6D80-E9DA-205F-32E8-D4B913714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56A9745E-37C1-4DC6-1A7C-630F4031378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VDD/VSS</a:t>
            </a:r>
            <a:r>
              <a:rPr lang="ja-JP" altLang="en-US" sz="4000">
                <a:solidFill>
                  <a:schemeClr val="bg2"/>
                </a:solidFill>
              </a:rPr>
              <a:t>セル</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177861114"/>
      </p:ext>
    </p:extLst>
  </p:cSld>
  <p:clrMapOvr>
    <a:overrideClrMapping bg1="dk1" tx1="lt1" bg2="dk2" tx2="lt2" accent1="accent1" accent2="accent2" accent3="accent3" accent4="accent4" accent5="accent5" accent6="accent6" hlink="hlink" folHlink="folHlink"/>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CF0F378-1277-197A-C067-2D87B2603B04}"/>
              </a:ext>
            </a:extLst>
          </p:cNvPr>
          <p:cNvSpPr>
            <a:spLocks noGrp="1"/>
          </p:cNvSpPr>
          <p:nvPr>
            <p:ph type="title"/>
          </p:nvPr>
        </p:nvSpPr>
        <p:spPr>
          <a:xfrm>
            <a:off x="589560" y="856180"/>
            <a:ext cx="5279408" cy="1128068"/>
          </a:xfrm>
        </p:spPr>
        <p:txBody>
          <a:bodyPr anchor="ctr">
            <a:normAutofit/>
          </a:bodyPr>
          <a:lstStyle/>
          <a:p>
            <a:r>
              <a:rPr lang="en-US" altLang="ja-JP" sz="4000"/>
              <a:t>VDD/VSS</a:t>
            </a:r>
            <a:r>
              <a:rPr lang="ja-JP" altLang="en-US" sz="4000"/>
              <a:t>セル</a:t>
            </a:r>
            <a:endParaRPr kumimoji="1" lang="ja-JP" altLang="en-US" sz="4000"/>
          </a:p>
        </p:txBody>
      </p:sp>
      <p:grpSp>
        <p:nvGrpSpPr>
          <p:cNvPr id="17419" name="Group 174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420" name="Rectangle 174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1" name="Rectangle 174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23" name="Rectangle 174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724449F-BD1D-AC14-D667-B0F6888F1B32}"/>
              </a:ext>
            </a:extLst>
          </p:cNvPr>
          <p:cNvSpPr>
            <a:spLocks noGrp="1"/>
          </p:cNvSpPr>
          <p:nvPr>
            <p:ph idx="1"/>
          </p:nvPr>
        </p:nvSpPr>
        <p:spPr>
          <a:xfrm>
            <a:off x="590719" y="2330505"/>
            <a:ext cx="5278066" cy="3979585"/>
          </a:xfrm>
        </p:spPr>
        <p:txBody>
          <a:bodyPr anchor="ctr">
            <a:normAutofit/>
          </a:bodyPr>
          <a:lstStyle/>
          <a:p>
            <a:r>
              <a:rPr lang="ja-JP" altLang="en-US" sz="2000"/>
              <a:t>半導体版のパスコン的な手法の一つ</a:t>
            </a:r>
            <a:endParaRPr lang="en-US" altLang="ja-JP" sz="2000"/>
          </a:p>
          <a:p>
            <a:pPr lvl="1"/>
            <a:r>
              <a:rPr lang="ja-JP" altLang="en-US" sz="2000"/>
              <a:t>電源ノイズ対策や電源電圧の安定化に寄与</a:t>
            </a:r>
            <a:endParaRPr lang="en-US" altLang="ja-JP" sz="2000"/>
          </a:p>
          <a:p>
            <a:pPr lvl="1"/>
            <a:r>
              <a:rPr lang="ja-JP" altLang="en-US" sz="2000"/>
              <a:t>メタル層を</a:t>
            </a:r>
            <a:r>
              <a:rPr lang="en-US" altLang="ja-JP" sz="2000"/>
              <a:t>2</a:t>
            </a:r>
            <a:r>
              <a:rPr lang="ja-JP" altLang="en-US" sz="2000"/>
              <a:t>層重ねて、それぞれの層を</a:t>
            </a:r>
            <a:r>
              <a:rPr lang="en-US" altLang="ja-JP" sz="2000"/>
              <a:t>ML1(</a:t>
            </a:r>
            <a:r>
              <a:rPr lang="ja-JP" altLang="en-US" sz="2000"/>
              <a:t>メタル第一層</a:t>
            </a:r>
            <a:r>
              <a:rPr lang="en-US" altLang="ja-JP" sz="2000"/>
              <a:t>)</a:t>
            </a:r>
            <a:r>
              <a:rPr lang="ja-JP" altLang="en-US" sz="2000"/>
              <a:t>を</a:t>
            </a:r>
            <a:r>
              <a:rPr lang="en-US" altLang="ja-JP" sz="2000"/>
              <a:t>VSS ,ML2(</a:t>
            </a:r>
            <a:r>
              <a:rPr lang="ja-JP" altLang="en-US" sz="2000"/>
              <a:t>メタル第二層</a:t>
            </a:r>
            <a:r>
              <a:rPr lang="en-US" altLang="ja-JP" sz="2000"/>
              <a:t>)</a:t>
            </a:r>
            <a:r>
              <a:rPr lang="ja-JP" altLang="en-US" sz="2000"/>
              <a:t>を</a:t>
            </a:r>
            <a:r>
              <a:rPr lang="en-US" altLang="ja-JP" sz="2000"/>
              <a:t>VDD</a:t>
            </a:r>
            <a:r>
              <a:rPr lang="ja-JP" altLang="en-US" sz="2000"/>
              <a:t>にして、平行平板コンデンサにして利用するという手法</a:t>
            </a:r>
            <a:endParaRPr lang="en-US" altLang="ja-JP" sz="2000"/>
          </a:p>
          <a:p>
            <a:pPr lvl="2"/>
            <a:r>
              <a:rPr lang="ja-JP" altLang="en-US"/>
              <a:t>なぜ、この順番であるかは</a:t>
            </a:r>
            <a:r>
              <a:rPr lang="ja-JP" altLang="en-US" u="sng"/>
              <a:t>ガードリング</a:t>
            </a:r>
            <a:r>
              <a:rPr lang="ja-JP" altLang="en-US"/>
              <a:t>を参照</a:t>
            </a:r>
            <a:endParaRPr lang="en-US" altLang="ja-JP"/>
          </a:p>
        </p:txBody>
      </p:sp>
      <p:sp>
        <p:nvSpPr>
          <p:cNvPr id="17425" name="Rectangle 174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7" name="Rectangle 174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2" name="Picture 4" descr="パスコンを追加した差動増幅段 レイアウト(diff_pass_cap.gds)">
            <a:extLst>
              <a:ext uri="{FF2B5EF4-FFF2-40B4-BE49-F238E27FC236}">
                <a16:creationId xmlns:a16="http://schemas.microsoft.com/office/drawing/2014/main" id="{BA721E2A-116D-C1DD-C847-35D3C20F9B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664957"/>
            <a:ext cx="4397433" cy="2352626"/>
          </a:xfrm>
          <a:prstGeom prst="rect">
            <a:avLst/>
          </a:prstGeom>
          <a:noFill/>
          <a:extLst>
            <a:ext uri="{909E8E84-426E-40DD-AFC4-6F175D3DCCD1}">
              <a14:hiddenFill xmlns:a14="http://schemas.microsoft.com/office/drawing/2010/main">
                <a:solidFill>
                  <a:srgbClr val="FFFFFF"/>
                </a:solidFill>
              </a14:hiddenFill>
            </a:ext>
          </a:extLst>
        </p:spPr>
      </p:pic>
      <p:sp>
        <p:nvSpPr>
          <p:cNvPr id="17429" name="Rectangle 1742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0" name="Picture 2" descr="パスコンレイアウトの例(pass_cap.gds)">
            <a:extLst>
              <a:ext uri="{FF2B5EF4-FFF2-40B4-BE49-F238E27FC236}">
                <a16:creationId xmlns:a16="http://schemas.microsoft.com/office/drawing/2014/main" id="{4793133E-E430-4C1A-EC85-B12093252F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69153" y="3707894"/>
            <a:ext cx="362410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70458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4" name="Rectangle 1844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65" name="Group 1844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466" name="Rectangle 1844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7" name="Rectangle 184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468" name="Rectangle 1844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33569D1-CD96-2F3E-9964-1C9627DDAF27}"/>
              </a:ext>
            </a:extLst>
          </p:cNvPr>
          <p:cNvSpPr>
            <a:spLocks noGrp="1"/>
          </p:cNvSpPr>
          <p:nvPr>
            <p:ph type="title"/>
          </p:nvPr>
        </p:nvSpPr>
        <p:spPr>
          <a:xfrm>
            <a:off x="1057025" y="922644"/>
            <a:ext cx="5040285" cy="1169585"/>
          </a:xfrm>
        </p:spPr>
        <p:txBody>
          <a:bodyPr anchor="b">
            <a:normAutofit/>
          </a:bodyPr>
          <a:lstStyle/>
          <a:p>
            <a:r>
              <a:rPr kumimoji="1" lang="ja-JP" altLang="en-US" sz="4000"/>
              <a:t>アレイの使い方</a:t>
            </a:r>
          </a:p>
        </p:txBody>
      </p:sp>
      <p:sp>
        <p:nvSpPr>
          <p:cNvPr id="18469" name="Rectangle 184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56ED4D1-1B0D-E293-8778-7B022E276FEF}"/>
              </a:ext>
            </a:extLst>
          </p:cNvPr>
          <p:cNvSpPr>
            <a:spLocks noGrp="1"/>
          </p:cNvSpPr>
          <p:nvPr>
            <p:ph idx="1"/>
          </p:nvPr>
        </p:nvSpPr>
        <p:spPr>
          <a:xfrm>
            <a:off x="1055715" y="2508105"/>
            <a:ext cx="5040285" cy="3632493"/>
          </a:xfrm>
        </p:spPr>
        <p:txBody>
          <a:bodyPr anchor="ctr">
            <a:normAutofit/>
          </a:bodyPr>
          <a:lstStyle/>
          <a:p>
            <a:r>
              <a:rPr lang="ja-JP" altLang="en-US" sz="2000"/>
              <a:t>パスコンセルを一括配置する手法</a:t>
            </a:r>
            <a:endParaRPr lang="en-US" altLang="ja-JP" sz="2000"/>
          </a:p>
        </p:txBody>
      </p:sp>
      <p:pic>
        <p:nvPicPr>
          <p:cNvPr id="18436" name="Picture 4" descr="アレイ配置の使い方 2">
            <a:extLst>
              <a:ext uri="{FF2B5EF4-FFF2-40B4-BE49-F238E27FC236}">
                <a16:creationId xmlns:a16="http://schemas.microsoft.com/office/drawing/2014/main" id="{BDD9A165-C7A7-F0AA-CEFE-99D33E6AA6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9257" y="3502543"/>
            <a:ext cx="4197028" cy="2581173"/>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アレイ配置の使い方 1">
            <a:extLst>
              <a:ext uri="{FF2B5EF4-FFF2-40B4-BE49-F238E27FC236}">
                <a16:creationId xmlns:a16="http://schemas.microsoft.com/office/drawing/2014/main" id="{5B202FE9-5D24-0A00-1348-4F8AB59F6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226"/>
          <a:stretch>
            <a:fillRect/>
          </a:stretch>
        </p:blipFill>
        <p:spPr bwMode="auto">
          <a:xfrm>
            <a:off x="8128777" y="774285"/>
            <a:ext cx="2024900" cy="258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7688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DB5BB7D-B6D2-356E-CC85-A8DE035EB1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CFFF57A-213F-4CF8-EF7F-84495D43C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C7ED8C5-BC9D-68B6-983F-29380097CA8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82506E40-C300-1CDB-92E6-4C7431E1BB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107961D1-859F-0D60-9CF4-889AB03BA26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3E146B1-7035-FC4C-E31B-00AFAB6DF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4260539-2114-C970-17A0-88052A0E9BE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ダミーポリシリコン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185725601"/>
      </p:ext>
    </p:extLst>
  </p:cSld>
  <p:clrMapOvr>
    <a:overrideClrMapping bg1="dk1" tx1="lt1" bg2="dk2" tx2="lt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79" name="Rectangle 194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9482393-9A4E-3373-36CA-66A161AA03FC}"/>
              </a:ext>
            </a:extLst>
          </p:cNvPr>
          <p:cNvSpPr>
            <a:spLocks noGrp="1"/>
          </p:cNvSpPr>
          <p:nvPr>
            <p:ph type="title"/>
          </p:nvPr>
        </p:nvSpPr>
        <p:spPr>
          <a:xfrm>
            <a:off x="793662" y="386930"/>
            <a:ext cx="10066122" cy="1298448"/>
          </a:xfrm>
        </p:spPr>
        <p:txBody>
          <a:bodyPr anchor="b">
            <a:normAutofit/>
          </a:bodyPr>
          <a:lstStyle/>
          <a:p>
            <a:r>
              <a:rPr lang="ja-JP" altLang="en-US" sz="4800"/>
              <a:t>ダミーポリシリコン</a:t>
            </a:r>
            <a:endParaRPr kumimoji="1" lang="ja-JP" altLang="en-US" sz="4800"/>
          </a:p>
        </p:txBody>
      </p:sp>
      <p:sp>
        <p:nvSpPr>
          <p:cNvPr id="19481" name="Rectangle 194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3" name="Rectangle 194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833B8D7-1123-1243-B5EB-9402CDED2647}"/>
              </a:ext>
            </a:extLst>
          </p:cNvPr>
          <p:cNvSpPr>
            <a:spLocks noGrp="1"/>
          </p:cNvSpPr>
          <p:nvPr>
            <p:ph idx="1"/>
          </p:nvPr>
        </p:nvSpPr>
        <p:spPr>
          <a:xfrm>
            <a:off x="793662" y="2355125"/>
            <a:ext cx="10443090" cy="1642553"/>
          </a:xfrm>
        </p:spPr>
        <p:txBody>
          <a:bodyPr anchor="ctr">
            <a:normAutofit fontScale="92500" lnSpcReduction="20000"/>
          </a:bodyPr>
          <a:lstStyle/>
          <a:p>
            <a:r>
              <a:rPr lang="ja-JP" altLang="en-US" sz="1900" dirty="0"/>
              <a:t>バラツキを軽減する手法</a:t>
            </a:r>
            <a:endParaRPr lang="en-US" altLang="ja-JP" sz="1900" dirty="0"/>
          </a:p>
          <a:p>
            <a:pPr lvl="1"/>
            <a:r>
              <a:rPr lang="ja-JP" altLang="en-US" sz="1900" dirty="0"/>
              <a:t>ダミーのポリシリコンで挟み込むことで</a:t>
            </a:r>
            <a:r>
              <a:rPr lang="ja-JP" altLang="en-US" sz="1900" b="1" dirty="0"/>
              <a:t>削れる量を一定</a:t>
            </a:r>
            <a:r>
              <a:rPr lang="ja-JP" altLang="en-US" sz="1900" dirty="0"/>
              <a:t>にするという手法</a:t>
            </a:r>
          </a:p>
          <a:p>
            <a:pPr lvl="2"/>
            <a:r>
              <a:rPr lang="en-US" altLang="ja-JP" sz="1900" dirty="0"/>
              <a:t>P</a:t>
            </a:r>
            <a:r>
              <a:rPr lang="ja-JP" altLang="en-US" sz="1900" dirty="0"/>
              <a:t>型</a:t>
            </a:r>
            <a:r>
              <a:rPr lang="en-US" altLang="ja-JP" sz="1900" dirty="0"/>
              <a:t>FET</a:t>
            </a:r>
            <a:r>
              <a:rPr lang="ja-JP" altLang="en-US" sz="1900" dirty="0"/>
              <a:t>や</a:t>
            </a:r>
            <a:r>
              <a:rPr lang="en-US" altLang="ja-JP" sz="1900" dirty="0"/>
              <a:t>N</a:t>
            </a:r>
            <a:r>
              <a:rPr lang="ja-JP" altLang="en-US" sz="1900" dirty="0"/>
              <a:t>型</a:t>
            </a:r>
            <a:r>
              <a:rPr lang="en-US" altLang="ja-JP" sz="1900" dirty="0"/>
              <a:t>FET</a:t>
            </a:r>
            <a:r>
              <a:rPr lang="ja-JP" altLang="en-US" sz="1900" dirty="0"/>
              <a:t>のポリシリコン部は、フィンガーのように近くにポリシリコンがある場合と何もない場合では製造時に削れる量に差が出る</a:t>
            </a:r>
            <a:endParaRPr lang="en-US" altLang="ja-JP" sz="1900" dirty="0"/>
          </a:p>
          <a:p>
            <a:pPr lvl="2"/>
            <a:endParaRPr lang="en-US" altLang="ja-JP" sz="1900" dirty="0"/>
          </a:p>
          <a:p>
            <a:pPr lvl="1"/>
            <a:r>
              <a:rPr lang="ja-JP" altLang="en-US" sz="1900" dirty="0"/>
              <a:t>サンプル：</a:t>
            </a:r>
            <a:r>
              <a:rPr lang="en-US" altLang="ja-JP" sz="1900" dirty="0" err="1"/>
              <a:t>diff_dp.gds</a:t>
            </a:r>
            <a:endParaRPr lang="en-US" altLang="ja-JP" sz="1900" dirty="0"/>
          </a:p>
        </p:txBody>
      </p:sp>
      <p:sp>
        <p:nvSpPr>
          <p:cNvPr id="19485" name="Rectangle 194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C5C02EB4-1B86-8C9D-E46B-85A584B688C8}"/>
              </a:ext>
            </a:extLst>
          </p:cNvPr>
          <p:cNvGrpSpPr/>
          <p:nvPr/>
        </p:nvGrpSpPr>
        <p:grpSpPr>
          <a:xfrm>
            <a:off x="1866507" y="3997678"/>
            <a:ext cx="8951246" cy="2835339"/>
            <a:chOff x="778523" y="48359"/>
            <a:chExt cx="11040408" cy="4050981"/>
          </a:xfrm>
        </p:grpSpPr>
        <p:pic>
          <p:nvPicPr>
            <p:cNvPr id="5" name="図 4">
              <a:extLst>
                <a:ext uri="{FF2B5EF4-FFF2-40B4-BE49-F238E27FC236}">
                  <a16:creationId xmlns:a16="http://schemas.microsoft.com/office/drawing/2014/main" id="{A286B78E-971C-E4DF-0272-1EFBDE9D6C33}"/>
                </a:ext>
              </a:extLst>
            </p:cNvPr>
            <p:cNvPicPr>
              <a:picLocks noChangeAspect="1"/>
            </p:cNvPicPr>
            <p:nvPr/>
          </p:nvPicPr>
          <p:blipFill>
            <a:blip r:embed="rId2"/>
            <a:stretch>
              <a:fillRect/>
            </a:stretch>
          </p:blipFill>
          <p:spPr>
            <a:xfrm>
              <a:off x="778523" y="48359"/>
              <a:ext cx="5018962" cy="4002622"/>
            </a:xfrm>
            <a:prstGeom prst="rect">
              <a:avLst/>
            </a:prstGeom>
          </p:spPr>
        </p:pic>
        <p:pic>
          <p:nvPicPr>
            <p:cNvPr id="6" name="図 5">
              <a:extLst>
                <a:ext uri="{FF2B5EF4-FFF2-40B4-BE49-F238E27FC236}">
                  <a16:creationId xmlns:a16="http://schemas.microsoft.com/office/drawing/2014/main" id="{4B927519-2DBC-8BAF-C5A8-03F451446CA7}"/>
                </a:ext>
              </a:extLst>
            </p:cNvPr>
            <p:cNvPicPr>
              <a:picLocks noChangeAspect="1"/>
            </p:cNvPicPr>
            <p:nvPr/>
          </p:nvPicPr>
          <p:blipFill>
            <a:blip r:embed="rId3"/>
            <a:stretch>
              <a:fillRect/>
            </a:stretch>
          </p:blipFill>
          <p:spPr>
            <a:xfrm>
              <a:off x="6315374" y="48359"/>
              <a:ext cx="4974272" cy="4002622"/>
            </a:xfrm>
            <a:prstGeom prst="rect">
              <a:avLst/>
            </a:prstGeom>
          </p:spPr>
        </p:pic>
        <p:sp>
          <p:nvSpPr>
            <p:cNvPr id="7" name="吹き出し: 角を丸めた四角形 6">
              <a:extLst>
                <a:ext uri="{FF2B5EF4-FFF2-40B4-BE49-F238E27FC236}">
                  <a16:creationId xmlns:a16="http://schemas.microsoft.com/office/drawing/2014/main" id="{0FEB13AB-AFBE-1879-A245-E6E58EAED0D0}"/>
                </a:ext>
              </a:extLst>
            </p:cNvPr>
            <p:cNvSpPr/>
            <p:nvPr/>
          </p:nvSpPr>
          <p:spPr>
            <a:xfrm>
              <a:off x="5247778" y="3484983"/>
              <a:ext cx="2045407" cy="606219"/>
            </a:xfrm>
            <a:prstGeom prst="wedgeRoundRectCallout">
              <a:avLst>
                <a:gd name="adj1" fmla="val 13512"/>
                <a:gd name="adj2" fmla="val -1471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8" name="吹き出し: 角を丸めた四角形 7">
              <a:extLst>
                <a:ext uri="{FF2B5EF4-FFF2-40B4-BE49-F238E27FC236}">
                  <a16:creationId xmlns:a16="http://schemas.microsoft.com/office/drawing/2014/main" id="{9EBD57CA-D46B-53EE-BB98-643840090B09}"/>
                </a:ext>
              </a:extLst>
            </p:cNvPr>
            <p:cNvSpPr/>
            <p:nvPr/>
          </p:nvSpPr>
          <p:spPr>
            <a:xfrm>
              <a:off x="5247778" y="3493121"/>
              <a:ext cx="2045407" cy="606219"/>
            </a:xfrm>
            <a:prstGeom prst="wedgeRoundRectCallout">
              <a:avLst>
                <a:gd name="adj1" fmla="val 113100"/>
                <a:gd name="adj2" fmla="val -16604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9" name="吹き出し: 角を丸めた四角形 8">
              <a:extLst>
                <a:ext uri="{FF2B5EF4-FFF2-40B4-BE49-F238E27FC236}">
                  <a16:creationId xmlns:a16="http://schemas.microsoft.com/office/drawing/2014/main" id="{5A621AA4-2E80-5A32-1A86-0BD4AFAEA4C4}"/>
                </a:ext>
              </a:extLst>
            </p:cNvPr>
            <p:cNvSpPr/>
            <p:nvPr/>
          </p:nvSpPr>
          <p:spPr>
            <a:xfrm>
              <a:off x="5247778" y="3493120"/>
              <a:ext cx="2045407" cy="606219"/>
            </a:xfrm>
            <a:prstGeom prst="wedgeRoundRectCallout">
              <a:avLst>
                <a:gd name="adj1" fmla="val 93741"/>
                <a:gd name="adj2" fmla="val -2530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10" name="吹き出し: 角を丸めた四角形 9">
              <a:extLst>
                <a:ext uri="{FF2B5EF4-FFF2-40B4-BE49-F238E27FC236}">
                  <a16:creationId xmlns:a16="http://schemas.microsoft.com/office/drawing/2014/main" id="{5625856D-6A1D-1E95-A502-C1BAA3750AEB}"/>
                </a:ext>
              </a:extLst>
            </p:cNvPr>
            <p:cNvSpPr/>
            <p:nvPr/>
          </p:nvSpPr>
          <p:spPr>
            <a:xfrm>
              <a:off x="5247777" y="432923"/>
              <a:ext cx="2045407" cy="606219"/>
            </a:xfrm>
            <a:prstGeom prst="wedgeRoundRectCallout">
              <a:avLst>
                <a:gd name="adj1" fmla="val 75579"/>
                <a:gd name="adj2" fmla="val 499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11" name="吹き出し: 角を丸めた四角形 10">
              <a:extLst>
                <a:ext uri="{FF2B5EF4-FFF2-40B4-BE49-F238E27FC236}">
                  <a16:creationId xmlns:a16="http://schemas.microsoft.com/office/drawing/2014/main" id="{6918A942-E1F2-5FC2-08C2-DC0B850C3397}"/>
                </a:ext>
              </a:extLst>
            </p:cNvPr>
            <p:cNvSpPr/>
            <p:nvPr/>
          </p:nvSpPr>
          <p:spPr>
            <a:xfrm>
              <a:off x="9382833" y="432924"/>
              <a:ext cx="2045407" cy="606219"/>
            </a:xfrm>
            <a:prstGeom prst="wedgeRoundRectCallout">
              <a:avLst>
                <a:gd name="adj1" fmla="val -72107"/>
                <a:gd name="adj2" fmla="val 162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12" name="吹き出し: 角を丸めた四角形 11">
              <a:extLst>
                <a:ext uri="{FF2B5EF4-FFF2-40B4-BE49-F238E27FC236}">
                  <a16:creationId xmlns:a16="http://schemas.microsoft.com/office/drawing/2014/main" id="{FEADD62F-0C8A-30C1-BFE7-B920EB4B1D0F}"/>
                </a:ext>
              </a:extLst>
            </p:cNvPr>
            <p:cNvSpPr/>
            <p:nvPr/>
          </p:nvSpPr>
          <p:spPr>
            <a:xfrm>
              <a:off x="9762128" y="3493119"/>
              <a:ext cx="2045407" cy="606219"/>
            </a:xfrm>
            <a:prstGeom prst="wedgeRoundRectCallout">
              <a:avLst>
                <a:gd name="adj1" fmla="val 14110"/>
                <a:gd name="adj2" fmla="val -142476"/>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13" name="吹き出し: 角を丸めた四角形 12">
              <a:extLst>
                <a:ext uri="{FF2B5EF4-FFF2-40B4-BE49-F238E27FC236}">
                  <a16:creationId xmlns:a16="http://schemas.microsoft.com/office/drawing/2014/main" id="{0976DEFD-C12E-64B5-EFE7-EA6B9328B74F}"/>
                </a:ext>
              </a:extLst>
            </p:cNvPr>
            <p:cNvSpPr/>
            <p:nvPr/>
          </p:nvSpPr>
          <p:spPr>
            <a:xfrm>
              <a:off x="9762128" y="3493119"/>
              <a:ext cx="2045407" cy="606219"/>
            </a:xfrm>
            <a:prstGeom prst="wedgeRoundRectCallout">
              <a:avLst>
                <a:gd name="adj1" fmla="val -90867"/>
                <a:gd name="adj2" fmla="val -162004"/>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sp>
          <p:nvSpPr>
            <p:cNvPr id="14" name="吹き出し: 角を丸めた四角形 13">
              <a:extLst>
                <a:ext uri="{FF2B5EF4-FFF2-40B4-BE49-F238E27FC236}">
                  <a16:creationId xmlns:a16="http://schemas.microsoft.com/office/drawing/2014/main" id="{EF4900CB-05D1-87C7-9875-5B7996CF2B8B}"/>
                </a:ext>
              </a:extLst>
            </p:cNvPr>
            <p:cNvSpPr/>
            <p:nvPr/>
          </p:nvSpPr>
          <p:spPr>
            <a:xfrm>
              <a:off x="9773524" y="3493119"/>
              <a:ext cx="2045407" cy="606219"/>
            </a:xfrm>
            <a:prstGeom prst="wedgeRoundRectCallout">
              <a:avLst>
                <a:gd name="adj1" fmla="val -66718"/>
                <a:gd name="adj2" fmla="val -21268"/>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追加されている</a:t>
              </a:r>
              <a:endParaRPr kumimoji="1" lang="ja-JP" altLang="en-US"/>
            </a:p>
          </p:txBody>
        </p:sp>
      </p:grpSp>
    </p:spTree>
    <p:extLst>
      <p:ext uri="{BB962C8B-B14F-4D97-AF65-F5344CB8AC3E}">
        <p14:creationId xmlns:p14="http://schemas.microsoft.com/office/powerpoint/2010/main" val="353862166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11" name="Rectangle 205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56AA2D9-439B-0C64-5B22-273A9E4708A6}"/>
              </a:ext>
            </a:extLst>
          </p:cNvPr>
          <p:cNvSpPr>
            <a:spLocks noGrp="1"/>
          </p:cNvSpPr>
          <p:nvPr>
            <p:ph type="title"/>
          </p:nvPr>
        </p:nvSpPr>
        <p:spPr>
          <a:xfrm>
            <a:off x="793662" y="386930"/>
            <a:ext cx="10066122" cy="1298448"/>
          </a:xfrm>
        </p:spPr>
        <p:txBody>
          <a:bodyPr anchor="b">
            <a:normAutofit/>
          </a:bodyPr>
          <a:lstStyle/>
          <a:p>
            <a:r>
              <a:rPr kumimoji="1" lang="ja-JP" altLang="en-US" sz="4800"/>
              <a:t>ダミーポリシリコン化回路図</a:t>
            </a:r>
          </a:p>
        </p:txBody>
      </p:sp>
      <p:sp>
        <p:nvSpPr>
          <p:cNvPr id="20513" name="Rectangle 205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5" name="Rectangle 205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A9559EC-A5AF-BCCA-94C2-15C966F83666}"/>
              </a:ext>
            </a:extLst>
          </p:cNvPr>
          <p:cNvSpPr>
            <a:spLocks noGrp="1"/>
          </p:cNvSpPr>
          <p:nvPr>
            <p:ph idx="1"/>
          </p:nvPr>
        </p:nvSpPr>
        <p:spPr>
          <a:xfrm>
            <a:off x="808638" y="2235964"/>
            <a:ext cx="9628239" cy="2426230"/>
          </a:xfrm>
        </p:spPr>
        <p:txBody>
          <a:bodyPr anchor="ctr">
            <a:normAutofit lnSpcReduction="10000"/>
          </a:bodyPr>
          <a:lstStyle/>
          <a:p>
            <a:r>
              <a:rPr lang="ja-JP" altLang="en-US" sz="2000" dirty="0"/>
              <a:t>問題点</a:t>
            </a:r>
            <a:endParaRPr lang="en-US" altLang="ja-JP" sz="2000" dirty="0"/>
          </a:p>
          <a:p>
            <a:pPr lvl="1"/>
            <a:r>
              <a:rPr lang="ja-JP" altLang="en-US" sz="2000" dirty="0"/>
              <a:t>ダミーポリシリコン部も</a:t>
            </a:r>
            <a:r>
              <a:rPr lang="en-US" altLang="ja-JP" sz="2000" dirty="0"/>
              <a:t>FET</a:t>
            </a:r>
            <a:r>
              <a:rPr lang="ja-JP" altLang="en-US" sz="2000" dirty="0"/>
              <a:t>の一部として認識される</a:t>
            </a:r>
            <a:endParaRPr lang="en-US" altLang="ja-JP" sz="2000" dirty="0"/>
          </a:p>
          <a:p>
            <a:pPr lvl="1"/>
            <a:r>
              <a:rPr lang="ja-JP" altLang="en-US" sz="2000" dirty="0"/>
              <a:t>ダミーポリシリコンに相当する</a:t>
            </a:r>
            <a:r>
              <a:rPr lang="en-US" altLang="ja-JP" sz="2000" dirty="0"/>
              <a:t>FET</a:t>
            </a:r>
            <a:r>
              <a:rPr lang="ja-JP" altLang="en-US" sz="2000" dirty="0"/>
              <a:t>を回路図に追加することが必須</a:t>
            </a:r>
            <a:endParaRPr lang="en-US" altLang="ja-JP" sz="2000" dirty="0"/>
          </a:p>
          <a:p>
            <a:r>
              <a:rPr lang="ja-JP" altLang="en-US" sz="2000" dirty="0"/>
              <a:t>一歩進んだテクニック</a:t>
            </a:r>
            <a:endParaRPr lang="en-US" altLang="ja-JP" sz="2000" dirty="0"/>
          </a:p>
          <a:p>
            <a:pPr lvl="1"/>
            <a:r>
              <a:rPr lang="ja-JP" altLang="en-US" sz="2000" dirty="0"/>
              <a:t>ゲートに</a:t>
            </a:r>
            <a:r>
              <a:rPr lang="en-US" altLang="ja-JP" sz="2000" dirty="0"/>
              <a:t>VDD</a:t>
            </a:r>
            <a:r>
              <a:rPr lang="ja-JP" altLang="en-US" sz="2000" dirty="0"/>
              <a:t>や</a:t>
            </a:r>
            <a:r>
              <a:rPr lang="en-US" altLang="ja-JP" sz="2000" dirty="0"/>
              <a:t>VSS</a:t>
            </a:r>
            <a:r>
              <a:rPr lang="ja-JP" altLang="en-US" sz="2000" dirty="0"/>
              <a:t>を直結していますが</a:t>
            </a:r>
            <a:r>
              <a:rPr lang="en-US" altLang="ja-JP" sz="2000" dirty="0"/>
              <a:t>TIE</a:t>
            </a:r>
            <a:r>
              <a:rPr lang="ja-JP" altLang="en-US" sz="2000" dirty="0"/>
              <a:t>回路をつけるべき</a:t>
            </a:r>
            <a:endParaRPr lang="en-US" altLang="ja-JP" sz="2000" dirty="0"/>
          </a:p>
          <a:p>
            <a:pPr lvl="1"/>
            <a:endParaRPr lang="en-US" altLang="ja-JP" sz="2000" dirty="0"/>
          </a:p>
          <a:p>
            <a:pPr lvl="1"/>
            <a:r>
              <a:rPr lang="ja-JP" altLang="en-US" sz="2000" dirty="0"/>
              <a:t>サンプル：</a:t>
            </a:r>
            <a:r>
              <a:rPr lang="en-US" altLang="ja-JP" sz="2000" dirty="0" err="1"/>
              <a:t>diff_dp.sch</a:t>
            </a:r>
            <a:endParaRPr lang="en-US" altLang="ja-JP" sz="2000" dirty="0"/>
          </a:p>
        </p:txBody>
      </p:sp>
      <p:sp>
        <p:nvSpPr>
          <p:cNvPr id="20517" name="Rectangle 205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グループ化 3">
            <a:extLst>
              <a:ext uri="{FF2B5EF4-FFF2-40B4-BE49-F238E27FC236}">
                <a16:creationId xmlns:a16="http://schemas.microsoft.com/office/drawing/2014/main" id="{193AA3EF-DC3A-D54A-7408-E630A3FCA22B}"/>
              </a:ext>
            </a:extLst>
          </p:cNvPr>
          <p:cNvGrpSpPr/>
          <p:nvPr/>
        </p:nvGrpSpPr>
        <p:grpSpPr>
          <a:xfrm>
            <a:off x="4284482" y="4077456"/>
            <a:ext cx="7814821" cy="2733409"/>
            <a:chOff x="594050" y="364143"/>
            <a:chExt cx="11080061" cy="4157047"/>
          </a:xfrm>
        </p:grpSpPr>
        <p:pic>
          <p:nvPicPr>
            <p:cNvPr id="6" name="図 5">
              <a:extLst>
                <a:ext uri="{FF2B5EF4-FFF2-40B4-BE49-F238E27FC236}">
                  <a16:creationId xmlns:a16="http://schemas.microsoft.com/office/drawing/2014/main" id="{B97087EE-D332-A53E-87CB-DA4EBCC5BA74}"/>
                </a:ext>
              </a:extLst>
            </p:cNvPr>
            <p:cNvPicPr>
              <a:picLocks noChangeAspect="1"/>
            </p:cNvPicPr>
            <p:nvPr/>
          </p:nvPicPr>
          <p:blipFill>
            <a:blip r:embed="rId2"/>
            <a:stretch>
              <a:fillRect/>
            </a:stretch>
          </p:blipFill>
          <p:spPr>
            <a:xfrm>
              <a:off x="594050" y="364143"/>
              <a:ext cx="3654892" cy="3426462"/>
            </a:xfrm>
            <a:prstGeom prst="rect">
              <a:avLst/>
            </a:prstGeom>
          </p:spPr>
        </p:pic>
        <p:pic>
          <p:nvPicPr>
            <p:cNvPr id="7" name="図 6">
              <a:extLst>
                <a:ext uri="{FF2B5EF4-FFF2-40B4-BE49-F238E27FC236}">
                  <a16:creationId xmlns:a16="http://schemas.microsoft.com/office/drawing/2014/main" id="{6D73FAD4-1CEC-761E-6175-FE9BF18238E0}"/>
                </a:ext>
              </a:extLst>
            </p:cNvPr>
            <p:cNvPicPr>
              <a:picLocks noChangeAspect="1"/>
            </p:cNvPicPr>
            <p:nvPr/>
          </p:nvPicPr>
          <p:blipFill>
            <a:blip r:embed="rId3"/>
            <a:stretch>
              <a:fillRect/>
            </a:stretch>
          </p:blipFill>
          <p:spPr>
            <a:xfrm>
              <a:off x="4535652" y="364144"/>
              <a:ext cx="7138459" cy="3426461"/>
            </a:xfrm>
            <a:prstGeom prst="rect">
              <a:avLst/>
            </a:prstGeom>
          </p:spPr>
        </p:pic>
        <p:sp>
          <p:nvSpPr>
            <p:cNvPr id="8" name="四角形: 角を丸くする 7">
              <a:extLst>
                <a:ext uri="{FF2B5EF4-FFF2-40B4-BE49-F238E27FC236}">
                  <a16:creationId xmlns:a16="http://schemas.microsoft.com/office/drawing/2014/main" id="{31167B9C-7EE1-DF1B-3FF0-E96F4B2864F1}"/>
                </a:ext>
              </a:extLst>
            </p:cNvPr>
            <p:cNvSpPr/>
            <p:nvPr/>
          </p:nvSpPr>
          <p:spPr>
            <a:xfrm>
              <a:off x="7147832" y="416379"/>
              <a:ext cx="2016579" cy="3335110"/>
            </a:xfrm>
            <a:prstGeom prst="roundRect">
              <a:avLst/>
            </a:prstGeom>
            <a:solidFill>
              <a:srgbClr val="E59EDD">
                <a:alpha val="6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吹き出し: 角を丸めた四角形 8">
              <a:extLst>
                <a:ext uri="{FF2B5EF4-FFF2-40B4-BE49-F238E27FC236}">
                  <a16:creationId xmlns:a16="http://schemas.microsoft.com/office/drawing/2014/main" id="{D59DB582-1CFF-7513-307E-7486DD208D62}"/>
                </a:ext>
              </a:extLst>
            </p:cNvPr>
            <p:cNvSpPr/>
            <p:nvPr/>
          </p:nvSpPr>
          <p:spPr>
            <a:xfrm>
              <a:off x="7147832" y="3914971"/>
              <a:ext cx="3149610" cy="606219"/>
            </a:xfrm>
            <a:prstGeom prst="wedgeRoundRectCallout">
              <a:avLst>
                <a:gd name="adj1" fmla="val 7686"/>
                <a:gd name="adj2" fmla="val -10207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defTabSz="420624">
                <a:spcAft>
                  <a:spcPts val="600"/>
                </a:spcAft>
              </a:pPr>
              <a:r>
                <a:rPr kumimoji="1" lang="ja-JP" altLang="en-US" sz="828" kern="1200">
                  <a:solidFill>
                    <a:schemeClr val="dk1"/>
                  </a:solidFill>
                  <a:latin typeface="+mn-lt"/>
                  <a:ea typeface="+mn-ea"/>
                  <a:cs typeface="+mn-cs"/>
                </a:rPr>
                <a:t>ここ以外が追加されている</a:t>
              </a:r>
              <a:endParaRPr kumimoji="1" lang="ja-JP" altLang="en-US"/>
            </a:p>
          </p:txBody>
        </p:sp>
      </p:grpSp>
    </p:spTree>
    <p:extLst>
      <p:ext uri="{BB962C8B-B14F-4D97-AF65-F5344CB8AC3E}">
        <p14:creationId xmlns:p14="http://schemas.microsoft.com/office/powerpoint/2010/main" val="145607625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31FA1FC-4F87-334E-F632-285D86F71473}"/>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C2D8939-160B-8779-0FF8-CA7B19C2DD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0AD7DB5-BE1D-BB9B-23E5-38734E2D37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69B40FD0-ED6C-E53F-F6D0-F671017CB5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757A7FF0-E041-A95D-39E9-FBBD32EE2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5DC4238-33CF-EFA6-76C4-1C7E3F59A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13219C6-B4C8-33CC-1E0F-D7E483A2516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コモンセントロイド</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52237689"/>
      </p:ext>
    </p:extLst>
  </p:cSld>
  <p:clrMapOvr>
    <a:overrideClrMapping bg1="dk1" tx1="lt1" bg2="dk2" tx2="lt2" accent1="accent1" accent2="accent2" accent3="accent3" accent4="accent4" accent5="accent5" accent6="accent6" hlink="hlink" folHlink="folHlink"/>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5" name="Rectangle 215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527702D-B9DE-2FE2-AF8F-22D49FE88184}"/>
              </a:ext>
            </a:extLst>
          </p:cNvPr>
          <p:cNvSpPr>
            <a:spLocks noGrp="1"/>
          </p:cNvSpPr>
          <p:nvPr>
            <p:ph type="title"/>
          </p:nvPr>
        </p:nvSpPr>
        <p:spPr>
          <a:xfrm>
            <a:off x="424742" y="3930305"/>
            <a:ext cx="4361813" cy="2437244"/>
          </a:xfrm>
        </p:spPr>
        <p:txBody>
          <a:bodyPr anchor="ctr">
            <a:normAutofit/>
          </a:bodyPr>
          <a:lstStyle/>
          <a:p>
            <a:r>
              <a:rPr lang="ja-JP" altLang="en-US" sz="3600"/>
              <a:t>コモンセントロイド</a:t>
            </a:r>
            <a:endParaRPr kumimoji="1" lang="ja-JP" altLang="en-US" sz="3600"/>
          </a:p>
        </p:txBody>
      </p:sp>
      <p:sp>
        <p:nvSpPr>
          <p:cNvPr id="21517" name="Rectangle 215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10" name="Picture 6" descr="コモンセントロイド化した差動増幅段 FETの配置">
            <a:extLst>
              <a:ext uri="{FF2B5EF4-FFF2-40B4-BE49-F238E27FC236}">
                <a16:creationId xmlns:a16="http://schemas.microsoft.com/office/drawing/2014/main" id="{521D296D-7493-2BE8-A066-D2C0340B04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25691" y="390402"/>
            <a:ext cx="3335789" cy="2777044"/>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コモンセントロイド前の差動増幅段 FETの配置">
            <a:extLst>
              <a:ext uri="{FF2B5EF4-FFF2-40B4-BE49-F238E27FC236}">
                <a16:creationId xmlns:a16="http://schemas.microsoft.com/office/drawing/2014/main" id="{34D52BAC-C068-742A-78E7-F1C40C4A87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66396" y="522080"/>
            <a:ext cx="3336953" cy="2536083"/>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descr="コモンセントロイドのターゲット レイアウト">
            <a:extLst>
              <a:ext uri="{FF2B5EF4-FFF2-40B4-BE49-F238E27FC236}">
                <a16:creationId xmlns:a16="http://schemas.microsoft.com/office/drawing/2014/main" id="{8945E4C1-77BC-BAA3-DCDD-8DBF68425C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70498" y="651386"/>
            <a:ext cx="3336953" cy="2277469"/>
          </a:xfrm>
          <a:prstGeom prst="rect">
            <a:avLst/>
          </a:prstGeom>
          <a:noFill/>
          <a:extLst>
            <a:ext uri="{909E8E84-426E-40DD-AFC4-6F175D3DCCD1}">
              <a14:hiddenFill xmlns:a14="http://schemas.microsoft.com/office/drawing/2010/main">
                <a:solidFill>
                  <a:srgbClr val="FFFFFF"/>
                </a:solidFill>
              </a14:hiddenFill>
            </a:ext>
          </a:extLst>
        </p:spPr>
      </p:pic>
      <p:sp>
        <p:nvSpPr>
          <p:cNvPr id="21521" name="Rectangle 215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2C555E7-33DC-2B24-1435-FCC03657FAD1}"/>
              </a:ext>
            </a:extLst>
          </p:cNvPr>
          <p:cNvSpPr>
            <a:spLocks noGrp="1"/>
          </p:cNvSpPr>
          <p:nvPr>
            <p:ph idx="1"/>
          </p:nvPr>
        </p:nvSpPr>
        <p:spPr>
          <a:xfrm>
            <a:off x="5162719" y="3930304"/>
            <a:ext cx="6586915" cy="2537293"/>
          </a:xfrm>
        </p:spPr>
        <p:txBody>
          <a:bodyPr anchor="ctr">
            <a:normAutofit lnSpcReduction="10000"/>
          </a:bodyPr>
          <a:lstStyle/>
          <a:p>
            <a:r>
              <a:rPr lang="ja-JP" altLang="en-US" sz="2000"/>
              <a:t>温度特性をよくする手法</a:t>
            </a:r>
            <a:endParaRPr lang="en-US" altLang="ja-JP" sz="2000"/>
          </a:p>
          <a:p>
            <a:pPr lvl="1"/>
            <a:r>
              <a:rPr lang="ja-JP" altLang="en-US" sz="2000"/>
              <a:t>差動増幅段のように対となる</a:t>
            </a:r>
            <a:r>
              <a:rPr lang="en-US" altLang="ja-JP" sz="2000"/>
              <a:t>FET</a:t>
            </a:r>
            <a:r>
              <a:rPr lang="ja-JP" altLang="en-US" sz="2000"/>
              <a:t>がセットで使われている場合に、点対称にレイアウトを配置する手法</a:t>
            </a:r>
            <a:endParaRPr lang="en-US" altLang="ja-JP" sz="2000"/>
          </a:p>
          <a:p>
            <a:pPr lvl="2"/>
            <a:r>
              <a:rPr lang="ja-JP" altLang="en-US"/>
              <a:t>上や右などに熱源があった場合、</a:t>
            </a:r>
            <a:r>
              <a:rPr lang="en-US" altLang="ja-JP"/>
              <a:t>A</a:t>
            </a:r>
            <a:r>
              <a:rPr lang="ja-JP" altLang="en-US"/>
              <a:t>と</a:t>
            </a:r>
            <a:r>
              <a:rPr lang="en-US" altLang="ja-JP"/>
              <a:t>B</a:t>
            </a:r>
            <a:r>
              <a:rPr lang="ja-JP" altLang="en-US"/>
              <a:t>が同じ温度勾配となるため、温度特性が良くなる</a:t>
            </a:r>
            <a:endParaRPr lang="en-US" altLang="ja-JP"/>
          </a:p>
          <a:p>
            <a:pPr lvl="1"/>
            <a:endParaRPr kumimoji="1" lang="en-US" altLang="ja-JP"/>
          </a:p>
          <a:p>
            <a:pPr lvl="1"/>
            <a:r>
              <a:rPr kumimoji="1" lang="ja-JP" altLang="en-US" sz="1800"/>
              <a:t>サンプル：</a:t>
            </a:r>
            <a:r>
              <a:rPr kumimoji="1" lang="en-US" altLang="ja-JP" sz="1800"/>
              <a:t>diff_cc.gds</a:t>
            </a:r>
            <a:endParaRPr kumimoji="1" lang="ja-JP" altLang="en-US" sz="1800"/>
          </a:p>
        </p:txBody>
      </p:sp>
    </p:spTree>
    <p:extLst>
      <p:ext uri="{BB962C8B-B14F-4D97-AF65-F5344CB8AC3E}">
        <p14:creationId xmlns:p14="http://schemas.microsoft.com/office/powerpoint/2010/main" val="13184221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44A221B-7E0C-F604-EACC-434820EE3B9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互い違い構造のコモンセントロイド</a:t>
            </a:r>
          </a:p>
        </p:txBody>
      </p:sp>
      <p:pic>
        <p:nvPicPr>
          <p:cNvPr id="7" name="コンテンツ プレースホルダー 7">
            <a:extLst>
              <a:ext uri="{FF2B5EF4-FFF2-40B4-BE49-F238E27FC236}">
                <a16:creationId xmlns:a16="http://schemas.microsoft.com/office/drawing/2014/main" id="{F23F493A-2E6E-5B8B-1CD2-D44C39E80535}"/>
              </a:ext>
            </a:extLst>
          </p:cNvPr>
          <p:cNvPicPr>
            <a:picLocks noGrp="1" noChangeAspect="1"/>
          </p:cNvPicPr>
          <p:nvPr>
            <p:ph idx="1"/>
          </p:nvPr>
        </p:nvPicPr>
        <p:blipFill>
          <a:blip r:embed="rId2"/>
          <a:stretch>
            <a:fillRect/>
          </a:stretch>
        </p:blipFill>
        <p:spPr>
          <a:xfrm>
            <a:off x="1265791" y="1825625"/>
            <a:ext cx="9660418" cy="4351338"/>
          </a:xfrm>
          <a:prstGeom prst="rect">
            <a:avLst/>
          </a:prstGeom>
        </p:spPr>
      </p:pic>
    </p:spTree>
    <p:extLst>
      <p:ext uri="{BB962C8B-B14F-4D97-AF65-F5344CB8AC3E}">
        <p14:creationId xmlns:p14="http://schemas.microsoft.com/office/powerpoint/2010/main" val="397977759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8E5C32F-58AB-5E82-0366-A102C20A358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56D6E1A-D206-0EFD-0470-51FBFC2B3D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4748E62-7F9B-3C72-31CC-FF49C3031B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51548F2F-DC7F-E274-03DF-9979F647AA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EC05103D-6B32-1CBF-17AD-89E686318D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128EF2E-A0CF-2DEB-F9A1-D741FB99A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A2E4DD18-5E3F-9C3A-4ADF-C32B0D08C56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ガードリング</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32963849"/>
      </p:ext>
    </p:extLst>
  </p:cSld>
  <p:clrMapOvr>
    <a:overrideClrMapping bg1="dk1" tx1="lt1" bg2="dk2" tx2="lt2" accent1="accent1" accent2="accent2" accent3="accent3" accent4="accent4" accent5="accent5" accent6="accent6" hlink="hlink" folHlink="folHlink"/>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07E03D-ECC3-29CB-E067-4507B88FF409}"/>
              </a:ext>
            </a:extLst>
          </p:cNvPr>
          <p:cNvSpPr>
            <a:spLocks noGrp="1"/>
          </p:cNvSpPr>
          <p:nvPr>
            <p:ph type="title"/>
          </p:nvPr>
        </p:nvSpPr>
        <p:spPr>
          <a:xfrm>
            <a:off x="589560" y="856180"/>
            <a:ext cx="4560584" cy="1128068"/>
          </a:xfrm>
        </p:spPr>
        <p:txBody>
          <a:bodyPr anchor="ctr">
            <a:normAutofit/>
          </a:bodyPr>
          <a:lstStyle/>
          <a:p>
            <a:r>
              <a:rPr kumimoji="1" lang="ja-JP" altLang="en-US" sz="4000"/>
              <a:t>ガードリング</a:t>
            </a:r>
          </a:p>
        </p:txBody>
      </p:sp>
      <p:grpSp>
        <p:nvGrpSpPr>
          <p:cNvPr id="22537" name="Group 2253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2538" name="Rectangle 2253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9" name="Rectangle 2253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541" name="Rectangle 2254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742CDCF-F3E3-3864-A898-1BAB5A619E8C}"/>
              </a:ext>
            </a:extLst>
          </p:cNvPr>
          <p:cNvSpPr>
            <a:spLocks noGrp="1"/>
          </p:cNvSpPr>
          <p:nvPr>
            <p:ph idx="1"/>
          </p:nvPr>
        </p:nvSpPr>
        <p:spPr>
          <a:xfrm>
            <a:off x="590719" y="2330505"/>
            <a:ext cx="4992740" cy="3979585"/>
          </a:xfrm>
        </p:spPr>
        <p:txBody>
          <a:bodyPr anchor="ctr">
            <a:normAutofit/>
          </a:bodyPr>
          <a:lstStyle/>
          <a:p>
            <a:r>
              <a:rPr lang="ja-JP" altLang="en-US" sz="2000" dirty="0"/>
              <a:t>ノイズ対策手法</a:t>
            </a:r>
            <a:endParaRPr lang="en-US" altLang="ja-JP" sz="2000" dirty="0"/>
          </a:p>
          <a:p>
            <a:pPr lvl="1"/>
            <a:r>
              <a:rPr lang="en-US" altLang="ja-JP" sz="2000" dirty="0"/>
              <a:t>VSS</a:t>
            </a:r>
            <a:r>
              <a:rPr lang="ja-JP" altLang="en-US" sz="2000" dirty="0"/>
              <a:t>に落とす</a:t>
            </a:r>
            <a:r>
              <a:rPr lang="en-US" altLang="ja-JP" sz="2000" dirty="0" err="1"/>
              <a:t>cont_p</a:t>
            </a:r>
            <a:r>
              <a:rPr lang="ja-JP" altLang="en-US" sz="2000" dirty="0"/>
              <a:t>で</a:t>
            </a:r>
            <a:r>
              <a:rPr lang="en-US" altLang="ja-JP" sz="2000" dirty="0"/>
              <a:t>FET</a:t>
            </a:r>
            <a:r>
              <a:rPr lang="ja-JP" altLang="en-US" sz="2000" dirty="0"/>
              <a:t>などを囲う</a:t>
            </a:r>
            <a:endParaRPr lang="en-US" altLang="ja-JP" sz="2000" dirty="0"/>
          </a:p>
          <a:p>
            <a:pPr lvl="2"/>
            <a:r>
              <a:rPr lang="en-US" altLang="ja-JP" dirty="0" err="1"/>
              <a:t>cont_p</a:t>
            </a:r>
            <a:r>
              <a:rPr lang="ja-JP" altLang="en-US" dirty="0"/>
              <a:t>は</a:t>
            </a:r>
            <a:r>
              <a:rPr lang="en-US" altLang="ja-JP" dirty="0"/>
              <a:t>VSS</a:t>
            </a:r>
            <a:r>
              <a:rPr lang="ja-JP" altLang="en-US" dirty="0"/>
              <a:t>へ接続すること</a:t>
            </a:r>
            <a:endParaRPr lang="en-US" altLang="ja-JP" dirty="0"/>
          </a:p>
          <a:p>
            <a:pPr lvl="2"/>
            <a:r>
              <a:rPr lang="ja-JP" altLang="en-US" dirty="0"/>
              <a:t>このため、</a:t>
            </a:r>
            <a:r>
              <a:rPr lang="en-US" altLang="ja-JP" dirty="0"/>
              <a:t>VDD/VSS</a:t>
            </a:r>
            <a:r>
              <a:rPr lang="ja-JP" altLang="en-US" dirty="0"/>
              <a:t>セルではメタル第一層を</a:t>
            </a:r>
            <a:r>
              <a:rPr lang="en-US" altLang="ja-JP" dirty="0"/>
              <a:t>VSS</a:t>
            </a:r>
            <a:r>
              <a:rPr lang="ja-JP" altLang="en-US" dirty="0"/>
              <a:t>にした</a:t>
            </a:r>
            <a:endParaRPr lang="en-US" altLang="ja-JP" dirty="0"/>
          </a:p>
          <a:p>
            <a:pPr lvl="2"/>
            <a:endParaRPr lang="en-US" altLang="ja-JP" dirty="0"/>
          </a:p>
          <a:p>
            <a:pPr lvl="1"/>
            <a:r>
              <a:rPr lang="ja-JP" altLang="en-US" sz="2000" dirty="0"/>
              <a:t>サンプル：</a:t>
            </a:r>
            <a:r>
              <a:rPr lang="pt-BR" altLang="ja-JP" sz="2000" dirty="0"/>
              <a:t>opamp_r2r_ABAMP_GR.gds</a:t>
            </a:r>
            <a:br>
              <a:rPr lang="ja-JP" altLang="en-US" dirty="0"/>
            </a:br>
            <a:endParaRPr kumimoji="1" lang="ja-JP" altLang="en-US" dirty="0"/>
          </a:p>
        </p:txBody>
      </p:sp>
      <p:sp>
        <p:nvSpPr>
          <p:cNvPr id="22543" name="Rectangle 2254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5" name="Rectangle 2254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ガードリングをつけた差動増幅段">
            <a:extLst>
              <a:ext uri="{FF2B5EF4-FFF2-40B4-BE49-F238E27FC236}">
                <a16:creationId xmlns:a16="http://schemas.microsoft.com/office/drawing/2014/main" id="{B2484EAF-2F7C-DD94-9626-E16A5B9DC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065" r="20745"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13111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0F17A0C-9C5C-AD8B-62AB-8AC5B15CF20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792894B7-85D6-1A60-1D17-FC7F9B550F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659103-2B41-A0C3-C968-C4EA7D97BB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2C8BCFED-898C-3F7A-FDAE-69A4370DA07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DD23F37C-618C-5110-7749-65CD22BA37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EA6613DE-1AA6-FD1A-E1A5-4B8C73781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169982F3-CCDF-365E-F455-6A7B7C69E9A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ラッチアップ</a:t>
            </a:r>
          </a:p>
        </p:txBody>
      </p:sp>
    </p:spTree>
    <p:extLst>
      <p:ext uri="{BB962C8B-B14F-4D97-AF65-F5344CB8AC3E}">
        <p14:creationId xmlns:p14="http://schemas.microsoft.com/office/powerpoint/2010/main" val="1180322686"/>
      </p:ext>
    </p:extLst>
  </p:cSld>
  <p:clrMapOvr>
    <a:overrideClrMapping bg1="dk1" tx1="lt1" bg2="dk2" tx2="lt2" accent1="accent1" accent2="accent2" accent3="accent3" accent4="accent4" accent5="accent5" accent6="accent6" hlink="hlink" folHlink="folHlink"/>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8A5E163-71E5-4EB1-A190-3DDCDD5F1469}"/>
              </a:ext>
            </a:extLst>
          </p:cNvPr>
          <p:cNvSpPr>
            <a:spLocks noGrp="1"/>
          </p:cNvSpPr>
          <p:nvPr>
            <p:ph type="title"/>
          </p:nvPr>
        </p:nvSpPr>
        <p:spPr>
          <a:xfrm>
            <a:off x="1113809" y="2960716"/>
            <a:ext cx="4571999" cy="2387600"/>
          </a:xfrm>
        </p:spPr>
        <p:txBody>
          <a:bodyPr vert="horz" lIns="91440" tIns="45720" rIns="91440" bIns="45720" rtlCol="0" anchor="t">
            <a:normAutofit/>
          </a:bodyPr>
          <a:lstStyle/>
          <a:p>
            <a:r>
              <a:rPr kumimoji="1" lang="ja-JP" altLang="en-US" sz="5400" kern="1200">
                <a:solidFill>
                  <a:schemeClr val="tx1"/>
                </a:solidFill>
                <a:latin typeface="+mj-lt"/>
                <a:ea typeface="+mj-ea"/>
                <a:cs typeface="+mj-cs"/>
              </a:rPr>
              <a:t>ラッチアップ</a:t>
            </a:r>
          </a:p>
        </p:txBody>
      </p:sp>
      <p:sp>
        <p:nvSpPr>
          <p:cNvPr id="3" name="コンテンツ プレースホルダー 2">
            <a:extLst>
              <a:ext uri="{FF2B5EF4-FFF2-40B4-BE49-F238E27FC236}">
                <a16:creationId xmlns:a16="http://schemas.microsoft.com/office/drawing/2014/main" id="{0480F422-492A-1AAC-4739-3AD563635EA9}"/>
              </a:ext>
            </a:extLst>
          </p:cNvPr>
          <p:cNvSpPr>
            <a:spLocks noGrp="1"/>
          </p:cNvSpPr>
          <p:nvPr>
            <p:ph idx="1"/>
          </p:nvPr>
        </p:nvSpPr>
        <p:spPr>
          <a:xfrm>
            <a:off x="1026967" y="4045837"/>
            <a:ext cx="4495192" cy="2259323"/>
          </a:xfrm>
        </p:spPr>
        <p:txBody>
          <a:bodyPr vert="horz" lIns="91440" tIns="45720" rIns="91440" bIns="45720" rtlCol="0" anchor="b">
            <a:normAutofit/>
          </a:bodyPr>
          <a:lstStyle/>
          <a:p>
            <a:r>
              <a:rPr kumimoji="1" lang="ja-JP" altLang="en-US" sz="2000" kern="1200">
                <a:solidFill>
                  <a:schemeClr val="tx1"/>
                </a:solidFill>
                <a:latin typeface="+mn-lt"/>
                <a:ea typeface="+mn-ea"/>
                <a:cs typeface="+mn-cs"/>
              </a:rPr>
              <a:t>意図しない</a:t>
            </a:r>
            <a:r>
              <a:rPr kumimoji="1" lang="en-US" altLang="ja-JP" sz="2000" kern="1200">
                <a:solidFill>
                  <a:schemeClr val="tx1"/>
                </a:solidFill>
                <a:latin typeface="+mn-lt"/>
                <a:ea typeface="+mn-ea"/>
                <a:cs typeface="+mn-cs"/>
              </a:rPr>
              <a:t>PNPN/NPNP</a:t>
            </a:r>
            <a:r>
              <a:rPr kumimoji="1" lang="ja-JP" altLang="en-US" sz="2000" kern="1200">
                <a:solidFill>
                  <a:schemeClr val="tx1"/>
                </a:solidFill>
                <a:latin typeface="+mn-lt"/>
                <a:ea typeface="+mn-ea"/>
                <a:cs typeface="+mn-cs"/>
              </a:rPr>
              <a:t>が形成され、サイリスタ動作となる現象</a:t>
            </a:r>
            <a:endParaRPr kumimoji="1" lang="en-US" altLang="ja-JP" sz="2000" kern="1200">
              <a:solidFill>
                <a:schemeClr val="tx1"/>
              </a:solidFill>
              <a:latin typeface="+mn-lt"/>
              <a:ea typeface="+mn-ea"/>
              <a:cs typeface="+mn-cs"/>
            </a:endParaRPr>
          </a:p>
          <a:p>
            <a:endParaRPr kumimoji="1" lang="en-US" altLang="ja-JP" sz="2000" kern="1200">
              <a:solidFill>
                <a:schemeClr val="tx1"/>
              </a:solidFill>
              <a:latin typeface="+mn-lt"/>
              <a:ea typeface="+mn-ea"/>
              <a:cs typeface="+mn-cs"/>
            </a:endParaRPr>
          </a:p>
          <a:p>
            <a:r>
              <a:rPr lang="ja-JP" altLang="en-US" sz="2000"/>
              <a:t>対策</a:t>
            </a:r>
            <a:endParaRPr lang="en-US" altLang="ja-JP" sz="2000"/>
          </a:p>
          <a:p>
            <a:pPr lvl="1"/>
            <a:r>
              <a:rPr kumimoji="1" lang="ja-JP" altLang="en-US" sz="1600" kern="1200">
                <a:solidFill>
                  <a:schemeClr val="tx1"/>
                </a:solidFill>
                <a:latin typeface="+mn-lt"/>
                <a:ea typeface="+mn-ea"/>
                <a:cs typeface="+mn-cs"/>
              </a:rPr>
              <a:t>このような構造にならないように意識する</a:t>
            </a:r>
            <a:endParaRPr kumimoji="1" lang="en-US" altLang="ja-JP" sz="1600" kern="1200">
              <a:solidFill>
                <a:schemeClr val="tx1"/>
              </a:solidFill>
              <a:latin typeface="+mn-lt"/>
              <a:ea typeface="+mn-ea"/>
              <a:cs typeface="+mn-cs"/>
            </a:endParaRPr>
          </a:p>
          <a:p>
            <a:pPr lvl="1"/>
            <a:r>
              <a:rPr lang="ja-JP" altLang="en-US" sz="1600"/>
              <a:t>ガードリングを付加する</a:t>
            </a:r>
            <a:endParaRPr kumimoji="1" lang="ja-JP" altLang="en-US" sz="1600" kern="1200">
              <a:solidFill>
                <a:schemeClr val="tx1"/>
              </a:solidFill>
              <a:latin typeface="+mn-lt"/>
              <a:ea typeface="+mn-ea"/>
              <a:cs typeface="+mn-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76EB0AF2-7EB3-9268-8583-B7DF97C2D76A}"/>
              </a:ext>
            </a:extLst>
          </p:cNvPr>
          <p:cNvPicPr>
            <a:picLocks noChangeAspect="1"/>
          </p:cNvPicPr>
          <p:nvPr/>
        </p:nvPicPr>
        <p:blipFill>
          <a:blip r:embed="rId2"/>
          <a:stretch>
            <a:fillRect/>
          </a:stretch>
        </p:blipFill>
        <p:spPr>
          <a:xfrm>
            <a:off x="5922492" y="1981023"/>
            <a:ext cx="5536001" cy="2837200"/>
          </a:xfrm>
          <a:prstGeom prst="rect">
            <a:avLst/>
          </a:prstGeom>
        </p:spPr>
      </p:pic>
      <p:sp>
        <p:nvSpPr>
          <p:cNvPr id="6" name="テキスト ボックス 5">
            <a:extLst>
              <a:ext uri="{FF2B5EF4-FFF2-40B4-BE49-F238E27FC236}">
                <a16:creationId xmlns:a16="http://schemas.microsoft.com/office/drawing/2014/main" id="{4E9BB37B-BE93-DCD5-F1D3-85C27DFA3A58}"/>
              </a:ext>
            </a:extLst>
          </p:cNvPr>
          <p:cNvSpPr txBox="1"/>
          <p:nvPr/>
        </p:nvSpPr>
        <p:spPr>
          <a:xfrm>
            <a:off x="6953968" y="4902332"/>
            <a:ext cx="3936341" cy="307777"/>
          </a:xfrm>
          <a:prstGeom prst="rect">
            <a:avLst/>
          </a:prstGeom>
          <a:noFill/>
        </p:spPr>
        <p:txBody>
          <a:bodyPr wrap="square" rtlCol="0">
            <a:spAutoFit/>
          </a:bodyPr>
          <a:lstStyle/>
          <a:p>
            <a:r>
              <a:rPr kumimoji="1" lang="ja-JP" altLang="en-US" sz="1400"/>
              <a:t>出典：</a:t>
            </a:r>
            <a:r>
              <a:rPr kumimoji="1" lang="en-US" altLang="ja-JP" sz="1400"/>
              <a:t>CMOS OP</a:t>
            </a:r>
            <a:r>
              <a:rPr kumimoji="1" lang="ja-JP" altLang="en-US" sz="1400"/>
              <a:t>アンプ回路実務設計の基礎</a:t>
            </a:r>
          </a:p>
        </p:txBody>
      </p:sp>
    </p:spTree>
    <p:extLst>
      <p:ext uri="{BB962C8B-B14F-4D97-AF65-F5344CB8AC3E}">
        <p14:creationId xmlns:p14="http://schemas.microsoft.com/office/powerpoint/2010/main" val="227239585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DF8098C-76CC-62DD-D41F-2535C0AAB30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637EF4C-184C-B001-F4DB-16C1F2E6B2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EFD892D-DAC1-6689-CA56-8406788DC7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14F8EE74-C6E3-449E-C603-D4354E2ED20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484BBC8C-E3C0-3768-C1C7-A0FBCA6058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660A5877-2A36-E728-82A7-62795BF73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B51311C0-112B-473B-F96E-A3FE5CC0152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ダブル</a:t>
            </a:r>
            <a:r>
              <a:rPr lang="en-US" altLang="ja-JP" sz="4000">
                <a:solidFill>
                  <a:schemeClr val="bg2"/>
                </a:solidFill>
              </a:rPr>
              <a:t>VIA/</a:t>
            </a:r>
            <a:r>
              <a:rPr lang="ja-JP" altLang="en-US" sz="4000">
                <a:solidFill>
                  <a:schemeClr val="bg2"/>
                </a:solidFill>
              </a:rPr>
              <a:t>コンタクト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11759332"/>
      </p:ext>
    </p:extLst>
  </p:cSld>
  <p:clrMapOvr>
    <a:overrideClrMapping bg1="dk1" tx1="lt1" bg2="dk2" tx2="lt2" accent1="accent1" accent2="accent2" accent3="accent3" accent4="accent4" accent5="accent5" accent6="accent6" hlink="hlink" folHlink="folHlink"/>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74" name="Rectangle 2357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B910C9C-FFF2-36DF-861F-27081B489031}"/>
              </a:ext>
            </a:extLst>
          </p:cNvPr>
          <p:cNvSpPr>
            <a:spLocks noGrp="1"/>
          </p:cNvSpPr>
          <p:nvPr>
            <p:ph type="title"/>
          </p:nvPr>
        </p:nvSpPr>
        <p:spPr>
          <a:xfrm>
            <a:off x="589560" y="856180"/>
            <a:ext cx="4978574" cy="1128068"/>
          </a:xfrm>
        </p:spPr>
        <p:txBody>
          <a:bodyPr anchor="ctr">
            <a:normAutofit/>
          </a:bodyPr>
          <a:lstStyle/>
          <a:p>
            <a:r>
              <a:rPr lang="ja-JP" altLang="en-US" sz="3700"/>
              <a:t>ダブル</a:t>
            </a:r>
            <a:r>
              <a:rPr lang="en-US" altLang="ja-JP" sz="3700"/>
              <a:t>VIA/</a:t>
            </a:r>
            <a:r>
              <a:rPr lang="ja-JP" altLang="en-US" sz="3700"/>
              <a:t>コンタクト</a:t>
            </a:r>
            <a:endParaRPr kumimoji="1" lang="ja-JP" altLang="en-US" sz="3700"/>
          </a:p>
        </p:txBody>
      </p:sp>
      <p:grpSp>
        <p:nvGrpSpPr>
          <p:cNvPr id="23576" name="Group 2357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577" name="Rectangle 2357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8" name="Rectangle 2357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80" name="Rectangle 2357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92EEA64-BD89-CC05-9E22-30E402B9CC0A}"/>
              </a:ext>
            </a:extLst>
          </p:cNvPr>
          <p:cNvSpPr>
            <a:spLocks noGrp="1"/>
          </p:cNvSpPr>
          <p:nvPr>
            <p:ph idx="1"/>
          </p:nvPr>
        </p:nvSpPr>
        <p:spPr>
          <a:xfrm>
            <a:off x="590719" y="2330505"/>
            <a:ext cx="4762863" cy="3979585"/>
          </a:xfrm>
        </p:spPr>
        <p:txBody>
          <a:bodyPr anchor="ctr">
            <a:normAutofit lnSpcReduction="10000"/>
          </a:bodyPr>
          <a:lstStyle/>
          <a:p>
            <a:r>
              <a:rPr lang="ja-JP" altLang="en-US" sz="1600" dirty="0"/>
              <a:t>製造不良対策・故障対策・特性向上手法</a:t>
            </a:r>
            <a:endParaRPr lang="en-US" altLang="ja-JP" sz="1600" dirty="0"/>
          </a:p>
          <a:p>
            <a:pPr lvl="1"/>
            <a:r>
              <a:rPr lang="en-US" altLang="ja-JP" sz="1600" dirty="0"/>
              <a:t>VIA</a:t>
            </a:r>
            <a:r>
              <a:rPr lang="ja-JP" altLang="en-US" sz="1600" dirty="0"/>
              <a:t>やコンタクトは、非常に微細のため、製造工程で詰まって、接触不良を起こすことがある。そこで、</a:t>
            </a:r>
            <a:r>
              <a:rPr lang="en-US" altLang="ja-JP" sz="1600" dirty="0"/>
              <a:t>2</a:t>
            </a:r>
            <a:r>
              <a:rPr lang="ja-JP" altLang="en-US" sz="1600" dirty="0"/>
              <a:t>つ以上の</a:t>
            </a:r>
            <a:r>
              <a:rPr lang="en-US" altLang="ja-JP" sz="1600" dirty="0"/>
              <a:t>VIA/</a:t>
            </a:r>
            <a:r>
              <a:rPr lang="ja-JP" altLang="en-US" sz="1600" dirty="0"/>
              <a:t>コンタクトをつけることで、製造不良対策をする手法</a:t>
            </a:r>
            <a:endParaRPr lang="en-US" altLang="ja-JP" sz="1600" dirty="0"/>
          </a:p>
          <a:p>
            <a:pPr lvl="1"/>
            <a:r>
              <a:rPr lang="en-US" altLang="ja-JP" sz="1600" dirty="0"/>
              <a:t>VIA/</a:t>
            </a:r>
            <a:r>
              <a:rPr lang="ja-JP" altLang="en-US" sz="1600" dirty="0"/>
              <a:t>コンタクトはメタル配線に比べ抵抗値が高いため、</a:t>
            </a:r>
            <a:r>
              <a:rPr lang="en-US" altLang="ja-JP" sz="1600" dirty="0"/>
              <a:t>1</a:t>
            </a:r>
            <a:r>
              <a:rPr lang="ja-JP" altLang="en-US" sz="1600" dirty="0"/>
              <a:t>つだと特性に影響が出る場合もある。そこで、必要な抵抗値となるように</a:t>
            </a:r>
            <a:r>
              <a:rPr lang="en-US" altLang="ja-JP" sz="1600" dirty="0"/>
              <a:t>VIA/</a:t>
            </a:r>
            <a:r>
              <a:rPr lang="ja-JP" altLang="en-US" sz="1600" dirty="0"/>
              <a:t>コンタクトを追加する必要がある</a:t>
            </a:r>
            <a:endParaRPr lang="en-US" altLang="ja-JP" sz="1600" dirty="0"/>
          </a:p>
          <a:p>
            <a:pPr lvl="2"/>
            <a:r>
              <a:rPr lang="ja-JP" altLang="en-US" sz="1600" dirty="0"/>
              <a:t>また、コンタクトの抵抗値が高すぎる場合、メタルと基板（シリコン）が溶けて混ざり合金となって、ショートモード故障する場合もある</a:t>
            </a:r>
            <a:endParaRPr lang="en-US" altLang="ja-JP" sz="1600" dirty="0"/>
          </a:p>
          <a:p>
            <a:pPr lvl="1"/>
            <a:endParaRPr kumimoji="1" lang="en-US" altLang="ja-JP" sz="2000" dirty="0"/>
          </a:p>
          <a:p>
            <a:pPr lvl="1"/>
            <a:r>
              <a:rPr lang="ja-JP" altLang="en-US" sz="1800" dirty="0"/>
              <a:t>サンプル：</a:t>
            </a:r>
            <a:r>
              <a:rPr lang="pt-BR" altLang="ja-JP" sz="1800" dirty="0"/>
              <a:t>opamp_r2r_ABAMP_DV.gds</a:t>
            </a:r>
            <a:endParaRPr lang="ja-JP" altLang="en-US" sz="1800" dirty="0"/>
          </a:p>
        </p:txBody>
      </p:sp>
      <p:sp>
        <p:nvSpPr>
          <p:cNvPr id="23582" name="Rectangle 2358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4" name="Rectangle 2358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6D58374D-4B9B-3B48-01FF-963910D1B806}"/>
              </a:ext>
            </a:extLst>
          </p:cNvPr>
          <p:cNvPicPr>
            <a:picLocks noChangeAspect="1"/>
          </p:cNvPicPr>
          <p:nvPr/>
        </p:nvPicPr>
        <p:blipFill>
          <a:blip r:embed="rId2"/>
          <a:stretch>
            <a:fillRect/>
          </a:stretch>
        </p:blipFill>
        <p:spPr>
          <a:xfrm>
            <a:off x="5773173" y="804308"/>
            <a:ext cx="5828108" cy="2691636"/>
          </a:xfrm>
          <a:prstGeom prst="rect">
            <a:avLst/>
          </a:prstGeom>
        </p:spPr>
      </p:pic>
      <p:pic>
        <p:nvPicPr>
          <p:cNvPr id="7" name="図 6">
            <a:extLst>
              <a:ext uri="{FF2B5EF4-FFF2-40B4-BE49-F238E27FC236}">
                <a16:creationId xmlns:a16="http://schemas.microsoft.com/office/drawing/2014/main" id="{C2B2B794-3912-F95A-4097-784681471A49}"/>
              </a:ext>
            </a:extLst>
          </p:cNvPr>
          <p:cNvPicPr>
            <a:picLocks noChangeAspect="1"/>
          </p:cNvPicPr>
          <p:nvPr/>
        </p:nvPicPr>
        <p:blipFill>
          <a:blip r:embed="rId3"/>
          <a:stretch>
            <a:fillRect/>
          </a:stretch>
        </p:blipFill>
        <p:spPr>
          <a:xfrm>
            <a:off x="5773173" y="3679334"/>
            <a:ext cx="5858327" cy="2630756"/>
          </a:xfrm>
          <a:prstGeom prst="rect">
            <a:avLst/>
          </a:prstGeom>
        </p:spPr>
      </p:pic>
    </p:spTree>
    <p:extLst>
      <p:ext uri="{BB962C8B-B14F-4D97-AF65-F5344CB8AC3E}">
        <p14:creationId xmlns:p14="http://schemas.microsoft.com/office/powerpoint/2010/main" val="291129155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EAD80C6-F137-1FD6-5DCF-4A9AAE3EF1B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4F61E86-1ABF-5119-BC41-134D55A8CC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8C7F04-8974-8529-C746-281D7B7B110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42E306D0-5553-270D-37A3-13FBBC4400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971AC017-C122-A02D-1D40-268BCFB047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E0DCCCA6-01C1-BA2C-C9C5-ED576C93F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86199C5E-18A5-38CA-E15D-07C3AFC8A92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N-Well</a:t>
            </a:r>
            <a:r>
              <a:rPr lang="ja-JP" altLang="en-US" sz="4000">
                <a:solidFill>
                  <a:schemeClr val="bg2"/>
                </a:solidFill>
              </a:rPr>
              <a:t>電位</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087407269"/>
      </p:ext>
    </p:extLst>
  </p:cSld>
  <p:clrMapOvr>
    <a:overrideClrMapping bg1="dk1" tx1="lt1" bg2="dk2" tx2="lt2" accent1="accent1" accent2="accent2" accent3="accent3" accent4="accent4" accent5="accent5" accent6="accent6" hlink="hlink" folHlink="folHlink"/>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087CC6E-D578-DA2E-41F6-26D095D844B8}"/>
              </a:ext>
            </a:extLst>
          </p:cNvPr>
          <p:cNvSpPr>
            <a:spLocks noGrp="1"/>
          </p:cNvSpPr>
          <p:nvPr>
            <p:ph type="title"/>
          </p:nvPr>
        </p:nvSpPr>
        <p:spPr>
          <a:xfrm>
            <a:off x="517889" y="4883544"/>
            <a:ext cx="3876086" cy="1556907"/>
          </a:xfrm>
        </p:spPr>
        <p:txBody>
          <a:bodyPr anchor="ctr">
            <a:normAutofit/>
          </a:bodyPr>
          <a:lstStyle/>
          <a:p>
            <a:r>
              <a:rPr kumimoji="1" lang="en-US" altLang="ja-JP" sz="3200"/>
              <a:t>N-Well</a:t>
            </a:r>
            <a:r>
              <a:rPr kumimoji="1" lang="ja-JP" altLang="en-US" sz="3200"/>
              <a:t>電位</a:t>
            </a:r>
          </a:p>
        </p:txBody>
      </p:sp>
      <p:sp>
        <p:nvSpPr>
          <p:cNvPr id="46" name="Rectangle 4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C5A21D8A-A3D8-A86C-CF86-9C79EE8527B7}"/>
              </a:ext>
            </a:extLst>
          </p:cNvPr>
          <p:cNvSpPr>
            <a:spLocks noGrp="1"/>
          </p:cNvSpPr>
          <p:nvPr>
            <p:ph idx="1"/>
          </p:nvPr>
        </p:nvSpPr>
        <p:spPr>
          <a:xfrm>
            <a:off x="5162719" y="4883544"/>
            <a:ext cx="6586915" cy="1556907"/>
          </a:xfrm>
        </p:spPr>
        <p:txBody>
          <a:bodyPr anchor="ctr">
            <a:normAutofit/>
          </a:bodyPr>
          <a:lstStyle/>
          <a:p>
            <a:r>
              <a:rPr lang="en-US" altLang="ja-JP" sz="1800" dirty="0"/>
              <a:t>N-Well</a:t>
            </a:r>
            <a:r>
              <a:rPr lang="ja-JP" altLang="en-US" sz="1800" dirty="0"/>
              <a:t>（</a:t>
            </a:r>
            <a:r>
              <a:rPr lang="en-US" altLang="ja-JP" sz="1800" dirty="0"/>
              <a:t>NW:</a:t>
            </a:r>
            <a:r>
              <a:rPr lang="ja-JP" altLang="en-US" sz="1800" dirty="0"/>
              <a:t>緑の点々のエリア）が広い場合、</a:t>
            </a:r>
            <a:r>
              <a:rPr lang="en-US" altLang="ja-JP" sz="1800" dirty="0" err="1"/>
              <a:t>cont_n</a:t>
            </a:r>
            <a:r>
              <a:rPr lang="ja-JP" altLang="en-US" sz="1800" dirty="0"/>
              <a:t>が少ないと電位が場所によって安定しない場合がある</a:t>
            </a:r>
            <a:endParaRPr lang="en-US" altLang="ja-JP" sz="1800" dirty="0"/>
          </a:p>
          <a:p>
            <a:pPr lvl="1"/>
            <a:r>
              <a:rPr lang="en-US" altLang="ja-JP" sz="1800" dirty="0" err="1"/>
              <a:t>cont_n</a:t>
            </a:r>
            <a:r>
              <a:rPr lang="ja-JP" altLang="en-US" sz="1800" dirty="0"/>
              <a:t>で</a:t>
            </a:r>
            <a:r>
              <a:rPr lang="en-US" altLang="ja-JP" sz="1800" dirty="0"/>
              <a:t>N-Well</a:t>
            </a:r>
            <a:r>
              <a:rPr lang="ja-JP" altLang="en-US" sz="1800" dirty="0"/>
              <a:t>を囲ったり、四隅に置くことで対策を行う</a:t>
            </a:r>
            <a:endParaRPr lang="en-US" altLang="ja-JP" sz="1800" dirty="0"/>
          </a:p>
          <a:p>
            <a:r>
              <a:rPr lang="ja-JP" altLang="en-US" sz="2000" dirty="0"/>
              <a:t>サンプル：</a:t>
            </a:r>
            <a:r>
              <a:rPr lang="pt-BR" altLang="ja-JP" sz="2000" dirty="0"/>
              <a:t>opamp_r2r_ABAMP_NW.gds</a:t>
            </a:r>
            <a:endParaRPr lang="ja-JP" altLang="en-US" sz="2000" dirty="0"/>
          </a:p>
        </p:txBody>
      </p:sp>
      <p:grpSp>
        <p:nvGrpSpPr>
          <p:cNvPr id="29" name="グループ化 28">
            <a:extLst>
              <a:ext uri="{FF2B5EF4-FFF2-40B4-BE49-F238E27FC236}">
                <a16:creationId xmlns:a16="http://schemas.microsoft.com/office/drawing/2014/main" id="{4FDC9AC6-6C55-2B47-E8DF-7F2F3B0248AF}"/>
              </a:ext>
            </a:extLst>
          </p:cNvPr>
          <p:cNvGrpSpPr/>
          <p:nvPr/>
        </p:nvGrpSpPr>
        <p:grpSpPr>
          <a:xfrm>
            <a:off x="959205" y="407330"/>
            <a:ext cx="10369646" cy="3781616"/>
            <a:chOff x="152068" y="-2"/>
            <a:chExt cx="11985761" cy="4370983"/>
          </a:xfrm>
        </p:grpSpPr>
        <p:pic>
          <p:nvPicPr>
            <p:cNvPr id="30" name="図 29">
              <a:extLst>
                <a:ext uri="{FF2B5EF4-FFF2-40B4-BE49-F238E27FC236}">
                  <a16:creationId xmlns:a16="http://schemas.microsoft.com/office/drawing/2014/main" id="{7125D366-09A3-1087-57F3-60704CDD1E5A}"/>
                </a:ext>
              </a:extLst>
            </p:cNvPr>
            <p:cNvPicPr>
              <a:picLocks noChangeAspect="1"/>
            </p:cNvPicPr>
            <p:nvPr/>
          </p:nvPicPr>
          <p:blipFill>
            <a:blip r:embed="rId2"/>
            <a:srcRect r="1167"/>
            <a:stretch>
              <a:fillRect/>
            </a:stretch>
          </p:blipFill>
          <p:spPr>
            <a:xfrm>
              <a:off x="1390452" y="2179286"/>
              <a:ext cx="9627219" cy="2191695"/>
            </a:xfrm>
            <a:prstGeom prst="rect">
              <a:avLst/>
            </a:prstGeom>
          </p:spPr>
        </p:pic>
        <p:pic>
          <p:nvPicPr>
            <p:cNvPr id="31" name="図 30">
              <a:extLst>
                <a:ext uri="{FF2B5EF4-FFF2-40B4-BE49-F238E27FC236}">
                  <a16:creationId xmlns:a16="http://schemas.microsoft.com/office/drawing/2014/main" id="{7A0E12CA-CB1B-5E0F-DE8F-843E96D19AEC}"/>
                </a:ext>
              </a:extLst>
            </p:cNvPr>
            <p:cNvPicPr>
              <a:picLocks noChangeAspect="1"/>
            </p:cNvPicPr>
            <p:nvPr/>
          </p:nvPicPr>
          <p:blipFill>
            <a:blip r:embed="rId3"/>
            <a:srcRect l="851"/>
            <a:stretch>
              <a:fillRect/>
            </a:stretch>
          </p:blipFill>
          <p:spPr>
            <a:xfrm>
              <a:off x="1390453" y="-2"/>
              <a:ext cx="9627219" cy="2063328"/>
            </a:xfrm>
            <a:prstGeom prst="rect">
              <a:avLst/>
            </a:prstGeom>
          </p:spPr>
        </p:pic>
        <p:sp>
          <p:nvSpPr>
            <p:cNvPr id="32" name="吹き出し: 角を丸めた四角形 31">
              <a:extLst>
                <a:ext uri="{FF2B5EF4-FFF2-40B4-BE49-F238E27FC236}">
                  <a16:creationId xmlns:a16="http://schemas.microsoft.com/office/drawing/2014/main" id="{393970D9-EF3E-A9B8-B83E-5C2887A765B7}"/>
                </a:ext>
              </a:extLst>
            </p:cNvPr>
            <p:cNvSpPr/>
            <p:nvPr/>
          </p:nvSpPr>
          <p:spPr>
            <a:xfrm>
              <a:off x="9925409" y="457200"/>
              <a:ext cx="2045407" cy="606219"/>
            </a:xfrm>
            <a:prstGeom prst="wedgeRoundRectCallout">
              <a:avLst>
                <a:gd name="adj1" fmla="val -12833"/>
                <a:gd name="adj2" fmla="val 133609"/>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786384">
                <a:spcAft>
                  <a:spcPts val="600"/>
                </a:spcAft>
              </a:pPr>
              <a:r>
                <a:rPr kumimoji="1" lang="ja-JP" altLang="en-US" sz="1548" kern="1200">
                  <a:solidFill>
                    <a:schemeClr val="dk1"/>
                  </a:solidFill>
                  <a:latin typeface="+mn-lt"/>
                  <a:ea typeface="+mn-ea"/>
                  <a:cs typeface="+mn-cs"/>
                </a:rPr>
                <a:t>ここは</a:t>
              </a: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a:t>
              </a:r>
              <a:endParaRPr kumimoji="1" lang="ja-JP" altLang="en-US"/>
            </a:p>
          </p:txBody>
        </p:sp>
        <p:sp>
          <p:nvSpPr>
            <p:cNvPr id="33" name="吹き出し: 角を丸めた四角形 32">
              <a:extLst>
                <a:ext uri="{FF2B5EF4-FFF2-40B4-BE49-F238E27FC236}">
                  <a16:creationId xmlns:a16="http://schemas.microsoft.com/office/drawing/2014/main" id="{810DEFF2-4E21-574F-EF58-4CBE75F1587F}"/>
                </a:ext>
              </a:extLst>
            </p:cNvPr>
            <p:cNvSpPr/>
            <p:nvPr/>
          </p:nvSpPr>
          <p:spPr>
            <a:xfrm>
              <a:off x="155121" y="760309"/>
              <a:ext cx="1821754" cy="709489"/>
            </a:xfrm>
            <a:prstGeom prst="wedgeRoundRectCallout">
              <a:avLst>
                <a:gd name="adj1" fmla="val 58087"/>
                <a:gd name="adj2" fmla="val -89121"/>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786384">
                <a:spcAft>
                  <a:spcPts val="600"/>
                </a:spcAft>
              </a:pP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電圧より</a:t>
              </a:r>
              <a:endParaRPr kumimoji="1" lang="en-US" altLang="ja-JP" sz="1548" kern="1200">
                <a:solidFill>
                  <a:schemeClr val="dk1"/>
                </a:solidFill>
                <a:latin typeface="+mn-lt"/>
                <a:ea typeface="+mn-ea"/>
                <a:cs typeface="+mn-cs"/>
              </a:endParaRPr>
            </a:p>
            <a:p>
              <a:pPr algn="ctr" defTabSz="786384">
                <a:spcAft>
                  <a:spcPts val="600"/>
                </a:spcAft>
              </a:pPr>
              <a:r>
                <a:rPr kumimoji="1" lang="ja-JP" altLang="en-US" sz="1548" kern="1200">
                  <a:solidFill>
                    <a:schemeClr val="dk1"/>
                  </a:solidFill>
                  <a:latin typeface="+mn-lt"/>
                  <a:ea typeface="+mn-ea"/>
                  <a:cs typeface="+mn-cs"/>
                </a:rPr>
                <a:t>低くなる</a:t>
              </a:r>
              <a:endParaRPr kumimoji="1" lang="ja-JP" altLang="en-US"/>
            </a:p>
          </p:txBody>
        </p:sp>
        <p:sp>
          <p:nvSpPr>
            <p:cNvPr id="34" name="矢印: 上 33">
              <a:extLst>
                <a:ext uri="{FF2B5EF4-FFF2-40B4-BE49-F238E27FC236}">
                  <a16:creationId xmlns:a16="http://schemas.microsoft.com/office/drawing/2014/main" id="{0CE35711-ECA3-DF32-FB2E-EAD074323731}"/>
                </a:ext>
              </a:extLst>
            </p:cNvPr>
            <p:cNvSpPr/>
            <p:nvPr/>
          </p:nvSpPr>
          <p:spPr>
            <a:xfrm rot="16692120">
              <a:off x="6257454" y="-3192031"/>
              <a:ext cx="161764" cy="8478561"/>
            </a:xfrm>
            <a:prstGeom prst="upArrow">
              <a:avLst>
                <a:gd name="adj1" fmla="val 50000"/>
                <a:gd name="adj2" fmla="val 17248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ja-JP" altLang="en-US"/>
            </a:p>
          </p:txBody>
        </p:sp>
        <p:sp>
          <p:nvSpPr>
            <p:cNvPr id="35" name="吹き出し: 角を丸めた四角形 34">
              <a:extLst>
                <a:ext uri="{FF2B5EF4-FFF2-40B4-BE49-F238E27FC236}">
                  <a16:creationId xmlns:a16="http://schemas.microsoft.com/office/drawing/2014/main" id="{FC19F593-831C-A8CA-67D5-0986C415E2F1}"/>
                </a:ext>
              </a:extLst>
            </p:cNvPr>
            <p:cNvSpPr/>
            <p:nvPr/>
          </p:nvSpPr>
          <p:spPr>
            <a:xfrm>
              <a:off x="3819029" y="1428986"/>
              <a:ext cx="2045407" cy="606219"/>
            </a:xfrm>
            <a:prstGeom prst="wedgeRoundRectCallout">
              <a:avLst>
                <a:gd name="adj1" fmla="val 55622"/>
                <a:gd name="adj2" fmla="val -109480"/>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defTabSz="786384">
                <a:spcAft>
                  <a:spcPts val="600"/>
                </a:spcAft>
              </a:pPr>
              <a:r>
                <a:rPr kumimoji="1" lang="ja-JP" altLang="en-US" sz="1548" kern="1200">
                  <a:solidFill>
                    <a:schemeClr val="dk1"/>
                  </a:solidFill>
                  <a:latin typeface="+mn-lt"/>
                  <a:ea typeface="+mn-ea"/>
                  <a:cs typeface="+mn-cs"/>
                </a:rPr>
                <a:t>距離がある</a:t>
              </a:r>
              <a:endParaRPr kumimoji="1" lang="ja-JP" altLang="en-US"/>
            </a:p>
          </p:txBody>
        </p:sp>
        <p:sp>
          <p:nvSpPr>
            <p:cNvPr id="36" name="吹き出し: 角を丸めた四角形 35">
              <a:extLst>
                <a:ext uri="{FF2B5EF4-FFF2-40B4-BE49-F238E27FC236}">
                  <a16:creationId xmlns:a16="http://schemas.microsoft.com/office/drawing/2014/main" id="{D93B2FF5-137C-9C88-2E51-EBFB69472350}"/>
                </a:ext>
              </a:extLst>
            </p:cNvPr>
            <p:cNvSpPr/>
            <p:nvPr/>
          </p:nvSpPr>
          <p:spPr>
            <a:xfrm>
              <a:off x="152068" y="3003408"/>
              <a:ext cx="1592036" cy="606219"/>
            </a:xfrm>
            <a:prstGeom prst="wedgeRoundRectCallout">
              <a:avLst>
                <a:gd name="adj1" fmla="val 55622"/>
                <a:gd name="adj2" fmla="val -9062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defTabSz="786384">
                <a:spcAft>
                  <a:spcPts val="600"/>
                </a:spcAft>
              </a:pP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a:t>
              </a:r>
              <a:endParaRPr kumimoji="1" lang="ja-JP" altLang="en-US"/>
            </a:p>
          </p:txBody>
        </p:sp>
        <p:sp>
          <p:nvSpPr>
            <p:cNvPr id="37" name="吹き出し: 角を丸めた四角形 36">
              <a:extLst>
                <a:ext uri="{FF2B5EF4-FFF2-40B4-BE49-F238E27FC236}">
                  <a16:creationId xmlns:a16="http://schemas.microsoft.com/office/drawing/2014/main" id="{882BA63F-AA54-192D-E564-833163803614}"/>
                </a:ext>
              </a:extLst>
            </p:cNvPr>
            <p:cNvSpPr/>
            <p:nvPr/>
          </p:nvSpPr>
          <p:spPr>
            <a:xfrm>
              <a:off x="152068" y="3001139"/>
              <a:ext cx="1592036" cy="606219"/>
            </a:xfrm>
            <a:prstGeom prst="wedgeRoundRectCallout">
              <a:avLst>
                <a:gd name="adj1" fmla="val 52289"/>
                <a:gd name="adj2" fmla="val 8243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defTabSz="786384">
                <a:spcAft>
                  <a:spcPts val="600"/>
                </a:spcAft>
              </a:pP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a:t>
              </a:r>
              <a:endParaRPr kumimoji="1" lang="ja-JP" altLang="en-US"/>
            </a:p>
          </p:txBody>
        </p:sp>
        <p:sp>
          <p:nvSpPr>
            <p:cNvPr id="38" name="吹き出し: 角を丸めた四角形 37">
              <a:extLst>
                <a:ext uri="{FF2B5EF4-FFF2-40B4-BE49-F238E27FC236}">
                  <a16:creationId xmlns:a16="http://schemas.microsoft.com/office/drawing/2014/main" id="{CE917C7B-69A6-ECDC-7FBA-D998AA334D84}"/>
                </a:ext>
              </a:extLst>
            </p:cNvPr>
            <p:cNvSpPr/>
            <p:nvPr/>
          </p:nvSpPr>
          <p:spPr>
            <a:xfrm>
              <a:off x="10545793" y="2904528"/>
              <a:ext cx="1592036" cy="606219"/>
            </a:xfrm>
            <a:prstGeom prst="wedgeRoundRectCallout">
              <a:avLst>
                <a:gd name="adj1" fmla="val -39249"/>
                <a:gd name="adj2" fmla="val -6975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defTabSz="786384">
                <a:spcAft>
                  <a:spcPts val="600"/>
                </a:spcAft>
              </a:pP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a:t>
              </a:r>
              <a:endParaRPr kumimoji="1" lang="ja-JP" altLang="en-US"/>
            </a:p>
          </p:txBody>
        </p:sp>
        <p:sp>
          <p:nvSpPr>
            <p:cNvPr id="39" name="吹き出し: 角を丸めた四角形 38">
              <a:extLst>
                <a:ext uri="{FF2B5EF4-FFF2-40B4-BE49-F238E27FC236}">
                  <a16:creationId xmlns:a16="http://schemas.microsoft.com/office/drawing/2014/main" id="{831DFDBE-6390-1314-99B3-09ECAA119BED}"/>
                </a:ext>
              </a:extLst>
            </p:cNvPr>
            <p:cNvSpPr/>
            <p:nvPr/>
          </p:nvSpPr>
          <p:spPr>
            <a:xfrm>
              <a:off x="10545793" y="2904527"/>
              <a:ext cx="1592036" cy="606219"/>
            </a:xfrm>
            <a:prstGeom prst="wedgeRoundRectCallout">
              <a:avLst>
                <a:gd name="adj1" fmla="val -39762"/>
                <a:gd name="adj2" fmla="val 89167"/>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defTabSz="786384">
                <a:spcAft>
                  <a:spcPts val="600"/>
                </a:spcAft>
              </a:pPr>
              <a:r>
                <a:rPr kumimoji="1" lang="en-US" altLang="ja-JP" sz="1548" kern="1200">
                  <a:solidFill>
                    <a:schemeClr val="dk1"/>
                  </a:solidFill>
                  <a:latin typeface="+mn-lt"/>
                  <a:ea typeface="+mn-ea"/>
                  <a:cs typeface="+mn-cs"/>
                </a:rPr>
                <a:t>VDD</a:t>
              </a:r>
              <a:r>
                <a:rPr kumimoji="1" lang="ja-JP" altLang="en-US" sz="1548" kern="1200">
                  <a:solidFill>
                    <a:schemeClr val="dk1"/>
                  </a:solidFill>
                  <a:latin typeface="+mn-lt"/>
                  <a:ea typeface="+mn-ea"/>
                  <a:cs typeface="+mn-cs"/>
                </a:rPr>
                <a:t>電圧</a:t>
              </a:r>
              <a:endParaRPr kumimoji="1" lang="ja-JP" altLang="en-US"/>
            </a:p>
          </p:txBody>
        </p:sp>
      </p:grpSp>
    </p:spTree>
    <p:extLst>
      <p:ext uri="{BB962C8B-B14F-4D97-AF65-F5344CB8AC3E}">
        <p14:creationId xmlns:p14="http://schemas.microsoft.com/office/powerpoint/2010/main" val="58299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03D0D82-ACB2-A6DA-3CBD-24951D454C1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63A75971-CD23-BFA5-819C-4194A3FDE6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89115DA-0568-7FE6-4D0D-778E43D018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FB475994-596B-CE5C-D956-8F76165D6B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AFEF31E-4E4F-03EB-3DCC-7957F69EDA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9BE36E4A-75AB-F188-D7D8-17ED91184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C878A160-71B6-5C50-BB06-27CB4CA8321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ESD</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76294163"/>
      </p:ext>
    </p:extLst>
  </p:cSld>
  <p:clrMapOvr>
    <a:overrideClrMapping bg1="dk1" tx1="lt1" bg2="dk2" tx2="lt2" accent1="accent1" accent2="accent2" accent3="accent3" accent4="accent4" accent5="accent5" accent6="accent6" hlink="hlink" folHlink="folHlink"/>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98" name="Rectangle 2459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3F3F95D-4832-8FF4-AF20-A83C5098C50D}"/>
              </a:ext>
            </a:extLst>
          </p:cNvPr>
          <p:cNvSpPr>
            <a:spLocks noGrp="1"/>
          </p:cNvSpPr>
          <p:nvPr>
            <p:ph type="title"/>
          </p:nvPr>
        </p:nvSpPr>
        <p:spPr>
          <a:xfrm>
            <a:off x="589560" y="856180"/>
            <a:ext cx="4560584" cy="1128068"/>
          </a:xfrm>
        </p:spPr>
        <p:txBody>
          <a:bodyPr anchor="ctr">
            <a:normAutofit/>
          </a:bodyPr>
          <a:lstStyle/>
          <a:p>
            <a:r>
              <a:rPr kumimoji="1" lang="en-US" altLang="ja-JP" sz="4000"/>
              <a:t>ESD</a:t>
            </a:r>
            <a:endParaRPr kumimoji="1" lang="ja-JP" altLang="en-US" sz="4000"/>
          </a:p>
        </p:txBody>
      </p:sp>
      <p:grpSp>
        <p:nvGrpSpPr>
          <p:cNvPr id="24600" name="Group 2459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4601" name="Rectangle 2460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2" name="Rectangle 2460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604" name="Rectangle 2460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B5CD6E8-1165-22AF-DEEA-521BC68684CE}"/>
              </a:ext>
            </a:extLst>
          </p:cNvPr>
          <p:cNvSpPr>
            <a:spLocks noGrp="1"/>
          </p:cNvSpPr>
          <p:nvPr>
            <p:ph idx="1"/>
          </p:nvPr>
        </p:nvSpPr>
        <p:spPr>
          <a:xfrm>
            <a:off x="590719" y="2330505"/>
            <a:ext cx="4559425" cy="3979585"/>
          </a:xfrm>
        </p:spPr>
        <p:txBody>
          <a:bodyPr anchor="ctr">
            <a:normAutofit/>
          </a:bodyPr>
          <a:lstStyle/>
          <a:p>
            <a:r>
              <a:rPr lang="ja-JP" altLang="en-US" sz="1600"/>
              <a:t>故障対策手法</a:t>
            </a:r>
            <a:endParaRPr lang="en-US" altLang="ja-JP" sz="1600"/>
          </a:p>
          <a:p>
            <a:pPr lvl="1"/>
            <a:r>
              <a:rPr lang="ja-JP" altLang="en-US" sz="1600"/>
              <a:t>半導体は、非常に薄い膜（数百ナノメートル）で絶縁されている。そのため、非常に絶縁耐性が低く、特にゲート端子は絶縁破壊による故障を起こしやすい</a:t>
            </a:r>
            <a:endParaRPr lang="en-US" altLang="ja-JP" sz="1600"/>
          </a:p>
          <a:p>
            <a:pPr lvl="2"/>
            <a:r>
              <a:rPr lang="ja-JP" altLang="en-US" sz="1600"/>
              <a:t>ピンとしてほかの素子や</a:t>
            </a:r>
            <a:r>
              <a:rPr lang="en-US" altLang="ja-JP" sz="1600"/>
              <a:t>IC</a:t>
            </a:r>
            <a:r>
              <a:rPr lang="ja-JP" altLang="en-US" sz="1600"/>
              <a:t>チップと接続しなければならない端子には</a:t>
            </a:r>
            <a:r>
              <a:rPr lang="en-US" altLang="ja-JP" sz="1600"/>
              <a:t>ESD</a:t>
            </a:r>
            <a:r>
              <a:rPr lang="ja-JP" altLang="en-US" sz="1600"/>
              <a:t>対策を施すことが一般的である</a:t>
            </a:r>
            <a:endParaRPr lang="en-US" altLang="ja-JP" sz="1600"/>
          </a:p>
          <a:p>
            <a:pPr lvl="1"/>
            <a:r>
              <a:rPr lang="ja-JP" altLang="en-US" sz="1600"/>
              <a:t>アンテナルール（＝長いメタル配線をするとそこに電荷が溜まって同じように絶縁破壊が起きる現象）も同じ原理</a:t>
            </a:r>
            <a:endParaRPr lang="en-US" altLang="ja-JP" sz="1600"/>
          </a:p>
          <a:p>
            <a:pPr lvl="2"/>
            <a:r>
              <a:rPr lang="ja-JP" altLang="en-US" sz="1600"/>
              <a:t>対策としては、メタル配線を短くするか、</a:t>
            </a:r>
            <a:r>
              <a:rPr lang="en-US" altLang="ja-JP" sz="1600"/>
              <a:t>ESD</a:t>
            </a:r>
            <a:r>
              <a:rPr lang="ja-JP" altLang="en-US" sz="1600"/>
              <a:t>と同じでダイオードをつけて高電圧になった場合に</a:t>
            </a:r>
            <a:r>
              <a:rPr lang="en-US" altLang="ja-JP" sz="1600"/>
              <a:t>VSS</a:t>
            </a:r>
            <a:r>
              <a:rPr lang="ja-JP" altLang="en-US" sz="1600"/>
              <a:t>に落とすなどになる</a:t>
            </a:r>
            <a:endParaRPr kumimoji="1" lang="ja-JP" altLang="en-US" sz="1600"/>
          </a:p>
        </p:txBody>
      </p:sp>
      <p:sp>
        <p:nvSpPr>
          <p:cNvPr id="24606" name="Rectangle 2460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8" name="Rectangle 2460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descr="コンピューターのスクリーンショット&#10;&#10;AI 生成コンテンツは誤りを含む可能性があります。">
            <a:extLst>
              <a:ext uri="{FF2B5EF4-FFF2-40B4-BE49-F238E27FC236}">
                <a16:creationId xmlns:a16="http://schemas.microsoft.com/office/drawing/2014/main" id="{77D1FCDE-117C-2737-4448-8E1AEFA6B473}"/>
              </a:ext>
            </a:extLst>
          </p:cNvPr>
          <p:cNvPicPr>
            <a:picLocks noChangeAspect="1"/>
          </p:cNvPicPr>
          <p:nvPr/>
        </p:nvPicPr>
        <p:blipFill>
          <a:blip r:embed="rId2">
            <a:extLst>
              <a:ext uri="{28A0092B-C50C-407E-A947-70E740481C1C}">
                <a14:useLocalDpi xmlns:a14="http://schemas.microsoft.com/office/drawing/2010/main" val="0"/>
              </a:ext>
            </a:extLst>
          </a:blip>
          <a:srcRect l="29782" t="9602" r="20435"/>
          <a:stretch>
            <a:fillRect/>
          </a:stretch>
        </p:blipFill>
        <p:spPr>
          <a:xfrm>
            <a:off x="6041006" y="777423"/>
            <a:ext cx="5465169" cy="5303153"/>
          </a:xfrm>
          <a:prstGeom prst="rect">
            <a:avLst/>
          </a:prstGeom>
        </p:spPr>
      </p:pic>
    </p:spTree>
    <p:extLst>
      <p:ext uri="{BB962C8B-B14F-4D97-AF65-F5344CB8AC3E}">
        <p14:creationId xmlns:p14="http://schemas.microsoft.com/office/powerpoint/2010/main" val="361253063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2B41B3B-F2F9-7F70-599A-2272B6AF629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017B794-AD8A-E3AD-292E-A7D2A90D28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2B6E6C4-F65D-4B61-F80B-7AC7693FBB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0" name="Oval 19">
              <a:extLst>
                <a:ext uri="{FF2B5EF4-FFF2-40B4-BE49-F238E27FC236}">
                  <a16:creationId xmlns:a16="http://schemas.microsoft.com/office/drawing/2014/main" id="{DE1609D2-1D1A-70A7-740C-68DCFDE5DE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BE6CC705-EB63-A3FD-7C58-7D35147A6D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DBE31932-A82F-8844-3078-3519E6263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2C894093-99A5-D9DF-63D2-601E3151BAF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a:solidFill>
                  <a:schemeClr val="bg2"/>
                </a:solidFill>
              </a:rPr>
              <a:t>PDK</a:t>
            </a:r>
            <a:r>
              <a:rPr lang="ja-JP" altLang="en-US" sz="4000">
                <a:solidFill>
                  <a:schemeClr val="bg2"/>
                </a:solidFill>
              </a:rPr>
              <a:t>の</a:t>
            </a:r>
            <a:r>
              <a:rPr kumimoji="1" lang="en-US" altLang="ja-JP" sz="4000" kern="1200">
                <a:solidFill>
                  <a:schemeClr val="bg2"/>
                </a:solidFill>
                <a:latin typeface="+mj-lt"/>
                <a:ea typeface="+mj-ea"/>
                <a:cs typeface="+mj-cs"/>
              </a:rPr>
              <a:t>Cell</a:t>
            </a:r>
            <a:r>
              <a:rPr kumimoji="1" lang="ja-JP" altLang="en-US" sz="4000" kern="1200">
                <a:solidFill>
                  <a:schemeClr val="bg2"/>
                </a:solidFill>
                <a:latin typeface="+mj-lt"/>
                <a:ea typeface="+mj-ea"/>
                <a:cs typeface="+mj-cs"/>
              </a:rPr>
              <a:t>の使い方</a:t>
            </a:r>
          </a:p>
        </p:txBody>
      </p:sp>
    </p:spTree>
    <p:extLst>
      <p:ext uri="{BB962C8B-B14F-4D97-AF65-F5344CB8AC3E}">
        <p14:creationId xmlns:p14="http://schemas.microsoft.com/office/powerpoint/2010/main" val="1714316313"/>
      </p:ext>
    </p:extLst>
  </p:cSld>
  <p:clrMapOvr>
    <a:overrideClrMapping bg1="dk1" tx1="lt1" bg2="dk2" tx2="lt2" accent1="accent1" accent2="accent2" accent3="accent3" accent4="accent4" accent5="accent5" accent6="accent6" hlink="hlink" folHlink="folHlink"/>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C9CA0FB-A587-FE2F-BCAD-A8D6612984A3}"/>
              </a:ext>
            </a:extLst>
          </p:cNvPr>
          <p:cNvSpPr>
            <a:spLocks noGrp="1"/>
          </p:cNvSpPr>
          <p:nvPr>
            <p:ph type="title"/>
          </p:nvPr>
        </p:nvSpPr>
        <p:spPr>
          <a:xfrm>
            <a:off x="1043631" y="873940"/>
            <a:ext cx="4928291" cy="1035781"/>
          </a:xfrm>
        </p:spPr>
        <p:txBody>
          <a:bodyPr anchor="ctr">
            <a:normAutofit/>
          </a:bodyPr>
          <a:lstStyle/>
          <a:p>
            <a:r>
              <a:rPr lang="en-US" altLang="ja-JP" sz="3600"/>
              <a:t>PCell</a:t>
            </a:r>
            <a:endParaRPr kumimoji="1" lang="ja-JP" altLang="en-US" sz="3600"/>
          </a:p>
        </p:txBody>
      </p:sp>
      <p:sp>
        <p:nvSpPr>
          <p:cNvPr id="3" name="コンテンツ プレースホルダー 2">
            <a:extLst>
              <a:ext uri="{FF2B5EF4-FFF2-40B4-BE49-F238E27FC236}">
                <a16:creationId xmlns:a16="http://schemas.microsoft.com/office/drawing/2014/main" id="{89047EA5-96A1-8979-4686-C4C88E7DE9DB}"/>
              </a:ext>
            </a:extLst>
          </p:cNvPr>
          <p:cNvSpPr>
            <a:spLocks noGrp="1"/>
          </p:cNvSpPr>
          <p:nvPr>
            <p:ph idx="1"/>
          </p:nvPr>
        </p:nvSpPr>
        <p:spPr>
          <a:xfrm>
            <a:off x="1045029" y="2524721"/>
            <a:ext cx="4991629" cy="3677123"/>
          </a:xfrm>
        </p:spPr>
        <p:txBody>
          <a:bodyPr anchor="ctr">
            <a:normAutofit/>
          </a:bodyPr>
          <a:lstStyle/>
          <a:p>
            <a:r>
              <a:rPr kumimoji="1" lang="ja-JP" altLang="en-US" sz="1800"/>
              <a:t>内容</a:t>
            </a:r>
            <a:endParaRPr kumimoji="1" lang="en-US" altLang="ja-JP" sz="1800"/>
          </a:p>
          <a:p>
            <a:pPr lvl="1"/>
            <a:r>
              <a:rPr lang="en-US" altLang="ja-JP" sz="1800"/>
              <a:t>pMOS(pFET), nMOS(nFET)</a:t>
            </a:r>
          </a:p>
          <a:p>
            <a:pPr lvl="1"/>
            <a:r>
              <a:rPr kumimoji="1" lang="ja-JP" altLang="en-US" sz="1800"/>
              <a:t>抵抗系</a:t>
            </a:r>
            <a:endParaRPr kumimoji="1" lang="en-US" altLang="ja-JP" sz="1800"/>
          </a:p>
          <a:p>
            <a:pPr lvl="1"/>
            <a:r>
              <a:rPr lang="ja-JP" altLang="en-US" sz="1800"/>
              <a:t>キャパシタ系</a:t>
            </a:r>
            <a:endParaRPr lang="en-US" altLang="ja-JP" sz="1800"/>
          </a:p>
          <a:p>
            <a:r>
              <a:rPr kumimoji="1" lang="ja-JP" altLang="en-US" sz="1800"/>
              <a:t>オプション</a:t>
            </a:r>
            <a:endParaRPr kumimoji="1" lang="en-US" altLang="ja-JP" sz="1800"/>
          </a:p>
          <a:p>
            <a:pPr lvl="1"/>
            <a:r>
              <a:rPr lang="ja-JP" altLang="en-US" sz="1800"/>
              <a:t>各種</a:t>
            </a:r>
            <a:r>
              <a:rPr lang="en-US" altLang="ja-JP" sz="1800"/>
              <a:t>Contact</a:t>
            </a:r>
            <a:r>
              <a:rPr lang="ja-JP" altLang="en-US" sz="1800"/>
              <a:t>あり</a:t>
            </a:r>
            <a:r>
              <a:rPr lang="en-US" altLang="ja-JP" sz="1800"/>
              <a:t>/</a:t>
            </a:r>
            <a:r>
              <a:rPr lang="ja-JP" altLang="en-US" sz="1800"/>
              <a:t>なし</a:t>
            </a:r>
            <a:endParaRPr lang="en-US" altLang="ja-JP" sz="1800"/>
          </a:p>
          <a:p>
            <a:pPr lvl="1"/>
            <a:r>
              <a:rPr kumimoji="1" lang="en-US" altLang="ja-JP" sz="1800"/>
              <a:t>NWELL</a:t>
            </a:r>
            <a:r>
              <a:rPr kumimoji="1" lang="ja-JP" altLang="en-US" sz="1800"/>
              <a:t>あり</a:t>
            </a:r>
            <a:r>
              <a:rPr kumimoji="1" lang="en-US" altLang="ja-JP" sz="1800"/>
              <a:t>/</a:t>
            </a:r>
            <a:r>
              <a:rPr kumimoji="1" lang="ja-JP" altLang="en-US" sz="1800"/>
              <a:t>なし</a:t>
            </a:r>
            <a:endParaRPr kumimoji="1" lang="en-US" altLang="ja-JP" sz="1800"/>
          </a:p>
          <a:p>
            <a:pPr lvl="2"/>
            <a:r>
              <a:rPr kumimoji="1" lang="en-US" altLang="ja-JP" sz="1800"/>
              <a:t>PDK</a:t>
            </a:r>
            <a:r>
              <a:rPr kumimoji="1" lang="ja-JP" altLang="en-US" sz="1800"/>
              <a:t>によってオプションは違うので注意</a:t>
            </a:r>
            <a:endParaRPr kumimoji="1" lang="en-US" altLang="ja-JP" sz="1800"/>
          </a:p>
          <a:p>
            <a:pPr lvl="1"/>
            <a:r>
              <a:rPr lang="ja-JP" altLang="en-US" sz="1800"/>
              <a:t>レイアウトに合わせて必要なオプションとする</a:t>
            </a:r>
            <a:endParaRPr kumimoji="1" lang="ja-JP" altLang="en-US" sz="1800"/>
          </a:p>
        </p:txBody>
      </p:sp>
      <p:sp>
        <p:nvSpPr>
          <p:cNvPr id="23" name="Rectangle 22">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C464286B-D591-5126-C13A-67473908AA83}"/>
              </a:ext>
            </a:extLst>
          </p:cNvPr>
          <p:cNvPicPr>
            <a:picLocks noChangeAspect="1"/>
          </p:cNvPicPr>
          <p:nvPr/>
        </p:nvPicPr>
        <p:blipFill>
          <a:blip r:embed="rId2"/>
          <a:stretch>
            <a:fillRect/>
          </a:stretch>
        </p:blipFill>
        <p:spPr>
          <a:xfrm>
            <a:off x="7309007" y="3670690"/>
            <a:ext cx="3400745" cy="2456426"/>
          </a:xfrm>
          <a:prstGeom prst="rect">
            <a:avLst/>
          </a:prstGeom>
        </p:spPr>
      </p:pic>
      <p:pic>
        <p:nvPicPr>
          <p:cNvPr id="8" name="図 7">
            <a:extLst>
              <a:ext uri="{FF2B5EF4-FFF2-40B4-BE49-F238E27FC236}">
                <a16:creationId xmlns:a16="http://schemas.microsoft.com/office/drawing/2014/main" id="{34985F4A-C52D-48BE-4FCD-EB7C2EEB0090}"/>
              </a:ext>
            </a:extLst>
          </p:cNvPr>
          <p:cNvPicPr>
            <a:picLocks noChangeAspect="1"/>
          </p:cNvPicPr>
          <p:nvPr/>
        </p:nvPicPr>
        <p:blipFill>
          <a:blip r:embed="rId3"/>
          <a:stretch>
            <a:fillRect/>
          </a:stretch>
        </p:blipFill>
        <p:spPr>
          <a:xfrm>
            <a:off x="8106830" y="873940"/>
            <a:ext cx="1813783" cy="2321534"/>
          </a:xfrm>
          <a:prstGeom prst="rect">
            <a:avLst/>
          </a:prstGeom>
        </p:spPr>
      </p:pic>
    </p:spTree>
    <p:extLst>
      <p:ext uri="{BB962C8B-B14F-4D97-AF65-F5344CB8AC3E}">
        <p14:creationId xmlns:p14="http://schemas.microsoft.com/office/powerpoint/2010/main" val="35767566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8" name="Rectangle 4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5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95FCAF3-C8F0-29FE-A600-AD9372B27242}"/>
              </a:ext>
            </a:extLst>
          </p:cNvPr>
          <p:cNvSpPr>
            <a:spLocks noGrp="1"/>
          </p:cNvSpPr>
          <p:nvPr>
            <p:ph type="title"/>
          </p:nvPr>
        </p:nvSpPr>
        <p:spPr>
          <a:xfrm>
            <a:off x="1043631" y="873940"/>
            <a:ext cx="4928291" cy="1035781"/>
          </a:xfrm>
        </p:spPr>
        <p:txBody>
          <a:bodyPr anchor="ctr">
            <a:normAutofit/>
          </a:bodyPr>
          <a:lstStyle/>
          <a:p>
            <a:r>
              <a:rPr lang="en-US" altLang="ja-JP" sz="3600"/>
              <a:t>Basic</a:t>
            </a:r>
            <a:endParaRPr kumimoji="1" lang="ja-JP" altLang="en-US" sz="3600"/>
          </a:p>
        </p:txBody>
      </p:sp>
      <p:sp>
        <p:nvSpPr>
          <p:cNvPr id="3" name="コンテンツ プレースホルダー 2">
            <a:extLst>
              <a:ext uri="{FF2B5EF4-FFF2-40B4-BE49-F238E27FC236}">
                <a16:creationId xmlns:a16="http://schemas.microsoft.com/office/drawing/2014/main" id="{0B9DD172-C32D-B365-38FD-374A53A89AC3}"/>
              </a:ext>
            </a:extLst>
          </p:cNvPr>
          <p:cNvSpPr>
            <a:spLocks noGrp="1"/>
          </p:cNvSpPr>
          <p:nvPr>
            <p:ph idx="1"/>
          </p:nvPr>
        </p:nvSpPr>
        <p:spPr>
          <a:xfrm>
            <a:off x="1045029" y="2524721"/>
            <a:ext cx="4991629" cy="3677123"/>
          </a:xfrm>
        </p:spPr>
        <p:txBody>
          <a:bodyPr anchor="ctr">
            <a:normAutofit/>
          </a:bodyPr>
          <a:lstStyle/>
          <a:p>
            <a:r>
              <a:rPr lang="ja-JP" altLang="en-US" sz="1800"/>
              <a:t>内容</a:t>
            </a:r>
            <a:endParaRPr kumimoji="1" lang="en-US" altLang="ja-JP" sz="1800"/>
          </a:p>
          <a:p>
            <a:pPr lvl="1"/>
            <a:r>
              <a:rPr kumimoji="1" lang="ja-JP" altLang="en-US" sz="1800"/>
              <a:t>各層を繋げる</a:t>
            </a:r>
            <a:r>
              <a:rPr kumimoji="1" lang="en-US" altLang="ja-JP" sz="1800"/>
              <a:t>VIA</a:t>
            </a:r>
            <a:r>
              <a:rPr kumimoji="1" lang="ja-JP" altLang="en-US" sz="1800"/>
              <a:t>や</a:t>
            </a:r>
            <a:r>
              <a:rPr kumimoji="1" lang="en-US" altLang="ja-JP" sz="1800"/>
              <a:t>Contact</a:t>
            </a:r>
          </a:p>
          <a:p>
            <a:pPr lvl="1"/>
            <a:r>
              <a:rPr lang="en-US" altLang="ja-JP" sz="1800"/>
              <a:t>PCell</a:t>
            </a:r>
            <a:r>
              <a:rPr lang="ja-JP" altLang="en-US" sz="1800"/>
              <a:t>や</a:t>
            </a:r>
            <a:r>
              <a:rPr lang="en-US" altLang="ja-JP" sz="1800"/>
              <a:t>StdCell</a:t>
            </a:r>
            <a:r>
              <a:rPr lang="ja-JP" altLang="en-US" sz="1800"/>
              <a:t>に分類されなかった特殊なセル</a:t>
            </a:r>
            <a:endParaRPr kumimoji="1" lang="ja-JP" altLang="en-US" sz="1800"/>
          </a:p>
        </p:txBody>
      </p:sp>
      <p:sp>
        <p:nvSpPr>
          <p:cNvPr id="54" name="Rectangle 53">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1D5F88F7-1A05-7F58-DC7A-207E858E2CDC}"/>
              </a:ext>
            </a:extLst>
          </p:cNvPr>
          <p:cNvPicPr>
            <a:picLocks noChangeAspect="1"/>
          </p:cNvPicPr>
          <p:nvPr/>
        </p:nvPicPr>
        <p:blipFill>
          <a:blip r:embed="rId2"/>
          <a:stretch>
            <a:fillRect/>
          </a:stretch>
        </p:blipFill>
        <p:spPr>
          <a:xfrm>
            <a:off x="6864864" y="3231341"/>
            <a:ext cx="4258492" cy="2895775"/>
          </a:xfrm>
          <a:prstGeom prst="rect">
            <a:avLst/>
          </a:prstGeom>
        </p:spPr>
      </p:pic>
      <p:cxnSp>
        <p:nvCxnSpPr>
          <p:cNvPr id="56" name="Straight Connector 5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D34D2200-E4B8-38B2-9876-939E2691E802}"/>
              </a:ext>
            </a:extLst>
          </p:cNvPr>
          <p:cNvPicPr>
            <a:picLocks noChangeAspect="1"/>
          </p:cNvPicPr>
          <p:nvPr/>
        </p:nvPicPr>
        <p:blipFill>
          <a:blip r:embed="rId3"/>
          <a:stretch>
            <a:fillRect/>
          </a:stretch>
        </p:blipFill>
        <p:spPr>
          <a:xfrm>
            <a:off x="6828628" y="699784"/>
            <a:ext cx="1913678" cy="2121134"/>
          </a:xfrm>
          <a:prstGeom prst="rect">
            <a:avLst/>
          </a:prstGeom>
        </p:spPr>
      </p:pic>
      <p:pic>
        <p:nvPicPr>
          <p:cNvPr id="12" name="図 11">
            <a:extLst>
              <a:ext uri="{FF2B5EF4-FFF2-40B4-BE49-F238E27FC236}">
                <a16:creationId xmlns:a16="http://schemas.microsoft.com/office/drawing/2014/main" id="{7AC26290-03BB-3559-B68D-C51CE3AB1D1E}"/>
              </a:ext>
            </a:extLst>
          </p:cNvPr>
          <p:cNvPicPr>
            <a:picLocks noChangeAspect="1"/>
          </p:cNvPicPr>
          <p:nvPr/>
        </p:nvPicPr>
        <p:blipFill>
          <a:blip r:embed="rId4"/>
          <a:stretch>
            <a:fillRect/>
          </a:stretch>
        </p:blipFill>
        <p:spPr>
          <a:xfrm>
            <a:off x="8936515" y="730884"/>
            <a:ext cx="2232720" cy="2174932"/>
          </a:xfrm>
          <a:prstGeom prst="rect">
            <a:avLst/>
          </a:prstGeom>
        </p:spPr>
      </p:pic>
    </p:spTree>
    <p:extLst>
      <p:ext uri="{BB962C8B-B14F-4D97-AF65-F5344CB8AC3E}">
        <p14:creationId xmlns:p14="http://schemas.microsoft.com/office/powerpoint/2010/main" val="191615699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8A921E4-104A-72DD-4A50-B5C215145208}"/>
              </a:ext>
            </a:extLst>
          </p:cNvPr>
          <p:cNvSpPr>
            <a:spLocks noGrp="1"/>
          </p:cNvSpPr>
          <p:nvPr>
            <p:ph type="title"/>
          </p:nvPr>
        </p:nvSpPr>
        <p:spPr>
          <a:xfrm>
            <a:off x="1043631" y="873940"/>
            <a:ext cx="4928291" cy="1035781"/>
          </a:xfrm>
        </p:spPr>
        <p:txBody>
          <a:bodyPr anchor="ctr">
            <a:normAutofit/>
          </a:bodyPr>
          <a:lstStyle/>
          <a:p>
            <a:r>
              <a:rPr kumimoji="1" lang="en-US" altLang="ja-JP" sz="3600"/>
              <a:t>StdCell</a:t>
            </a:r>
            <a:endParaRPr kumimoji="1" lang="ja-JP" altLang="en-US" sz="3600"/>
          </a:p>
        </p:txBody>
      </p:sp>
      <p:sp>
        <p:nvSpPr>
          <p:cNvPr id="3" name="コンテンツ プレースホルダー 2">
            <a:extLst>
              <a:ext uri="{FF2B5EF4-FFF2-40B4-BE49-F238E27FC236}">
                <a16:creationId xmlns:a16="http://schemas.microsoft.com/office/drawing/2014/main" id="{889B1CEC-A34D-2D6B-6F2B-4FDD7349BDCC}"/>
              </a:ext>
            </a:extLst>
          </p:cNvPr>
          <p:cNvSpPr>
            <a:spLocks noGrp="1"/>
          </p:cNvSpPr>
          <p:nvPr>
            <p:ph idx="1"/>
          </p:nvPr>
        </p:nvSpPr>
        <p:spPr>
          <a:xfrm>
            <a:off x="1045029" y="2524721"/>
            <a:ext cx="4991629" cy="3677123"/>
          </a:xfrm>
        </p:spPr>
        <p:txBody>
          <a:bodyPr anchor="ctr">
            <a:normAutofit/>
          </a:bodyPr>
          <a:lstStyle/>
          <a:p>
            <a:r>
              <a:rPr kumimoji="1" lang="ja-JP" altLang="en-US" sz="1800"/>
              <a:t>ロジック回路用のセル</a:t>
            </a:r>
            <a:endParaRPr kumimoji="1" lang="en-US" altLang="ja-JP" sz="1800"/>
          </a:p>
          <a:p>
            <a:pPr lvl="1"/>
            <a:r>
              <a:rPr lang="en-US" altLang="ja-JP" sz="1800"/>
              <a:t>AND</a:t>
            </a:r>
          </a:p>
          <a:p>
            <a:pPr lvl="1"/>
            <a:r>
              <a:rPr kumimoji="1" lang="en-US" altLang="ja-JP" sz="1800"/>
              <a:t>NADN</a:t>
            </a:r>
          </a:p>
          <a:p>
            <a:pPr lvl="1"/>
            <a:r>
              <a:rPr lang="en-US" altLang="ja-JP" sz="1800"/>
              <a:t>OR</a:t>
            </a:r>
          </a:p>
          <a:p>
            <a:pPr lvl="1"/>
            <a:r>
              <a:rPr kumimoji="1" lang="en-US" altLang="ja-JP" sz="1800"/>
              <a:t>NOT</a:t>
            </a:r>
          </a:p>
          <a:p>
            <a:pPr lvl="2"/>
            <a:r>
              <a:rPr kumimoji="1" lang="ja-JP" altLang="en-US" sz="1800"/>
              <a:t>など</a:t>
            </a:r>
            <a:endParaRPr kumimoji="1" lang="en-US" altLang="ja-JP" sz="1800"/>
          </a:p>
          <a:p>
            <a:r>
              <a:rPr lang="ja-JP" altLang="en-US" sz="1800"/>
              <a:t>利用方法</a:t>
            </a:r>
            <a:endParaRPr lang="en-US" altLang="ja-JP" sz="1800"/>
          </a:p>
          <a:p>
            <a:pPr lvl="1"/>
            <a:r>
              <a:rPr kumimoji="1" lang="ja-JP" altLang="en-US" sz="1800"/>
              <a:t>横に並べて利用する</a:t>
            </a:r>
          </a:p>
        </p:txBody>
      </p:sp>
      <p:sp>
        <p:nvSpPr>
          <p:cNvPr id="38" name="Rectangle 3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BA66DF46-5920-D6C4-6A8B-88EA798BADC9}"/>
              </a:ext>
            </a:extLst>
          </p:cNvPr>
          <p:cNvPicPr>
            <a:picLocks noChangeAspect="1"/>
          </p:cNvPicPr>
          <p:nvPr/>
        </p:nvPicPr>
        <p:blipFill>
          <a:blip r:embed="rId2"/>
          <a:stretch>
            <a:fillRect/>
          </a:stretch>
        </p:blipFill>
        <p:spPr>
          <a:xfrm>
            <a:off x="7315025" y="3945626"/>
            <a:ext cx="3831946" cy="1823379"/>
          </a:xfrm>
          <a:prstGeom prst="rect">
            <a:avLst/>
          </a:prstGeom>
        </p:spPr>
      </p:pic>
      <p:pic>
        <p:nvPicPr>
          <p:cNvPr id="9" name="図 8">
            <a:extLst>
              <a:ext uri="{FF2B5EF4-FFF2-40B4-BE49-F238E27FC236}">
                <a16:creationId xmlns:a16="http://schemas.microsoft.com/office/drawing/2014/main" id="{6C6F1EB2-9188-463B-687B-8DE0909B65BE}"/>
              </a:ext>
            </a:extLst>
          </p:cNvPr>
          <p:cNvPicPr>
            <a:picLocks noChangeAspect="1"/>
          </p:cNvPicPr>
          <p:nvPr/>
        </p:nvPicPr>
        <p:blipFill>
          <a:blip r:embed="rId3"/>
          <a:stretch>
            <a:fillRect/>
          </a:stretch>
        </p:blipFill>
        <p:spPr>
          <a:xfrm>
            <a:off x="9701973" y="694835"/>
            <a:ext cx="943957" cy="2471007"/>
          </a:xfrm>
          <a:prstGeom prst="rect">
            <a:avLst/>
          </a:prstGeom>
        </p:spPr>
      </p:pic>
      <p:pic>
        <p:nvPicPr>
          <p:cNvPr id="11" name="図 10">
            <a:extLst>
              <a:ext uri="{FF2B5EF4-FFF2-40B4-BE49-F238E27FC236}">
                <a16:creationId xmlns:a16="http://schemas.microsoft.com/office/drawing/2014/main" id="{DAC1CED1-B3C0-1CB5-AFB4-BE728F0034B3}"/>
              </a:ext>
            </a:extLst>
          </p:cNvPr>
          <p:cNvPicPr>
            <a:picLocks noChangeAspect="1"/>
          </p:cNvPicPr>
          <p:nvPr/>
        </p:nvPicPr>
        <p:blipFill>
          <a:blip r:embed="rId4"/>
          <a:stretch>
            <a:fillRect/>
          </a:stretch>
        </p:blipFill>
        <p:spPr>
          <a:xfrm>
            <a:off x="7739774" y="822622"/>
            <a:ext cx="1254329" cy="2267192"/>
          </a:xfrm>
          <a:prstGeom prst="rect">
            <a:avLst/>
          </a:prstGeom>
        </p:spPr>
      </p:pic>
    </p:spTree>
    <p:extLst>
      <p:ext uri="{BB962C8B-B14F-4D97-AF65-F5344CB8AC3E}">
        <p14:creationId xmlns:p14="http://schemas.microsoft.com/office/powerpoint/2010/main" val="350865364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321DF7-E0F6-64CA-3697-A3AF96191C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B38C3C-9426-7136-3F81-0229AC471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5AB6F52-4086-F334-800F-C7CA9F1E8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101559-E932-EF02-C419-CB632BC2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F02CEC5-4235-6BFE-0293-2862550F6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BE222C-64B3-A89F-F843-1F0CB1E20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4E8CCB2-927F-3C01-569A-5D928EB91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73978D56-22D6-4F4B-601E-191D1183A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0AA7ECC-1064-FD86-99A6-DA2D45D9F66B}"/>
              </a:ext>
            </a:extLst>
          </p:cNvPr>
          <p:cNvSpPr>
            <a:spLocks noGrp="1"/>
          </p:cNvSpPr>
          <p:nvPr>
            <p:ph type="title"/>
          </p:nvPr>
        </p:nvSpPr>
        <p:spPr>
          <a:xfrm>
            <a:off x="215901" y="586855"/>
            <a:ext cx="3685072" cy="4670945"/>
          </a:xfrm>
        </p:spPr>
        <p:txBody>
          <a:bodyPr anchor="b">
            <a:normAutofit/>
          </a:bodyPr>
          <a:lstStyle/>
          <a:p>
            <a:pPr algn="r"/>
            <a:r>
              <a:rPr lang="ja-JP" altLang="en-US" sz="4000">
                <a:solidFill>
                  <a:srgbClr val="FFFFFF"/>
                </a:solidFill>
              </a:rPr>
              <a:t>提出物</a:t>
            </a:r>
            <a:br>
              <a:rPr lang="en-US" altLang="ja-JP" sz="4000">
                <a:solidFill>
                  <a:srgbClr val="FFFFFF"/>
                </a:solidFill>
              </a:rPr>
            </a:br>
            <a:br>
              <a:rPr lang="en-US" altLang="ja-JP" sz="4000">
                <a:solidFill>
                  <a:srgbClr val="FFFFFF"/>
                </a:solidFill>
              </a:rPr>
            </a:br>
            <a:r>
              <a:rPr lang="ja-JP" altLang="en-US" sz="4000">
                <a:solidFill>
                  <a:srgbClr val="FFFFFF"/>
                </a:solidFill>
              </a:rPr>
              <a:t>（ハンズオン</a:t>
            </a:r>
            <a:br>
              <a:rPr lang="en-US" altLang="ja-JP" sz="4000">
                <a:solidFill>
                  <a:srgbClr val="FFFFFF"/>
                </a:solidFill>
              </a:rPr>
            </a:br>
            <a:r>
              <a:rPr lang="ja-JP" altLang="en-US" sz="4000">
                <a:solidFill>
                  <a:srgbClr val="FFFFFF"/>
                </a:solidFill>
              </a:rPr>
              <a:t>参加者向け）</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9EA3690C-4FAE-3A7F-164E-B7DFC2720B0C}"/>
              </a:ext>
            </a:extLst>
          </p:cNvPr>
          <p:cNvSpPr>
            <a:spLocks noGrp="1"/>
          </p:cNvSpPr>
          <p:nvPr>
            <p:ph idx="1"/>
          </p:nvPr>
        </p:nvSpPr>
        <p:spPr>
          <a:xfrm>
            <a:off x="4810259" y="649480"/>
            <a:ext cx="6555347" cy="5546047"/>
          </a:xfrm>
        </p:spPr>
        <p:txBody>
          <a:bodyPr anchor="ctr">
            <a:normAutofit/>
          </a:bodyPr>
          <a:lstStyle/>
          <a:p>
            <a:r>
              <a:rPr lang="ja-JP" altLang="en-US" sz="2000" dirty="0"/>
              <a:t>仕様</a:t>
            </a:r>
            <a:endParaRPr lang="en-US" altLang="ja-JP" sz="2000" dirty="0"/>
          </a:p>
          <a:p>
            <a:pPr lvl="1"/>
            <a:r>
              <a:rPr lang="en-US" altLang="ja-JP" sz="2000" dirty="0"/>
              <a:t>600um x 200um</a:t>
            </a:r>
            <a:r>
              <a:rPr lang="ja-JP" altLang="en-US" sz="2000" dirty="0"/>
              <a:t>まで</a:t>
            </a:r>
            <a:endParaRPr lang="en-US" altLang="ja-JP" sz="2000" dirty="0"/>
          </a:p>
          <a:p>
            <a:pPr lvl="1"/>
            <a:r>
              <a:rPr kumimoji="1" lang="en-US" altLang="ja-JP" sz="2000" dirty="0"/>
              <a:t>5</a:t>
            </a:r>
            <a:r>
              <a:rPr kumimoji="1" lang="ja-JP" altLang="en-US" sz="2000" dirty="0"/>
              <a:t>ピンまで（</a:t>
            </a:r>
            <a:r>
              <a:rPr kumimoji="1" lang="en-US" altLang="ja-JP" sz="2000" dirty="0"/>
              <a:t>VSS</a:t>
            </a:r>
            <a:r>
              <a:rPr kumimoji="1" lang="ja-JP" altLang="en-US" sz="2000" dirty="0"/>
              <a:t>は除く）</a:t>
            </a:r>
            <a:endParaRPr kumimoji="1" lang="en-US" altLang="ja-JP" sz="2000" dirty="0"/>
          </a:p>
          <a:p>
            <a:r>
              <a:rPr lang="ja-JP" altLang="en-US" sz="2000" dirty="0"/>
              <a:t>提出物</a:t>
            </a:r>
            <a:endParaRPr lang="en-US" altLang="ja-JP" sz="2000" dirty="0"/>
          </a:p>
          <a:p>
            <a:pPr lvl="1"/>
            <a:r>
              <a:rPr kumimoji="1" lang="ja-JP" altLang="en-US" sz="2000" dirty="0"/>
              <a:t>全ての回路図</a:t>
            </a:r>
            <a:endParaRPr kumimoji="1" lang="en-US" altLang="ja-JP" sz="2000" dirty="0"/>
          </a:p>
          <a:p>
            <a:pPr lvl="1"/>
            <a:r>
              <a:rPr lang="ja-JP" altLang="en-US" sz="2000" dirty="0"/>
              <a:t>全てのテストベンチ</a:t>
            </a:r>
            <a:endParaRPr lang="en-US" altLang="ja-JP" sz="2000" dirty="0"/>
          </a:p>
          <a:p>
            <a:pPr lvl="1"/>
            <a:r>
              <a:rPr kumimoji="1" lang="ja-JP" altLang="en-US" sz="2000" dirty="0"/>
              <a:t>レイアウト（一週間後までに）</a:t>
            </a:r>
            <a:endParaRPr kumimoji="1" lang="en-US" altLang="ja-JP" sz="2000" dirty="0"/>
          </a:p>
          <a:p>
            <a:pPr lvl="1"/>
            <a:r>
              <a:rPr lang="ja-JP" altLang="en-US" sz="2000" dirty="0"/>
              <a:t>説明文</a:t>
            </a:r>
            <a:endParaRPr lang="en-US" altLang="ja-JP" sz="2000" dirty="0"/>
          </a:p>
          <a:p>
            <a:pPr lvl="2"/>
            <a:r>
              <a:rPr lang="ja-JP" altLang="en-US" dirty="0"/>
              <a:t>設計の説明</a:t>
            </a:r>
            <a:endParaRPr lang="en-US" altLang="ja-JP" dirty="0"/>
          </a:p>
          <a:p>
            <a:pPr lvl="2"/>
            <a:r>
              <a:rPr kumimoji="1" lang="ja-JP" altLang="en-US" dirty="0"/>
              <a:t>工夫したポイント</a:t>
            </a:r>
            <a:endParaRPr kumimoji="1" lang="en-US" altLang="ja-JP" dirty="0"/>
          </a:p>
          <a:p>
            <a:pPr lvl="2"/>
            <a:r>
              <a:rPr lang="ja-JP" altLang="en-US" dirty="0"/>
              <a:t>苦労したポイント</a:t>
            </a:r>
            <a:endParaRPr lang="en-US" altLang="ja-JP" dirty="0"/>
          </a:p>
          <a:p>
            <a:r>
              <a:rPr lang="ja-JP" altLang="en-US" sz="2000" dirty="0"/>
              <a:t>提出先</a:t>
            </a:r>
            <a:endParaRPr lang="en-US" altLang="ja-JP" sz="2000" dirty="0"/>
          </a:p>
          <a:p>
            <a:pPr lvl="1"/>
            <a:r>
              <a:rPr lang="en-US" altLang="ja-JP" sz="2000" dirty="0"/>
              <a:t>ISHI</a:t>
            </a:r>
            <a:r>
              <a:rPr lang="ja-JP" altLang="en-US" sz="2000" dirty="0"/>
              <a:t>会</a:t>
            </a:r>
            <a:r>
              <a:rPr lang="en-US" altLang="ja-JP" sz="2000" dirty="0"/>
              <a:t>Discord</a:t>
            </a:r>
            <a:r>
              <a:rPr lang="ja-JP" altLang="en-US" sz="2000"/>
              <a:t>内の所定のチャンネル</a:t>
            </a:r>
            <a:endParaRPr lang="ja-JP" altLang="en-US"/>
          </a:p>
        </p:txBody>
      </p:sp>
    </p:spTree>
    <p:extLst>
      <p:ext uri="{BB962C8B-B14F-4D97-AF65-F5344CB8AC3E}">
        <p14:creationId xmlns:p14="http://schemas.microsoft.com/office/powerpoint/2010/main" val="13596643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635</TotalTime>
  <Words>6504</Words>
  <Application>Microsoft Office PowerPoint</Application>
  <PresentationFormat>ワイド画面</PresentationFormat>
  <Paragraphs>956</Paragraphs>
  <Slides>154</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154</vt:i4>
      </vt:variant>
    </vt:vector>
  </HeadingPairs>
  <TitlesOfParts>
    <vt:vector size="163" baseType="lpstr">
      <vt:lpstr>HGS創英角ﾎﾟｯﾌﾟ体</vt:lpstr>
      <vt:lpstr>游ゴシック</vt:lpstr>
      <vt:lpstr>游ゴシック Light</vt:lpstr>
      <vt:lpstr>Arial</vt:lpstr>
      <vt:lpstr>Calibri</vt:lpstr>
      <vt:lpstr>Cambria Math</vt:lpstr>
      <vt:lpstr>Symbol</vt:lpstr>
      <vt:lpstr>Times New Roman</vt:lpstr>
      <vt:lpstr>Office テーマ</vt:lpstr>
      <vt:lpstr>OPAMP設計（OpenSUSI-TR10）</vt:lpstr>
      <vt:lpstr>もくじ： トランジスタ編 </vt:lpstr>
      <vt:lpstr>もくじ： 基本回路編</vt:lpstr>
      <vt:lpstr>もくじ： OPAMP編</vt:lpstr>
      <vt:lpstr>もくじ： 性能評価編</vt:lpstr>
      <vt:lpstr>もくじ： レイアウト テクニック編</vt:lpstr>
      <vt:lpstr>OPAMPの構造</vt:lpstr>
      <vt:lpstr>OPAMPのサンプル</vt:lpstr>
      <vt:lpstr>PowerPoint プレゼンテーション</vt:lpstr>
      <vt:lpstr>トランジスタの素性編</vt:lpstr>
      <vt:lpstr>トランジスタの素性を調べる</vt:lpstr>
      <vt:lpstr>トランジスタとは？</vt:lpstr>
      <vt:lpstr>飽和領域</vt:lpstr>
      <vt:lpstr>Vgs–Idカーブ</vt:lpstr>
      <vt:lpstr>飽和領域&amp;Vds–Idカーブ</vt:lpstr>
      <vt:lpstr>飽和領域</vt:lpstr>
      <vt:lpstr>相互コンダクタンス：gm[S] とVgs–Idカーブ</vt:lpstr>
      <vt:lpstr>出力抵抗</vt:lpstr>
      <vt:lpstr>短チャネル効果</vt:lpstr>
      <vt:lpstr>短チャネル効果</vt:lpstr>
      <vt:lpstr>短チャネル長変調効果</vt:lpstr>
      <vt:lpstr>オーバードライブ電圧</vt:lpstr>
      <vt:lpstr>オーバードライブ電圧： Vod</vt:lpstr>
      <vt:lpstr>μCox​</vt:lpstr>
      <vt:lpstr>PowerPoint プレゼンテーション</vt:lpstr>
      <vt:lpstr>実測</vt:lpstr>
      <vt:lpstr>対象</vt:lpstr>
      <vt:lpstr>pMOS回路サンプル</vt:lpstr>
      <vt:lpstr>pMOS  </vt:lpstr>
      <vt:lpstr>nMOS回路サンプル</vt:lpstr>
      <vt:lpstr>nMOS</vt:lpstr>
      <vt:lpstr>結果</vt:lpstr>
      <vt:lpstr>基本回路編</vt:lpstr>
      <vt:lpstr>Ibias(バイアス電流)</vt:lpstr>
      <vt:lpstr>よくある2段差動増幅OPAMP</vt:lpstr>
      <vt:lpstr>Ibias(バイアス電流)</vt:lpstr>
      <vt:lpstr>カレントミラー</vt:lpstr>
      <vt:lpstr>カレントミラー</vt:lpstr>
      <vt:lpstr>動作内容</vt:lpstr>
      <vt:lpstr>数式</vt:lpstr>
      <vt:lpstr>カスコード接続</vt:lpstr>
      <vt:lpstr>カスコード接続</vt:lpstr>
      <vt:lpstr>利点：短チャネル効果の改善</vt:lpstr>
      <vt:lpstr>利点：ミラー効果の改善</vt:lpstr>
      <vt:lpstr>ミラー効果 (Miller effect)</vt:lpstr>
      <vt:lpstr>ミラー効果 (Miller effect)</vt:lpstr>
      <vt:lpstr>応用：Rail2Rail</vt:lpstr>
      <vt:lpstr>飽和領域で 動作させる難しさ</vt:lpstr>
      <vt:lpstr>OPAMP編</vt:lpstr>
      <vt:lpstr>PowerPoint プレゼンテーション</vt:lpstr>
      <vt:lpstr>基本的な増幅回路</vt:lpstr>
      <vt:lpstr>注意事項</vt:lpstr>
      <vt:lpstr>ソース接地増幅回路</vt:lpstr>
      <vt:lpstr>差動増幅回路</vt:lpstr>
      <vt:lpstr>設計方針</vt:lpstr>
      <vt:lpstr>基本的な設計方針</vt:lpstr>
      <vt:lpstr>チャネル長：Lの決定</vt:lpstr>
      <vt:lpstr>どこから決定する？</vt:lpstr>
      <vt:lpstr>電流源（カレントミラー）</vt:lpstr>
      <vt:lpstr>Wの決定方法</vt:lpstr>
      <vt:lpstr>Wの長さとフィンガー数</vt:lpstr>
      <vt:lpstr>Wの決定</vt:lpstr>
      <vt:lpstr>本ハンズオン では・・・</vt:lpstr>
      <vt:lpstr>ソース接地増幅回路</vt:lpstr>
      <vt:lpstr>ソース接地増幅回路</vt:lpstr>
      <vt:lpstr>Vout=Vdd/2とは？</vt:lpstr>
      <vt:lpstr>Vout=Vdd/2の設計</vt:lpstr>
      <vt:lpstr>スルーレート</vt:lpstr>
      <vt:lpstr>スルーレートの評価</vt:lpstr>
      <vt:lpstr>差動増幅回路</vt:lpstr>
      <vt:lpstr>差動増幅回路</vt:lpstr>
      <vt:lpstr>アクティブ負荷の役割</vt:lpstr>
      <vt:lpstr>差動ーシングルエンド変換</vt:lpstr>
      <vt:lpstr>テール電流の役割</vt:lpstr>
      <vt:lpstr>全体設計の例：1</vt:lpstr>
      <vt:lpstr>全体設計の例：2</vt:lpstr>
      <vt:lpstr>シミュレーション</vt:lpstr>
      <vt:lpstr>AC解析</vt:lpstr>
      <vt:lpstr>DC解析</vt:lpstr>
      <vt:lpstr>基板バイアス効果</vt:lpstr>
      <vt:lpstr>基板バイアス効果</vt:lpstr>
      <vt:lpstr>CMOSの 断面図</vt:lpstr>
      <vt:lpstr>負荷設計 (オプション)</vt:lpstr>
      <vt:lpstr>オーディオ用OPAMPとして利用する</vt:lpstr>
      <vt:lpstr>出力段（バッファ段）</vt:lpstr>
      <vt:lpstr>プッシュプル出力段 （Class AB Output Stage）</vt:lpstr>
      <vt:lpstr>性能評価</vt:lpstr>
      <vt:lpstr>飽和領域</vt:lpstr>
      <vt:lpstr>増幅率</vt:lpstr>
      <vt:lpstr>位相補償</vt:lpstr>
      <vt:lpstr>注意事項</vt:lpstr>
      <vt:lpstr>前提：OPAMPはフィードバック制御回路</vt:lpstr>
      <vt:lpstr>位相とは？</vt:lpstr>
      <vt:lpstr>位相と不安定</vt:lpstr>
      <vt:lpstr>位相余裕と位相補償</vt:lpstr>
      <vt:lpstr>極と零点</vt:lpstr>
      <vt:lpstr>位相補償容量による Pole-splitting</vt:lpstr>
      <vt:lpstr>2段目の極は なぜ上がるか</vt:lpstr>
      <vt:lpstr>零点の影響</vt:lpstr>
      <vt:lpstr>補償抵抗による零点処理</vt:lpstr>
      <vt:lpstr>バイアスレプリカ</vt:lpstr>
      <vt:lpstr>バイアスレプリカの設計</vt:lpstr>
      <vt:lpstr>位相補償容量と補償抵抗設計</vt:lpstr>
      <vt:lpstr>位相補償容量設計</vt:lpstr>
      <vt:lpstr>補償抵抗設計</vt:lpstr>
      <vt:lpstr>補償抵抗と バイアス レプリカの回路</vt:lpstr>
      <vt:lpstr>性能評価編</vt:lpstr>
      <vt:lpstr>飽和領域</vt:lpstr>
      <vt:lpstr>プロセスコーナー</vt:lpstr>
      <vt:lpstr>プロセスコーナー</vt:lpstr>
      <vt:lpstr>オープンループ特性</vt:lpstr>
      <vt:lpstr>オープンループ特性</vt:lpstr>
      <vt:lpstr>スルーレート</vt:lpstr>
      <vt:lpstr>スルーレート</vt:lpstr>
      <vt:lpstr>CMRR</vt:lpstr>
      <vt:lpstr>CMRR</vt:lpstr>
      <vt:lpstr>PSRR</vt:lpstr>
      <vt:lpstr>PSRR</vt:lpstr>
      <vt:lpstr>温度解析</vt:lpstr>
      <vt:lpstr>温度解析</vt:lpstr>
      <vt:lpstr>レイアウト テクニック編</vt:lpstr>
      <vt:lpstr>構造説明</vt:lpstr>
      <vt:lpstr>CMOSの 断面図</vt:lpstr>
      <vt:lpstr>半導体的な素子</vt:lpstr>
      <vt:lpstr>schematic to placeレイアウト</vt:lpstr>
      <vt:lpstr>schematic to place レイアウト</vt:lpstr>
      <vt:lpstr>Cell（セル）単位でのレイアウト</vt:lpstr>
      <vt:lpstr>Cell（セル）単位でのレイアウト</vt:lpstr>
      <vt:lpstr>Cell（セル）のインポート</vt:lpstr>
      <vt:lpstr>Cell（セル）の使い方</vt:lpstr>
      <vt:lpstr>VDD/VSSセル</vt:lpstr>
      <vt:lpstr>VDD/VSSセル</vt:lpstr>
      <vt:lpstr>アレイの使い方</vt:lpstr>
      <vt:lpstr>ダミーポリシリコン</vt:lpstr>
      <vt:lpstr>ダミーポリシリコン</vt:lpstr>
      <vt:lpstr>ダミーポリシリコン化回路図</vt:lpstr>
      <vt:lpstr>コモンセントロイド</vt:lpstr>
      <vt:lpstr>コモンセントロイド</vt:lpstr>
      <vt:lpstr>互い違い構造のコモンセントロイド</vt:lpstr>
      <vt:lpstr>ガードリング</vt:lpstr>
      <vt:lpstr>ガードリング</vt:lpstr>
      <vt:lpstr>ラッチアップ</vt:lpstr>
      <vt:lpstr>ラッチアップ</vt:lpstr>
      <vt:lpstr>ダブルVIA/コンタクト</vt:lpstr>
      <vt:lpstr>ダブルVIA/コンタクト</vt:lpstr>
      <vt:lpstr>N-Well電位</vt:lpstr>
      <vt:lpstr>N-Well電位</vt:lpstr>
      <vt:lpstr>ESD</vt:lpstr>
      <vt:lpstr>ESD</vt:lpstr>
      <vt:lpstr>PDKのCellの使い方</vt:lpstr>
      <vt:lpstr>PCell</vt:lpstr>
      <vt:lpstr>Basic</vt:lpstr>
      <vt:lpstr>StdCell</vt:lpstr>
      <vt:lpstr>提出物  （ハンズオン 参加者向け）</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Noritsuna Imamura</cp:lastModifiedBy>
  <cp:revision>1</cp:revision>
  <dcterms:created xsi:type="dcterms:W3CDTF">2024-05-26T11:20:00Z</dcterms:created>
  <dcterms:modified xsi:type="dcterms:W3CDTF">2026-08-06T09:31:28Z</dcterms:modified>
</cp:coreProperties>
</file>