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4640" r:id="rId3"/>
    <p:sldId id="4617" r:id="rId4"/>
    <p:sldId id="4586" r:id="rId5"/>
    <p:sldId id="4619" r:id="rId6"/>
    <p:sldId id="4621" r:id="rId7"/>
    <p:sldId id="4623" r:id="rId8"/>
    <p:sldId id="4624" r:id="rId9"/>
    <p:sldId id="4622" r:id="rId10"/>
    <p:sldId id="4587" r:id="rId11"/>
    <p:sldId id="4625" r:id="rId12"/>
    <p:sldId id="4628" r:id="rId13"/>
    <p:sldId id="4720" r:id="rId14"/>
    <p:sldId id="4763" r:id="rId15"/>
    <p:sldId id="4764" r:id="rId16"/>
    <p:sldId id="4762" r:id="rId17"/>
    <p:sldId id="4704" r:id="rId18"/>
    <p:sldId id="4705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C04F15"/>
    <a:srgbClr val="F5718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9F55F8-D9FD-4D83-BBFE-C9003749E4FE}" v="1" dt="2026-06-03T11:13:48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69"/>
    <p:restoredTop sz="94718"/>
  </p:normalViewPr>
  <p:slideViewPr>
    <p:cSldViewPr snapToGrid="0">
      <p:cViewPr varScale="1">
        <p:scale>
          <a:sx n="91" d="100"/>
          <a:sy n="91" d="100"/>
        </p:scale>
        <p:origin x="219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今村 謙之" userId="bc27a5e0-5669-41a4-865b-584c1eac539e" providerId="ADAL" clId="{342DA2C4-B094-4B86-9045-6AA34CD7B848}"/>
    <pc:docChg chg="modSld">
      <pc:chgData name="今村 謙之" userId="bc27a5e0-5669-41a4-865b-584c1eac539e" providerId="ADAL" clId="{342DA2C4-B094-4B86-9045-6AA34CD7B848}" dt="2026-06-03T11:13:49.935" v="5" actId="20577"/>
      <pc:docMkLst>
        <pc:docMk/>
      </pc:docMkLst>
      <pc:sldChg chg="modSp mod">
        <pc:chgData name="今村 謙之" userId="bc27a5e0-5669-41a4-865b-584c1eac539e" providerId="ADAL" clId="{342DA2C4-B094-4B86-9045-6AA34CD7B848}" dt="2026-06-03T11:13:49.935" v="5" actId="20577"/>
        <pc:sldMkLst>
          <pc:docMk/>
          <pc:sldMk cId="457667663" sldId="256"/>
        </pc:sldMkLst>
        <pc:spChg chg="mod">
          <ac:chgData name="今村 謙之" userId="bc27a5e0-5669-41a4-865b-584c1eac539e" providerId="ADAL" clId="{342DA2C4-B094-4B86-9045-6AA34CD7B848}" dt="2026-06-03T11:13:49.935" v="5" actId="20577"/>
          <ac:spMkLst>
            <pc:docMk/>
            <pc:sldMk cId="457667663" sldId="256"/>
            <ac:spMk id="2" creationId="{F985B9EF-5891-44BD-296C-D3F4FB4314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21326-0080-475F-B3A7-C8B8FA1FF850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622CD-9DB7-4903-8997-52FC5A06B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467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93F5D-5A8F-FDB8-2312-7C365AD8B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FEFC5D-E911-2492-EBF4-7C560C93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3B3258-3956-C471-1ADB-DB8BF696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2FA95B-9B52-9CD7-0253-D859773D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22BE04-F456-2AE2-4548-B04DECF6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35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FAF400-16E7-E995-08C1-2C0218762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EBF62-8C7A-7C59-44A8-8823C46B9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C12D1F-438B-987B-0E13-209BF475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3850D2-C198-C3DE-5F3E-A90C2CDB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CFAF48-9A80-07F4-6313-B54A98BC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306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7D37A-2BED-2A6D-3DC1-3366B2B9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9E5F7D-DDFE-F9E4-DD54-378E23232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746527-D040-5443-0177-6E40053F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D0907D-4C21-8883-E947-6448A266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463B1-60A0-C6E4-E841-3B19AA77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1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159964-01BF-57FB-1CC0-19C0CC15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02D120-064F-01CF-5AFC-13C874239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FE018C-6A77-5633-B8D9-D6CDFFCB4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F5BCDA-9627-B7A3-BEA8-BD42F6A58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46805F-154A-1405-1304-7A49F1C32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D934C6-63F5-13B4-C47C-FE75C55E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458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F59BD-743C-1A3C-1E06-EC0400A6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F6E40B-496A-6A6B-A7C4-CF7C222CA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88F5C6-F0BB-14AC-664D-44F4C249F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F23BAD-5894-849A-FB08-DBAC3B7A7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9F7EE4B-E5D2-8485-7D50-9F7EE4A67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497A9B-9487-E362-2EEC-84350C3E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F98089-AE1C-4D0B-918A-D2F72444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3869A7-0F05-037D-5575-90FA0991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603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266B5-A3FD-2F5B-DA35-F62463E8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EE9F867-0389-BABB-FF08-49CC450D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FC3487-4C5B-B907-947A-8EA8C83B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439496-1F32-61E8-C39A-D45B8552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46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C9428BF-1252-6C67-319E-E065E485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4461D5-0D80-437B-3694-DDF8E184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209D58-D1D3-B05C-8F82-6643571C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08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C296BB-62CA-F9BF-D33A-BE523E2C4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C2CE8F-D3F1-84FD-7F58-3624D6960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141728-00DD-F741-C725-5EA588964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BAC48E-17F5-862E-6C47-9E90C5EF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234C07-7608-48DC-D31A-4921EB41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1BA1F6-CAD1-C8B3-4F85-773F4B3F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1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2E443-800B-9B00-582A-E7716B7A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E6FBA55-244A-22B9-9FBA-3B26EF346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C9A178-486E-7B9E-98DC-B4F57D3E5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A21B99-B569-1EAF-B3BC-22A8D0A0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B9A3BF-6B40-E5BD-F983-7CE74330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AE6CFA-6006-3095-1000-7B85E874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409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257FDA-8B10-4222-3F59-DAB8A187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2089F2-3262-40ED-F06D-E15176516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9F5A08-024F-5D32-D108-70A8B568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90CA08-2B2E-4DB2-C52F-6891A4D2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F03D2-F662-D11F-B767-105EA4B8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18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D17F1B-6923-610E-A2F0-00E67DDF9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EFECBA-16C2-120C-7835-BFE596806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C56837-B10D-939E-7AF1-0F15E10B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400E88-F4FB-BA69-F430-2AAEFF66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A45F3F-E688-8178-C24F-80B28234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53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3104D9-8B30-271E-216D-1EE578F4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8251DA-8D21-09F0-F57E-00A5B3B6F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3B0B8C-32D5-5533-6AE7-6AD1BFE32D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D8CDA1-39F0-D06D-1F0F-CAAFD6D2D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BBBAB3-0A47-3C1D-2A1A-5A3441106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760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shi-kai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5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2 進数の数字が表示された CPU と青写真">
            <a:extLst>
              <a:ext uri="{FF2B5EF4-FFF2-40B4-BE49-F238E27FC236}">
                <a16:creationId xmlns:a16="http://schemas.microsoft.com/office/drawing/2014/main" id="{273EEEF4-5448-6621-ACCF-9FC5FC7106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5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985B9EF-5891-44BD-296C-D3F4FB431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394" y="1122363"/>
            <a:ext cx="11442583" cy="2489952"/>
          </a:xfrm>
        </p:spPr>
        <p:txBody>
          <a:bodyPr>
            <a:noAutofit/>
          </a:bodyPr>
          <a:lstStyle/>
          <a:p>
            <a:r>
              <a:rPr kumimoji="1" lang="ja-JP" altLang="en-US" sz="8000" dirty="0">
                <a:solidFill>
                  <a:schemeClr val="bg1"/>
                </a:solidFill>
              </a:rPr>
              <a:t>電流源設計</a:t>
            </a:r>
            <a:br>
              <a:rPr kumimoji="1" lang="en-US" altLang="ja-JP" sz="8000">
                <a:solidFill>
                  <a:schemeClr val="bg1"/>
                </a:solidFill>
              </a:rPr>
            </a:br>
            <a:r>
              <a:rPr kumimoji="1" lang="ja-JP" altLang="en-US" sz="8000">
                <a:solidFill>
                  <a:schemeClr val="bg1"/>
                </a:solidFill>
              </a:rPr>
              <a:t>（</a:t>
            </a:r>
            <a:r>
              <a:rPr lang="en-US" altLang="ja-JP" sz="8000" dirty="0">
                <a:solidFill>
                  <a:schemeClr val="bg1"/>
                </a:solidFill>
              </a:rPr>
              <a:t>OpenSUSI-TR10</a:t>
            </a:r>
            <a:r>
              <a:rPr kumimoji="1" lang="ja-JP" altLang="en-US" sz="8000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EA143C-6BCF-C6CB-42E7-691F52B08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959248"/>
          </a:xfrm>
        </p:spPr>
        <p:txBody>
          <a:bodyPr>
            <a:normAutofit/>
          </a:bodyPr>
          <a:lstStyle/>
          <a:p>
            <a:r>
              <a:rPr lang="en-US" altLang="zh-TW">
                <a:solidFill>
                  <a:schemeClr val="bg1"/>
                </a:solidFill>
              </a:rPr>
              <a:t>ISHI</a:t>
            </a:r>
            <a:r>
              <a:rPr lang="zh-TW" altLang="en-US">
                <a:solidFill>
                  <a:schemeClr val="bg1"/>
                </a:solidFill>
              </a:rPr>
              <a:t>会</a:t>
            </a:r>
            <a:endParaRPr lang="en-US" altLang="zh-TW">
              <a:solidFill>
                <a:schemeClr val="bg1"/>
              </a:solidFill>
            </a:endParaRPr>
          </a:p>
          <a:p>
            <a:r>
              <a:rPr lang="en-US" altLang="zh-TW">
                <a:solidFill>
                  <a:schemeClr val="bg1"/>
                </a:solidFill>
                <a:hlinkClick r:id="rId3"/>
              </a:rPr>
              <a:t>https://ishi-kai.org/</a:t>
            </a:r>
            <a:endParaRPr lang="en-US" altLang="zh-TW">
              <a:solidFill>
                <a:schemeClr val="bg1"/>
              </a:solidFill>
            </a:endParaRPr>
          </a:p>
          <a:p>
            <a:r>
              <a:rPr lang="en-US" altLang="zh-TW">
                <a:solidFill>
                  <a:schemeClr val="bg1"/>
                </a:solidFill>
              </a:rPr>
              <a:t>Mail: </a:t>
            </a:r>
            <a:r>
              <a:rPr lang="en-US" altLang="zh-TW" err="1">
                <a:solidFill>
                  <a:schemeClr val="bg1"/>
                </a:solidFill>
              </a:rPr>
              <a:t>info@ishi-kai.org</a:t>
            </a:r>
            <a:endParaRPr lang="en-US" altLang="zh-TW">
              <a:solidFill>
                <a:schemeClr val="bg1"/>
              </a:solidFill>
            </a:endParaRPr>
          </a:p>
        </p:txBody>
      </p:sp>
      <p:sp>
        <p:nvSpPr>
          <p:cNvPr id="6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6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9BA1A-186F-8B17-4F19-C0CE8F32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F1DF24-D3E3-2541-069C-F00067308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F7482D2-9343-0B35-645F-4463E497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ja-JP" altLang="en-US" sz="4800" dirty="0"/>
              <a:t>もくじ</a:t>
            </a:r>
            <a:endParaRPr kumimoji="1" lang="ja-JP" altLang="en-US" sz="4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67F574-2D74-733E-6B4B-B90F464C5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BBB470-2E14-E1B5-D1FB-DFE5A8882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3BAF79D-7594-79EF-99CA-2F0E69C26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A26299D-1E7E-8DAB-AF39-75DC08C0C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BB70F6-F81F-B5EE-F8EC-21B4DB0D7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9" y="1463039"/>
            <a:ext cx="5279004" cy="4300447"/>
          </a:xfrm>
        </p:spPr>
        <p:txBody>
          <a:bodyPr anchor="t">
            <a:normAutofit/>
          </a:bodyPr>
          <a:lstStyle/>
          <a:p>
            <a:r>
              <a:rPr lang="ja-JP" altLang="en-US" dirty="0"/>
              <a:t>基本電流源</a:t>
            </a:r>
            <a:endParaRPr lang="en-US" altLang="ja-JP" dirty="0"/>
          </a:p>
          <a:p>
            <a:r>
              <a:rPr lang="en-US" altLang="ja-JP" dirty="0"/>
              <a:t>Vth-referenced</a:t>
            </a:r>
            <a:r>
              <a:rPr lang="ja-JP" altLang="en-US" dirty="0"/>
              <a:t> 自己バイアス電流源</a:t>
            </a:r>
            <a:endParaRPr lang="en-US" altLang="ja-JP" dirty="0"/>
          </a:p>
          <a:p>
            <a:r>
              <a:rPr kumimoji="1" lang="ja-JP" altLang="en-US" dirty="0"/>
              <a:t>カレントミラー</a:t>
            </a:r>
            <a:endParaRPr kumimoji="1" lang="en-US" altLang="ja-JP" dirty="0"/>
          </a:p>
          <a:p>
            <a:r>
              <a:rPr lang="ja-JP" altLang="en-US" dirty="0"/>
              <a:t>スタートアップ回路</a:t>
            </a:r>
            <a:endParaRPr lang="en-US" altLang="ja-JP" dirty="0"/>
          </a:p>
          <a:p>
            <a:r>
              <a:rPr kumimoji="1" lang="ja-JP" altLang="en-US" dirty="0"/>
              <a:t>電流源の使い方</a:t>
            </a:r>
          </a:p>
        </p:txBody>
      </p:sp>
    </p:spTree>
    <p:extLst>
      <p:ext uri="{BB962C8B-B14F-4D97-AF65-F5344CB8AC3E}">
        <p14:creationId xmlns:p14="http://schemas.microsoft.com/office/powerpoint/2010/main" val="72410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E194C-B19D-65EB-4041-A4014B4D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D5E78A0-8F2F-2DB6-37D6-8E1BAE4D0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B9CCAC39-FC40-F4F9-CD50-EB3EC42CF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DE0C758-8902-4203-3DDE-F183E2F950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7CBA4388-DEF6-7461-C202-D997D9504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C5A769C-0F4C-D208-FDCD-C939791FE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E5798ED-DD24-29E9-E92E-EE39C090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基本電流源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661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74" name="Rectangle 6161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75" name="Group 616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176" name="Rectangle 616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7" name="Rectangle 616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7" name="Rectangle 616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69" name="Rectangle 616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9840970-E941-A06B-156F-9C3F9DDD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ja-JP" altLang="en-US" sz="3600"/>
              <a:t>基本</a:t>
            </a:r>
            <a:r>
              <a:rPr kumimoji="1" lang="ja-JP" altLang="en-US" sz="3600"/>
              <a:t>電流源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AB25A8-A409-F779-F8D0-3C0006C35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 lnSpcReduction="10000"/>
          </a:bodyPr>
          <a:lstStyle/>
          <a:p>
            <a:r>
              <a:rPr lang="en-US" altLang="ja-JP" sz="3200" dirty="0"/>
              <a:t>I</a:t>
            </a:r>
            <a:r>
              <a:rPr lang="ja-JP" altLang="en-US" sz="3200" dirty="0"/>
              <a:t>＝</a:t>
            </a:r>
            <a:r>
              <a:rPr lang="en-US" altLang="ja-JP" sz="3200" dirty="0"/>
              <a:t>V/R</a:t>
            </a:r>
          </a:p>
          <a:p>
            <a:pPr lvl="1"/>
            <a:r>
              <a:rPr lang="en-US" altLang="ja-JP" dirty="0"/>
              <a:t>OPAMP</a:t>
            </a:r>
            <a:r>
              <a:rPr lang="ja-JP" altLang="en-US" dirty="0"/>
              <a:t>設計に合わせて</a:t>
            </a:r>
            <a:endParaRPr lang="en-US" altLang="ja-JP" dirty="0"/>
          </a:p>
          <a:p>
            <a:pPr lvl="2"/>
            <a:r>
              <a:rPr lang="ja-JP" altLang="en-US" sz="2400" dirty="0"/>
              <a:t>チャネル長 </a:t>
            </a:r>
            <a:r>
              <a:rPr lang="en" altLang="ja-JP" sz="2400" dirty="0"/>
              <a:t>L </a:t>
            </a:r>
            <a:r>
              <a:rPr lang="ja-JP" altLang="en-US" sz="2400" dirty="0"/>
              <a:t>＝</a:t>
            </a:r>
            <a:r>
              <a:rPr lang="en-US" altLang="ja-JP" sz="2400" dirty="0"/>
              <a:t> 1um</a:t>
            </a:r>
          </a:p>
          <a:p>
            <a:pPr lvl="2"/>
            <a:r>
              <a:rPr lang="en-US" altLang="ja-JP" sz="2400" dirty="0"/>
              <a:t>W/L = 30 </a:t>
            </a:r>
          </a:p>
          <a:p>
            <a:pPr lvl="1"/>
            <a:endParaRPr lang="en-US" altLang="ja-JP" dirty="0"/>
          </a:p>
          <a:p>
            <a:pPr lvl="2"/>
            <a:r>
              <a:rPr lang="ja-JP" altLang="en-US" sz="2400" dirty="0"/>
              <a:t>参照電流 </a:t>
            </a:r>
            <a:r>
              <a:rPr lang="en-US" altLang="ja-JP" sz="2400" dirty="0"/>
              <a:t>(</a:t>
            </a:r>
            <a:r>
              <a:rPr lang="en" altLang="ja-JP" sz="2400" dirty="0"/>
              <a:t>i1) </a:t>
            </a:r>
            <a:r>
              <a:rPr lang="en-US" altLang="ja-JP" sz="2400" dirty="0"/>
              <a:t>=  50 </a:t>
            </a:r>
            <a:r>
              <a:rPr lang="en" altLang="ja-JP" sz="2400" dirty="0"/>
              <a:t>uA</a:t>
            </a:r>
            <a:r>
              <a:rPr lang="ja-JP" altLang="en-US" sz="2400" dirty="0"/>
              <a:t> となるように</a:t>
            </a:r>
            <a:r>
              <a:rPr lang="en-US" altLang="ja-JP" sz="2400" dirty="0"/>
              <a:t>R</a:t>
            </a:r>
            <a:r>
              <a:rPr lang="ja-JP" altLang="en-US" sz="2400" dirty="0"/>
              <a:t>を調整</a:t>
            </a:r>
            <a:endParaRPr lang="en-US" altLang="ja-JP" sz="2400" dirty="0"/>
          </a:p>
          <a:p>
            <a:pPr lvl="1"/>
            <a:endParaRPr lang="en-US" altLang="ja-JP" sz="2800" dirty="0"/>
          </a:p>
          <a:p>
            <a:pPr lvl="1"/>
            <a:r>
              <a:rPr lang="ja-JP" altLang="en-US" sz="2800" dirty="0"/>
              <a:t>サンプル：</a:t>
            </a:r>
            <a:r>
              <a:rPr lang="en-US" altLang="ja-JP" sz="2800" dirty="0"/>
              <a:t>cs-</a:t>
            </a:r>
            <a:r>
              <a:rPr lang="en-US" altLang="ja-JP" sz="2800" dirty="0" err="1"/>
              <a:t>basic.sch</a:t>
            </a:r>
            <a:endParaRPr lang="en-US" altLang="ja-JP" sz="2800" dirty="0"/>
          </a:p>
        </p:txBody>
      </p:sp>
      <p:sp>
        <p:nvSpPr>
          <p:cNvPr id="6171" name="Rectangle 6170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73" name="Straight Connector 617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5">
            <a:extLst>
              <a:ext uri="{FF2B5EF4-FFF2-40B4-BE49-F238E27FC236}">
                <a16:creationId xmlns:a16="http://schemas.microsoft.com/office/drawing/2014/main" id="{5B0541A5-2692-F79D-9EC4-A4730DC9E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968" y="1847155"/>
            <a:ext cx="4543551" cy="3436939"/>
          </a:xfrm>
          <a:prstGeom prst="rect">
            <a:avLst/>
          </a:prstGeom>
        </p:spPr>
      </p:pic>
      <p:sp>
        <p:nvSpPr>
          <p:cNvPr id="4" name="角丸四角形吹き出し 3">
            <a:extLst>
              <a:ext uri="{FF2B5EF4-FFF2-40B4-BE49-F238E27FC236}">
                <a16:creationId xmlns:a16="http://schemas.microsoft.com/office/drawing/2014/main" id="{76AAE67D-D3F7-554F-DB47-D6BBAAC4D019}"/>
              </a:ext>
            </a:extLst>
          </p:cNvPr>
          <p:cNvSpPr/>
          <p:nvPr/>
        </p:nvSpPr>
        <p:spPr>
          <a:xfrm>
            <a:off x="9850945" y="2225517"/>
            <a:ext cx="1110343" cy="598407"/>
          </a:xfrm>
          <a:prstGeom prst="wedgeRoundRectCallout">
            <a:avLst>
              <a:gd name="adj1" fmla="val -58670"/>
              <a:gd name="adj2" fmla="val 8734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これで制御</a:t>
            </a:r>
          </a:p>
        </p:txBody>
      </p:sp>
    </p:spTree>
    <p:extLst>
      <p:ext uri="{BB962C8B-B14F-4D97-AF65-F5344CB8AC3E}">
        <p14:creationId xmlns:p14="http://schemas.microsoft.com/office/powerpoint/2010/main" val="1161660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324FEC2-3F5D-D2AD-D4AB-CFBAEC38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anchor="ctr">
            <a:normAutofit/>
          </a:bodyPr>
          <a:lstStyle/>
          <a:p>
            <a:r>
              <a:rPr kumimoji="1" lang="ja-JP" altLang="en-US" sz="3200"/>
              <a:t>出力結果</a:t>
            </a:r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7" name="Rectangle 8206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4B8D82-CC70-F3A8-37AB-98E74D484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495567"/>
            <a:ext cx="6586915" cy="2157239"/>
          </a:xfrm>
        </p:spPr>
        <p:txBody>
          <a:bodyPr anchor="ctr">
            <a:normAutofit/>
          </a:bodyPr>
          <a:lstStyle/>
          <a:p>
            <a:r>
              <a:rPr lang="ja-JP" altLang="en-US" sz="2000" dirty="0"/>
              <a:t>問題点</a:t>
            </a:r>
            <a:endParaRPr lang="en-US" altLang="ja-JP" sz="2000" dirty="0"/>
          </a:p>
          <a:p>
            <a:pPr lvl="1"/>
            <a:r>
              <a:rPr lang="ja-JP" altLang="en-US" sz="1600" dirty="0"/>
              <a:t>電源電圧に比例して、変動してしまう</a:t>
            </a:r>
            <a:endParaRPr lang="en-US" altLang="ja-JP" sz="1600" dirty="0"/>
          </a:p>
          <a:p>
            <a:pPr lvl="2"/>
            <a:r>
              <a:rPr lang="ja-JP" altLang="en-US" sz="1200" dirty="0"/>
              <a:t>これは当たり前</a:t>
            </a:r>
            <a:endParaRPr lang="en-US" altLang="ja-JP" sz="1200" dirty="0"/>
          </a:p>
          <a:p>
            <a:pPr lvl="1"/>
            <a:r>
              <a:rPr lang="ja-JP" altLang="en-US" sz="1600" dirty="0"/>
              <a:t>温度変化にも弱い：</a:t>
            </a:r>
            <a:r>
              <a:rPr lang="en-US" altLang="ja-JP" sz="1600" dirty="0"/>
              <a:t>2</a:t>
            </a:r>
            <a:r>
              <a:rPr lang="ja-JP" altLang="en-US" sz="1600" dirty="0"/>
              <a:t>割も変動する</a:t>
            </a:r>
            <a:endParaRPr lang="en-US" altLang="ja-JP" sz="1600" dirty="0"/>
          </a:p>
          <a:p>
            <a:pPr lvl="2"/>
            <a:r>
              <a:rPr lang="ja-JP" altLang="en-US" sz="1200" dirty="0"/>
              <a:t>これがマズイ</a:t>
            </a:r>
            <a:endParaRPr lang="en-US" altLang="ja-JP" sz="1200" dirty="0"/>
          </a:p>
          <a:p>
            <a:pPr lvl="2"/>
            <a:r>
              <a:rPr lang="ja-JP" altLang="en-US" sz="1200" dirty="0"/>
              <a:t>電流源の変動＝すべての回路のバイアスが変動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1312CF-1BA7-477C-7808-4CEE9F7E7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90" y="205193"/>
            <a:ext cx="4230670" cy="366534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1260318-55B7-D97F-14C7-2A83E79B4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761" y="205193"/>
            <a:ext cx="4230670" cy="371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1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509ED-54FC-1703-5C20-A6463823D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92E7C26-BB64-4861-3A89-E7BCC2282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06F5C610-2CAF-C7FF-F73F-614B6511E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D4140DB-4712-24BC-8C1D-5BA714306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D7735BB6-790B-7483-DEFD-7B65383BC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A6E17F13-0195-CAFD-DFAF-586A2CD85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5B6909B-3FCC-12A5-F9A4-72E969019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" altLang="ja-JP" sz="4000">
                <a:solidFill>
                  <a:schemeClr val="bg2"/>
                </a:solidFill>
              </a:rPr>
              <a:t>Vth-referenced </a:t>
            </a:r>
            <a:r>
              <a:rPr lang="ja-JP" altLang="en-US" sz="4000">
                <a:solidFill>
                  <a:schemeClr val="bg2"/>
                </a:solidFill>
              </a:rPr>
              <a:t>自己バイアス電流源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4703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51" name="Rectangle 925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7317F2E-9148-BC51-CBEE-C686B059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" altLang="ja-JP" sz="3700"/>
              <a:t>Vth-referenced </a:t>
            </a:r>
            <a:r>
              <a:rPr lang="ja-JP" altLang="en-US" sz="3700"/>
              <a:t>自己バイアス電流源</a:t>
            </a:r>
            <a:endParaRPr kumimoji="1" lang="ja-JP" altLang="en-US" sz="3700"/>
          </a:p>
        </p:txBody>
      </p:sp>
      <p:grpSp>
        <p:nvGrpSpPr>
          <p:cNvPr id="9253" name="Group 925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254" name="Rectangle 925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55" name="Rectangle 925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57" name="Rectangle 925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5D31CB-B8CF-78FE-65CF-319F51112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" altLang="ja-JP" sz="1600"/>
              <a:t>OPAMP</a:t>
            </a:r>
            <a:r>
              <a:rPr lang="ja-JP" altLang="en-US" sz="1600"/>
              <a:t>用のため約</a:t>
            </a:r>
            <a:r>
              <a:rPr lang="en-US" altLang="ja-JP" sz="1600"/>
              <a:t>50u</a:t>
            </a:r>
            <a:r>
              <a:rPr lang="en" altLang="ja-JP" sz="1600"/>
              <a:t>A</a:t>
            </a:r>
            <a:r>
              <a:rPr lang="ja-JP" altLang="en-US" sz="1600"/>
              <a:t>で設計</a:t>
            </a:r>
            <a:endParaRPr lang="en-US" altLang="ja-JP" sz="1600"/>
          </a:p>
          <a:p>
            <a:pPr lvl="1"/>
            <a:r>
              <a:rPr kumimoji="1" lang="en-US" altLang="ja-JP" sz="1600"/>
              <a:t>10uA</a:t>
            </a:r>
            <a:r>
              <a:rPr kumimoji="1" lang="ja-JP" altLang="en-US" sz="1600"/>
              <a:t>でない理由はカレントミラー参照</a:t>
            </a:r>
            <a:endParaRPr kumimoji="1" lang="en-US" altLang="ja-JP" sz="1600"/>
          </a:p>
          <a:p>
            <a:pPr lvl="2"/>
            <a:r>
              <a:rPr kumimoji="1" lang="en-US" altLang="ja-JP" sz="1600"/>
              <a:t>OPAMP</a:t>
            </a:r>
            <a:r>
              <a:rPr kumimoji="1" lang="ja-JP" altLang="en-US" sz="1600"/>
              <a:t>は約</a:t>
            </a:r>
            <a:r>
              <a:rPr kumimoji="1" lang="en-US" altLang="ja-JP" sz="1600"/>
              <a:t>10uA</a:t>
            </a:r>
            <a:r>
              <a:rPr kumimoji="1" lang="ja-JP" altLang="en-US" sz="1600"/>
              <a:t>で設計されている</a:t>
            </a:r>
            <a:endParaRPr kumimoji="1" lang="en-US" altLang="ja-JP" sz="1600"/>
          </a:p>
          <a:p>
            <a:r>
              <a:rPr lang="ja-JP" altLang="en-US" sz="1600"/>
              <a:t>動作原理</a:t>
            </a:r>
            <a:endParaRPr lang="en-US" altLang="ja-JP" sz="1600"/>
          </a:p>
          <a:p>
            <a:pPr lvl="1"/>
            <a:r>
              <a:rPr lang="en-US" altLang="ja-JP" sz="1600"/>
              <a:t>M1</a:t>
            </a:r>
            <a:r>
              <a:rPr lang="ja-JP" altLang="en-US" sz="1600"/>
              <a:t>・</a:t>
            </a:r>
            <a:r>
              <a:rPr lang="en-US" altLang="ja-JP" sz="1600"/>
              <a:t>M2</a:t>
            </a:r>
            <a:r>
              <a:rPr lang="ja-JP" altLang="en-US" sz="1600"/>
              <a:t>に流れるドレイン電流がトランジスタのしきい値電圧によって</a:t>
            </a:r>
            <a:r>
              <a:rPr lang="en-US" altLang="ja-JP" sz="1600"/>
              <a:t>Vth/R</a:t>
            </a:r>
            <a:r>
              <a:rPr lang="ja-JP" altLang="en-US" sz="1600"/>
              <a:t>となる</a:t>
            </a:r>
            <a:endParaRPr lang="en-US" altLang="ja-JP" sz="1600"/>
          </a:p>
          <a:p>
            <a:pPr lvl="2"/>
            <a:r>
              <a:rPr lang="en-US" altLang="ja-JP" sz="1600" dirty="0"/>
              <a:t>M3 </a:t>
            </a:r>
            <a:r>
              <a:rPr lang="ja-JP" altLang="en-US" sz="1600" dirty="0"/>
              <a:t>と </a:t>
            </a:r>
            <a:r>
              <a:rPr lang="en-US" altLang="ja-JP" sz="1600" dirty="0"/>
              <a:t>M4 </a:t>
            </a:r>
            <a:r>
              <a:rPr lang="ja-JP" altLang="en-US" sz="1600" dirty="0"/>
              <a:t>のつなぎ方がカレントミラー</a:t>
            </a:r>
            <a:endParaRPr lang="en-US" altLang="ja-JP" sz="1600" dirty="0"/>
          </a:p>
          <a:p>
            <a:pPr lvl="2"/>
            <a:r>
              <a:rPr lang="en-US" altLang="ja-JP" sz="1600" dirty="0"/>
              <a:t>M1 </a:t>
            </a:r>
            <a:r>
              <a:rPr lang="ja-JP" altLang="en-US" sz="1600" dirty="0"/>
              <a:t>と </a:t>
            </a:r>
            <a:r>
              <a:rPr lang="en-US" altLang="ja-JP" sz="1600" dirty="0"/>
              <a:t>M2 </a:t>
            </a:r>
            <a:r>
              <a:rPr lang="ja-JP" altLang="en-US" sz="1600" dirty="0"/>
              <a:t>のつなぎ方がカレントミラー</a:t>
            </a:r>
            <a:r>
              <a:rPr lang="ja-JP" altLang="en-US" sz="1600"/>
              <a:t>改</a:t>
            </a:r>
            <a:endParaRPr lang="en-US" altLang="ja-JP" sz="1600"/>
          </a:p>
          <a:p>
            <a:pPr lvl="2"/>
            <a:endParaRPr kumimoji="1" lang="en-US" altLang="ja-JP" sz="1600" dirty="0"/>
          </a:p>
          <a:p>
            <a:pPr lvl="1"/>
            <a:r>
              <a:rPr lang="ja-JP" altLang="en-US" sz="1600"/>
              <a:t>サンプル：</a:t>
            </a:r>
            <a:r>
              <a:rPr lang="en-US" altLang="ja-JP" sz="1600"/>
              <a:t>cs-vth-ref.sch</a:t>
            </a:r>
            <a:endParaRPr kumimoji="1" lang="en-US" altLang="ja-JP" sz="1600"/>
          </a:p>
        </p:txBody>
      </p:sp>
      <p:sp>
        <p:nvSpPr>
          <p:cNvPr id="9259" name="Rectangle 925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61" name="Rectangle 926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F1E2B4F-BBDE-8A97-91B2-001B468EB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055" y="676873"/>
            <a:ext cx="5575860" cy="550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16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60" name="Rectangle 10259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29D169-CA80-375D-E245-29C7B94C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anchor="ctr">
            <a:normAutofit/>
          </a:bodyPr>
          <a:lstStyle/>
          <a:p>
            <a:r>
              <a:rPr kumimoji="1" lang="ja-JP" altLang="en-US" sz="3200"/>
              <a:t>出力結果</a:t>
            </a:r>
          </a:p>
        </p:txBody>
      </p:sp>
      <p:sp>
        <p:nvSpPr>
          <p:cNvPr id="10262" name="Rectangle 1026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4" name="Rectangle 1026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6" name="Rectangle 1026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3E5C67-7337-8B2E-B8BB-A1CA310F2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495568"/>
            <a:ext cx="6586915" cy="1905232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電源電圧に対して、変動はほぼない</a:t>
            </a:r>
          </a:p>
          <a:p>
            <a:r>
              <a:rPr lang="ja-JP" altLang="en-US" sz="1800" dirty="0"/>
              <a:t>温度変動に対して、変動は約</a:t>
            </a:r>
            <a:r>
              <a:rPr lang="en-US" altLang="ja-JP" sz="1800" dirty="0"/>
              <a:t>30%</a:t>
            </a:r>
          </a:p>
          <a:p>
            <a:pPr lvl="1"/>
            <a:r>
              <a:rPr lang="en" altLang="ja-JP" sz="1400" dirty="0"/>
              <a:t>Vth</a:t>
            </a:r>
            <a:r>
              <a:rPr lang="ja-JP" altLang="en-US" sz="1400" dirty="0"/>
              <a:t>を参照しているため温度による</a:t>
            </a:r>
            <a:r>
              <a:rPr lang="en" altLang="ja-JP" sz="1400" dirty="0"/>
              <a:t>Vth</a:t>
            </a:r>
            <a:r>
              <a:rPr lang="ja-JP" altLang="en-US" sz="1400" dirty="0"/>
              <a:t>の変動が影響するため</a:t>
            </a:r>
            <a:endParaRPr lang="en-US" altLang="ja-JP" sz="1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5B53438-6EF9-3E59-C54E-D8ED30D3C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46" y="289397"/>
            <a:ext cx="3991100" cy="348954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7935708-7FB5-1CAC-969F-29E2E6795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866" y="289397"/>
            <a:ext cx="3895904" cy="351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93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0A9B8-24B5-847B-D2D6-0688F3A7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F3D4613-DEA0-DD76-BC62-010944263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742B5FCA-83A4-A93B-DE86-CD362419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2772774-078F-B4A9-2318-819F2AC2F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66D5AAC5-74BE-7A7C-EA42-8E29CD9F2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2D61C8E-6D28-9ECA-3DC6-64A332619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858E54D-05D2-BD15-BF31-EF0C11D85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カレントミラー</a:t>
            </a:r>
          </a:p>
        </p:txBody>
      </p:sp>
    </p:spTree>
    <p:extLst>
      <p:ext uri="{BB962C8B-B14F-4D97-AF65-F5344CB8AC3E}">
        <p14:creationId xmlns:p14="http://schemas.microsoft.com/office/powerpoint/2010/main" val="42454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0D8ED42-550D-B09D-9AC6-887418A0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kumimoji="1" lang="ja-JP" altLang="en-US" sz="4000"/>
              <a:t>カレントミラー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2FC171-C168-3D91-0CD9-E58EFC74F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951873" cy="3979585"/>
          </a:xfrm>
        </p:spPr>
        <p:txBody>
          <a:bodyPr anchor="ctr">
            <a:normAutofit/>
          </a:bodyPr>
          <a:lstStyle/>
          <a:p>
            <a:r>
              <a:rPr lang="ja-JP" altLang="en-US"/>
              <a:t>役割・機能</a:t>
            </a:r>
            <a:endParaRPr kumimoji="1" lang="en-US" altLang="ja-JP"/>
          </a:p>
          <a:p>
            <a:pPr lvl="1"/>
            <a:r>
              <a:rPr lang="ja-JP" altLang="en-US" sz="2000"/>
              <a:t>その名の通り、ある基準となる電流（参照電流）を「鏡（ミラー）」のように複製し、別の回路ブロックに供給する役割</a:t>
            </a:r>
            <a:endParaRPr lang="en-US" altLang="ja-JP" sz="2000"/>
          </a:p>
          <a:p>
            <a:pPr lvl="2"/>
            <a:r>
              <a:rPr lang="ja-JP" altLang="en-US" sz="1600"/>
              <a:t>回路内の複数の箇所に正確で安定した電流を供給する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図 6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9ED7508E-A6C5-1C74-657E-25979F7EF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8" b="-3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31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A7D41E-2982-ABF5-55A8-2A12588C3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kumimoji="1" lang="ja-JP" altLang="en-US" sz="3600"/>
              <a:t>動作内容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6EF264-9144-3E29-D5B1-3A662BA43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ja-JP" altLang="en-US" sz="1500">
                <a:latin typeface="+mn-ea"/>
              </a:rPr>
              <a:t>マスター側（</a:t>
            </a:r>
            <a:r>
              <a:rPr lang="en-US" altLang="ja-JP" sz="1500">
                <a:latin typeface="+mn-ea"/>
              </a:rPr>
              <a:t>XM3</a:t>
            </a:r>
            <a:r>
              <a:rPr lang="ja-JP" altLang="en-US" sz="1500">
                <a:latin typeface="+mn-ea"/>
              </a:rPr>
              <a:t>）の</a:t>
            </a:r>
            <a:r>
              <a:rPr lang="en-US" altLang="ja-JP" sz="1500">
                <a:latin typeface="+mn-ea"/>
              </a:rPr>
              <a:t>MOSFET</a:t>
            </a:r>
            <a:r>
              <a:rPr lang="ja-JP" altLang="en-US" sz="1500">
                <a:latin typeface="+mn-ea"/>
              </a:rPr>
              <a:t>は、ゲートとドレインを接続してダイオード接続とする</a:t>
            </a:r>
            <a:endParaRPr lang="en-US" altLang="ja-JP" sz="1500">
              <a:latin typeface="+mn-ea"/>
            </a:endParaRPr>
          </a:p>
          <a:p>
            <a:pPr lvl="1"/>
            <a:r>
              <a:rPr lang="ja-JP" altLang="en-US" sz="1500">
                <a:latin typeface="+mn-ea"/>
              </a:rPr>
              <a:t>ドレイン電流によってゲート</a:t>
            </a:r>
            <a:r>
              <a:rPr lang="en-US" altLang="ja-JP" sz="1500">
                <a:latin typeface="+mn-ea"/>
              </a:rPr>
              <a:t>-</a:t>
            </a:r>
            <a:r>
              <a:rPr lang="ja-JP" altLang="en-US" sz="1500">
                <a:latin typeface="+mn-ea"/>
              </a:rPr>
              <a:t>ソース間電圧が決定される</a:t>
            </a:r>
          </a:p>
          <a:p>
            <a:r>
              <a:rPr lang="ja-JP" altLang="en-US" sz="1500">
                <a:latin typeface="+mn-ea"/>
              </a:rPr>
              <a:t>スレーブ側（</a:t>
            </a:r>
            <a:r>
              <a:rPr lang="en-US" altLang="ja-JP" sz="1500">
                <a:latin typeface="+mn-ea"/>
              </a:rPr>
              <a:t>XM2</a:t>
            </a:r>
            <a:r>
              <a:rPr lang="ja-JP" altLang="en-US" sz="1500">
                <a:latin typeface="+mn-ea"/>
              </a:rPr>
              <a:t>）の</a:t>
            </a:r>
            <a:r>
              <a:rPr lang="en-US" altLang="ja-JP" sz="1500">
                <a:latin typeface="+mn-ea"/>
              </a:rPr>
              <a:t>MOSFET</a:t>
            </a:r>
            <a:r>
              <a:rPr lang="ja-JP" altLang="en-US" sz="1500">
                <a:latin typeface="+mn-ea"/>
              </a:rPr>
              <a:t>のゲートは、マスター側のゲートに接続する</a:t>
            </a:r>
          </a:p>
          <a:p>
            <a:pPr lvl="1"/>
            <a:r>
              <a:rPr lang="ja-JP" altLang="en-US" sz="1500">
                <a:latin typeface="+mn-ea"/>
              </a:rPr>
              <a:t>両方の</a:t>
            </a:r>
            <a:r>
              <a:rPr lang="en-US" altLang="ja-JP" sz="1500">
                <a:latin typeface="+mn-ea"/>
              </a:rPr>
              <a:t>MOSFET</a:t>
            </a:r>
            <a:r>
              <a:rPr lang="ja-JP" altLang="en-US" sz="1500">
                <a:latin typeface="+mn-ea"/>
              </a:rPr>
              <a:t>が同じ特性を持ち、飽和領域で動作している場合、マスター側のゲート</a:t>
            </a:r>
            <a:r>
              <a:rPr lang="en-US" altLang="ja-JP" sz="1500">
                <a:latin typeface="+mn-ea"/>
              </a:rPr>
              <a:t>-</a:t>
            </a:r>
            <a:r>
              <a:rPr lang="ja-JP" altLang="en-US" sz="1500">
                <a:latin typeface="+mn-ea"/>
              </a:rPr>
              <a:t>ソース間電圧がスレーブ側にも印加されるため、スレーブ側のドレイン電流はマスター側の参照電流とほぼ同じになる</a:t>
            </a:r>
          </a:p>
          <a:p>
            <a:pPr lvl="2"/>
            <a:r>
              <a:rPr lang="en-US" altLang="ja-JP" sz="1500">
                <a:latin typeface="+mn-ea"/>
              </a:rPr>
              <a:t>W/L</a:t>
            </a:r>
            <a:r>
              <a:rPr lang="ja-JP" altLang="en-US" sz="1500">
                <a:latin typeface="+mn-ea"/>
              </a:rPr>
              <a:t>比を変更することで、参照電流の</a:t>
            </a:r>
            <a:r>
              <a:rPr lang="en-US" altLang="ja-JP" sz="1500">
                <a:latin typeface="+mn-ea"/>
              </a:rPr>
              <a:t>n</a:t>
            </a:r>
            <a:r>
              <a:rPr lang="ja-JP" altLang="en-US" sz="1500">
                <a:latin typeface="+mn-ea"/>
              </a:rPr>
              <a:t>倍や</a:t>
            </a:r>
            <a:r>
              <a:rPr lang="en-US" altLang="ja-JP" sz="1500">
                <a:latin typeface="+mn-ea"/>
              </a:rPr>
              <a:t>1/n</a:t>
            </a:r>
            <a:r>
              <a:rPr lang="ja-JP" altLang="en-US" sz="1500">
                <a:latin typeface="+mn-ea"/>
              </a:rPr>
              <a:t>倍の電流を生成することも可能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8A63517B-8DA3-DB4E-033C-07243C3FD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8" b="-3"/>
          <a:stretch>
            <a:fillRect/>
          </a:stretch>
        </p:blipFill>
        <p:spPr>
          <a:xfrm>
            <a:off x="6055591" y="650494"/>
            <a:ext cx="5492311" cy="532414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E44349C-DDFC-C8FB-004C-0903329F5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90" y="216315"/>
            <a:ext cx="1339419" cy="189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22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325085-A72F-3E88-6C36-DA5D8A94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kumimoji="1" lang="ja-JP" altLang="en-US" sz="4000"/>
              <a:t>数式</a:t>
            </a:r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CE79163-36C7-0FCC-A02B-E12C64DE4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330505"/>
                <a:ext cx="4559425" cy="3979585"/>
              </a:xfrm>
            </p:spPr>
            <p:txBody>
              <a:bodyPr anchor="ctr">
                <a:normAutofit/>
              </a:bodyPr>
              <a:lstStyle/>
              <a:p>
                <a:r>
                  <a:rPr lang="en" altLang="ja-JP" sz="2000"/>
                  <a:t>M3</a:t>
                </a:r>
                <a:r>
                  <a:rPr lang="ja-JP" altLang="en-US" sz="2000"/>
                  <a:t>と</a:t>
                </a:r>
                <a:r>
                  <a:rPr lang="en-US" altLang="ja-JP" sz="2000"/>
                  <a:t>M2</a:t>
                </a:r>
                <a:r>
                  <a:rPr lang="ja-JP" altLang="en-US" sz="2000"/>
                  <a:t>が同一の場合、</a:t>
                </a:r>
                <a:r>
                  <a:rPr lang="en" altLang="ja-JP" sz="2000"/>
                  <a:t>V</a:t>
                </a:r>
                <a:r>
                  <a:rPr lang="en" altLang="ja-JP" sz="2000" baseline="-25000"/>
                  <a:t>GS3</a:t>
                </a:r>
                <a:r>
                  <a:rPr lang="en" altLang="ja-JP" sz="2000"/>
                  <a:t>=V</a:t>
                </a:r>
                <a:r>
                  <a:rPr lang="en" altLang="ja-JP" sz="2000" baseline="-25000"/>
                  <a:t>GS2</a:t>
                </a:r>
                <a:endParaRPr lang="en-US" altLang="ja-JP" sz="2000"/>
              </a:p>
              <a:p>
                <a:pPr lvl="1"/>
                <a:r>
                  <a:rPr lang="en" altLang="ja-JP" sz="1600"/>
                  <a:t>I</a:t>
                </a:r>
                <a:r>
                  <a:rPr lang="en" altLang="ja-JP" sz="1600" baseline="-25000"/>
                  <a:t>ref​</a:t>
                </a:r>
                <a:r>
                  <a:rPr lang="en" altLang="ja-JP" sz="16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" altLang="ja-JP" sz="1600"/>
                  <a:t>​</a:t>
                </a:r>
                <a:r>
                  <a:rPr lang="el-GR" altLang="ja-JP" sz="1600"/>
                  <a:t>μ</a:t>
                </a:r>
                <a:r>
                  <a:rPr lang="en" altLang="ja-JP" sz="1600"/>
                  <a:t>Cox​(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1600"/>
                  <a:t>​)</a:t>
                </a:r>
                <a:r>
                  <a:rPr lang="en" altLang="ja-JP" sz="1600" baseline="-25000"/>
                  <a:t>3</a:t>
                </a:r>
                <a:r>
                  <a:rPr lang="en" altLang="ja-JP" sz="1600"/>
                  <a:t>​(V</a:t>
                </a:r>
                <a:r>
                  <a:rPr lang="en" altLang="ja-JP" sz="1600" baseline="-25000"/>
                  <a:t>GS</a:t>
                </a:r>
                <a:r>
                  <a:rPr lang="en" altLang="ja-JP" sz="1600"/>
                  <a:t>​−Vth​)</a:t>
                </a:r>
                <a:r>
                  <a:rPr lang="en" altLang="ja-JP" sz="1600" baseline="30000"/>
                  <a:t>2</a:t>
                </a:r>
                <a:r>
                  <a:rPr lang="en" altLang="ja-JP" sz="1600"/>
                  <a:t> </a:t>
                </a:r>
              </a:p>
              <a:p>
                <a:pPr lvl="1"/>
                <a:r>
                  <a:rPr lang="en" altLang="ja-JP" sz="1600"/>
                  <a:t>I</a:t>
                </a:r>
                <a:r>
                  <a:rPr lang="en" altLang="ja-JP" sz="1600" baseline="-25000"/>
                  <a:t>out​</a:t>
                </a:r>
                <a:r>
                  <a:rPr lang="en" altLang="ja-JP" sz="16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" altLang="ja-JP" sz="1600"/>
                  <a:t>​</a:t>
                </a:r>
                <a:r>
                  <a:rPr lang="el-GR" altLang="ja-JP" sz="1600"/>
                  <a:t>μ</a:t>
                </a:r>
                <a:r>
                  <a:rPr lang="en" altLang="ja-JP" sz="1600"/>
                  <a:t>Cox​(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1600"/>
                  <a:t>​)</a:t>
                </a:r>
                <a:r>
                  <a:rPr lang="en" altLang="ja-JP" sz="1600" baseline="-25000"/>
                  <a:t>2</a:t>
                </a:r>
                <a:r>
                  <a:rPr lang="en" altLang="ja-JP" sz="1600"/>
                  <a:t>​(V</a:t>
                </a:r>
                <a:r>
                  <a:rPr lang="en" altLang="ja-JP" sz="1600" baseline="-25000"/>
                  <a:t>GS</a:t>
                </a:r>
                <a:r>
                  <a:rPr lang="en" altLang="ja-JP" sz="1600"/>
                  <a:t>​−Vth​)</a:t>
                </a:r>
                <a:r>
                  <a:rPr lang="en" altLang="ja-JP" sz="1600" baseline="30000"/>
                  <a:t>2</a:t>
                </a:r>
                <a:r>
                  <a:rPr lang="en" altLang="ja-JP" sz="1600"/>
                  <a:t> </a:t>
                </a:r>
              </a:p>
              <a:p>
                <a:pPr lvl="1"/>
                <a:endParaRPr lang="en" altLang="ja-JP" sz="1600" baseline="-25000"/>
              </a:p>
              <a:p>
                <a:r>
                  <a:rPr lang="ja-JP" altLang="en-US" sz="2000"/>
                  <a:t>式を変形して</a:t>
                </a:r>
                <a:endParaRPr lang="en" altLang="ja-JP" sz="2000"/>
              </a:p>
              <a:p>
                <a:pPr lvl="1"/>
                <a:r>
                  <a:rPr lang="en" altLang="ja-JP" sz="1600"/>
                  <a:t>I</a:t>
                </a:r>
                <a:r>
                  <a:rPr lang="en" altLang="ja-JP" sz="1600" baseline="-25000"/>
                  <a:t>out</a:t>
                </a:r>
                <a:r>
                  <a:rPr lang="en" altLang="ja-JP" sz="1600"/>
                  <a:t>​=I</a:t>
                </a:r>
                <a:r>
                  <a:rPr lang="en" altLang="ja-JP" sz="1600" baseline="-25000"/>
                  <a:t>ref​</a:t>
                </a:r>
                <a:r>
                  <a:rPr lang="en" altLang="ja-JP" sz="1600"/>
                  <a:t>×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1600"/>
                  <a:t>​)</a:t>
                </a:r>
                <a:r>
                  <a:rPr lang="en" altLang="ja-JP" sz="1600" baseline="-25000"/>
                  <a:t>2 </a:t>
                </a:r>
                <a:r>
                  <a:rPr lang="en" altLang="ja-JP" sz="1600"/>
                  <a:t>/​(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1600"/>
                  <a:t>​)</a:t>
                </a:r>
                <a:r>
                  <a:rPr lang="en" altLang="ja-JP" sz="1600" baseline="-25000"/>
                  <a:t>3 </a:t>
                </a:r>
              </a:p>
              <a:p>
                <a:endParaRPr lang="en" altLang="ja-JP" sz="2000"/>
              </a:p>
              <a:p>
                <a:r>
                  <a:rPr lang="en" altLang="ja-JP" sz="200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2000"/>
                  <a:t>​)</a:t>
                </a:r>
                <a:r>
                  <a:rPr lang="en" altLang="ja-JP" sz="2000" baseline="-25000"/>
                  <a:t>2 </a:t>
                </a:r>
                <a:r>
                  <a:rPr lang="en" altLang="ja-JP" sz="2000"/>
                  <a:t>=​(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2000"/>
                  <a:t>​)</a:t>
                </a:r>
                <a:r>
                  <a:rPr lang="en" altLang="ja-JP" sz="2000" baseline="-25000"/>
                  <a:t>3</a:t>
                </a:r>
                <a:r>
                  <a:rPr lang="ja-JP" altLang="en-US" sz="2000"/>
                  <a:t>の場合</a:t>
                </a:r>
                <a:endParaRPr lang="en" altLang="ja-JP" sz="2000"/>
              </a:p>
              <a:p>
                <a:pPr lvl="1"/>
                <a:r>
                  <a:rPr lang="en" altLang="ja-JP" sz="1600"/>
                  <a:t>I</a:t>
                </a:r>
                <a:r>
                  <a:rPr lang="en" altLang="ja-JP" sz="1600" baseline="-25000"/>
                  <a:t>out</a:t>
                </a:r>
                <a:r>
                  <a:rPr lang="en" altLang="ja-JP" sz="1600"/>
                  <a:t>​=I</a:t>
                </a:r>
                <a:r>
                  <a:rPr lang="en" altLang="ja-JP" sz="1600" baseline="-25000"/>
                  <a:t>ref​</a:t>
                </a:r>
                <a:endParaRPr kumimoji="1" lang="ja-JP" altLang="en-US" sz="160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CE79163-36C7-0FCC-A02B-E12C64DE4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330505"/>
                <a:ext cx="4559425" cy="3979585"/>
              </a:xfrm>
              <a:blipFill>
                <a:blip r:embed="rId2"/>
                <a:stretch>
                  <a:fillRect l="-12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702A0190-81DC-1471-7410-E4B167FA1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8" b="-3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07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2EFBE-5B60-0DFD-0F2E-6D65C997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60C63F4-F3C5-7299-A94A-BC7F34F20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588BC1FE-18AF-D4A5-C57B-F4A53B152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AFD78AE-E897-F7CB-0754-797079142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338F2DDE-D704-8013-9F32-DE6925BD5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E1D3D-1EAB-59CF-A905-E56F54237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BCF90DE-EFB9-C21C-A4FE-2BAEE68C0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スタートアップ回路</a:t>
            </a:r>
          </a:p>
        </p:txBody>
      </p:sp>
    </p:spTree>
    <p:extLst>
      <p:ext uri="{BB962C8B-B14F-4D97-AF65-F5344CB8AC3E}">
        <p14:creationId xmlns:p14="http://schemas.microsoft.com/office/powerpoint/2010/main" val="254390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5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869D990-ABCE-2ACB-253A-B72A223F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ja-JP" altLang="en-US" sz="3600"/>
              <a:t>安定動作点</a:t>
            </a:r>
            <a:endParaRPr kumimoji="1" lang="ja-JP" altLang="en-US" sz="3600"/>
          </a:p>
        </p:txBody>
      </p:sp>
      <p:sp>
        <p:nvSpPr>
          <p:cNvPr id="49" name="Rectangle 3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07052F-912F-157D-DEE5-09937CE10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5" y="2031101"/>
            <a:ext cx="4515657" cy="3796509"/>
          </a:xfrm>
        </p:spPr>
        <p:txBody>
          <a:bodyPr anchor="ctr">
            <a:normAutofit fontScale="92500" lnSpcReduction="10000"/>
          </a:bodyPr>
          <a:lstStyle/>
          <a:p>
            <a:r>
              <a:rPr lang="en" altLang="ja-JP" sz="1800" dirty="0"/>
              <a:t>OPAMP</a:t>
            </a:r>
            <a:r>
              <a:rPr lang="ja-JP" altLang="en-US" sz="1800" dirty="0"/>
              <a:t>用のため約</a:t>
            </a:r>
            <a:r>
              <a:rPr lang="en-US" altLang="ja-JP" sz="1800" dirty="0"/>
              <a:t>50u</a:t>
            </a:r>
            <a:r>
              <a:rPr lang="en" altLang="ja-JP" sz="1800" dirty="0"/>
              <a:t>A</a:t>
            </a:r>
            <a:r>
              <a:rPr lang="ja-JP" altLang="en-US" sz="1800" dirty="0"/>
              <a:t>で設計したので、安定動作点は</a:t>
            </a:r>
            <a:r>
              <a:rPr lang="en-US" altLang="ja-JP" sz="1800" dirty="0"/>
              <a:t>Vth</a:t>
            </a:r>
            <a:r>
              <a:rPr lang="ja-JP" altLang="en-US" sz="1800" dirty="0"/>
              <a:t>となる</a:t>
            </a:r>
            <a:endParaRPr lang="en-US" altLang="ja-JP" sz="1800" dirty="0"/>
          </a:p>
          <a:p>
            <a:pPr lvl="1"/>
            <a:r>
              <a:rPr lang="en-US" altLang="ja-JP" sz="1800" dirty="0"/>
              <a:t>Vth/R = 50uA</a:t>
            </a:r>
            <a:r>
              <a:rPr lang="ja-JP" altLang="en-US" sz="1800" dirty="0"/>
              <a:t> より</a:t>
            </a:r>
            <a:endParaRPr lang="en-US" altLang="ja-JP" sz="1400" dirty="0"/>
          </a:p>
          <a:p>
            <a:r>
              <a:rPr lang="en-US" altLang="ja-JP" sz="1800" dirty="0"/>
              <a:t>0A</a:t>
            </a:r>
            <a:r>
              <a:rPr lang="ja-JP" altLang="en-US" sz="1800" dirty="0"/>
              <a:t>、</a:t>
            </a:r>
            <a:r>
              <a:rPr lang="en-US" altLang="ja-JP" sz="1800" dirty="0"/>
              <a:t>0V</a:t>
            </a:r>
            <a:r>
              <a:rPr lang="ja-JP" altLang="en-US" sz="1800" dirty="0"/>
              <a:t>も安定動作点になる</a:t>
            </a:r>
            <a:endParaRPr lang="en-US" altLang="ja-JP" sz="1800" dirty="0"/>
          </a:p>
          <a:p>
            <a:pPr lvl="1"/>
            <a:r>
              <a:rPr lang="ja-JP" altLang="en-US" sz="1800" dirty="0"/>
              <a:t>静止状態</a:t>
            </a:r>
            <a:endParaRPr lang="en-US" altLang="ja-JP" sz="1800" dirty="0"/>
          </a:p>
          <a:p>
            <a:pPr lvl="1"/>
            <a:r>
              <a:rPr lang="ja-JP" altLang="en-US" sz="1800" dirty="0"/>
              <a:t>対策が必要</a:t>
            </a:r>
            <a:endParaRPr lang="en-US" altLang="ja-JP" sz="1400" dirty="0"/>
          </a:p>
          <a:p>
            <a:r>
              <a:rPr lang="ja-JP" altLang="en-US" sz="1800" dirty="0"/>
              <a:t>対策</a:t>
            </a:r>
            <a:endParaRPr lang="en-US" altLang="ja-JP" sz="1800" dirty="0"/>
          </a:p>
          <a:p>
            <a:pPr lvl="1"/>
            <a:r>
              <a:rPr lang="en-US" altLang="ja-JP" sz="1800" dirty="0"/>
              <a:t>Vth</a:t>
            </a:r>
            <a:r>
              <a:rPr lang="ja-JP" altLang="en-US" sz="1800" dirty="0"/>
              <a:t>より低い電圧で動作するインバータ回路を付加する</a:t>
            </a:r>
            <a:endParaRPr lang="en-US" altLang="ja-JP" sz="1800" dirty="0"/>
          </a:p>
          <a:p>
            <a:pPr lvl="2"/>
            <a:r>
              <a:rPr lang="en-US" altLang="ja-JP" sz="1800" dirty="0"/>
              <a:t>Vth=0.78V</a:t>
            </a:r>
          </a:p>
          <a:p>
            <a:pPr lvl="3"/>
            <a:r>
              <a:rPr lang="en-US" altLang="ja-JP" sz="1600" dirty="0"/>
              <a:t>M2</a:t>
            </a:r>
            <a:r>
              <a:rPr lang="ja-JP" altLang="en-US" sz="1600" dirty="0"/>
              <a:t>が非常に大きくなるため、あまり筋は良くない</a:t>
            </a:r>
            <a:endParaRPr lang="en-US" altLang="ja-JP" sz="1600" dirty="0"/>
          </a:p>
          <a:p>
            <a:pPr lvl="3"/>
            <a:endParaRPr lang="en-US" altLang="ja-JP" sz="1600" dirty="0"/>
          </a:p>
          <a:p>
            <a:pPr lvl="1"/>
            <a:r>
              <a:rPr lang="ja-JP" altLang="en-US" sz="2200" dirty="0"/>
              <a:t>サンプル：</a:t>
            </a:r>
            <a:r>
              <a:rPr lang="en-US" altLang="ja-JP" sz="2200" dirty="0" err="1"/>
              <a:t>cs_startup.sch</a:t>
            </a:r>
            <a:endParaRPr lang="en-US" altLang="ja-JP" sz="2200" dirty="0"/>
          </a:p>
        </p:txBody>
      </p:sp>
      <p:sp>
        <p:nvSpPr>
          <p:cNvPr id="50" name="Rectangle 3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11677B8-9B36-2603-E284-501DEF6A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108" y="540252"/>
            <a:ext cx="4902341" cy="554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233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E15756F-392E-4568-ECF1-0DBAA565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ja-JP" altLang="en-US" sz="3600"/>
              <a:t>接続方法</a:t>
            </a:r>
            <a:endParaRPr kumimoji="1" lang="ja-JP" altLang="en-US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0575F6-1D65-D542-896F-8BD1A61F6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インバータ回路の出力を電流源の出力に接続</a:t>
            </a:r>
            <a:endParaRPr kumimoji="1" lang="en-US" altLang="ja-JP" sz="1800" dirty="0"/>
          </a:p>
          <a:p>
            <a:r>
              <a:rPr kumimoji="1" lang="ja-JP" altLang="en-US" sz="1800" dirty="0"/>
              <a:t>インバータ回路の入力をリファレンス回路に接続</a:t>
            </a:r>
            <a:endParaRPr kumimoji="1" lang="en-US" altLang="ja-JP" sz="1800" dirty="0"/>
          </a:p>
          <a:p>
            <a:endParaRPr lang="en-US" altLang="ja-JP" sz="1800" dirty="0"/>
          </a:p>
          <a:p>
            <a:r>
              <a:rPr kumimoji="1" lang="ja-JP" altLang="en-US" sz="1800" dirty="0"/>
              <a:t>サンプル</a:t>
            </a:r>
            <a:endParaRPr lang="en-US" altLang="ja-JP" sz="1800" dirty="0"/>
          </a:p>
          <a:p>
            <a:pPr lvl="1"/>
            <a:r>
              <a:rPr lang="en-US" altLang="ja-JP" sz="1400" dirty="0" err="1"/>
              <a:t>c</a:t>
            </a:r>
            <a:r>
              <a:rPr kumimoji="1" lang="en-US" altLang="ja-JP" sz="1400" dirty="0" err="1"/>
              <a:t>s_startup_usage.sch</a:t>
            </a:r>
            <a:endParaRPr kumimoji="1" lang="en-US" altLang="ja-JP" sz="1400" dirty="0"/>
          </a:p>
          <a:p>
            <a:pPr lvl="1"/>
            <a:r>
              <a:rPr lang="en-US" altLang="ja-JP" sz="1400" dirty="0" err="1"/>
              <a:t>cs_startup_usage_tb.sch</a:t>
            </a:r>
            <a:endParaRPr kumimoji="1" lang="ja-JP" alt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88AA0EF-D6D6-7A03-3693-37247FA33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151" y="1093005"/>
            <a:ext cx="5466316" cy="466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17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7D0F6-72B4-D8ED-8065-CDB9DC87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C126088-8D1D-0D5E-15B6-E2A85E31F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C5993374-3264-FD00-9123-1B6A5FE4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5CB5C69-25FB-FD4C-D109-F0A56BEB5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52EF8AF7-9950-D492-5605-B7D09D0CC7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5491D38-C9A8-7BF1-8D6E-8F1F9D688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9E3E273-04FE-9ECA-E883-8FB898BA1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電流源の使い方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56357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6F4DEA-361D-BDFF-0DBE-015BAD244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電流源の</a:t>
            </a:r>
            <a:br>
              <a:rPr kumimoji="1" lang="en-US" altLang="ja-JP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kumimoji="1" lang="ja-JP" alt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使い方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コンテンツ プレースホルダー 5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8A55B483-DDFC-FEC9-6E41-A49D4EB02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2112504"/>
            <a:ext cx="5536001" cy="257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14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DD77B92-CB36-4B20-A59A-59625E0F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3D3C323-24FA-6D7E-A119-45158023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kumimoji="1" lang="ja-JP" altLang="en-US" sz="4800"/>
              <a:t>電流源の</a:t>
            </a:r>
            <a:br>
              <a:rPr kumimoji="1" lang="en-US" altLang="ja-JP" sz="4800"/>
            </a:br>
            <a:r>
              <a:rPr kumimoji="1" lang="ja-JP" altLang="en-US" sz="4800"/>
              <a:t>使い方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760F6E0-AFA8-80BA-E0BE-7C7999B7E765}"/>
              </a:ext>
            </a:extLst>
          </p:cNvPr>
          <p:cNvGrpSpPr/>
          <p:nvPr/>
        </p:nvGrpSpPr>
        <p:grpSpPr>
          <a:xfrm>
            <a:off x="5407705" y="1537646"/>
            <a:ext cx="5962720" cy="3932337"/>
            <a:chOff x="954811" y="-86842"/>
            <a:chExt cx="10398989" cy="6858000"/>
          </a:xfrm>
        </p:grpSpPr>
        <p:pic>
          <p:nvPicPr>
            <p:cNvPr id="12" name="図 11" descr="ダイアグラム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6604CF4-BC8C-E2E5-57CF-333DF4DF7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4811" y="-86842"/>
              <a:ext cx="10398989" cy="6858000"/>
            </a:xfrm>
            <a:prstGeom prst="rect">
              <a:avLst/>
            </a:prstGeom>
          </p:spPr>
        </p:pic>
        <p:sp>
          <p:nvSpPr>
            <p:cNvPr id="15" name="フローチャート: 代替処理 14">
              <a:extLst>
                <a:ext uri="{FF2B5EF4-FFF2-40B4-BE49-F238E27FC236}">
                  <a16:creationId xmlns:a16="http://schemas.microsoft.com/office/drawing/2014/main" id="{C9F2A0BF-6583-E209-E440-91B90A4D5DD8}"/>
                </a:ext>
              </a:extLst>
            </p:cNvPr>
            <p:cNvSpPr/>
            <p:nvPr/>
          </p:nvSpPr>
          <p:spPr>
            <a:xfrm>
              <a:off x="1726632" y="102168"/>
              <a:ext cx="3208063" cy="6615352"/>
            </a:xfrm>
            <a:prstGeom prst="flowChartAlternateProcess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フローチャート: 代替処理 15">
              <a:extLst>
                <a:ext uri="{FF2B5EF4-FFF2-40B4-BE49-F238E27FC236}">
                  <a16:creationId xmlns:a16="http://schemas.microsoft.com/office/drawing/2014/main" id="{3B3677C4-3867-C7A5-9A22-7743F6AD2817}"/>
                </a:ext>
              </a:extLst>
            </p:cNvPr>
            <p:cNvSpPr/>
            <p:nvPr/>
          </p:nvSpPr>
          <p:spPr>
            <a:xfrm>
              <a:off x="8265359" y="121324"/>
              <a:ext cx="2794283" cy="5472352"/>
            </a:xfrm>
            <a:prstGeom prst="flowChartAlternateProcess">
              <a:avLst/>
            </a:prstGeom>
            <a:noFill/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CEA521C4-CD15-0130-487D-21951194F06D}"/>
                </a:ext>
              </a:extLst>
            </p:cNvPr>
            <p:cNvSpPr txBox="1"/>
            <p:nvPr/>
          </p:nvSpPr>
          <p:spPr>
            <a:xfrm>
              <a:off x="1798149" y="140480"/>
              <a:ext cx="2074002" cy="650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21208">
                <a:spcAft>
                  <a:spcPts val="600"/>
                </a:spcAft>
              </a:pPr>
              <a:r>
                <a:rPr kumimoji="1" lang="ja-JP" altLang="en-US" sz="1824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n-lt"/>
                  <a:ea typeface="HGS創英角ﾎﾟｯﾌﾟ体" panose="040B0A00000000000000" pitchFamily="50" charset="-128"/>
                  <a:cs typeface="+mn-cs"/>
                </a:rPr>
                <a:t>電流源</a:t>
              </a:r>
              <a:endParaRPr kumimoji="1" lang="ja-JP" alt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0732A8E-A551-FB63-5F06-9481B2779EC3}"/>
                </a:ext>
              </a:extLst>
            </p:cNvPr>
            <p:cNvSpPr txBox="1"/>
            <p:nvPr/>
          </p:nvSpPr>
          <p:spPr>
            <a:xfrm>
              <a:off x="8985639" y="140480"/>
              <a:ext cx="2074002" cy="650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21208">
                <a:spcAft>
                  <a:spcPts val="600"/>
                </a:spcAft>
              </a:pPr>
              <a:r>
                <a:rPr kumimoji="1" lang="en-US" altLang="ja-JP" sz="1824" kern="12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+mn-lt"/>
                  <a:ea typeface="HGS創英角ﾎﾟｯﾌﾟ体" panose="040B0A00000000000000" pitchFamily="50" charset="-128"/>
                  <a:cs typeface="+mn-cs"/>
                </a:rPr>
                <a:t>OPAMP</a:t>
              </a:r>
              <a:endParaRPr kumimoji="1" lang="ja-JP" alt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6488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2863</TotalTime>
  <Words>628</Words>
  <Application>Microsoft Office PowerPoint</Application>
  <PresentationFormat>ワイド画面</PresentationFormat>
  <Paragraphs>89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4" baseType="lpstr">
      <vt:lpstr>HGS創英角ﾎﾟｯﾌﾟ体</vt:lpstr>
      <vt:lpstr>游ゴシック</vt:lpstr>
      <vt:lpstr>游ゴシック Light</vt:lpstr>
      <vt:lpstr>Arial</vt:lpstr>
      <vt:lpstr>Cambria Math</vt:lpstr>
      <vt:lpstr>Office テーマ</vt:lpstr>
      <vt:lpstr>電流源設計 （OpenSUSI-TR10）</vt:lpstr>
      <vt:lpstr>もくじ</vt:lpstr>
      <vt:lpstr>基本電流源</vt:lpstr>
      <vt:lpstr>基本電流源</vt:lpstr>
      <vt:lpstr>出力結果</vt:lpstr>
      <vt:lpstr>Vth-referenced 自己バイアス電流源</vt:lpstr>
      <vt:lpstr>Vth-referenced 自己バイアス電流源</vt:lpstr>
      <vt:lpstr>出力結果</vt:lpstr>
      <vt:lpstr>カレントミラー</vt:lpstr>
      <vt:lpstr>カレントミラー</vt:lpstr>
      <vt:lpstr>動作内容</vt:lpstr>
      <vt:lpstr>数式</vt:lpstr>
      <vt:lpstr>スタートアップ回路</vt:lpstr>
      <vt:lpstr>安定動作点</vt:lpstr>
      <vt:lpstr>接続方法</vt:lpstr>
      <vt:lpstr>電流源の使い方</vt:lpstr>
      <vt:lpstr>電流源の 使い方</vt:lpstr>
      <vt:lpstr>電流源の 使い方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OPAMP_OR1</dc:title>
  <dc:creator>Noritsuna Imamura</dc:creator>
  <cp:lastModifiedBy>今村 謙之</cp:lastModifiedBy>
  <cp:revision>1</cp:revision>
  <dcterms:created xsi:type="dcterms:W3CDTF">2024-05-26T11:20:00Z</dcterms:created>
  <dcterms:modified xsi:type="dcterms:W3CDTF">2026-06-03T11:13:51Z</dcterms:modified>
</cp:coreProperties>
</file>