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4597" r:id="rId3"/>
    <p:sldId id="4798" r:id="rId4"/>
    <p:sldId id="4640" r:id="rId5"/>
    <p:sldId id="4848" r:id="rId6"/>
    <p:sldId id="4767" r:id="rId7"/>
    <p:sldId id="4766" r:id="rId8"/>
    <p:sldId id="4793" r:id="rId9"/>
    <p:sldId id="4799" r:id="rId10"/>
    <p:sldId id="4794" r:id="rId11"/>
    <p:sldId id="4795" r:id="rId12"/>
    <p:sldId id="4796" r:id="rId13"/>
    <p:sldId id="4797" r:id="rId14"/>
    <p:sldId id="4836" r:id="rId15"/>
    <p:sldId id="4835" r:id="rId16"/>
    <p:sldId id="4837" r:id="rId17"/>
    <p:sldId id="4585" r:id="rId18"/>
    <p:sldId id="4614" r:id="rId19"/>
    <p:sldId id="4769" r:id="rId20"/>
    <p:sldId id="4800" r:id="rId21"/>
    <p:sldId id="4645" r:id="rId22"/>
    <p:sldId id="4765" r:id="rId23"/>
    <p:sldId id="4801" r:id="rId24"/>
    <p:sldId id="4810" r:id="rId25"/>
    <p:sldId id="4807" r:id="rId26"/>
    <p:sldId id="4806" r:id="rId27"/>
    <p:sldId id="4774" r:id="rId28"/>
    <p:sldId id="4815" r:id="rId29"/>
    <p:sldId id="4812" r:id="rId30"/>
    <p:sldId id="4817" r:id="rId31"/>
    <p:sldId id="4834" r:id="rId32"/>
    <p:sldId id="4816" r:id="rId33"/>
    <p:sldId id="4820" r:id="rId34"/>
    <p:sldId id="4790" r:id="rId35"/>
    <p:sldId id="4792" r:id="rId36"/>
    <p:sldId id="4802" r:id="rId37"/>
    <p:sldId id="4821" r:id="rId38"/>
    <p:sldId id="4822" r:id="rId39"/>
    <p:sldId id="4826" r:id="rId40"/>
    <p:sldId id="4803" r:id="rId41"/>
    <p:sldId id="4831" r:id="rId42"/>
    <p:sldId id="4830" r:id="rId43"/>
    <p:sldId id="4844" r:id="rId44"/>
    <p:sldId id="4468" r:id="rId45"/>
    <p:sldId id="4823" r:id="rId46"/>
    <p:sldId id="4840" r:id="rId47"/>
    <p:sldId id="4841" r:id="rId48"/>
    <p:sldId id="4842" r:id="rId49"/>
    <p:sldId id="4843" r:id="rId50"/>
    <p:sldId id="4832" r:id="rId51"/>
    <p:sldId id="4770" r:id="rId52"/>
    <p:sldId id="4779" r:id="rId53"/>
    <p:sldId id="4833" r:id="rId54"/>
    <p:sldId id="4838" r:id="rId55"/>
    <p:sldId id="4839" r:id="rId56"/>
    <p:sldId id="4778" r:id="rId57"/>
    <p:sldId id="4849" r:id="rId58"/>
    <p:sldId id="4845" r:id="rId59"/>
    <p:sldId id="4846" r:id="rId6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C04F15"/>
    <a:srgbClr val="F5718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39718-7E3E-4A39-84FF-9B8E52261799}" v="1" dt="2026-06-03T11:14:37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07" autoAdjust="0"/>
    <p:restoredTop sz="94718"/>
  </p:normalViewPr>
  <p:slideViewPr>
    <p:cSldViewPr snapToGrid="0">
      <p:cViewPr varScale="1">
        <p:scale>
          <a:sx n="91" d="100"/>
          <a:sy n="91" d="100"/>
        </p:scale>
        <p:origin x="10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今村 謙之" userId="bc27a5e0-5669-41a4-865b-584c1eac539e" providerId="ADAL" clId="{342DA2C4-B094-4B86-9045-6AA34CD7B848}"/>
    <pc:docChg chg="modSld">
      <pc:chgData name="今村 謙之" userId="bc27a5e0-5669-41a4-865b-584c1eac539e" providerId="ADAL" clId="{342DA2C4-B094-4B86-9045-6AA34CD7B848}" dt="2026-06-03T11:14:37.022" v="5"/>
      <pc:docMkLst>
        <pc:docMk/>
      </pc:docMkLst>
      <pc:sldChg chg="modSp mod">
        <pc:chgData name="今村 謙之" userId="bc27a5e0-5669-41a4-865b-584c1eac539e" providerId="ADAL" clId="{342DA2C4-B094-4B86-9045-6AA34CD7B848}" dt="2026-06-03T11:14:37.022" v="5"/>
        <pc:sldMkLst>
          <pc:docMk/>
          <pc:sldMk cId="457667663" sldId="256"/>
        </pc:sldMkLst>
        <pc:spChg chg="mod">
          <ac:chgData name="今村 謙之" userId="bc27a5e0-5669-41a4-865b-584c1eac539e" providerId="ADAL" clId="{342DA2C4-B094-4B86-9045-6AA34CD7B848}" dt="2026-06-03T11:14:37.022" v="5"/>
          <ac:spMkLst>
            <pc:docMk/>
            <pc:sldMk cId="457667663" sldId="256"/>
            <ac:spMk id="2" creationId="{F985B9EF-5891-44BD-296C-D3F4FB4314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1326-0080-475F-B3A7-C8B8FA1FF850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22CD-9DB7-4903-8997-52FC5A06B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46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93F5D-5A8F-FDB8-2312-7C365AD8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EFC5D-E911-2492-EBF4-7C560C93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B3258-3956-C471-1ADB-DB8BF69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FA95B-9B52-9CD7-0253-D859773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2BE04-F456-2AE2-4548-B04DECF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3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AF400-16E7-E995-08C1-2C021876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EBF62-8C7A-7C59-44A8-8823C46B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12D1F-438B-987B-0E13-209BF475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850D2-C198-C3DE-5F3E-A90C2CDB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CFAF48-9A80-07F4-6313-B54A98BC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30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7D37A-2BED-2A6D-3DC1-3366B2B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9E5F7D-DDFE-F9E4-DD54-378E2323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46527-D040-5443-0177-6E40053F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0907D-4C21-8883-E947-6448A266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463B1-60A0-C6E4-E841-3B19AA77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1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59964-01BF-57FB-1CC0-19C0CC1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02D120-064F-01CF-5AFC-13C87423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FE018C-6A77-5633-B8D9-D6CDFFCB4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F5BCDA-9627-B7A3-BEA8-BD42F6A5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46805F-154A-1405-1304-7A49F1C3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D934C6-63F5-13B4-C47C-FE75C55E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5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F59BD-743C-1A3C-1E06-EC0400A6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6E40B-496A-6A6B-A7C4-CF7C222C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88F5C6-F0BB-14AC-664D-44F4C249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F23BAD-5894-849A-FB08-DBAC3B7A7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F7EE4B-E5D2-8485-7D50-9F7EE4A67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497A9B-9487-E362-2EEC-84350C3E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98089-AE1C-4D0B-918A-D2F72444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3869A7-0F05-037D-5575-90FA0991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03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266B5-A3FD-2F5B-DA35-F62463E8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E9F867-0389-BABB-FF08-49CC45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FC3487-4C5B-B907-947A-8EA8C83B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439496-1F32-61E8-C39A-D45B8552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46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9428BF-1252-6C67-319E-E065E485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461D5-0D80-437B-3694-DDF8E184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09D58-D1D3-B05C-8F82-6643571C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08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296BB-62CA-F9BF-D33A-BE523E2C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C2CE8F-D3F1-84FD-7F58-3624D696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141728-00DD-F741-C725-5EA58896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BAC48E-17F5-862E-6C47-9E90C5EF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4C07-7608-48DC-D31A-4921EB41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1BA1F6-CAD1-C8B3-4F85-773F4B3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2E443-800B-9B00-582A-E7716B7A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6FBA55-244A-22B9-9FBA-3B26EF346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9A178-486E-7B9E-98DC-B4F57D3E5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A21B99-B569-1EAF-B3BC-22A8D0A0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9A3BF-6B40-E5BD-F983-7CE7433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AE6CFA-6006-3095-1000-7B85E874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0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57FDA-8B10-4222-3F59-DAB8A18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089F2-3262-40ED-F06D-E1517651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F5A08-024F-5D32-D108-70A8B568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90CA08-2B2E-4DB2-C52F-6891A4D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F03D2-F662-D11F-B767-105EA4B8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18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17F1B-6923-610E-A2F0-00E67DDF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EFECBA-16C2-120C-7835-BFE596806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56837-B10D-939E-7AF1-0F15E10B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00E88-F4FB-BA69-F430-2AAEFF66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A45F3F-E688-8178-C24F-80B28234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53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104D9-8B30-271E-216D-1EE578F4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251DA-8D21-09F0-F57E-00A5B3B6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B0B8C-32D5-5533-6AE7-6AD1BFE32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8B33F-4E30-40CF-8982-DA02651F1878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8CDA1-39F0-D06D-1F0F-CAAFD6D2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BBAB3-0A47-3C1D-2A1A-5A344110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0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hi-kai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2 進数の数字が表示された CPU と青写真">
            <a:extLst>
              <a:ext uri="{FF2B5EF4-FFF2-40B4-BE49-F238E27FC236}">
                <a16:creationId xmlns:a16="http://schemas.microsoft.com/office/drawing/2014/main" id="{273EEEF4-5448-6621-ACCF-9FC5FC7106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985B9EF-5891-44BD-296C-D3F4FB431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94" y="1122363"/>
            <a:ext cx="11442583" cy="2489952"/>
          </a:xfrm>
        </p:spPr>
        <p:txBody>
          <a:bodyPr>
            <a:noAutofit/>
          </a:bodyPr>
          <a:lstStyle/>
          <a:p>
            <a:r>
              <a:rPr lang="en-US" altLang="ja-JP" sz="8000" dirty="0">
                <a:solidFill>
                  <a:schemeClr val="bg1"/>
                </a:solidFill>
              </a:rPr>
              <a:t>1bit-CPU</a:t>
            </a:r>
            <a:r>
              <a:rPr kumimoji="1" lang="ja-JP" altLang="en-US" sz="8000" dirty="0">
                <a:solidFill>
                  <a:schemeClr val="bg1"/>
                </a:solidFill>
              </a:rPr>
              <a:t>設計</a:t>
            </a:r>
            <a:br>
              <a:rPr kumimoji="1" lang="en-US" altLang="ja-JP" sz="8000" dirty="0">
                <a:solidFill>
                  <a:schemeClr val="bg1"/>
                </a:solidFill>
              </a:rPr>
            </a:br>
            <a:r>
              <a:rPr kumimoji="1" lang="ja-JP" altLang="en-US" sz="8000" dirty="0">
                <a:solidFill>
                  <a:schemeClr val="bg1"/>
                </a:solidFill>
              </a:rPr>
              <a:t>（</a:t>
            </a:r>
            <a:r>
              <a:rPr lang="en-US" altLang="ja-JP" sz="8000" dirty="0">
                <a:solidFill>
                  <a:schemeClr val="bg1"/>
                </a:solidFill>
              </a:rPr>
              <a:t>OpenSUSI-TR10</a:t>
            </a:r>
            <a:r>
              <a:rPr kumimoji="1" lang="ja-JP" altLang="en-US" sz="80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A143C-6BCF-C6CB-42E7-691F52B0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95924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ISHI</a:t>
            </a:r>
            <a:r>
              <a:rPr lang="zh-TW" altLang="en-US" dirty="0">
                <a:solidFill>
                  <a:schemeClr val="bg1"/>
                </a:solidFill>
              </a:rPr>
              <a:t>会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  <a:hlinkClick r:id="rId3"/>
              </a:rPr>
              <a:t>https://ishi-kai.org/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Mail: info@ishi-kai.org</a:t>
            </a: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48C19C7-F7F2-77FE-BD4A-9F0B2F8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4161920" cy="2690949"/>
          </a:xfrm>
        </p:spPr>
        <p:txBody>
          <a:bodyPr anchor="t">
            <a:normAutofit fontScale="90000"/>
          </a:bodyPr>
          <a:lstStyle/>
          <a:p>
            <a:r>
              <a:rPr lang="ja-JP" altLang="en-US" sz="4800"/>
              <a:t>もくじ：</a:t>
            </a:r>
            <a:br>
              <a:rPr lang="en-US" altLang="ja-JP" sz="4800" dirty="0"/>
            </a:br>
            <a:r>
              <a:rPr lang="ja-JP" altLang="en-US" sz="4800"/>
              <a:t>デジタル回路編</a:t>
            </a:r>
            <a:br>
              <a:rPr lang="en-US" altLang="ja-JP" sz="4800" dirty="0"/>
            </a:br>
            <a:endParaRPr kumimoji="1" lang="ja-JP" alt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89638F-D16C-498F-A321-DFA1B5ECD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890717" cy="4300447"/>
          </a:xfrm>
        </p:spPr>
        <p:txBody>
          <a:bodyPr anchor="t">
            <a:normAutofit/>
          </a:bodyPr>
          <a:lstStyle/>
          <a:p>
            <a:r>
              <a:rPr lang="ja-JP" altLang="en-US"/>
              <a:t>論理回路（ゲート回路）</a:t>
            </a:r>
            <a:endParaRPr lang="en-US" altLang="ja-JP" dirty="0"/>
          </a:p>
          <a:p>
            <a:r>
              <a:rPr lang="ja-JP" altLang="en-US"/>
              <a:t>加算回路（演算器）</a:t>
            </a:r>
            <a:endParaRPr lang="en-US" altLang="ja-JP" dirty="0"/>
          </a:p>
          <a:p>
            <a:r>
              <a:rPr lang="ja-JP" altLang="en-US"/>
              <a:t>記憶素子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1050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AD887-A02C-AC05-1603-205AD353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DDB4BC-7A44-8EC3-ABD5-29AA4C64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910C795-89A9-AB1C-25ED-E19F7F78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4621202" cy="2690949"/>
          </a:xfrm>
        </p:spPr>
        <p:txBody>
          <a:bodyPr anchor="t">
            <a:normAutofit fontScale="90000"/>
          </a:bodyPr>
          <a:lstStyle/>
          <a:p>
            <a:r>
              <a:rPr lang="ja-JP" altLang="en-US" sz="4800"/>
              <a:t>もくじ：</a:t>
            </a:r>
            <a:br>
              <a:rPr lang="en-US" altLang="ja-JP" sz="4800" dirty="0"/>
            </a:br>
            <a:r>
              <a:rPr lang="ja-JP" altLang="en-US" sz="4800"/>
              <a:t>レイアウト生成編</a:t>
            </a:r>
            <a:br>
              <a:rPr lang="en-US" altLang="ja-JP" sz="4800" dirty="0"/>
            </a:br>
            <a:endParaRPr kumimoji="1" lang="ja-JP" alt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3B4429-D0F2-61D9-322B-D5E1147B0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E4150F-5116-CDE8-C780-27647FCE1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7C78085-09A2-0BF2-57D1-141FDC2D07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90A04-5CB6-BBA0-2420-62BE47819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748E19-E203-EA8F-9C41-6379CBAEC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890717" cy="4300447"/>
          </a:xfrm>
        </p:spPr>
        <p:txBody>
          <a:bodyPr anchor="t">
            <a:normAutofit/>
          </a:bodyPr>
          <a:lstStyle/>
          <a:p>
            <a:r>
              <a:rPr lang="ja-JP" altLang="en-US"/>
              <a:t>論理合成</a:t>
            </a:r>
            <a:endParaRPr lang="en-US" altLang="ja-JP" dirty="0"/>
          </a:p>
          <a:p>
            <a:r>
              <a:rPr lang="ja-JP" altLang="en-US"/>
              <a:t>生成フロー</a:t>
            </a:r>
            <a:endParaRPr lang="en-US" altLang="ja-JP" dirty="0"/>
          </a:p>
          <a:p>
            <a:r>
              <a:rPr lang="ja-JP" altLang="en-US"/>
              <a:t>論理合成・詳解</a:t>
            </a:r>
            <a:endParaRPr lang="en-US" altLang="ja-JP" dirty="0"/>
          </a:p>
          <a:p>
            <a:r>
              <a:rPr lang="en-US" altLang="ja-JP" dirty="0"/>
              <a:t>P</a:t>
            </a:r>
            <a:r>
              <a:rPr lang="ja-JP" altLang="en-US"/>
              <a:t>＆</a:t>
            </a:r>
            <a:r>
              <a:rPr lang="en-US" altLang="ja-JP" dirty="0"/>
              <a:t>R</a:t>
            </a:r>
            <a:r>
              <a:rPr lang="ja-JP" altLang="en-US"/>
              <a:t>（配置配線）</a:t>
            </a:r>
            <a:endParaRPr lang="en-US" altLang="ja-JP" dirty="0"/>
          </a:p>
          <a:p>
            <a:r>
              <a:rPr lang="ja-JP" altLang="en-US"/>
              <a:t>タイミング解析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30590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9BA1A-186F-8B17-4F19-C0CE8F3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F1DF24-D3E3-2541-069C-F00067308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F7482D2-9343-0B35-645F-4463E497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ja-JP" altLang="en-US" sz="4800"/>
              <a:t>もくじ：</a:t>
            </a:r>
            <a:br>
              <a:rPr lang="en-US" altLang="ja-JP" sz="4800" dirty="0"/>
            </a:br>
            <a:r>
              <a:rPr lang="en-US" altLang="ja-JP" sz="4800" dirty="0"/>
              <a:t>1bit-CPU</a:t>
            </a:r>
            <a:r>
              <a:rPr lang="ja-JP" altLang="en-US" sz="4800"/>
              <a:t>編</a:t>
            </a:r>
            <a:endParaRPr kumimoji="1" lang="ja-JP" alt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67F574-2D74-733E-6B4B-B90F464C5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BB470-2E14-E1B5-D1FB-DFE5A8882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3BAF79D-7594-79EF-99CA-2F0E69C2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6299D-1E7E-8DAB-AF39-75DC08C0C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B70F6-F81F-B5EE-F8EC-21B4DB0D7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altLang="ja-JP" dirty="0"/>
              <a:t>CPU</a:t>
            </a:r>
            <a:r>
              <a:rPr lang="ja-JP" altLang="en-US"/>
              <a:t>の構成</a:t>
            </a:r>
            <a:endParaRPr lang="en-US" altLang="ja-JP" dirty="0"/>
          </a:p>
          <a:p>
            <a:r>
              <a:rPr lang="en-US" altLang="ja-JP" dirty="0"/>
              <a:t>1bit-CPU</a:t>
            </a:r>
            <a:r>
              <a:rPr lang="ja-JP" altLang="en-US"/>
              <a:t>の構成</a:t>
            </a:r>
            <a:endParaRPr lang="en-US" altLang="ja-JP" dirty="0"/>
          </a:p>
          <a:p>
            <a:r>
              <a:rPr lang="ja-JP" altLang="en-US"/>
              <a:t>回路図</a:t>
            </a:r>
            <a:endParaRPr lang="en-US" altLang="ja-JP" dirty="0"/>
          </a:p>
          <a:p>
            <a:r>
              <a:rPr lang="ja-JP" altLang="en-US"/>
              <a:t>レイアウト</a:t>
            </a:r>
            <a:endParaRPr lang="en-US" altLang="ja-JP" dirty="0"/>
          </a:p>
          <a:p>
            <a:r>
              <a:rPr lang="ja-JP" altLang="en-US"/>
              <a:t>チャレンジ</a:t>
            </a:r>
            <a:endParaRPr lang="en-US" altLang="ja-JP" dirty="0"/>
          </a:p>
          <a:p>
            <a:pPr lvl="1"/>
            <a:r>
              <a:rPr lang="ja-JP" altLang="en-US"/>
              <a:t>最小面積レイアウト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2410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42F1C-D401-ACD9-3F90-59910FB4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48D4AE-8657-5B0B-DA30-BB7DB7371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DBBD3C-ABAC-65FE-702A-68BFE27D4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8D4B43-3D1E-54DF-954B-6B908A7A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F459A-60EF-7201-34F1-34DBA7720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E1FB5-34B5-39A5-8A3F-9E638A75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EA59BD-16D7-6E0D-1F46-64448C2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CD74D-D028-A762-6487-7974526EB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A0093A9-A7ED-B3D8-1158-B2DDAB6B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02" y="586855"/>
            <a:ext cx="3422886" cy="4868895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 dirty="0">
                <a:solidFill>
                  <a:schemeClr val="bg1"/>
                </a:solidFill>
              </a:rPr>
              <a:t>提出物</a:t>
            </a:r>
            <a:br>
              <a:rPr kumimoji="1" lang="en-US" altLang="ja-JP" sz="4000" dirty="0">
                <a:solidFill>
                  <a:schemeClr val="bg1"/>
                </a:solidFill>
              </a:rPr>
            </a:br>
            <a:br>
              <a:rPr kumimoji="1"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（ハンズオン</a:t>
            </a:r>
            <a:br>
              <a:rPr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参加者向け）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BDBFD9-A096-539A-382A-187E9E701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ja-JP" altLang="en-US" sz="2000" dirty="0"/>
              <a:t>提出物</a:t>
            </a:r>
            <a:endParaRPr lang="en-US" altLang="ja-JP" sz="2000" dirty="0"/>
          </a:p>
          <a:p>
            <a:pPr lvl="1"/>
            <a:r>
              <a:rPr lang="ja-JP" altLang="en-US" sz="2000" dirty="0"/>
              <a:t>回路図</a:t>
            </a:r>
            <a:endParaRPr lang="en-US" altLang="ja-JP" sz="2000" dirty="0"/>
          </a:p>
          <a:p>
            <a:pPr lvl="1"/>
            <a:r>
              <a:rPr lang="ja-JP" altLang="en-US" sz="2000" dirty="0"/>
              <a:t>レイアウト</a:t>
            </a:r>
            <a:endParaRPr lang="en-US" altLang="ja-JP" sz="2000" dirty="0"/>
          </a:p>
          <a:p>
            <a:pPr lvl="1"/>
            <a:r>
              <a:rPr lang="ja-JP" altLang="en-US" sz="2000" dirty="0"/>
              <a:t>説明文</a:t>
            </a:r>
            <a:endParaRPr lang="en-US" altLang="ja-JP" sz="2000" dirty="0"/>
          </a:p>
          <a:p>
            <a:pPr lvl="2"/>
            <a:r>
              <a:rPr lang="ja-JP" altLang="en-US" dirty="0"/>
              <a:t>設計の説明</a:t>
            </a:r>
            <a:endParaRPr lang="en-US" altLang="ja-JP" dirty="0"/>
          </a:p>
          <a:p>
            <a:pPr lvl="2"/>
            <a:r>
              <a:rPr lang="ja-JP" altLang="en-US" dirty="0"/>
              <a:t>工夫したポイント</a:t>
            </a:r>
            <a:endParaRPr lang="en-US" altLang="ja-JP" dirty="0"/>
          </a:p>
          <a:p>
            <a:pPr lvl="2"/>
            <a:r>
              <a:rPr lang="ja-JP" altLang="en-US" dirty="0"/>
              <a:t>苦労したポイント</a:t>
            </a:r>
            <a:endParaRPr lang="en-US" altLang="ja-JP" dirty="0"/>
          </a:p>
          <a:p>
            <a:r>
              <a:rPr lang="ja-JP" altLang="en-US" sz="2000" dirty="0"/>
              <a:t>提出先</a:t>
            </a:r>
            <a:endParaRPr lang="en-US" altLang="ja-JP" sz="2000" dirty="0"/>
          </a:p>
          <a:p>
            <a:pPr lvl="1"/>
            <a:r>
              <a:rPr lang="en-US" altLang="ja-JP" sz="2000" dirty="0"/>
              <a:t>ISHI</a:t>
            </a:r>
            <a:r>
              <a:rPr lang="ja-JP" altLang="en-US" sz="2000" dirty="0"/>
              <a:t>会</a:t>
            </a:r>
            <a:r>
              <a:rPr lang="en-US" altLang="ja-JP" sz="2000" dirty="0"/>
              <a:t>Discord</a:t>
            </a:r>
            <a:r>
              <a:rPr lang="ja-JP" altLang="en-US" sz="2000" dirty="0"/>
              <a:t>内の所定のチャンネル</a:t>
            </a:r>
            <a:endParaRPr lang="ja-JP" altLang="en-US" dirty="0"/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2067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09CD0-A71C-526E-2BC4-DEF71DA9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C807AD8-153A-AC42-28FD-7CE814895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DF0044-2E6D-415C-0643-6346B2D75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F5692E9-0628-EA0D-6F90-F3B34F8CA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7E4B9B-0C8B-3D6B-0E43-D5692F69F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312CD9D-6C27-A76A-C8F7-259E5FD67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485950E-7EE8-DDDC-9BFC-DEBC022D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デジタル回路編</a:t>
            </a:r>
            <a:br>
              <a:rPr lang="en-US" altLang="ja-JP" sz="6600" dirty="0"/>
            </a:br>
            <a:r>
              <a:rPr lang="ja-JP" altLang="en-US" sz="2800"/>
              <a:t>出典</a:t>
            </a:r>
            <a:r>
              <a:rPr lang="en-US" altLang="ja-JP" sz="2800" dirty="0"/>
              <a:t>:https://</a:t>
            </a:r>
            <a:r>
              <a:rPr lang="en-US" altLang="ja-JP" sz="2800" dirty="0" err="1"/>
              <a:t>vlsi.jp</a:t>
            </a:r>
            <a:r>
              <a:rPr lang="en-US" altLang="ja-JP" sz="2800" dirty="0"/>
              <a:t>/</a:t>
            </a:r>
            <a:endParaRPr kumimoji="1" lang="ja-JP" alt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121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1B6FF-04BE-6447-7051-7FF79C7A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6132403A-4EB7-08B8-2386-D1D2A366D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0F9061B7-ACEA-CA10-A32C-C9A4C866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B6F8D16F-5AE0-DDAA-505D-5055FD604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4D772834-286D-2947-41E4-829B0D957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C7C588D-429D-A06D-B313-7C6C7E34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94691E4-3384-EB63-F71C-9E6A3732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論理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回路（ゲート回路）</a:t>
            </a:r>
          </a:p>
        </p:txBody>
      </p:sp>
    </p:spTree>
    <p:extLst>
      <p:ext uri="{BB962C8B-B14F-4D97-AF65-F5344CB8AC3E}">
        <p14:creationId xmlns:p14="http://schemas.microsoft.com/office/powerpoint/2010/main" val="945169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9E672CC-6ABE-8AFB-0B73-5563A0AA7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850" y="918546"/>
            <a:ext cx="5173334" cy="497933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9272CF5-393D-5524-7357-B9586F5A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410" y="747270"/>
            <a:ext cx="1388686" cy="532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7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67840-0C84-D1A3-DEB1-D5904E55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1B05F8F2-ABEB-71EC-7B04-432A16486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7E6D5375-92AA-8D76-F9E9-9448E0D58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4E1BEB36-3DBB-AE74-90BC-6649589F0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80F64394-8E01-315D-4C1A-E6038F77C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DD08B-3A70-62C3-9DBE-544ED9DDD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A661DD-8624-8623-A173-EB0B8B84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加算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回路（演算器）</a:t>
            </a:r>
          </a:p>
        </p:txBody>
      </p:sp>
    </p:spTree>
    <p:extLst>
      <p:ext uri="{BB962C8B-B14F-4D97-AF65-F5344CB8AC3E}">
        <p14:creationId xmlns:p14="http://schemas.microsoft.com/office/powerpoint/2010/main" val="1254895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19DDF75-2E4C-B2D6-15DF-AD39DE2A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856" y="918546"/>
            <a:ext cx="6017323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3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0F09D9-4418-4F49-E81E-DBBEB4AA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84" y="918546"/>
            <a:ext cx="7242667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86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52C2170-1832-FD8E-C5EC-FA114BCBE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082" y="918546"/>
            <a:ext cx="5486871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7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1041E07-A721-D5E3-15D2-6CF4B49D1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945" y="918546"/>
            <a:ext cx="6595144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0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625A5-16D7-79FA-5C80-2CCE69B2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3A56F667-C8EA-BC40-1D0E-A5EE264AD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AE363741-7602-66DD-6AB6-A8FA935605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7DEAE3F9-4AC4-CDBB-4720-7947A6915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5002A4DF-8327-89E0-98CF-ACCFCD263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363F2B2-6D11-4601-D1BC-16ED92AD9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5EF3079-8BDF-B454-FF63-3AE7E81A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記憶素子</a:t>
            </a:r>
          </a:p>
        </p:txBody>
      </p:sp>
    </p:spTree>
    <p:extLst>
      <p:ext uri="{BB962C8B-B14F-4D97-AF65-F5344CB8AC3E}">
        <p14:creationId xmlns:p14="http://schemas.microsoft.com/office/powerpoint/2010/main" val="724902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F18F858-1678-26D4-7167-887EF25BE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655521"/>
            <a:ext cx="7746709" cy="350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176948-EA30-9BC0-8698-EF36D85DE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0183" y="918546"/>
            <a:ext cx="5690669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1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34F36D0-AA73-294F-A4FD-D06EDE7F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レイアウト生成編</a:t>
            </a:r>
          </a:p>
        </p:txBody>
      </p:sp>
    </p:spTree>
    <p:extLst>
      <p:ext uri="{BB962C8B-B14F-4D97-AF65-F5344CB8AC3E}">
        <p14:creationId xmlns:p14="http://schemas.microsoft.com/office/powerpoint/2010/main" val="2061892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1FF4B-1188-58E4-1968-4BC184A8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E16D323-6846-0337-0D93-BA798A2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論理合成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81544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CC0FA4-62F7-21FF-E582-690E2DB8B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論理合成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269FBB-BA28-C2D7-DC4D-A13CE9275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1501" y="5633765"/>
            <a:ext cx="366116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HDL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ハードウェア記述言語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）で</a:t>
            </a:r>
            <a:endParaRPr kumimoji="1" lang="en-US" altLang="ja-JP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記述して、論理回路（</a:t>
            </a: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RTL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）にする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9B17B-B5DB-9E87-7EED-26CD40B50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535" y="399039"/>
            <a:ext cx="11327549" cy="450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923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CDCD3-BC33-33BA-E7BA-F0993725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674AA675-4376-DB5D-67ED-C3FB7FCD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88C102F8-422A-86DF-DA6E-122EC8A96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6DCDFDE2-6C68-6855-8EE4-448D0E7DD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73421D0B-E7DF-D603-55AD-85240056B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396D422-F162-038C-3D68-5B2D954A9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94F7973-4A1F-7CD2-21C1-8950F300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生成フロー</a:t>
            </a:r>
          </a:p>
        </p:txBody>
      </p:sp>
    </p:spTree>
    <p:extLst>
      <p:ext uri="{BB962C8B-B14F-4D97-AF65-F5344CB8AC3E}">
        <p14:creationId xmlns:p14="http://schemas.microsoft.com/office/powerpoint/2010/main" val="2794814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D90AA-98EE-C40A-484B-AAA94404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2A77670-5182-AA40-F39B-B19ED067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en-US" altLang="ja-JP" sz="4000" dirty="0" err="1">
                <a:solidFill>
                  <a:srgbClr val="FFFFFF"/>
                </a:solidFill>
              </a:rPr>
              <a:t>OpenLANE</a:t>
            </a:r>
            <a:r>
              <a:rPr kumimoji="1" lang="ja-JP" altLang="en-US" sz="4000">
                <a:solidFill>
                  <a:srgbClr val="FFFFFF"/>
                </a:solidFill>
              </a:rPr>
              <a:t>による生成フロー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4B67EC9-AD8C-D201-34A6-FA7094ABDC1E}"/>
              </a:ext>
            </a:extLst>
          </p:cNvPr>
          <p:cNvGrpSpPr/>
          <p:nvPr/>
        </p:nvGrpSpPr>
        <p:grpSpPr>
          <a:xfrm>
            <a:off x="3027506" y="2112579"/>
            <a:ext cx="6160929" cy="4211975"/>
            <a:chOff x="1254125" y="0"/>
            <a:chExt cx="9468364" cy="6736122"/>
          </a:xfrm>
        </p:grpSpPr>
        <p:pic>
          <p:nvPicPr>
            <p:cNvPr id="4" name="Picture 2" descr="A diagram showing the general stages of the OpenLane flow as a series of blocks">
              <a:extLst>
                <a:ext uri="{FF2B5EF4-FFF2-40B4-BE49-F238E27FC236}">
                  <a16:creationId xmlns:a16="http://schemas.microsoft.com/office/drawing/2014/main" id="{8364A213-C96A-5C12-1AD4-5BA9B99A2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125" y="0"/>
              <a:ext cx="9468364" cy="6705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C12F2AA1-841D-E04C-4CCA-0E343D027D87}"/>
                </a:ext>
              </a:extLst>
            </p:cNvPr>
            <p:cNvSpPr txBox="1"/>
            <p:nvPr/>
          </p:nvSpPr>
          <p:spPr>
            <a:xfrm>
              <a:off x="1542169" y="6349215"/>
              <a:ext cx="7238313" cy="386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kumimoji="1" lang="ja-JP" altLang="en-US" sz="972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出典：</a:t>
              </a:r>
              <a:r>
                <a:rPr kumimoji="1" lang="en" altLang="ja-JP" sz="972" kern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https://</a:t>
              </a:r>
              <a:r>
                <a:rPr kumimoji="1" lang="en" altLang="ja-JP" sz="972" kern="12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openlane.readthedocs.io</a:t>
              </a:r>
              <a:r>
                <a:rPr kumimoji="1" lang="en" altLang="ja-JP" sz="972" kern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kumimoji="1" lang="en" altLang="ja-JP" sz="972" kern="12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</a:t>
              </a:r>
              <a:r>
                <a:rPr kumimoji="1" lang="en" altLang="ja-JP" sz="972" kern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/latest/</a:t>
              </a:r>
              <a:r>
                <a:rPr kumimoji="1" lang="en" altLang="ja-JP" sz="972" kern="12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flow_overview.html</a:t>
              </a:r>
              <a:endParaRPr kumimoji="1"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613861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EDD35AE-7E22-6A31-F15F-4CA21DC3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生成フロー詳細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D821C5-E243-B1B4-30AB-0284B819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634835"/>
            <a:ext cx="11327549" cy="31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44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0DBBA-633B-C6ED-F2C8-063ECC59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357AFAA9-9065-D9AD-9861-827175D94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11E5426D-54F6-95AE-F301-3B53EAD2E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862293B4-93EC-57CA-66EE-4C65843A1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180C82B2-69A4-4F63-AB00-3E2F589F2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5023567-9AE0-7B4A-6BD8-567376316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366B3E2-02C0-3207-98EA-7B8FF131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論理合成・詳解</a:t>
            </a:r>
          </a:p>
        </p:txBody>
      </p:sp>
    </p:spTree>
    <p:extLst>
      <p:ext uri="{BB962C8B-B14F-4D97-AF65-F5344CB8AC3E}">
        <p14:creationId xmlns:p14="http://schemas.microsoft.com/office/powerpoint/2010/main" val="2589448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01BC8-8797-BD3D-70B9-BF8708D5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0830A95-C5E6-4E78-18DE-1042A4BB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A714ACD-7BFF-D748-11A5-BBCE5EB7E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F5FB83B-7915-8C17-60C5-115E5EF9A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54F036-6BAB-2C0D-ED1B-14D422CB7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388A-26F5-4A65-D045-F9E712CF0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論理合成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947220-D12B-43A3-5EA8-85AF48EE9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1501" y="5633765"/>
            <a:ext cx="366116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HDL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ハードウェア記述言語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）で</a:t>
            </a:r>
            <a:endParaRPr kumimoji="1" lang="en-US" altLang="ja-JP" sz="1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記述して、論理回路（</a:t>
            </a:r>
            <a:r>
              <a:rPr kumimoji="1" lang="en-US" altLang="ja-JP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RTL</a:t>
            </a:r>
            <a:r>
              <a:rPr kumimoji="1" lang="ja-JP" alt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）にする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E6EEEB-F374-9D07-C70C-ECB413170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535" y="399039"/>
            <a:ext cx="11327549" cy="450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75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E2A0A38-C38D-1CEC-BD29-19267013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論理回路の正体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8B5E49-DD54-33C6-E327-176439E6F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570" y="5791201"/>
            <a:ext cx="9932690" cy="50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kumimoji="1" lang="ja-JP" altLang="en-US" sz="2400">
                <a:solidFill>
                  <a:srgbClr val="FFFFFF"/>
                </a:solidFill>
              </a:rPr>
              <a:t>中身は</a:t>
            </a:r>
            <a:r>
              <a:rPr kumimoji="1" lang="en-US" altLang="ja-JP" sz="2400">
                <a:solidFill>
                  <a:srgbClr val="FFFFFF"/>
                </a:solidFill>
              </a:rPr>
              <a:t>P-FET</a:t>
            </a:r>
            <a:r>
              <a:rPr kumimoji="1" lang="ja-JP" altLang="en-US" sz="2400">
                <a:solidFill>
                  <a:srgbClr val="FFFFFF"/>
                </a:solidFill>
              </a:rPr>
              <a:t>と</a:t>
            </a:r>
            <a:r>
              <a:rPr kumimoji="1" lang="en-US" altLang="ja-JP" sz="2400">
                <a:solidFill>
                  <a:srgbClr val="FFFFFF"/>
                </a:solidFill>
              </a:rPr>
              <a:t>N-FET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F000BF8-B979-5889-88FA-61CABD0E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946"/>
          <a:stretch>
            <a:fillRect/>
          </a:stretch>
        </p:blipFill>
        <p:spPr>
          <a:xfrm>
            <a:off x="1603221" y="2133758"/>
            <a:ext cx="4039294" cy="32356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3233099-7B57-48D5-FA60-51180A3FB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132" y="2133600"/>
            <a:ext cx="3195399" cy="32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85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9B383-2820-F16F-A7CF-5DB838D5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07C959BD-C72D-4D58-F66C-2EAB3A794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2F2AA69E-7749-8EFD-9DA8-25679AE0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F70EBE23-4B66-15A9-BFCF-DE1BA4D7D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274D34F-47A2-AAF6-E166-27D6F8C87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85E0D6D-08FE-3433-D674-3A9602551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DE3F4EC-9430-A68D-36AC-F419B469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ja-JP" sz="4000" dirty="0">
                <a:solidFill>
                  <a:schemeClr val="bg2"/>
                </a:solidFill>
              </a:rPr>
              <a:t>P&amp;R</a:t>
            </a:r>
            <a:r>
              <a:rPr lang="ja-JP" altLang="en-US" sz="4000">
                <a:solidFill>
                  <a:schemeClr val="bg2"/>
                </a:solidFill>
              </a:rPr>
              <a:t>（配置配線）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911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9089C7-A03F-344F-D774-09120026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3600"/>
              <a:t>回路をレイアウトにする工程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3D7ADCC-F384-8FE3-F6FA-F9A23D121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9" y="1866262"/>
            <a:ext cx="11035319" cy="18760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D242E66-1E31-5ABF-0CA6-C31A9770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80" y="4459571"/>
            <a:ext cx="11035318" cy="1793241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A955F918-76C9-537A-FFBD-F52E22606F8D}"/>
              </a:ext>
            </a:extLst>
          </p:cNvPr>
          <p:cNvSpPr/>
          <p:nvPr/>
        </p:nvSpPr>
        <p:spPr>
          <a:xfrm>
            <a:off x="5858933" y="3854383"/>
            <a:ext cx="474133" cy="556679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677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40643F-EDD9-A9F3-E2BF-531C4D7FA6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BDC471B-F555-5FDE-F137-E75F0E50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インバータ回路の手配置配線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638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A7D9547-E259-1BDB-63BB-D2DC5742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" y="51706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スタンダードセル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B4FF61-A676-C029-1EFF-6C41C52F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463" y="1741135"/>
            <a:ext cx="4880644" cy="494242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BA4F234-A337-A124-1630-143A272FE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79"/>
          <a:stretch>
            <a:fillRect/>
          </a:stretch>
        </p:blipFill>
        <p:spPr>
          <a:xfrm>
            <a:off x="8812306" y="-5113"/>
            <a:ext cx="3359506" cy="68580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C46182D-E64E-D182-18AD-3A84F4CC12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946"/>
          <a:stretch>
            <a:fillRect/>
          </a:stretch>
        </p:blipFill>
        <p:spPr>
          <a:xfrm>
            <a:off x="129365" y="2435294"/>
            <a:ext cx="3422329" cy="27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10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16E6E-2686-4459-13E2-79794CFF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F94AF90-3A44-6261-DBED-37FF9BB75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3" r="1" b="775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1BF4DD63-CE83-4A2A-994E-8598C22E6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901BF83-A4AE-FA63-BDEA-0CE42EDA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462" y="2037441"/>
            <a:ext cx="4391024" cy="707886"/>
          </a:xfrm>
        </p:spPr>
        <p:txBody>
          <a:bodyPr anchor="t">
            <a:normAutofit/>
          </a:bodyPr>
          <a:lstStyle/>
          <a:p>
            <a:r>
              <a:rPr kumimoji="1" lang="ja-JP" altLang="en-US" sz="2800">
                <a:solidFill>
                  <a:schemeClr val="bg1"/>
                </a:solidFill>
              </a:rPr>
              <a:t>スタンダードセルの特徴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127A80-93F5-D9C1-771D-B5F9DA692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463" y="2926800"/>
            <a:ext cx="4391024" cy="2291086"/>
          </a:xfrm>
        </p:spPr>
        <p:txBody>
          <a:bodyPr>
            <a:normAutofit/>
          </a:bodyPr>
          <a:lstStyle/>
          <a:p>
            <a:r>
              <a:rPr kumimoji="1" lang="ja-JP" altLang="en-US" sz="2400">
                <a:solidFill>
                  <a:schemeClr val="bg1">
                    <a:alpha val="80000"/>
                  </a:schemeClr>
                </a:solidFill>
              </a:rPr>
              <a:t>縦の長さは均一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alpha val="80000"/>
                  </a:schemeClr>
                </a:solidFill>
              </a:rPr>
              <a:t>横の長さが何種類かある</a:t>
            </a:r>
            <a:endParaRPr kumimoji="1" lang="ja-JP" alt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27393A7-D6DA-410B-8699-AA56B57B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EC44C88-69E3-42EE-86E8-9B45F712B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B7CB30A-22F3-3534-19D0-3CF1852C4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3" y="5554646"/>
            <a:ext cx="10355942" cy="124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63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1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コンテンツ プレースホルダー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841729A7-E38E-B124-E56E-7437E61D5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112" y="643466"/>
            <a:ext cx="6872633" cy="556683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984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7001E8E-1582-8521-56D2-F7377949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3" r="5" b="601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1BF4DD63-CE83-4A2A-994E-8598C22E6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53D6FB-F9E1-F64A-1079-F2304DD4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462" y="2037441"/>
            <a:ext cx="4391024" cy="707886"/>
          </a:xfrm>
        </p:spPr>
        <p:txBody>
          <a:bodyPr anchor="t">
            <a:normAutofit/>
          </a:bodyPr>
          <a:lstStyle/>
          <a:p>
            <a:r>
              <a:rPr lang="ja-JP" altLang="en-US" sz="2800">
                <a:solidFill>
                  <a:schemeClr val="bg1"/>
                </a:solidFill>
              </a:rPr>
              <a:t>スタンダードセルの特徴</a:t>
            </a:r>
            <a:endParaRPr kumimoji="1" lang="ja-JP" altLang="en-US" sz="280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2C9D2E-FF23-8A88-47E9-985E0776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463" y="2926800"/>
            <a:ext cx="4391024" cy="2291086"/>
          </a:xfrm>
        </p:spPr>
        <p:txBody>
          <a:bodyPr>
            <a:normAutofit/>
          </a:bodyPr>
          <a:lstStyle/>
          <a:p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高さは共通、横幅が違う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上が</a:t>
            </a:r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P</a:t>
            </a:r>
            <a:r>
              <a:rPr lang="en-US" altLang="ja-JP" sz="2400" dirty="0">
                <a:solidFill>
                  <a:schemeClr val="bg1">
                    <a:alpha val="80000"/>
                  </a:schemeClr>
                </a:solidFill>
              </a:rPr>
              <a:t>-FET,</a:t>
            </a:r>
            <a:r>
              <a:rPr lang="ja-JP" altLang="en-US" sz="2400" dirty="0">
                <a:solidFill>
                  <a:schemeClr val="bg1">
                    <a:alpha val="80000"/>
                  </a:schemeClr>
                </a:solidFill>
              </a:rPr>
              <a:t>下が</a:t>
            </a:r>
            <a:r>
              <a:rPr lang="en-US" altLang="ja-JP" sz="2400" dirty="0">
                <a:solidFill>
                  <a:schemeClr val="bg1">
                    <a:alpha val="80000"/>
                  </a:schemeClr>
                </a:solidFill>
              </a:rPr>
              <a:t>N-FET</a:t>
            </a:r>
          </a:p>
          <a:p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VDD</a:t>
            </a:r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と</a:t>
            </a:r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VSS</a:t>
            </a:r>
            <a:r>
              <a:rPr kumimoji="1" lang="ja-JP" altLang="en-US" sz="2400" dirty="0">
                <a:solidFill>
                  <a:schemeClr val="bg1">
                    <a:alpha val="80000"/>
                  </a:schemeClr>
                </a:solidFill>
              </a:rPr>
              <a:t>ラインがある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ja-JP" altLang="en-US" sz="2400" dirty="0">
                <a:solidFill>
                  <a:schemeClr val="bg1">
                    <a:alpha val="80000"/>
                  </a:schemeClr>
                </a:solidFill>
              </a:rPr>
              <a:t>ピンは何種類かある</a:t>
            </a:r>
            <a:endParaRPr kumimoji="1" lang="ja-JP" alt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7393A7-D6DA-410B-8699-AA56B57B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C44C88-69E3-42EE-86E8-9B45F712B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角丸四角形吹き出し 4">
            <a:extLst>
              <a:ext uri="{FF2B5EF4-FFF2-40B4-BE49-F238E27FC236}">
                <a16:creationId xmlns:a16="http://schemas.microsoft.com/office/drawing/2014/main" id="{6C2F1764-764A-200F-C107-67B5634E7BD8}"/>
              </a:ext>
            </a:extLst>
          </p:cNvPr>
          <p:cNvSpPr/>
          <p:nvPr/>
        </p:nvSpPr>
        <p:spPr>
          <a:xfrm>
            <a:off x="2133600" y="0"/>
            <a:ext cx="1710266" cy="609600"/>
          </a:xfrm>
          <a:prstGeom prst="wedgeRoundRectCallout">
            <a:avLst>
              <a:gd name="adj1" fmla="val -30734"/>
              <a:gd name="adj2" fmla="val 81944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VDD</a:t>
            </a:r>
            <a:r>
              <a:rPr kumimoji="1" lang="ja-JP" altLang="en-US"/>
              <a:t>ライン</a:t>
            </a:r>
          </a:p>
        </p:txBody>
      </p:sp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6D35B884-E46D-6C27-904E-A778A53CE8CB}"/>
              </a:ext>
            </a:extLst>
          </p:cNvPr>
          <p:cNvSpPr/>
          <p:nvPr/>
        </p:nvSpPr>
        <p:spPr>
          <a:xfrm>
            <a:off x="2133600" y="0"/>
            <a:ext cx="1710266" cy="609600"/>
          </a:xfrm>
          <a:prstGeom prst="wedgeRoundRectCallout">
            <a:avLst>
              <a:gd name="adj1" fmla="val 119761"/>
              <a:gd name="adj2" fmla="val 68055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VDD</a:t>
            </a:r>
            <a:r>
              <a:rPr kumimoji="1" lang="ja-JP" altLang="en-US"/>
              <a:t>ライン</a:t>
            </a:r>
          </a:p>
        </p:txBody>
      </p:sp>
      <p:sp>
        <p:nvSpPr>
          <p:cNvPr id="7" name="角丸四角形吹き出し 6">
            <a:extLst>
              <a:ext uri="{FF2B5EF4-FFF2-40B4-BE49-F238E27FC236}">
                <a16:creationId xmlns:a16="http://schemas.microsoft.com/office/drawing/2014/main" id="{F2753041-6A33-7E49-3EA7-039C39DA64C4}"/>
              </a:ext>
            </a:extLst>
          </p:cNvPr>
          <p:cNvSpPr/>
          <p:nvPr/>
        </p:nvSpPr>
        <p:spPr>
          <a:xfrm>
            <a:off x="432329" y="5432663"/>
            <a:ext cx="1710266" cy="609600"/>
          </a:xfrm>
          <a:prstGeom prst="wedgeRoundRectCallout">
            <a:avLst>
              <a:gd name="adj1" fmla="val 47484"/>
              <a:gd name="adj2" fmla="val 118055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VSS</a:t>
            </a:r>
            <a:r>
              <a:rPr kumimoji="1" lang="ja-JP" altLang="en-US"/>
              <a:t>ライン</a:t>
            </a:r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4923FB3F-F246-B1E0-FBE9-F65454BB1297}"/>
              </a:ext>
            </a:extLst>
          </p:cNvPr>
          <p:cNvSpPr/>
          <p:nvPr/>
        </p:nvSpPr>
        <p:spPr>
          <a:xfrm>
            <a:off x="432329" y="5432663"/>
            <a:ext cx="1710266" cy="609600"/>
          </a:xfrm>
          <a:prstGeom prst="wedgeRoundRectCallout">
            <a:avLst>
              <a:gd name="adj1" fmla="val 231643"/>
              <a:gd name="adj2" fmla="val 12638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VSS</a:t>
            </a:r>
            <a:r>
              <a:rPr kumimoji="1" lang="ja-JP" altLang="en-US"/>
              <a:t>ライン</a:t>
            </a:r>
          </a:p>
        </p:txBody>
      </p:sp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9F3E9F41-9338-BBE8-E7F9-0F76F6BCA0FC}"/>
              </a:ext>
            </a:extLst>
          </p:cNvPr>
          <p:cNvSpPr/>
          <p:nvPr/>
        </p:nvSpPr>
        <p:spPr>
          <a:xfrm>
            <a:off x="7429765" y="2819400"/>
            <a:ext cx="1710266" cy="609600"/>
          </a:xfrm>
          <a:prstGeom prst="wedgeRoundRectCallout">
            <a:avLst>
              <a:gd name="adj1" fmla="val 96988"/>
              <a:gd name="adj2" fmla="val 17083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ピン</a:t>
            </a:r>
            <a:endParaRPr kumimoji="1" lang="ja-JP" altLang="en-US"/>
          </a:p>
        </p:txBody>
      </p:sp>
      <p:sp>
        <p:nvSpPr>
          <p:cNvPr id="12" name="角丸四角形吹き出し 11">
            <a:extLst>
              <a:ext uri="{FF2B5EF4-FFF2-40B4-BE49-F238E27FC236}">
                <a16:creationId xmlns:a16="http://schemas.microsoft.com/office/drawing/2014/main" id="{83165A6D-2403-3873-71AC-7594939DB1A6}"/>
              </a:ext>
            </a:extLst>
          </p:cNvPr>
          <p:cNvSpPr/>
          <p:nvPr/>
        </p:nvSpPr>
        <p:spPr>
          <a:xfrm>
            <a:off x="7493003" y="304800"/>
            <a:ext cx="1710266" cy="965136"/>
          </a:xfrm>
          <a:prstGeom prst="wedgeRoundRectCallout">
            <a:avLst>
              <a:gd name="adj1" fmla="val 95009"/>
              <a:gd name="adj2" fmla="val 1015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P-FET</a:t>
            </a:r>
          </a:p>
          <a:p>
            <a:pPr algn="ctr"/>
            <a:r>
              <a:rPr kumimoji="1" lang="en-US" altLang="ja-JP" dirty="0"/>
              <a:t>S</a:t>
            </a:r>
            <a:r>
              <a:rPr lang="ja-JP" altLang="en-US"/>
              <a:t>が共通</a:t>
            </a:r>
            <a:endParaRPr kumimoji="1" lang="ja-JP" altLang="en-US"/>
          </a:p>
        </p:txBody>
      </p:sp>
      <p:sp>
        <p:nvSpPr>
          <p:cNvPr id="14" name="角丸四角形吹き出し 13">
            <a:extLst>
              <a:ext uri="{FF2B5EF4-FFF2-40B4-BE49-F238E27FC236}">
                <a16:creationId xmlns:a16="http://schemas.microsoft.com/office/drawing/2014/main" id="{DFB8A465-CACB-C42D-7A95-01AD65C380A9}"/>
              </a:ext>
            </a:extLst>
          </p:cNvPr>
          <p:cNvSpPr/>
          <p:nvPr/>
        </p:nvSpPr>
        <p:spPr>
          <a:xfrm>
            <a:off x="7137403" y="4605931"/>
            <a:ext cx="1710266" cy="965136"/>
          </a:xfrm>
          <a:prstGeom prst="wedgeRoundRectCallout">
            <a:avLst>
              <a:gd name="adj1" fmla="val 113821"/>
              <a:gd name="adj2" fmla="val 6468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N-FET</a:t>
            </a:r>
          </a:p>
          <a:p>
            <a:pPr algn="ctr"/>
            <a:r>
              <a:rPr kumimoji="1" lang="en-US" altLang="ja-JP" dirty="0"/>
              <a:t>S</a:t>
            </a:r>
            <a:r>
              <a:rPr lang="ja-JP" altLang="en-US"/>
              <a:t>が共通</a:t>
            </a:r>
            <a:endParaRPr kumimoji="1" lang="ja-JP" altLang="en-US"/>
          </a:p>
        </p:txBody>
      </p:sp>
      <p:sp>
        <p:nvSpPr>
          <p:cNvPr id="15" name="角丸四角形吹き出し 14">
            <a:extLst>
              <a:ext uri="{FF2B5EF4-FFF2-40B4-BE49-F238E27FC236}">
                <a16:creationId xmlns:a16="http://schemas.microsoft.com/office/drawing/2014/main" id="{68B6E237-A10B-AE99-76CE-65FCF5AA5E42}"/>
              </a:ext>
            </a:extLst>
          </p:cNvPr>
          <p:cNvSpPr/>
          <p:nvPr/>
        </p:nvSpPr>
        <p:spPr>
          <a:xfrm>
            <a:off x="7429765" y="2819400"/>
            <a:ext cx="1710266" cy="609600"/>
          </a:xfrm>
          <a:prstGeom prst="wedgeRoundRectCallout">
            <a:avLst>
              <a:gd name="adj1" fmla="val -102022"/>
              <a:gd name="adj2" fmla="val 9305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ピン</a:t>
            </a:r>
            <a:endParaRPr kumimoji="1" lang="ja-JP" altLang="en-US"/>
          </a:p>
        </p:txBody>
      </p:sp>
      <p:sp>
        <p:nvSpPr>
          <p:cNvPr id="16" name="角丸四角形吹き出し 15">
            <a:extLst>
              <a:ext uri="{FF2B5EF4-FFF2-40B4-BE49-F238E27FC236}">
                <a16:creationId xmlns:a16="http://schemas.microsoft.com/office/drawing/2014/main" id="{4A842731-DC24-A4E9-AA2C-0275F121DE80}"/>
              </a:ext>
            </a:extLst>
          </p:cNvPr>
          <p:cNvSpPr/>
          <p:nvPr/>
        </p:nvSpPr>
        <p:spPr>
          <a:xfrm>
            <a:off x="7429765" y="2819400"/>
            <a:ext cx="1710266" cy="609600"/>
          </a:xfrm>
          <a:prstGeom prst="wedgeRoundRectCallout">
            <a:avLst>
              <a:gd name="adj1" fmla="val 127681"/>
              <a:gd name="adj2" fmla="val -1389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ピン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472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98258-FE0B-6074-D2B1-802F19ED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319D51-B8C6-14B8-6214-CB09173C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AC1AB0-884B-D213-CF13-40EEABAA9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06A1CF-05EE-2FBF-E0E9-0823BA530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A8FAE6-0123-5E87-9243-8AFD2A471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1B14587-5184-8F0B-87A3-021E5BB2D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" y="51706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スタンダードセル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9A198-5174-5566-50FD-C170EDE58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BD7ABD9-D2AF-43AE-3E16-24E63292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463" y="1741135"/>
            <a:ext cx="4880644" cy="494242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1922EF5-D1C8-9D9C-297B-E466FDD6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79"/>
          <a:stretch>
            <a:fillRect/>
          </a:stretch>
        </p:blipFill>
        <p:spPr>
          <a:xfrm>
            <a:off x="8812306" y="-5113"/>
            <a:ext cx="3359506" cy="685800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D928900-F4BF-6F6F-B7B0-DBF541A87C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8946"/>
          <a:stretch>
            <a:fillRect/>
          </a:stretch>
        </p:blipFill>
        <p:spPr>
          <a:xfrm>
            <a:off x="129365" y="2435294"/>
            <a:ext cx="3422329" cy="27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2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F230EE3-9427-C675-43D7-7AD9E57B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0936"/>
            <a:ext cx="5330275" cy="1951075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4800">
                <a:solidFill>
                  <a:schemeClr val="bg1"/>
                </a:solidFill>
              </a:rPr>
              <a:t>グリッド配線</a:t>
            </a:r>
            <a:br>
              <a:rPr kumimoji="1" lang="en-US" altLang="ja-JP" sz="4800" dirty="0">
                <a:solidFill>
                  <a:schemeClr val="bg1"/>
                </a:solidFill>
              </a:rPr>
            </a:br>
            <a:r>
              <a:rPr kumimoji="1" lang="ja-JP" altLang="en-US" sz="4800">
                <a:solidFill>
                  <a:schemeClr val="bg1"/>
                </a:solidFill>
              </a:rPr>
              <a:t>（電源グリッド）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F785FD-7D4D-B2C1-37BB-9F802D63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630936"/>
            <a:ext cx="5393347" cy="1951087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1800">
                <a:solidFill>
                  <a:schemeClr val="bg1"/>
                </a:solidFill>
              </a:rPr>
              <a:t>メタル層を縦と横で分ける</a:t>
            </a:r>
            <a:endParaRPr kumimoji="1" lang="en-US" altLang="ja-JP" sz="1800" dirty="0">
              <a:solidFill>
                <a:schemeClr val="bg1"/>
              </a:solidFill>
            </a:endParaRPr>
          </a:p>
          <a:p>
            <a:pPr lvl="1"/>
            <a:r>
              <a:rPr lang="en-US" altLang="ja-JP" sz="1800" dirty="0">
                <a:solidFill>
                  <a:schemeClr val="bg1"/>
                </a:solidFill>
              </a:rPr>
              <a:t>6</a:t>
            </a:r>
            <a:r>
              <a:rPr lang="ja-JP" altLang="en-US" sz="1800">
                <a:solidFill>
                  <a:schemeClr val="bg1"/>
                </a:solidFill>
              </a:rPr>
              <a:t>層などある場合は</a:t>
            </a:r>
            <a:r>
              <a:rPr lang="en-US" altLang="ja-JP" sz="1800" dirty="0">
                <a:solidFill>
                  <a:schemeClr val="bg1"/>
                </a:solidFill>
              </a:rPr>
              <a:t>6</a:t>
            </a:r>
            <a:r>
              <a:rPr lang="ja-JP" altLang="en-US" sz="1800">
                <a:solidFill>
                  <a:schemeClr val="bg1"/>
                </a:solidFill>
              </a:rPr>
              <a:t>層、</a:t>
            </a:r>
            <a:r>
              <a:rPr lang="en-US" altLang="ja-JP" sz="1800" dirty="0">
                <a:solidFill>
                  <a:schemeClr val="bg1"/>
                </a:solidFill>
              </a:rPr>
              <a:t>5</a:t>
            </a:r>
            <a:r>
              <a:rPr lang="ja-JP" altLang="en-US" sz="1800">
                <a:solidFill>
                  <a:schemeClr val="bg1"/>
                </a:solidFill>
              </a:rPr>
              <a:t>層を</a:t>
            </a:r>
            <a:r>
              <a:rPr lang="en-US" altLang="ja-JP" sz="1800" dirty="0">
                <a:solidFill>
                  <a:schemeClr val="bg1"/>
                </a:solidFill>
              </a:rPr>
              <a:t>VDD ,VSS</a:t>
            </a:r>
            <a:r>
              <a:rPr lang="ja-JP" altLang="en-US" sz="1800">
                <a:solidFill>
                  <a:schemeClr val="bg1"/>
                </a:solidFill>
              </a:rPr>
              <a:t>に割り当てる→電源グリッドと呼ばれる</a:t>
            </a:r>
            <a:endParaRPr lang="en-US" altLang="ja-JP" sz="1800" dirty="0">
              <a:solidFill>
                <a:schemeClr val="bg1"/>
              </a:solidFill>
            </a:endParaRPr>
          </a:p>
          <a:p>
            <a:pPr lvl="2"/>
            <a:r>
              <a:rPr kumimoji="1" lang="ja-JP" altLang="en-US" sz="1800">
                <a:solidFill>
                  <a:schemeClr val="bg1"/>
                </a:solidFill>
              </a:rPr>
              <a:t>理由：上部の層の方が線厚が厚いため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B5911286-B56B-77E8-F2BE-DAD815358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57" y="2394846"/>
            <a:ext cx="11487832" cy="1895492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38942456-7CD2-BB76-CB2A-6CF335454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7" y="4878525"/>
            <a:ext cx="11639992" cy="1799030"/>
          </a:xfrm>
          <a:prstGeom prst="rect">
            <a:avLst/>
          </a:prstGeo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CEDB059C-D8F8-A53E-FFCD-DC966C8FDAE7}"/>
              </a:ext>
            </a:extLst>
          </p:cNvPr>
          <p:cNvSpPr/>
          <p:nvPr/>
        </p:nvSpPr>
        <p:spPr>
          <a:xfrm>
            <a:off x="5164667" y="2107090"/>
            <a:ext cx="1574800" cy="6435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r>
              <a:rPr kumimoji="1" lang="ja-JP" altLang="en-US"/>
              <a:t>層グリッド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6E581641-7150-7DC9-A46E-DF2AEED4E6FA}"/>
              </a:ext>
            </a:extLst>
          </p:cNvPr>
          <p:cNvSpPr/>
          <p:nvPr/>
        </p:nvSpPr>
        <p:spPr>
          <a:xfrm>
            <a:off x="5164667" y="4330153"/>
            <a:ext cx="1574800" cy="64355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</a:t>
            </a:r>
            <a:r>
              <a:rPr kumimoji="1" lang="ja-JP" altLang="en-US"/>
              <a:t>層グリッド</a:t>
            </a:r>
          </a:p>
        </p:txBody>
      </p:sp>
    </p:spTree>
    <p:extLst>
      <p:ext uri="{BB962C8B-B14F-4D97-AF65-F5344CB8AC3E}">
        <p14:creationId xmlns:p14="http://schemas.microsoft.com/office/powerpoint/2010/main" val="4268052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8CD1F2-2CDE-4B42-BB23-EC7686F92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27173-10F7-4BE6-8CC8-39A46D78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FB2829-9E66-4DBD-BC15-FC5D73246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9EE2A32-8611-4375-B6B1-468FAD682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77E1DA0-3927-4F35-B8A3-D5D556375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BAA08B-588E-406F-899B-A6A7FC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8AA7C41-B331-402E-9453-95B3B8273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060B3E-946D-4885-9B86-1D445209E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046747-F284-4990-9ECA-3DF2C6E08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1301226-F3C6-4744-94AE-2460B381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4FF6A7D-C94F-8866-BEA3-992D086A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630935"/>
            <a:ext cx="5107366" cy="209676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完成図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C57637-D435-4155-993A-0E3A8BBBA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81AE96-B9C7-4679-BC62-F2C79F2E8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4225F6-B312-47D5-8299-988BD17E0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C04A86-BCAE-473C-B18D-88FD5627C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CCD134-9351-4847-8741-FF5EAB470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470C83-08EE-4959-BA0A-F8846F524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FD3A89-3666-47FE-913F-6C75228F5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6B60E5-039C-4E82-9B5C-984D6C46E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3D05E89-A5D2-4DC0-B6B1-298EF0EF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37967A-8AB7-47D5-A75E-6341730E9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A068AD4-624D-4314-8C86-A3C0C3378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D7C0931F-E13E-301B-64CF-1F81C489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2922956"/>
            <a:ext cx="10843065" cy="173488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CA2F7C3-1A69-44EE-A8B6-A4552E2C8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E44AF4D-8873-43B3-8E29-803B7720E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AE89E8A-BD14-4974-818A-D8382DCD4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21B80B9-448B-4363-9DD7-C074AB2AD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7DA34E7-83FB-4CAA-94F3-CEF08690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7284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1AD6E-D03D-049F-6CE4-F040F457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976E4892-355B-278C-A438-C839B6E9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9770985-EB8A-4F8F-6973-86FA5456B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57869D02-EB0B-B997-B502-663BFA002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1FD48B8F-7687-C86A-3DC9-F24D79C9F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93951A8-7212-C697-9E81-D9EAD6E04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2514A4B-6774-4F33-E3AE-D2D06901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タイミング解析</a:t>
            </a:r>
            <a:br>
              <a:rPr lang="en-US" altLang="ja-JP" sz="4000" dirty="0">
                <a:solidFill>
                  <a:schemeClr val="bg2"/>
                </a:solidFill>
              </a:rPr>
            </a:br>
            <a:r>
              <a:rPr lang="ja-JP" altLang="en-US" sz="2000">
                <a:solidFill>
                  <a:schemeClr val="bg2"/>
                </a:solidFill>
              </a:rPr>
              <a:t>広島大学・西澤先生の資料より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9132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4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347B963-AEB2-F915-D213-0AB82C335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43" y="643467"/>
            <a:ext cx="928511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53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75A435-A4B7-E346-5EEC-C8F2F69B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10" y="643467"/>
            <a:ext cx="822297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56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4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8CA20AD-0908-1ADB-1565-B5851E8D3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028" y="643467"/>
            <a:ext cx="747794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70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FA65A-ECB7-57F8-A346-0DBC89FB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A5D3C3-4CE8-F69C-3E59-45C94A2AD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CE0DAE-704E-C968-D1F5-82CB81D3B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80196DA-D744-42D3-ACF9-D02ACD2DC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6E4054-99C1-593B-7F34-A6F713FFB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D23029E-FA9D-0887-7514-134708996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0F211A0-8C82-61D0-E430-84B89050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ja-JP" sz="6600" dirty="0"/>
              <a:t>1bit-CPU</a:t>
            </a:r>
            <a:r>
              <a:rPr kumimoji="1" lang="ja-JP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編</a:t>
            </a:r>
          </a:p>
        </p:txBody>
      </p:sp>
    </p:spTree>
    <p:extLst>
      <p:ext uri="{BB962C8B-B14F-4D97-AF65-F5344CB8AC3E}">
        <p14:creationId xmlns:p14="http://schemas.microsoft.com/office/powerpoint/2010/main" val="5783618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45628-E37E-CC9A-CAD8-EA14BE96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661E8348-7A69-2E07-7A60-DD022D032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EBA382E6-B239-DCCE-53B5-D729D95FB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C1752B8F-D0C1-8FEB-05F7-3CFC0410A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2C7F4367-EB84-4269-EC2B-270B8BF3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5B4CF5F-CA9C-2D5B-BA1F-9904DE313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383C9E-491C-3FAC-FD6E-0BB63405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CPU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の構成</a:t>
            </a:r>
          </a:p>
        </p:txBody>
      </p:sp>
    </p:spTree>
    <p:extLst>
      <p:ext uri="{BB962C8B-B14F-4D97-AF65-F5344CB8AC3E}">
        <p14:creationId xmlns:p14="http://schemas.microsoft.com/office/powerpoint/2010/main" val="3655703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4040A-507B-85F8-8E02-94ECD0A6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45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16D8B3-EEEA-30E7-1894-D851B2D0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CPU</a:t>
            </a:r>
            <a:r>
              <a:rPr kumimoji="1" lang="ja-JP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とは？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2F9323F-72C1-0602-CBED-604DF1781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2515" y="115135"/>
            <a:ext cx="6872552" cy="632274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241DA3-F7BB-F136-8E22-1CE9479DC6BE}"/>
              </a:ext>
            </a:extLst>
          </p:cNvPr>
          <p:cNvSpPr txBox="1"/>
          <p:nvPr/>
        </p:nvSpPr>
        <p:spPr>
          <a:xfrm>
            <a:off x="4828381" y="6437882"/>
            <a:ext cx="712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出典：</a:t>
            </a:r>
            <a:r>
              <a:rPr lang="en" altLang="ja-JP" sz="1600" dirty="0"/>
              <a:t>https://</a:t>
            </a:r>
            <a:r>
              <a:rPr lang="en" altLang="ja-JP" sz="1600" dirty="0" err="1"/>
              <a:t>emb.macnica.co.jp</a:t>
            </a:r>
            <a:r>
              <a:rPr lang="en" altLang="ja-JP" sz="1600" dirty="0"/>
              <a:t>/articles/13347/</a:t>
            </a:r>
            <a:endParaRPr kumimoji="1"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025233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3FD50-EA5C-83E6-F3A1-4BA96408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064A75B1-4EA9-31AB-B2E3-11846B2C3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DD2527A-1DBD-00E6-0506-AB67265FC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77B74998-21F4-6642-1ECE-748E7FF03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7D14F0CD-DF16-01E9-43B7-75E142339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45CB1EF-1147-5283-45E5-B957ADE3C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24CBE4C-A8E6-3D5B-771D-88EA530D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1bit-CPU</a:t>
            </a:r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の構成</a:t>
            </a:r>
          </a:p>
        </p:txBody>
      </p:sp>
    </p:spTree>
    <p:extLst>
      <p:ext uri="{BB962C8B-B14F-4D97-AF65-F5344CB8AC3E}">
        <p14:creationId xmlns:p14="http://schemas.microsoft.com/office/powerpoint/2010/main" val="34997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29B73DF-FA2C-0512-4040-51CEB98F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ja-JP" sz="4600"/>
              <a:t>1bit-CPU</a:t>
            </a:r>
          </a:p>
        </p:txBody>
      </p:sp>
      <p:grpSp>
        <p:nvGrpSpPr>
          <p:cNvPr id="11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9A48175-F0FD-6F9A-8F03-F6B83A5B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96" y="1151825"/>
            <a:ext cx="3653179" cy="436599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93B5D3B-58FC-1430-41F3-CAFC6FB40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57" y="1249721"/>
            <a:ext cx="3383280" cy="373843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38BD1D-C283-3F29-5279-AB7A3BF4CCE5}"/>
              </a:ext>
            </a:extLst>
          </p:cNvPr>
          <p:cNvSpPr txBox="1"/>
          <p:nvPr/>
        </p:nvSpPr>
        <p:spPr>
          <a:xfrm>
            <a:off x="4125081" y="5777809"/>
            <a:ext cx="5950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dirty="0"/>
              <a:t>https://</a:t>
            </a:r>
            <a:r>
              <a:rPr lang="en" altLang="ja-JP" dirty="0" err="1"/>
              <a:t>github.com</a:t>
            </a:r>
            <a:r>
              <a:rPr lang="en" altLang="ja-JP" dirty="0"/>
              <a:t>/naoto64/1bit-CPU</a:t>
            </a:r>
            <a:endParaRPr kumimoji="1" lang="ja-JP" altLang="en-US"/>
          </a:p>
        </p:txBody>
      </p:sp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EA65D3F-15DC-263C-F334-C92BAA348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57" y="4475053"/>
            <a:ext cx="3653179" cy="11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8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F26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0E4B47-6ABF-1EC5-C127-E098F8DA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回路図</a:t>
            </a:r>
            <a:endParaRPr kumimoji="1" lang="en-US" altLang="ja-JP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14AB231-D675-7BD0-9113-3ECA3F16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67" y="855133"/>
            <a:ext cx="8564668" cy="5031741"/>
          </a:xfrm>
          <a:prstGeom prst="rect">
            <a:avLst/>
          </a:prstGeo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017AECF-6D68-8DC9-8071-2D91757A4FCE}"/>
              </a:ext>
            </a:extLst>
          </p:cNvPr>
          <p:cNvSpPr/>
          <p:nvPr/>
        </p:nvSpPr>
        <p:spPr>
          <a:xfrm>
            <a:off x="4167981" y="1896531"/>
            <a:ext cx="1461294" cy="101811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/>
              <a:t>レジスタ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F3E580F8-F37D-B17B-4FE4-5F4A437A1E92}"/>
              </a:ext>
            </a:extLst>
          </p:cNvPr>
          <p:cNvSpPr/>
          <p:nvPr/>
        </p:nvSpPr>
        <p:spPr>
          <a:xfrm>
            <a:off x="5970192" y="1286934"/>
            <a:ext cx="2598075" cy="2556934"/>
          </a:xfrm>
          <a:prstGeom prst="roundRect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/>
              <a:t>演算器</a:t>
            </a:r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54FADCFB-3AA6-B8A6-7815-702F40688673}"/>
              </a:ext>
            </a:extLst>
          </p:cNvPr>
          <p:cNvSpPr/>
          <p:nvPr/>
        </p:nvSpPr>
        <p:spPr>
          <a:xfrm>
            <a:off x="9315715" y="971126"/>
            <a:ext cx="2598075" cy="3262207"/>
          </a:xfrm>
          <a:prstGeom prst="roundRect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ja-JP" altLang="en-US"/>
              <a:t>デコーダ</a:t>
            </a:r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2C0B1543-0610-68A6-522E-4A9358AABABE}"/>
              </a:ext>
            </a:extLst>
          </p:cNvPr>
          <p:cNvSpPr/>
          <p:nvPr/>
        </p:nvSpPr>
        <p:spPr>
          <a:xfrm>
            <a:off x="8377743" y="3657598"/>
            <a:ext cx="1665549" cy="1676403"/>
          </a:xfrm>
          <a:prstGeom prst="roundRect">
            <a:avLst/>
          </a:prstGeom>
          <a:solidFill>
            <a:schemeClr val="tx2">
              <a:lumMod val="50000"/>
              <a:lumOff val="5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/>
              <a:t>記憶装置（</a:t>
            </a:r>
            <a:r>
              <a:rPr kumimoji="1" lang="en-US" altLang="ja-JP" dirty="0"/>
              <a:t>ROM)</a:t>
            </a:r>
          </a:p>
          <a:p>
            <a:pPr algn="ctr"/>
            <a:endParaRPr kumimoji="1" lang="ja-JP" altLang="en-US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A4844E23-C99F-6052-0C94-7DE88DE074E9}"/>
              </a:ext>
            </a:extLst>
          </p:cNvPr>
          <p:cNvSpPr/>
          <p:nvPr/>
        </p:nvSpPr>
        <p:spPr>
          <a:xfrm>
            <a:off x="4167981" y="2914649"/>
            <a:ext cx="1461294" cy="1228725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r>
              <a:rPr lang="ja-JP" altLang="en-US"/>
              <a:t>プログラム</a:t>
            </a:r>
            <a:endParaRPr lang="en-US" altLang="ja-JP" dirty="0"/>
          </a:p>
          <a:p>
            <a:pPr algn="ctr"/>
            <a:r>
              <a:rPr lang="ja-JP" altLang="en-US"/>
              <a:t>カウンタ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3633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A09B408-A5D5-C920-8F24-52150C199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103567"/>
            <a:ext cx="7746709" cy="46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95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92875D0-3795-0275-73D4-F98E6742D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93884"/>
            <a:ext cx="7746709" cy="46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99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14941BF-4981-E2C7-EDFC-A20479202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93884"/>
            <a:ext cx="7746709" cy="46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868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37FD38E-AAF7-939B-0E16-7634C7EEF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93884"/>
            <a:ext cx="7746709" cy="46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15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065F5-0485-43E8-85D3-765238CC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99B66425-6AE5-F373-0F8D-F17B90C07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314A7423-E9B1-110A-E36E-BE32DEE02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3DFA6215-2CB6-B609-8DC0-190EDDF27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6BB9147-83DD-53B9-DD78-D5EFC0744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EA9C9FB-AE4B-2192-6B47-1E12DFCF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6607382-CCD6-9F59-63B6-D58999C3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回路図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8836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55E2E0-E700-B1DE-5690-B17D1CBB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回路をレイアウトにする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D74D707-136D-B38D-7052-9870FEC1A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42" y="0"/>
            <a:ext cx="11648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334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0BAA87-E062-1543-CACF-702C1518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5609865"/>
            <a:ext cx="5071221" cy="1201642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4800">
                <a:solidFill>
                  <a:schemeClr val="bg1"/>
                </a:solidFill>
              </a:rPr>
              <a:t>配置配線を考える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37BDEA-7508-235F-0267-B863694CE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3" y="669921"/>
            <a:ext cx="11926719" cy="1431202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A1080D-DFC2-976B-1281-A00DB3CFF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5609872"/>
            <a:ext cx="5549111" cy="1201642"/>
          </a:xfrm>
          <a:noFill/>
        </p:spPr>
        <p:txBody>
          <a:bodyPr anchor="t">
            <a:normAutofit/>
          </a:bodyPr>
          <a:lstStyle/>
          <a:p>
            <a:r>
              <a:rPr kumimoji="1" lang="ja-JP" altLang="en-US" sz="1800">
                <a:solidFill>
                  <a:schemeClr val="bg1"/>
                </a:solidFill>
              </a:rPr>
              <a:t>配置は横一列になる</a:t>
            </a:r>
            <a:endParaRPr kumimoji="1" lang="en-US" altLang="ja-JP" sz="1800" dirty="0">
              <a:solidFill>
                <a:schemeClr val="bg1"/>
              </a:solidFill>
            </a:endParaRPr>
          </a:p>
          <a:p>
            <a:pPr lvl="1"/>
            <a:r>
              <a:rPr lang="ja-JP" altLang="en-US" sz="1800">
                <a:solidFill>
                  <a:schemeClr val="bg1"/>
                </a:solidFill>
              </a:rPr>
              <a:t>回路図も横一列にしないと頭がこんがらがる可能性アリ</a:t>
            </a:r>
            <a:endParaRPr kumimoji="1" lang="ja-JP" altLang="en-US" sz="1800">
              <a:solidFill>
                <a:schemeClr val="bg1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B3C302E-D4E2-EC82-1BF7-FC8030A8D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7417"/>
            <a:ext cx="12192000" cy="208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603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65312-9778-BDED-89F7-DD034B62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53F47004-5AA6-D3DB-FEFC-9AD2FEE1F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67F58DC6-44B0-260D-43F7-0EE3073E5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9971B4D4-5175-FA70-FABB-650E16161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321BAB3-7C2C-BC71-0304-C4C41395D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A104B-89BC-1465-2D8C-8F133F61E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FA2E76-4996-8488-52A9-881F7AFC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レイアウト</a:t>
            </a:r>
          </a:p>
        </p:txBody>
      </p:sp>
    </p:spTree>
    <p:extLst>
      <p:ext uri="{BB962C8B-B14F-4D97-AF65-F5344CB8AC3E}">
        <p14:creationId xmlns:p14="http://schemas.microsoft.com/office/powerpoint/2010/main" val="3403325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BF2704-427E-72EF-996A-AE45F3D4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ja-JP" altLang="en-US" sz="4000">
                <a:solidFill>
                  <a:srgbClr val="FFFFFF"/>
                </a:solidFill>
              </a:rPr>
              <a:t>配置の手入力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857F18-7D75-99E1-4591-39F51E0B9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56" y="431024"/>
            <a:ext cx="8311487" cy="3158365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BF1A43-8622-5F17-1269-77F305597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r>
              <a:rPr lang="ja-JP" altLang="en-US" sz="2000"/>
              <a:t>「</a:t>
            </a:r>
            <a:r>
              <a:rPr lang="en-US" altLang="ja-JP" sz="2000" dirty="0" err="1"/>
              <a:t>Positon</a:t>
            </a:r>
            <a:r>
              <a:rPr lang="en-US" altLang="ja-JP" sz="2000" dirty="0"/>
              <a:t> of cell origin</a:t>
            </a:r>
            <a:r>
              <a:rPr lang="ja-JP" altLang="en-US" sz="2000"/>
              <a:t>」で手入力するのが楽</a:t>
            </a:r>
            <a:endParaRPr lang="en-US" altLang="ja-JP" sz="2000" dirty="0"/>
          </a:p>
          <a:p>
            <a:pPr lvl="1"/>
            <a:r>
              <a:rPr kumimoji="1" lang="ja-JP" altLang="en-US" sz="2000"/>
              <a:t>四則演算は可能</a:t>
            </a:r>
          </a:p>
        </p:txBody>
      </p:sp>
    </p:spTree>
    <p:extLst>
      <p:ext uri="{BB962C8B-B14F-4D97-AF65-F5344CB8AC3E}">
        <p14:creationId xmlns:p14="http://schemas.microsoft.com/office/powerpoint/2010/main" val="29412838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B3F305E-ACF4-CE5E-2D97-82644E72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anchor="t">
            <a:normAutofit/>
          </a:bodyPr>
          <a:lstStyle/>
          <a:p>
            <a:r>
              <a:rPr kumimoji="1" lang="ja-JP" altLang="en-US" sz="4000">
                <a:solidFill>
                  <a:schemeClr val="bg1"/>
                </a:solidFill>
              </a:rPr>
              <a:t>グリッド配線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77B0BEE-1B58-12B8-C31E-10BDCB35C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066"/>
          <a:stretch>
            <a:fillRect/>
          </a:stretch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4716D7C-A1BB-5035-9B75-615804CE1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80" r="1" b="1"/>
          <a:stretch>
            <a:fillRect/>
          </a:stretch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18" name="Group 11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3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3B306C-64C8-8C85-1991-B182B69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766267"/>
            <a:ext cx="5692774" cy="1077411"/>
          </a:xfrm>
        </p:spPr>
        <p:txBody>
          <a:bodyPr>
            <a:normAutofit/>
          </a:bodyPr>
          <a:lstStyle/>
          <a:p>
            <a:r>
              <a:rPr kumimoji="1" lang="ja-JP" altLang="en-US" sz="2400">
                <a:solidFill>
                  <a:schemeClr val="bg1">
                    <a:alpha val="80000"/>
                  </a:schemeClr>
                </a:solidFill>
              </a:rPr>
              <a:t>縦方向にメタル</a:t>
            </a:r>
            <a:r>
              <a:rPr kumimoji="1" lang="en-US" altLang="ja-JP" sz="2400" dirty="0">
                <a:solidFill>
                  <a:schemeClr val="bg1">
                    <a:alpha val="80000"/>
                  </a:schemeClr>
                </a:solidFill>
              </a:rPr>
              <a:t>2</a:t>
            </a:r>
            <a:r>
              <a:rPr kumimoji="1" lang="ja-JP" altLang="en-US" sz="2400">
                <a:solidFill>
                  <a:schemeClr val="bg1">
                    <a:alpha val="80000"/>
                  </a:schemeClr>
                </a:solidFill>
              </a:rPr>
              <a:t>層</a:t>
            </a:r>
            <a:endParaRPr kumimoji="1" lang="en-US" altLang="ja-JP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ja-JP" altLang="en-US" sz="2400">
                <a:solidFill>
                  <a:schemeClr val="bg1">
                    <a:alpha val="80000"/>
                  </a:schemeClr>
                </a:solidFill>
              </a:rPr>
              <a:t>横方向にメタル</a:t>
            </a:r>
            <a:r>
              <a:rPr lang="en-US" altLang="ja-JP" sz="2400" dirty="0">
                <a:solidFill>
                  <a:schemeClr val="bg1">
                    <a:alpha val="80000"/>
                  </a:schemeClr>
                </a:solidFill>
              </a:rPr>
              <a:t>1</a:t>
            </a:r>
            <a:r>
              <a:rPr lang="ja-JP" altLang="en-US" sz="2400">
                <a:solidFill>
                  <a:schemeClr val="bg1">
                    <a:alpha val="80000"/>
                  </a:schemeClr>
                </a:solidFill>
              </a:rPr>
              <a:t>層</a:t>
            </a:r>
            <a:endParaRPr kumimoji="1" lang="ja-JP" altLang="en-US" sz="24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434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050D55-B0F1-07AB-6643-EB3C78A2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4800">
                <a:solidFill>
                  <a:srgbClr val="FFFFFF"/>
                </a:solidFill>
              </a:rPr>
              <a:t>レイアウト完成例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3C069DB-6074-E937-891A-0C354D58C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0" y="2149132"/>
            <a:ext cx="11929919" cy="196315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361910F-ACAD-61E0-1AA8-B98BB275C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0" y="4515085"/>
            <a:ext cx="11929919" cy="19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34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60638-801B-2AE8-E9A9-86F32215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2B9A2C-686A-5E1D-2125-CB0691D99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7B5009-453F-FB2F-DC86-790337EB4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2EEE1-BCDD-E636-1E10-FB95AB96A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ACF62D-01F8-7650-4CA8-7190E79CE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9B999B-593A-FB5F-22EF-E61C5EE42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ED4FC0-7F2B-D33F-1E1E-98751ADB2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96410-F801-AB03-D119-7F81AC39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9D5F5E1-00F0-C5A5-CC50-DA068747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02" y="586855"/>
            <a:ext cx="3422886" cy="4868895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 dirty="0">
                <a:solidFill>
                  <a:schemeClr val="bg1"/>
                </a:solidFill>
              </a:rPr>
              <a:t>提出物</a:t>
            </a:r>
            <a:br>
              <a:rPr kumimoji="1" lang="en-US" altLang="ja-JP" sz="4000" dirty="0">
                <a:solidFill>
                  <a:schemeClr val="bg1"/>
                </a:solidFill>
              </a:rPr>
            </a:br>
            <a:br>
              <a:rPr kumimoji="1"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（ハンズオン</a:t>
            </a:r>
            <a:br>
              <a:rPr lang="en-US" altLang="ja-JP" sz="4000" dirty="0">
                <a:solidFill>
                  <a:schemeClr val="bg1"/>
                </a:solidFill>
              </a:rPr>
            </a:br>
            <a:r>
              <a:rPr lang="ja-JP" altLang="en-US" sz="4000" dirty="0">
                <a:solidFill>
                  <a:schemeClr val="bg1"/>
                </a:solidFill>
              </a:rPr>
              <a:t>参加者向け）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DCD171-1A79-1AB2-A4D6-D5C80EB83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ja-JP" altLang="en-US" sz="2000" dirty="0"/>
              <a:t>提出物</a:t>
            </a:r>
            <a:endParaRPr lang="en-US" altLang="ja-JP" sz="2000" dirty="0"/>
          </a:p>
          <a:p>
            <a:pPr lvl="1"/>
            <a:r>
              <a:rPr lang="ja-JP" altLang="en-US" sz="2000" dirty="0"/>
              <a:t>回路図</a:t>
            </a:r>
            <a:endParaRPr lang="en-US" altLang="ja-JP" sz="2000" dirty="0"/>
          </a:p>
          <a:p>
            <a:pPr lvl="1"/>
            <a:r>
              <a:rPr lang="ja-JP" altLang="en-US" sz="2000" dirty="0"/>
              <a:t>レイアウト</a:t>
            </a:r>
            <a:endParaRPr lang="en-US" altLang="ja-JP" sz="2000" dirty="0"/>
          </a:p>
          <a:p>
            <a:pPr lvl="1"/>
            <a:r>
              <a:rPr lang="ja-JP" altLang="en-US" sz="2000" dirty="0"/>
              <a:t>説明文</a:t>
            </a:r>
            <a:endParaRPr lang="en-US" altLang="ja-JP" sz="2000" dirty="0"/>
          </a:p>
          <a:p>
            <a:pPr lvl="2"/>
            <a:r>
              <a:rPr lang="ja-JP" altLang="en-US" dirty="0"/>
              <a:t>設計の説明</a:t>
            </a:r>
            <a:endParaRPr lang="en-US" altLang="ja-JP" dirty="0"/>
          </a:p>
          <a:p>
            <a:pPr lvl="2"/>
            <a:r>
              <a:rPr lang="ja-JP" altLang="en-US" dirty="0"/>
              <a:t>工夫したポイント</a:t>
            </a:r>
            <a:endParaRPr lang="en-US" altLang="ja-JP" dirty="0"/>
          </a:p>
          <a:p>
            <a:pPr lvl="2"/>
            <a:r>
              <a:rPr lang="ja-JP" altLang="en-US" dirty="0"/>
              <a:t>苦労したポイント</a:t>
            </a:r>
            <a:endParaRPr lang="en-US" altLang="ja-JP" dirty="0"/>
          </a:p>
          <a:p>
            <a:r>
              <a:rPr lang="ja-JP" altLang="en-US" sz="2000" dirty="0"/>
              <a:t>提出先</a:t>
            </a:r>
            <a:endParaRPr lang="en-US" altLang="ja-JP" sz="2000" dirty="0"/>
          </a:p>
          <a:p>
            <a:pPr lvl="1"/>
            <a:r>
              <a:rPr lang="en-US" altLang="ja-JP" sz="2000" dirty="0"/>
              <a:t>ISHI</a:t>
            </a:r>
            <a:r>
              <a:rPr lang="ja-JP" altLang="en-US" sz="2000" dirty="0"/>
              <a:t>会</a:t>
            </a:r>
            <a:r>
              <a:rPr lang="en-US" altLang="ja-JP" sz="2000" dirty="0"/>
              <a:t>Discord</a:t>
            </a:r>
            <a:r>
              <a:rPr lang="ja-JP" altLang="en-US" sz="2000" dirty="0"/>
              <a:t>内の所定のチャンネル</a:t>
            </a:r>
            <a:endParaRPr lang="ja-JP" altLang="en-US" dirty="0"/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862389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663C9-9597-DD7F-3134-77076272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7">
            <a:extLst>
              <a:ext uri="{FF2B5EF4-FFF2-40B4-BE49-F238E27FC236}">
                <a16:creationId xmlns:a16="http://schemas.microsoft.com/office/drawing/2014/main" id="{FA881061-D1DB-426D-5BB2-C6327E561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6AE9C46B-F94C-9CD2-081D-8C399990C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D31FECC1-1BC2-75FF-9866-CC0633FA0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CFA08705-7F2B-6066-1B4E-4E9816181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06992E0-C23D-BBE3-DC40-8498D84CB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F45422F-D510-118C-9DB4-0AAC64F7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チャレンジ</a:t>
            </a:r>
          </a:p>
        </p:txBody>
      </p:sp>
    </p:spTree>
    <p:extLst>
      <p:ext uri="{BB962C8B-B14F-4D97-AF65-F5344CB8AC3E}">
        <p14:creationId xmlns:p14="http://schemas.microsoft.com/office/powerpoint/2010/main" val="3490197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4DDED63-A763-A91F-8CD2-83E230BF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挑戦状：最小面積のレイアウトにせよ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7F30B0-1707-66B7-F6AD-38B9AC84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622745"/>
            <a:ext cx="9724031" cy="1454479"/>
          </a:xfrm>
        </p:spPr>
        <p:txBody>
          <a:bodyPr anchor="ctr">
            <a:normAutofit/>
          </a:bodyPr>
          <a:lstStyle/>
          <a:p>
            <a:r>
              <a:rPr kumimoji="1" lang="ja-JP" altLang="en-US" sz="2000" dirty="0"/>
              <a:t>アンドゥー氏作</a:t>
            </a:r>
            <a:r>
              <a:rPr lang="ja-JP" altLang="en-US" sz="2000" dirty="0"/>
              <a:t>（東京大学の修士</a:t>
            </a:r>
            <a:r>
              <a:rPr lang="en-US" altLang="ja-JP" sz="2000" dirty="0"/>
              <a:t>1</a:t>
            </a:r>
            <a:r>
              <a:rPr lang="ja-JP" altLang="en-US" sz="2000" dirty="0"/>
              <a:t>年生）</a:t>
            </a:r>
            <a:endParaRPr lang="en-US" altLang="ja-JP" sz="2000" dirty="0"/>
          </a:p>
          <a:p>
            <a:pPr lvl="1"/>
            <a:r>
              <a:rPr kumimoji="1" lang="ja-JP" altLang="en-US" sz="2000" dirty="0"/>
              <a:t>回路図は最小構成（面積）となっている</a:t>
            </a:r>
            <a:endParaRPr kumimoji="1" lang="en-US" altLang="ja-JP" sz="2000" dirty="0"/>
          </a:p>
          <a:p>
            <a:pPr lvl="1"/>
            <a:r>
              <a:rPr lang="ja-JP" altLang="en-US" sz="2000" dirty="0"/>
              <a:t>レイアウトはまだ攻める余地あり</a:t>
            </a:r>
            <a:endParaRPr lang="en-US" altLang="ja-JP" sz="2000" dirty="0"/>
          </a:p>
          <a:p>
            <a:pPr lvl="2"/>
            <a:r>
              <a:rPr lang="en-US" altLang="ja-JP" dirty="0"/>
              <a:t>1bit-CPU_1line_min.sch, 1bit-CPU_1line_min.gds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6AEE4D4-9917-7EB1-C616-4120C013A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583" y="3077224"/>
            <a:ext cx="7772400" cy="139233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864F1C6-E64F-BB1B-1327-27957551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83" y="4537026"/>
            <a:ext cx="7772400" cy="232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3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3021</TotalTime>
  <Words>563</Words>
  <Application>Microsoft Office PowerPoint</Application>
  <PresentationFormat>ワイド画面</PresentationFormat>
  <Paragraphs>127</Paragraphs>
  <Slides>59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59</vt:i4>
      </vt:variant>
    </vt:vector>
  </HeadingPairs>
  <TitlesOfParts>
    <vt:vector size="63" baseType="lpstr">
      <vt:lpstr>游ゴシック</vt:lpstr>
      <vt:lpstr>游ゴシック Light</vt:lpstr>
      <vt:lpstr>Arial</vt:lpstr>
      <vt:lpstr>Office テーマ</vt:lpstr>
      <vt:lpstr>1bit-CPU設計 （OpenSUSI-TR10）</vt:lpstr>
      <vt:lpstr>もくじ： デジタル回路編 </vt:lpstr>
      <vt:lpstr>もくじ： レイアウト生成編 </vt:lpstr>
      <vt:lpstr>もくじ： 1bit-CPU編</vt:lpstr>
      <vt:lpstr>提出物  （ハンズオン 参加者向け）</vt:lpstr>
      <vt:lpstr>デジタル回路編 出典:https://vlsi.jp/</vt:lpstr>
      <vt:lpstr>論理回路（ゲート回路）</vt:lpstr>
      <vt:lpstr>PowerPoint プレゼンテーション</vt:lpstr>
      <vt:lpstr>加算回路（演算器）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記憶素子</vt:lpstr>
      <vt:lpstr>PowerPoint プレゼンテーション</vt:lpstr>
      <vt:lpstr>PowerPoint プレゼンテーション</vt:lpstr>
      <vt:lpstr>レイアウト生成編</vt:lpstr>
      <vt:lpstr>論理合成</vt:lpstr>
      <vt:lpstr>論理合成</vt:lpstr>
      <vt:lpstr>生成フロー</vt:lpstr>
      <vt:lpstr>OpenLANEによる生成フロー</vt:lpstr>
      <vt:lpstr>生成フロー詳細</vt:lpstr>
      <vt:lpstr>論理合成・詳解</vt:lpstr>
      <vt:lpstr>論理合成</vt:lpstr>
      <vt:lpstr>論理回路の正体</vt:lpstr>
      <vt:lpstr>P&amp;R（配置配線）</vt:lpstr>
      <vt:lpstr>回路をレイアウトにする工程</vt:lpstr>
      <vt:lpstr>インバータ回路の手配置配線</vt:lpstr>
      <vt:lpstr>スタンダードセル</vt:lpstr>
      <vt:lpstr>スタンダードセルの特徴</vt:lpstr>
      <vt:lpstr>PowerPoint プレゼンテーション</vt:lpstr>
      <vt:lpstr>スタンダードセルの特徴</vt:lpstr>
      <vt:lpstr>スタンダードセル</vt:lpstr>
      <vt:lpstr>グリッド配線 （電源グリッド）</vt:lpstr>
      <vt:lpstr>完成図</vt:lpstr>
      <vt:lpstr>タイミング解析 広島大学・西澤先生の資料より</vt:lpstr>
      <vt:lpstr>PowerPoint プレゼンテーション</vt:lpstr>
      <vt:lpstr>PowerPoint プレゼンテーション</vt:lpstr>
      <vt:lpstr>PowerPoint プレゼンテーション</vt:lpstr>
      <vt:lpstr>1bit-CPU編</vt:lpstr>
      <vt:lpstr>CPUの構成</vt:lpstr>
      <vt:lpstr>CPUとは？</vt:lpstr>
      <vt:lpstr>1bit-CPUの構成</vt:lpstr>
      <vt:lpstr>1bit-CPU</vt:lpstr>
      <vt:lpstr>回路図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回路図</vt:lpstr>
      <vt:lpstr>回路をレイアウトにする</vt:lpstr>
      <vt:lpstr>配置配線を考える</vt:lpstr>
      <vt:lpstr>レイアウト</vt:lpstr>
      <vt:lpstr>配置の手入力</vt:lpstr>
      <vt:lpstr>グリッド配線</vt:lpstr>
      <vt:lpstr>レイアウト完成例</vt:lpstr>
      <vt:lpstr>提出物  （ハンズオン 参加者向け）</vt:lpstr>
      <vt:lpstr>チャレンジ</vt:lpstr>
      <vt:lpstr>挑戦状：最小面積のレイアウトにせよ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OPAMP_OR1</dc:title>
  <dc:creator>Noritsuna Imamura</dc:creator>
  <cp:lastModifiedBy>今村 謙之</cp:lastModifiedBy>
  <cp:revision>1</cp:revision>
  <dcterms:created xsi:type="dcterms:W3CDTF">2024-05-26T11:20:00Z</dcterms:created>
  <dcterms:modified xsi:type="dcterms:W3CDTF">2026-06-03T11:14:48Z</dcterms:modified>
</cp:coreProperties>
</file>