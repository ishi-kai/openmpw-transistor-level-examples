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56" r:id="rId2"/>
    <p:sldId id="726" r:id="rId3"/>
    <p:sldId id="766" r:id="rId4"/>
    <p:sldId id="725" r:id="rId5"/>
    <p:sldId id="767" r:id="rId6"/>
    <p:sldId id="762" r:id="rId7"/>
    <p:sldId id="755" r:id="rId8"/>
    <p:sldId id="756" r:id="rId9"/>
    <p:sldId id="757" r:id="rId10"/>
    <p:sldId id="758" r:id="rId11"/>
    <p:sldId id="759" r:id="rId12"/>
    <p:sldId id="760" r:id="rId13"/>
    <p:sldId id="761" r:id="rId14"/>
    <p:sldId id="763" r:id="rId15"/>
    <p:sldId id="724" r:id="rId16"/>
    <p:sldId id="723" r:id="rId17"/>
    <p:sldId id="727" r:id="rId18"/>
    <p:sldId id="721" r:id="rId19"/>
    <p:sldId id="720" r:id="rId20"/>
    <p:sldId id="729" r:id="rId21"/>
    <p:sldId id="728" r:id="rId22"/>
    <p:sldId id="722" r:id="rId23"/>
    <p:sldId id="736" r:id="rId24"/>
    <p:sldId id="730" r:id="rId25"/>
    <p:sldId id="731" r:id="rId26"/>
    <p:sldId id="734" r:id="rId27"/>
    <p:sldId id="732" r:id="rId28"/>
    <p:sldId id="735" r:id="rId29"/>
    <p:sldId id="738" r:id="rId30"/>
    <p:sldId id="739" r:id="rId31"/>
    <p:sldId id="764" r:id="rId32"/>
    <p:sldId id="737" r:id="rId33"/>
    <p:sldId id="740" r:id="rId34"/>
    <p:sldId id="741" r:id="rId35"/>
    <p:sldId id="742" r:id="rId36"/>
    <p:sldId id="765" r:id="rId37"/>
    <p:sldId id="743" r:id="rId38"/>
    <p:sldId id="745" r:id="rId39"/>
    <p:sldId id="746" r:id="rId40"/>
    <p:sldId id="747" r:id="rId41"/>
    <p:sldId id="748" r:id="rId42"/>
    <p:sldId id="750" r:id="rId43"/>
    <p:sldId id="751" r:id="rId44"/>
    <p:sldId id="752" r:id="rId45"/>
    <p:sldId id="754" r:id="rId46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B093D55-3F42-4CB2-8968-ABC0729720DC}">
          <p14:sldIdLst>
            <p14:sldId id="256"/>
            <p14:sldId id="726"/>
            <p14:sldId id="766"/>
            <p14:sldId id="725"/>
            <p14:sldId id="767"/>
            <p14:sldId id="762"/>
            <p14:sldId id="755"/>
            <p14:sldId id="756"/>
            <p14:sldId id="757"/>
            <p14:sldId id="758"/>
            <p14:sldId id="759"/>
            <p14:sldId id="760"/>
            <p14:sldId id="761"/>
            <p14:sldId id="763"/>
            <p14:sldId id="724"/>
            <p14:sldId id="723"/>
            <p14:sldId id="727"/>
            <p14:sldId id="721"/>
            <p14:sldId id="720"/>
            <p14:sldId id="729"/>
            <p14:sldId id="728"/>
            <p14:sldId id="722"/>
            <p14:sldId id="736"/>
            <p14:sldId id="730"/>
            <p14:sldId id="731"/>
            <p14:sldId id="734"/>
            <p14:sldId id="732"/>
            <p14:sldId id="735"/>
            <p14:sldId id="738"/>
            <p14:sldId id="739"/>
            <p14:sldId id="764"/>
            <p14:sldId id="737"/>
            <p14:sldId id="740"/>
            <p14:sldId id="741"/>
            <p14:sldId id="742"/>
            <p14:sldId id="765"/>
            <p14:sldId id="743"/>
            <p14:sldId id="745"/>
            <p14:sldId id="746"/>
            <p14:sldId id="747"/>
            <p14:sldId id="748"/>
            <p14:sldId id="750"/>
            <p14:sldId id="751"/>
            <p14:sldId id="752"/>
            <p14:sldId id="7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作成者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527B39"/>
    <a:srgbClr val="000000"/>
    <a:srgbClr val="00FF00"/>
    <a:srgbClr val="B7472A"/>
    <a:srgbClr val="F5F5F5"/>
    <a:srgbClr val="D24726"/>
    <a:srgbClr val="9FCDB3"/>
    <a:srgbClr val="21734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B56420-8768-443C-AD0F-32DC318C4FD2}" v="50" dt="2026-06-06T00:57:26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560"/>
  </p:normalViewPr>
  <p:slideViewPr>
    <p:cSldViewPr snapToGrid="0">
      <p:cViewPr varScale="1">
        <p:scale>
          <a:sx n="108" d="100"/>
          <a:sy n="108" d="100"/>
        </p:scale>
        <p:origin x="35" y="99"/>
      </p:cViewPr>
      <p:guideLst>
        <p:guide orient="horz" pos="288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今村 謙之" userId="bc27a5e0-5669-41a4-865b-584c1eac539e" providerId="ADAL" clId="{342DA2C4-B094-4B86-9045-6AA34CD7B848}"/>
    <pc:docChg chg="undo redo custSel addSld delSld modSld sldOrd modSection">
      <pc:chgData name="今村 謙之" userId="bc27a5e0-5669-41a4-865b-584c1eac539e" providerId="ADAL" clId="{342DA2C4-B094-4B86-9045-6AA34CD7B848}" dt="2026-06-06T00:57:51.411" v="1184" actId="20577"/>
      <pc:docMkLst>
        <pc:docMk/>
      </pc:docMkLst>
      <pc:sldChg chg="modSp add mod setBg">
        <pc:chgData name="今村 謙之" userId="bc27a5e0-5669-41a4-865b-584c1eac539e" providerId="ADAL" clId="{342DA2C4-B094-4B86-9045-6AA34CD7B848}" dt="2026-06-06T00:57:51.411" v="1184" actId="20577"/>
        <pc:sldMkLst>
          <pc:docMk/>
          <pc:sldMk cId="2538129138" sldId="256"/>
        </pc:sldMkLst>
        <pc:spChg chg="mod">
          <ac:chgData name="今村 謙之" userId="bc27a5e0-5669-41a4-865b-584c1eac539e" providerId="ADAL" clId="{342DA2C4-B094-4B86-9045-6AA34CD7B848}" dt="2026-06-06T00:57:51.411" v="1184" actId="20577"/>
          <ac:spMkLst>
            <pc:docMk/>
            <pc:sldMk cId="2538129138" sldId="256"/>
            <ac:spMk id="2" creationId="{F985B9EF-5891-44BD-296C-D3F4FB4314FA}"/>
          </ac:spMkLst>
        </pc:spChg>
      </pc:sldChg>
      <pc:sldChg chg="addSp delSp modSp mod">
        <pc:chgData name="今村 謙之" userId="bc27a5e0-5669-41a4-865b-584c1eac539e" providerId="ADAL" clId="{342DA2C4-B094-4B86-9045-6AA34CD7B848}" dt="2026-06-05T12:40:17.151" v="47" actId="478"/>
        <pc:sldMkLst>
          <pc:docMk/>
          <pc:sldMk cId="668963193" sldId="721"/>
        </pc:sldMkLst>
        <pc:spChg chg="del">
          <ac:chgData name="今村 謙之" userId="bc27a5e0-5669-41a4-865b-584c1eac539e" providerId="ADAL" clId="{342DA2C4-B094-4B86-9045-6AA34CD7B848}" dt="2026-06-05T12:40:14.574" v="46"/>
          <ac:spMkLst>
            <pc:docMk/>
            <pc:sldMk cId="668963193" sldId="721"/>
            <ac:spMk id="5" creationId="{51E25844-D371-A1D3-D132-A4DD4631D976}"/>
          </ac:spMkLst>
        </pc:spChg>
        <pc:picChg chg="add mod">
          <ac:chgData name="今村 謙之" userId="bc27a5e0-5669-41a4-865b-584c1eac539e" providerId="ADAL" clId="{342DA2C4-B094-4B86-9045-6AA34CD7B848}" dt="2026-06-05T12:40:14.574" v="46"/>
          <ac:picMkLst>
            <pc:docMk/>
            <pc:sldMk cId="668963193" sldId="721"/>
            <ac:picMk id="6" creationId="{B52FF0C8-F552-7051-8679-84B7215EADBF}"/>
          </ac:picMkLst>
        </pc:picChg>
        <pc:picChg chg="del">
          <ac:chgData name="今村 謙之" userId="bc27a5e0-5669-41a4-865b-584c1eac539e" providerId="ADAL" clId="{342DA2C4-B094-4B86-9045-6AA34CD7B848}" dt="2026-06-05T12:40:17.151" v="47" actId="478"/>
          <ac:picMkLst>
            <pc:docMk/>
            <pc:sldMk cId="668963193" sldId="721"/>
            <ac:picMk id="7" creationId="{7622CE01-D3A5-3C28-C390-9CA53EDF5DB2}"/>
          </ac:picMkLst>
        </pc:picChg>
      </pc:sldChg>
      <pc:sldChg chg="modSp mod ord">
        <pc:chgData name="今村 謙之" userId="bc27a5e0-5669-41a4-865b-584c1eac539e" providerId="ADAL" clId="{342DA2C4-B094-4B86-9045-6AA34CD7B848}" dt="2026-06-06T00:57:33.293" v="1167"/>
        <pc:sldMkLst>
          <pc:docMk/>
          <pc:sldMk cId="256212638" sldId="726"/>
        </pc:sldMkLst>
        <pc:spChg chg="mod">
          <ac:chgData name="今村 謙之" userId="bc27a5e0-5669-41a4-865b-584c1eac539e" providerId="ADAL" clId="{342DA2C4-B094-4B86-9045-6AA34CD7B848}" dt="2026-06-05T11:30:29.305" v="19" actId="20577"/>
          <ac:spMkLst>
            <pc:docMk/>
            <pc:sldMk cId="256212638" sldId="726"/>
            <ac:spMk id="8" creationId="{4B8153B0-A4AB-9B84-1982-0881D96A7887}"/>
          </ac:spMkLst>
        </pc:spChg>
      </pc:sldChg>
      <pc:sldChg chg="addSp delSp modSp mod">
        <pc:chgData name="今村 謙之" userId="bc27a5e0-5669-41a4-865b-584c1eac539e" providerId="ADAL" clId="{342DA2C4-B094-4B86-9045-6AA34CD7B848}" dt="2026-06-05T13:10:15.028" v="64" actId="1036"/>
        <pc:sldMkLst>
          <pc:docMk/>
          <pc:sldMk cId="3908890128" sldId="737"/>
        </pc:sldMkLst>
        <pc:spChg chg="mod">
          <ac:chgData name="今村 謙之" userId="bc27a5e0-5669-41a4-865b-584c1eac539e" providerId="ADAL" clId="{342DA2C4-B094-4B86-9045-6AA34CD7B848}" dt="2026-06-05T12:58:01.361" v="49" actId="20577"/>
          <ac:spMkLst>
            <pc:docMk/>
            <pc:sldMk cId="3908890128" sldId="737"/>
            <ac:spMk id="2" creationId="{BA68945D-45F3-D89F-5ADC-2930ACBA38B6}"/>
          </ac:spMkLst>
        </pc:spChg>
        <pc:spChg chg="add del">
          <ac:chgData name="今村 謙之" userId="bc27a5e0-5669-41a4-865b-584c1eac539e" providerId="ADAL" clId="{342DA2C4-B094-4B86-9045-6AA34CD7B848}" dt="2026-06-05T13:09:56.464" v="52" actId="478"/>
          <ac:spMkLst>
            <pc:docMk/>
            <pc:sldMk cId="3908890128" sldId="737"/>
            <ac:spMk id="6" creationId="{935E5757-9C94-4ACD-5218-BD20B1A90CDC}"/>
          </ac:spMkLst>
        </pc:spChg>
        <pc:picChg chg="del">
          <ac:chgData name="今村 謙之" userId="bc27a5e0-5669-41a4-865b-584c1eac539e" providerId="ADAL" clId="{342DA2C4-B094-4B86-9045-6AA34CD7B848}" dt="2026-06-05T13:09:39.131" v="50" actId="478"/>
          <ac:picMkLst>
            <pc:docMk/>
            <pc:sldMk cId="3908890128" sldId="737"/>
            <ac:picMk id="7" creationId="{1236DA7B-B35C-5A23-409C-8B882D7A8AD6}"/>
          </ac:picMkLst>
        </pc:picChg>
        <pc:picChg chg="add mod">
          <ac:chgData name="今村 謙之" userId="bc27a5e0-5669-41a4-865b-584c1eac539e" providerId="ADAL" clId="{342DA2C4-B094-4B86-9045-6AA34CD7B848}" dt="2026-06-05T13:10:15.028" v="64" actId="1036"/>
          <ac:picMkLst>
            <pc:docMk/>
            <pc:sldMk cId="3908890128" sldId="737"/>
            <ac:picMk id="9" creationId="{E88311E9-438D-C0E4-7FA4-D44142778C80}"/>
          </ac:picMkLst>
        </pc:picChg>
      </pc:sldChg>
      <pc:sldChg chg="addSp delSp modSp mod">
        <pc:chgData name="今村 謙之" userId="bc27a5e0-5669-41a4-865b-584c1eac539e" providerId="ADAL" clId="{342DA2C4-B094-4B86-9045-6AA34CD7B848}" dt="2026-06-06T00:22:05.765" v="323" actId="14100"/>
        <pc:sldMkLst>
          <pc:docMk/>
          <pc:sldMk cId="1747069006" sldId="745"/>
        </pc:sldMkLst>
        <pc:picChg chg="add del mod">
          <ac:chgData name="今村 謙之" userId="bc27a5e0-5669-41a4-865b-584c1eac539e" providerId="ADAL" clId="{342DA2C4-B094-4B86-9045-6AA34CD7B848}" dt="2026-06-06T00:16:11.427" v="176" actId="478"/>
          <ac:picMkLst>
            <pc:docMk/>
            <pc:sldMk cId="1747069006" sldId="745"/>
            <ac:picMk id="7" creationId="{4109ABF8-F78C-EF02-64E3-D5BC9BF6246E}"/>
          </ac:picMkLst>
        </pc:picChg>
        <pc:picChg chg="add del mod">
          <ac:chgData name="今村 謙之" userId="bc27a5e0-5669-41a4-865b-584c1eac539e" providerId="ADAL" clId="{342DA2C4-B094-4B86-9045-6AA34CD7B848}" dt="2026-06-06T00:21:55.024" v="318" actId="478"/>
          <ac:picMkLst>
            <pc:docMk/>
            <pc:sldMk cId="1747069006" sldId="745"/>
            <ac:picMk id="8" creationId="{CCE06C64-42F4-1041-5166-0B77800584FE}"/>
          </ac:picMkLst>
        </pc:picChg>
        <pc:picChg chg="add mod">
          <ac:chgData name="今村 謙之" userId="bc27a5e0-5669-41a4-865b-584c1eac539e" providerId="ADAL" clId="{342DA2C4-B094-4B86-9045-6AA34CD7B848}" dt="2026-06-06T00:22:05.765" v="323" actId="14100"/>
          <ac:picMkLst>
            <pc:docMk/>
            <pc:sldMk cId="1747069006" sldId="745"/>
            <ac:picMk id="10" creationId="{8758F1FD-2FFA-FD6D-8CCE-F458CE885A09}"/>
          </ac:picMkLst>
        </pc:picChg>
        <pc:picChg chg="del">
          <ac:chgData name="今村 謙之" userId="bc27a5e0-5669-41a4-865b-584c1eac539e" providerId="ADAL" clId="{342DA2C4-B094-4B86-9045-6AA34CD7B848}" dt="2026-06-05T13:24:13.241" v="65" actId="478"/>
          <ac:picMkLst>
            <pc:docMk/>
            <pc:sldMk cId="1747069006" sldId="745"/>
            <ac:picMk id="12" creationId="{2C1EF3F6-86AF-24F3-5DFF-FFF46315DCF7}"/>
          </ac:picMkLst>
        </pc:picChg>
      </pc:sldChg>
      <pc:sldChg chg="addSp delSp modSp mod">
        <pc:chgData name="今村 謙之" userId="bc27a5e0-5669-41a4-865b-584c1eac539e" providerId="ADAL" clId="{342DA2C4-B094-4B86-9045-6AA34CD7B848}" dt="2026-06-06T00:56:00.609" v="1160" actId="1076"/>
        <pc:sldMkLst>
          <pc:docMk/>
          <pc:sldMk cId="3549859585" sldId="754"/>
        </pc:sldMkLst>
        <pc:picChg chg="del">
          <ac:chgData name="今村 謙之" userId="bc27a5e0-5669-41a4-865b-584c1eac539e" providerId="ADAL" clId="{342DA2C4-B094-4B86-9045-6AA34CD7B848}" dt="2026-06-06T00:55:42.470" v="1150" actId="478"/>
          <ac:picMkLst>
            <pc:docMk/>
            <pc:sldMk cId="3549859585" sldId="754"/>
            <ac:picMk id="6" creationId="{ECF58CD0-5EBB-8FB6-0B62-78E435E60C25}"/>
          </ac:picMkLst>
        </pc:picChg>
        <pc:picChg chg="add mod">
          <ac:chgData name="今村 謙之" userId="bc27a5e0-5669-41a4-865b-584c1eac539e" providerId="ADAL" clId="{342DA2C4-B094-4B86-9045-6AA34CD7B848}" dt="2026-06-06T00:55:54.489" v="1157" actId="1076"/>
          <ac:picMkLst>
            <pc:docMk/>
            <pc:sldMk cId="3549859585" sldId="754"/>
            <ac:picMk id="7" creationId="{4DF81523-6E6A-4BE2-23CD-E6CDE0CAC867}"/>
          </ac:picMkLst>
        </pc:picChg>
        <pc:picChg chg="add mod">
          <ac:chgData name="今村 謙之" userId="bc27a5e0-5669-41a4-865b-584c1eac539e" providerId="ADAL" clId="{342DA2C4-B094-4B86-9045-6AA34CD7B848}" dt="2026-06-06T00:56:00.609" v="1160" actId="1076"/>
          <ac:picMkLst>
            <pc:docMk/>
            <pc:sldMk cId="3549859585" sldId="754"/>
            <ac:picMk id="9" creationId="{27170C17-F8AA-06C5-8190-2B32C6DED17C}"/>
          </ac:picMkLst>
        </pc:picChg>
        <pc:picChg chg="del">
          <ac:chgData name="今村 謙之" userId="bc27a5e0-5669-41a4-865b-584c1eac539e" providerId="ADAL" clId="{342DA2C4-B094-4B86-9045-6AA34CD7B848}" dt="2026-06-06T00:40:11.861" v="895" actId="478"/>
          <ac:picMkLst>
            <pc:docMk/>
            <pc:sldMk cId="3549859585" sldId="754"/>
            <ac:picMk id="57" creationId="{0F32AADA-F1EE-F0E6-87D1-3C201C1EFEBB}"/>
          </ac:picMkLst>
        </pc:picChg>
      </pc:sldChg>
      <pc:sldChg chg="modSp">
        <pc:chgData name="今村 謙之" userId="bc27a5e0-5669-41a4-865b-584c1eac539e" providerId="ADAL" clId="{342DA2C4-B094-4B86-9045-6AA34CD7B848}" dt="2026-06-05T12:13:27" v="42"/>
        <pc:sldMkLst>
          <pc:docMk/>
          <pc:sldMk cId="3442439196" sldId="762"/>
        </pc:sldMkLst>
        <pc:spChg chg="mod">
          <ac:chgData name="今村 謙之" userId="bc27a5e0-5669-41a4-865b-584c1eac539e" providerId="ADAL" clId="{342DA2C4-B094-4B86-9045-6AA34CD7B848}" dt="2026-06-05T12:13:27" v="42"/>
          <ac:spMkLst>
            <pc:docMk/>
            <pc:sldMk cId="3442439196" sldId="762"/>
            <ac:spMk id="8" creationId="{4E3E861F-4DE7-6324-6516-61442F507B4B}"/>
          </ac:spMkLst>
        </pc:spChg>
      </pc:sldChg>
      <pc:sldChg chg="modSp">
        <pc:chgData name="今村 謙之" userId="bc27a5e0-5669-41a4-865b-584c1eac539e" providerId="ADAL" clId="{342DA2C4-B094-4B86-9045-6AA34CD7B848}" dt="2026-06-05T12:13:34.502" v="43"/>
        <pc:sldMkLst>
          <pc:docMk/>
          <pc:sldMk cId="2514301874" sldId="763"/>
        </pc:sldMkLst>
        <pc:spChg chg="mod">
          <ac:chgData name="今村 謙之" userId="bc27a5e0-5669-41a4-865b-584c1eac539e" providerId="ADAL" clId="{342DA2C4-B094-4B86-9045-6AA34CD7B848}" dt="2026-06-05T12:13:34.502" v="43"/>
          <ac:spMkLst>
            <pc:docMk/>
            <pc:sldMk cId="2514301874" sldId="763"/>
            <ac:spMk id="8" creationId="{4D592D96-7CB3-372A-9FA9-A42B147E885B}"/>
          </ac:spMkLst>
        </pc:spChg>
      </pc:sldChg>
      <pc:sldChg chg="modSp">
        <pc:chgData name="今村 謙之" userId="bc27a5e0-5669-41a4-865b-584c1eac539e" providerId="ADAL" clId="{342DA2C4-B094-4B86-9045-6AA34CD7B848}" dt="2026-06-05T12:13:48.806" v="44"/>
        <pc:sldMkLst>
          <pc:docMk/>
          <pc:sldMk cId="2896433750" sldId="764"/>
        </pc:sldMkLst>
        <pc:spChg chg="mod">
          <ac:chgData name="今村 謙之" userId="bc27a5e0-5669-41a4-865b-584c1eac539e" providerId="ADAL" clId="{342DA2C4-B094-4B86-9045-6AA34CD7B848}" dt="2026-06-05T12:13:48.806" v="44"/>
          <ac:spMkLst>
            <pc:docMk/>
            <pc:sldMk cId="2896433750" sldId="764"/>
            <ac:spMk id="8" creationId="{B88433D4-42CF-B95C-B173-71D3AB905300}"/>
          </ac:spMkLst>
        </pc:spChg>
      </pc:sldChg>
      <pc:sldChg chg="modSp">
        <pc:chgData name="今村 謙之" userId="bc27a5e0-5669-41a4-865b-584c1eac539e" providerId="ADAL" clId="{342DA2C4-B094-4B86-9045-6AA34CD7B848}" dt="2026-06-05T12:13:55.118" v="45"/>
        <pc:sldMkLst>
          <pc:docMk/>
          <pc:sldMk cId="1726774206" sldId="765"/>
        </pc:sldMkLst>
        <pc:spChg chg="mod">
          <ac:chgData name="今村 謙之" userId="bc27a5e0-5669-41a4-865b-584c1eac539e" providerId="ADAL" clId="{342DA2C4-B094-4B86-9045-6AA34CD7B848}" dt="2026-06-05T12:13:55.118" v="45"/>
          <ac:spMkLst>
            <pc:docMk/>
            <pc:sldMk cId="1726774206" sldId="765"/>
            <ac:spMk id="8" creationId="{D6E6485C-42EF-E6DF-1DB0-A8FAB58C1A84}"/>
          </ac:spMkLst>
        </pc:spChg>
      </pc:sldChg>
      <pc:sldChg chg="modSp mod">
        <pc:chgData name="今村 謙之" userId="bc27a5e0-5669-41a4-865b-584c1eac539e" providerId="ADAL" clId="{342DA2C4-B094-4B86-9045-6AA34CD7B848}" dt="2026-06-05T12:13:16.337" v="41" actId="20577"/>
        <pc:sldMkLst>
          <pc:docMk/>
          <pc:sldMk cId="465248990" sldId="766"/>
        </pc:sldMkLst>
        <pc:spChg chg="mod">
          <ac:chgData name="今村 謙之" userId="bc27a5e0-5669-41a4-865b-584c1eac539e" providerId="ADAL" clId="{342DA2C4-B094-4B86-9045-6AA34CD7B848}" dt="2026-06-05T12:13:16.337" v="41" actId="20577"/>
          <ac:spMkLst>
            <pc:docMk/>
            <pc:sldMk cId="465248990" sldId="766"/>
            <ac:spMk id="8" creationId="{9CAE3D58-2ED8-5860-5A12-79DA12D936C5}"/>
          </ac:spMkLst>
        </pc:spChg>
      </pc:sldChg>
      <pc:sldChg chg="del">
        <pc:chgData name="今村 謙之" userId="bc27a5e0-5669-41a4-865b-584c1eac539e" providerId="ADAL" clId="{342DA2C4-B094-4B86-9045-6AA34CD7B848}" dt="2026-06-05T11:30:12.164" v="0" actId="2696"/>
        <pc:sldMkLst>
          <pc:docMk/>
          <pc:sldMk cId="337342482" sldId="768"/>
        </pc:sldMkLst>
      </pc:sldChg>
      <pc:sldChg chg="addSp delSp modSp new del mod">
        <pc:chgData name="今村 謙之" userId="bc27a5e0-5669-41a4-865b-584c1eac539e" providerId="ADAL" clId="{342DA2C4-B094-4B86-9045-6AA34CD7B848}" dt="2026-06-06T00:22:10.147" v="324" actId="47"/>
        <pc:sldMkLst>
          <pc:docMk/>
          <pc:sldMk cId="480860241" sldId="768"/>
        </pc:sldMkLst>
        <pc:spChg chg="del">
          <ac:chgData name="今村 謙之" userId="bc27a5e0-5669-41a4-865b-584c1eac539e" providerId="ADAL" clId="{342DA2C4-B094-4B86-9045-6AA34CD7B848}" dt="2026-06-06T00:11:21.468" v="75"/>
          <ac:spMkLst>
            <pc:docMk/>
            <pc:sldMk cId="480860241" sldId="768"/>
            <ac:spMk id="5" creationId="{173D8DB0-5791-DC92-96D5-DA8F0D51F53E}"/>
          </ac:spMkLst>
        </pc:spChg>
        <pc:picChg chg="add mod">
          <ac:chgData name="今村 謙之" userId="bc27a5e0-5669-41a4-865b-584c1eac539e" providerId="ADAL" clId="{342DA2C4-B094-4B86-9045-6AA34CD7B848}" dt="2026-06-06T00:19:53.550" v="257" actId="1076"/>
          <ac:picMkLst>
            <pc:docMk/>
            <pc:sldMk cId="480860241" sldId="768"/>
            <ac:picMk id="6" creationId="{EE8585A7-76B4-5D08-141C-7937E89C08F3}"/>
          </ac:picMkLst>
        </pc:picChg>
        <pc:picChg chg="add del">
          <ac:chgData name="今村 謙之" userId="bc27a5e0-5669-41a4-865b-584c1eac539e" providerId="ADAL" clId="{342DA2C4-B094-4B86-9045-6AA34CD7B848}" dt="2026-06-06T00:12:02.327" v="77" actId="21"/>
          <ac:picMkLst>
            <pc:docMk/>
            <pc:sldMk cId="480860241" sldId="768"/>
            <ac:picMk id="8" creationId="{286E800F-91A2-F521-DA7A-0B367155E5E6}"/>
          </ac:picMkLst>
        </pc:picChg>
        <pc:picChg chg="add mod">
          <ac:chgData name="今村 謙之" userId="bc27a5e0-5669-41a4-865b-584c1eac539e" providerId="ADAL" clId="{342DA2C4-B094-4B86-9045-6AA34CD7B848}" dt="2026-06-06T00:21:34.004" v="317" actId="1038"/>
          <ac:picMkLst>
            <pc:docMk/>
            <pc:sldMk cId="480860241" sldId="768"/>
            <ac:picMk id="10" creationId="{440BD6B7-675C-C72D-CC5F-C7A4001E73E4}"/>
          </ac:picMkLst>
        </pc:picChg>
        <pc:picChg chg="add del mod modCrop">
          <ac:chgData name="今村 謙之" userId="bc27a5e0-5669-41a4-865b-584c1eac539e" providerId="ADAL" clId="{342DA2C4-B094-4B86-9045-6AA34CD7B848}" dt="2026-06-06T00:20:00.874" v="258" actId="478"/>
          <ac:picMkLst>
            <pc:docMk/>
            <pc:sldMk cId="480860241" sldId="768"/>
            <ac:picMk id="12" creationId="{AD34D155-1D7E-DB70-F083-6265570238D5}"/>
          </ac:picMkLst>
        </pc:picChg>
        <pc:picChg chg="add mod">
          <ac:chgData name="今村 謙之" userId="bc27a5e0-5669-41a4-865b-584c1eac539e" providerId="ADAL" clId="{342DA2C4-B094-4B86-9045-6AA34CD7B848}" dt="2026-06-06T00:21:01.045" v="308" actId="1036"/>
          <ac:picMkLst>
            <pc:docMk/>
            <pc:sldMk cId="480860241" sldId="768"/>
            <ac:picMk id="14" creationId="{405D932B-C4FD-F20D-B55D-96E03D851FDC}"/>
          </ac:picMkLst>
        </pc:picChg>
      </pc:sldChg>
      <pc:sldChg chg="addSp delSp modSp new del mod">
        <pc:chgData name="今村 謙之" userId="bc27a5e0-5669-41a4-865b-584c1eac539e" providerId="ADAL" clId="{342DA2C4-B094-4B86-9045-6AA34CD7B848}" dt="2026-06-06T00:56:03.457" v="1161" actId="47"/>
        <pc:sldMkLst>
          <pc:docMk/>
          <pc:sldMk cId="2565903739" sldId="768"/>
        </pc:sldMkLst>
        <pc:spChg chg="del">
          <ac:chgData name="今村 謙之" userId="bc27a5e0-5669-41a4-865b-584c1eac539e" providerId="ADAL" clId="{342DA2C4-B094-4B86-9045-6AA34CD7B848}" dt="2026-06-06T00:28:38.845" v="327"/>
          <ac:spMkLst>
            <pc:docMk/>
            <pc:sldMk cId="2565903739" sldId="768"/>
            <ac:spMk id="5" creationId="{6D0ADC2E-E38B-8370-BC05-C1CB4DC75B1A}"/>
          </ac:spMkLst>
        </pc:spChg>
        <pc:picChg chg="add mod ord">
          <ac:chgData name="今村 謙之" userId="bc27a5e0-5669-41a4-865b-584c1eac539e" providerId="ADAL" clId="{342DA2C4-B094-4B86-9045-6AA34CD7B848}" dt="2026-06-06T00:37:08.663" v="819" actId="1076"/>
          <ac:picMkLst>
            <pc:docMk/>
            <pc:sldMk cId="2565903739" sldId="768"/>
            <ac:picMk id="7" creationId="{38955FD2-C302-F543-184E-5DB58B5E42DE}"/>
          </ac:picMkLst>
        </pc:picChg>
        <pc:picChg chg="add mod">
          <ac:chgData name="今村 謙之" userId="bc27a5e0-5669-41a4-865b-584c1eac539e" providerId="ADAL" clId="{342DA2C4-B094-4B86-9045-6AA34CD7B848}" dt="2026-06-06T00:30:56.673" v="480" actId="1036"/>
          <ac:picMkLst>
            <pc:docMk/>
            <pc:sldMk cId="2565903739" sldId="768"/>
            <ac:picMk id="9" creationId="{25423F5A-C71C-85D9-EE49-7B6500F79FD1}"/>
          </ac:picMkLst>
        </pc:picChg>
        <pc:picChg chg="add mod">
          <ac:chgData name="今村 謙之" userId="bc27a5e0-5669-41a4-865b-584c1eac539e" providerId="ADAL" clId="{342DA2C4-B094-4B86-9045-6AA34CD7B848}" dt="2026-06-06T00:31:33.895" v="541" actId="1037"/>
          <ac:picMkLst>
            <pc:docMk/>
            <pc:sldMk cId="2565903739" sldId="768"/>
            <ac:picMk id="10" creationId="{CE1731DE-1394-ED83-B2D5-FA970C852609}"/>
          </ac:picMkLst>
        </pc:picChg>
        <pc:picChg chg="add mod">
          <ac:chgData name="今村 謙之" userId="bc27a5e0-5669-41a4-865b-584c1eac539e" providerId="ADAL" clId="{342DA2C4-B094-4B86-9045-6AA34CD7B848}" dt="2026-06-06T00:32:16.543" v="691" actId="1035"/>
          <ac:picMkLst>
            <pc:docMk/>
            <pc:sldMk cId="2565903739" sldId="768"/>
            <ac:picMk id="11" creationId="{45F2FCA2-CDDC-B176-B257-AB961A49BD09}"/>
          </ac:picMkLst>
        </pc:picChg>
        <pc:picChg chg="add mod">
          <ac:chgData name="今村 謙之" userId="bc27a5e0-5669-41a4-865b-584c1eac539e" providerId="ADAL" clId="{342DA2C4-B094-4B86-9045-6AA34CD7B848}" dt="2026-06-06T00:32:52.845" v="748" actId="1036"/>
          <ac:picMkLst>
            <pc:docMk/>
            <pc:sldMk cId="2565903739" sldId="768"/>
            <ac:picMk id="12" creationId="{8E390511-6969-462A-121C-71E633E1EA1C}"/>
          </ac:picMkLst>
        </pc:picChg>
        <pc:picChg chg="add mod">
          <ac:chgData name="今村 謙之" userId="bc27a5e0-5669-41a4-865b-584c1eac539e" providerId="ADAL" clId="{342DA2C4-B094-4B86-9045-6AA34CD7B848}" dt="2026-06-06T00:34:26.413" v="773" actId="1035"/>
          <ac:picMkLst>
            <pc:docMk/>
            <pc:sldMk cId="2565903739" sldId="768"/>
            <ac:picMk id="13" creationId="{B15AA2F6-3716-23FF-68E9-93D4B94D9614}"/>
          </ac:picMkLst>
        </pc:picChg>
        <pc:picChg chg="add mod">
          <ac:chgData name="今村 謙之" userId="bc27a5e0-5669-41a4-865b-584c1eac539e" providerId="ADAL" clId="{342DA2C4-B094-4B86-9045-6AA34CD7B848}" dt="2026-06-06T00:34:46.902" v="776" actId="1038"/>
          <ac:picMkLst>
            <pc:docMk/>
            <pc:sldMk cId="2565903739" sldId="768"/>
            <ac:picMk id="14" creationId="{1372488C-3D0C-794C-B5B2-6CA2F41B5F20}"/>
          </ac:picMkLst>
        </pc:picChg>
        <pc:picChg chg="add mod">
          <ac:chgData name="今村 謙之" userId="bc27a5e0-5669-41a4-865b-584c1eac539e" providerId="ADAL" clId="{342DA2C4-B094-4B86-9045-6AA34CD7B848}" dt="2026-06-06T00:35:30.913" v="781" actId="1037"/>
          <ac:picMkLst>
            <pc:docMk/>
            <pc:sldMk cId="2565903739" sldId="768"/>
            <ac:picMk id="15" creationId="{AD485565-674B-974F-0548-0C0450CC7192}"/>
          </ac:picMkLst>
        </pc:picChg>
        <pc:picChg chg="add mod">
          <ac:chgData name="今村 謙之" userId="bc27a5e0-5669-41a4-865b-584c1eac539e" providerId="ADAL" clId="{342DA2C4-B094-4B86-9045-6AA34CD7B848}" dt="2026-06-06T00:36:08.066" v="799" actId="1037"/>
          <ac:picMkLst>
            <pc:docMk/>
            <pc:sldMk cId="2565903739" sldId="768"/>
            <ac:picMk id="16" creationId="{D7E85439-0C0E-B4C4-D9B8-7225A282E658}"/>
          </ac:picMkLst>
        </pc:picChg>
        <pc:picChg chg="add mod">
          <ac:chgData name="今村 謙之" userId="bc27a5e0-5669-41a4-865b-584c1eac539e" providerId="ADAL" clId="{342DA2C4-B094-4B86-9045-6AA34CD7B848}" dt="2026-06-06T00:36:04.501" v="798" actId="1037"/>
          <ac:picMkLst>
            <pc:docMk/>
            <pc:sldMk cId="2565903739" sldId="768"/>
            <ac:picMk id="17" creationId="{39A7A5AE-BE6E-4955-2C58-68D001DC77FD}"/>
          </ac:picMkLst>
        </pc:picChg>
        <pc:picChg chg="add del mod">
          <ac:chgData name="今村 謙之" userId="bc27a5e0-5669-41a4-865b-584c1eac539e" providerId="ADAL" clId="{342DA2C4-B094-4B86-9045-6AA34CD7B848}" dt="2026-06-06T00:36:35.011" v="803" actId="478"/>
          <ac:picMkLst>
            <pc:docMk/>
            <pc:sldMk cId="2565903739" sldId="768"/>
            <ac:picMk id="18" creationId="{7CB0903B-59B2-36B5-0D8D-19E16E1BF309}"/>
          </ac:picMkLst>
        </pc:picChg>
        <pc:picChg chg="add mod">
          <ac:chgData name="今村 謙之" userId="bc27a5e0-5669-41a4-865b-584c1eac539e" providerId="ADAL" clId="{342DA2C4-B094-4B86-9045-6AA34CD7B848}" dt="2026-06-06T00:36:51.283" v="807" actId="1038"/>
          <ac:picMkLst>
            <pc:docMk/>
            <pc:sldMk cId="2565903739" sldId="768"/>
            <ac:picMk id="19" creationId="{3088A4FB-4646-635C-8F0E-B1BFA45CAAD5}"/>
          </ac:picMkLst>
        </pc:picChg>
        <pc:picChg chg="add mod">
          <ac:chgData name="今村 謙之" userId="bc27a5e0-5669-41a4-865b-584c1eac539e" providerId="ADAL" clId="{342DA2C4-B094-4B86-9045-6AA34CD7B848}" dt="2026-06-06T00:37:12.025" v="820" actId="1037"/>
          <ac:picMkLst>
            <pc:docMk/>
            <pc:sldMk cId="2565903739" sldId="768"/>
            <ac:picMk id="20" creationId="{D23284F2-955A-309C-5F42-134AA869FD27}"/>
          </ac:picMkLst>
        </pc:picChg>
        <pc:picChg chg="add mod">
          <ac:chgData name="今村 謙之" userId="bc27a5e0-5669-41a4-865b-584c1eac539e" providerId="ADAL" clId="{342DA2C4-B094-4B86-9045-6AA34CD7B848}" dt="2026-06-06T00:37:48.921" v="840" actId="1036"/>
          <ac:picMkLst>
            <pc:docMk/>
            <pc:sldMk cId="2565903739" sldId="768"/>
            <ac:picMk id="21" creationId="{20373902-1C7C-2658-FA91-D570676A85F2}"/>
          </ac:picMkLst>
        </pc:picChg>
        <pc:picChg chg="add mod">
          <ac:chgData name="今村 謙之" userId="bc27a5e0-5669-41a4-865b-584c1eac539e" providerId="ADAL" clId="{342DA2C4-B094-4B86-9045-6AA34CD7B848}" dt="2026-06-06T00:38:12.127" v="845" actId="1038"/>
          <ac:picMkLst>
            <pc:docMk/>
            <pc:sldMk cId="2565903739" sldId="768"/>
            <ac:picMk id="22" creationId="{234DA809-4B3B-0008-1EB2-5CDA9AB73298}"/>
          </ac:picMkLst>
        </pc:picChg>
        <pc:picChg chg="add mod">
          <ac:chgData name="今村 謙之" userId="bc27a5e0-5669-41a4-865b-584c1eac539e" providerId="ADAL" clId="{342DA2C4-B094-4B86-9045-6AA34CD7B848}" dt="2026-06-06T00:38:28.152" v="852" actId="1035"/>
          <ac:picMkLst>
            <pc:docMk/>
            <pc:sldMk cId="2565903739" sldId="768"/>
            <ac:picMk id="23" creationId="{D8148211-EF0F-14E1-4173-04B1578B6DCE}"/>
          </ac:picMkLst>
        </pc:picChg>
        <pc:picChg chg="add mod">
          <ac:chgData name="今村 謙之" userId="bc27a5e0-5669-41a4-865b-584c1eac539e" providerId="ADAL" clId="{342DA2C4-B094-4B86-9045-6AA34CD7B848}" dt="2026-06-06T00:38:57.434" v="871" actId="1036"/>
          <ac:picMkLst>
            <pc:docMk/>
            <pc:sldMk cId="2565903739" sldId="768"/>
            <ac:picMk id="24" creationId="{EEE27CA6-C163-8554-6FDC-9DBDB7774F1B}"/>
          </ac:picMkLst>
        </pc:picChg>
        <pc:picChg chg="add mod">
          <ac:chgData name="今村 謙之" userId="bc27a5e0-5669-41a4-865b-584c1eac539e" providerId="ADAL" clId="{342DA2C4-B094-4B86-9045-6AA34CD7B848}" dt="2026-06-06T00:39:16.914" v="887" actId="1038"/>
          <ac:picMkLst>
            <pc:docMk/>
            <pc:sldMk cId="2565903739" sldId="768"/>
            <ac:picMk id="25" creationId="{325AEEFD-10DD-1D39-9387-7591BF42BFE5}"/>
          </ac:picMkLst>
        </pc:picChg>
        <pc:picChg chg="add mod">
          <ac:chgData name="今村 謙之" userId="bc27a5e0-5669-41a4-865b-584c1eac539e" providerId="ADAL" clId="{342DA2C4-B094-4B86-9045-6AA34CD7B848}" dt="2026-06-06T00:39:42.414" v="894" actId="1037"/>
          <ac:picMkLst>
            <pc:docMk/>
            <pc:sldMk cId="2565903739" sldId="768"/>
            <ac:picMk id="26" creationId="{06E4436D-B098-D162-5A02-7FBE854BBA16}"/>
          </ac:picMkLst>
        </pc:picChg>
      </pc:sldChg>
      <pc:sldChg chg="addSp delSp modSp new del mod">
        <pc:chgData name="今村 謙之" userId="bc27a5e0-5669-41a4-865b-584c1eac539e" providerId="ADAL" clId="{342DA2C4-B094-4B86-9045-6AA34CD7B848}" dt="2026-06-06T00:56:04.067" v="1162" actId="47"/>
        <pc:sldMkLst>
          <pc:docMk/>
          <pc:sldMk cId="1873548831" sldId="769"/>
        </pc:sldMkLst>
        <pc:spChg chg="del">
          <ac:chgData name="今村 謙之" userId="bc27a5e0-5669-41a4-865b-584c1eac539e" providerId="ADAL" clId="{342DA2C4-B094-4B86-9045-6AA34CD7B848}" dt="2026-06-06T00:40:48.447" v="902"/>
          <ac:spMkLst>
            <pc:docMk/>
            <pc:sldMk cId="1873548831" sldId="769"/>
            <ac:spMk id="5" creationId="{E8C75930-D2E0-61B9-1242-27AD17AEEF43}"/>
          </ac:spMkLst>
        </pc:spChg>
        <pc:spChg chg="add del mod">
          <ac:chgData name="今村 謙之" userId="bc27a5e0-5669-41a4-865b-584c1eac539e" providerId="ADAL" clId="{342DA2C4-B094-4B86-9045-6AA34CD7B848}" dt="2026-06-06T00:45:00.902" v="908"/>
          <ac:spMkLst>
            <pc:docMk/>
            <pc:sldMk cId="1873548831" sldId="769"/>
            <ac:spMk id="9" creationId="{AE10F846-1D50-0898-8824-F9EDDAA933A1}"/>
          </ac:spMkLst>
        </pc:spChg>
        <pc:picChg chg="add del mod ord">
          <ac:chgData name="今村 謙之" userId="bc27a5e0-5669-41a4-865b-584c1eac539e" providerId="ADAL" clId="{342DA2C4-B094-4B86-9045-6AA34CD7B848}" dt="2026-06-06T00:44:59.499" v="906" actId="478"/>
          <ac:picMkLst>
            <pc:docMk/>
            <pc:sldMk cId="1873548831" sldId="769"/>
            <ac:picMk id="7" creationId="{926D3BDD-5C30-BD46-0F10-7C26C0BA1BA2}"/>
          </ac:picMkLst>
        </pc:picChg>
        <pc:picChg chg="add mod ord modCrop">
          <ac:chgData name="今村 謙之" userId="bc27a5e0-5669-41a4-865b-584c1eac539e" providerId="ADAL" clId="{342DA2C4-B094-4B86-9045-6AA34CD7B848}" dt="2026-06-06T00:45:17.955" v="912" actId="1076"/>
          <ac:picMkLst>
            <pc:docMk/>
            <pc:sldMk cId="1873548831" sldId="769"/>
            <ac:picMk id="11" creationId="{2971D90E-9EE9-2D5E-9291-12B10B807F33}"/>
          </ac:picMkLst>
        </pc:picChg>
        <pc:picChg chg="add mod">
          <ac:chgData name="今村 謙之" userId="bc27a5e0-5669-41a4-865b-584c1eac539e" providerId="ADAL" clId="{342DA2C4-B094-4B86-9045-6AA34CD7B848}" dt="2026-06-06T00:46:45.376" v="929" actId="1036"/>
          <ac:picMkLst>
            <pc:docMk/>
            <pc:sldMk cId="1873548831" sldId="769"/>
            <ac:picMk id="12" creationId="{65098ADA-422F-3FCF-1343-EEE90CA4CB98}"/>
          </ac:picMkLst>
        </pc:picChg>
        <pc:picChg chg="add mod">
          <ac:chgData name="今村 謙之" userId="bc27a5e0-5669-41a4-865b-584c1eac539e" providerId="ADAL" clId="{342DA2C4-B094-4B86-9045-6AA34CD7B848}" dt="2026-06-06T00:47:01.746" v="935" actId="1037"/>
          <ac:picMkLst>
            <pc:docMk/>
            <pc:sldMk cId="1873548831" sldId="769"/>
            <ac:picMk id="13" creationId="{0E015106-3764-40DB-0437-B5239AFA61D0}"/>
          </ac:picMkLst>
        </pc:picChg>
        <pc:picChg chg="add mod">
          <ac:chgData name="今村 謙之" userId="bc27a5e0-5669-41a4-865b-584c1eac539e" providerId="ADAL" clId="{342DA2C4-B094-4B86-9045-6AA34CD7B848}" dt="2026-06-06T00:47:21.735" v="941" actId="1037"/>
          <ac:picMkLst>
            <pc:docMk/>
            <pc:sldMk cId="1873548831" sldId="769"/>
            <ac:picMk id="14" creationId="{6DE09832-A4F3-F71B-78D6-0BFE7E18DEE6}"/>
          </ac:picMkLst>
        </pc:picChg>
        <pc:picChg chg="add mod">
          <ac:chgData name="今村 謙之" userId="bc27a5e0-5669-41a4-865b-584c1eac539e" providerId="ADAL" clId="{342DA2C4-B094-4B86-9045-6AA34CD7B848}" dt="2026-06-06T00:47:45.235" v="959" actId="1038"/>
          <ac:picMkLst>
            <pc:docMk/>
            <pc:sldMk cId="1873548831" sldId="769"/>
            <ac:picMk id="15" creationId="{1B5986FF-FD15-C14E-7D3C-4445A23E2AD0}"/>
          </ac:picMkLst>
        </pc:picChg>
        <pc:picChg chg="add mod">
          <ac:chgData name="今村 謙之" userId="bc27a5e0-5669-41a4-865b-584c1eac539e" providerId="ADAL" clId="{342DA2C4-B094-4B86-9045-6AA34CD7B848}" dt="2026-06-06T00:48:06.810" v="974" actId="1037"/>
          <ac:picMkLst>
            <pc:docMk/>
            <pc:sldMk cId="1873548831" sldId="769"/>
            <ac:picMk id="16" creationId="{DB077128-0B2B-68FA-D9E2-F6A580A330D3}"/>
          </ac:picMkLst>
        </pc:picChg>
        <pc:picChg chg="add mod">
          <ac:chgData name="今村 謙之" userId="bc27a5e0-5669-41a4-865b-584c1eac539e" providerId="ADAL" clId="{342DA2C4-B094-4B86-9045-6AA34CD7B848}" dt="2026-06-06T00:48:35.543" v="999" actId="1038"/>
          <ac:picMkLst>
            <pc:docMk/>
            <pc:sldMk cId="1873548831" sldId="769"/>
            <ac:picMk id="17" creationId="{B2BC582F-4065-FBCD-A31B-0F8B4B60DB53}"/>
          </ac:picMkLst>
        </pc:picChg>
        <pc:picChg chg="add mod">
          <ac:chgData name="今村 謙之" userId="bc27a5e0-5669-41a4-865b-584c1eac539e" providerId="ADAL" clId="{342DA2C4-B094-4B86-9045-6AA34CD7B848}" dt="2026-06-06T00:49:15.904" v="1017" actId="1036"/>
          <ac:picMkLst>
            <pc:docMk/>
            <pc:sldMk cId="1873548831" sldId="769"/>
            <ac:picMk id="18" creationId="{A9290F6B-E945-E95C-5B49-47F011F84FB5}"/>
          </ac:picMkLst>
        </pc:picChg>
        <pc:picChg chg="add mod">
          <ac:chgData name="今村 謙之" userId="bc27a5e0-5669-41a4-865b-584c1eac539e" providerId="ADAL" clId="{342DA2C4-B094-4B86-9045-6AA34CD7B848}" dt="2026-06-06T00:49:26.943" v="1021" actId="1037"/>
          <ac:picMkLst>
            <pc:docMk/>
            <pc:sldMk cId="1873548831" sldId="769"/>
            <ac:picMk id="19" creationId="{667CA1FD-7A59-08D6-193F-856C6349643A}"/>
          </ac:picMkLst>
        </pc:picChg>
        <pc:picChg chg="add mod">
          <ac:chgData name="今村 謙之" userId="bc27a5e0-5669-41a4-865b-584c1eac539e" providerId="ADAL" clId="{342DA2C4-B094-4B86-9045-6AA34CD7B848}" dt="2026-06-06T00:49:44.366" v="1024" actId="1035"/>
          <ac:picMkLst>
            <pc:docMk/>
            <pc:sldMk cId="1873548831" sldId="769"/>
            <ac:picMk id="20" creationId="{4FF64D91-653B-A4AD-209F-EB0B9CBBFD77}"/>
          </ac:picMkLst>
        </pc:picChg>
        <pc:picChg chg="add mod">
          <ac:chgData name="今村 謙之" userId="bc27a5e0-5669-41a4-865b-584c1eac539e" providerId="ADAL" clId="{342DA2C4-B094-4B86-9045-6AA34CD7B848}" dt="2026-06-06T00:50:10.616" v="1037" actId="1035"/>
          <ac:picMkLst>
            <pc:docMk/>
            <pc:sldMk cId="1873548831" sldId="769"/>
            <ac:picMk id="21" creationId="{87BD994F-D2AB-4131-973C-09DFF4E8D17A}"/>
          </ac:picMkLst>
        </pc:picChg>
        <pc:picChg chg="add mod">
          <ac:chgData name="今村 謙之" userId="bc27a5e0-5669-41a4-865b-584c1eac539e" providerId="ADAL" clId="{342DA2C4-B094-4B86-9045-6AA34CD7B848}" dt="2026-06-06T00:50:31.619" v="1045" actId="1037"/>
          <ac:picMkLst>
            <pc:docMk/>
            <pc:sldMk cId="1873548831" sldId="769"/>
            <ac:picMk id="22" creationId="{499B1C1D-E6E5-9FC9-303A-A4583C4803CE}"/>
          </ac:picMkLst>
        </pc:picChg>
        <pc:picChg chg="add mod">
          <ac:chgData name="今村 謙之" userId="bc27a5e0-5669-41a4-865b-584c1eac539e" providerId="ADAL" clId="{342DA2C4-B094-4B86-9045-6AA34CD7B848}" dt="2026-06-06T00:51:01.645" v="1055" actId="1037"/>
          <ac:picMkLst>
            <pc:docMk/>
            <pc:sldMk cId="1873548831" sldId="769"/>
            <ac:picMk id="23" creationId="{4BD8C8EB-4945-1B6B-7941-6987319CC878}"/>
          </ac:picMkLst>
        </pc:picChg>
        <pc:picChg chg="add mod">
          <ac:chgData name="今村 謙之" userId="bc27a5e0-5669-41a4-865b-584c1eac539e" providerId="ADAL" clId="{342DA2C4-B094-4B86-9045-6AA34CD7B848}" dt="2026-06-06T00:51:47.532" v="1069" actId="1037"/>
          <ac:picMkLst>
            <pc:docMk/>
            <pc:sldMk cId="1873548831" sldId="769"/>
            <ac:picMk id="24" creationId="{982AFD7C-D176-84D9-8B47-8A11E2E3D6ED}"/>
          </ac:picMkLst>
        </pc:picChg>
        <pc:picChg chg="add mod">
          <ac:chgData name="今村 謙之" userId="bc27a5e0-5669-41a4-865b-584c1eac539e" providerId="ADAL" clId="{342DA2C4-B094-4B86-9045-6AA34CD7B848}" dt="2026-06-06T00:52:09.305" v="1077" actId="1037"/>
          <ac:picMkLst>
            <pc:docMk/>
            <pc:sldMk cId="1873548831" sldId="769"/>
            <ac:picMk id="25" creationId="{B3027491-DEA4-978B-7786-28EACB277CA8}"/>
          </ac:picMkLst>
        </pc:picChg>
        <pc:picChg chg="add mod">
          <ac:chgData name="今村 謙之" userId="bc27a5e0-5669-41a4-865b-584c1eac539e" providerId="ADAL" clId="{342DA2C4-B094-4B86-9045-6AA34CD7B848}" dt="2026-06-06T00:52:31.069" v="1084" actId="1037"/>
          <ac:picMkLst>
            <pc:docMk/>
            <pc:sldMk cId="1873548831" sldId="769"/>
            <ac:picMk id="26" creationId="{15F2F217-B9B3-7412-0E68-7CFC5F93F7D8}"/>
          </ac:picMkLst>
        </pc:picChg>
        <pc:picChg chg="add mod">
          <ac:chgData name="今村 謙之" userId="bc27a5e0-5669-41a4-865b-584c1eac539e" providerId="ADAL" clId="{342DA2C4-B094-4B86-9045-6AA34CD7B848}" dt="2026-06-06T00:52:47.551" v="1093" actId="1037"/>
          <ac:picMkLst>
            <pc:docMk/>
            <pc:sldMk cId="1873548831" sldId="769"/>
            <ac:picMk id="27" creationId="{851EC21E-A1D5-2087-8B2C-377183A43689}"/>
          </ac:picMkLst>
        </pc:picChg>
        <pc:picChg chg="add mod">
          <ac:chgData name="今村 謙之" userId="bc27a5e0-5669-41a4-865b-584c1eac539e" providerId="ADAL" clId="{342DA2C4-B094-4B86-9045-6AA34CD7B848}" dt="2026-06-06T00:52:57.945" v="1096" actId="1038"/>
          <ac:picMkLst>
            <pc:docMk/>
            <pc:sldMk cId="1873548831" sldId="769"/>
            <ac:picMk id="28" creationId="{52B614AB-1D7F-AD8B-B7E7-249B9EC6C941}"/>
          </ac:picMkLst>
        </pc:picChg>
        <pc:picChg chg="add mod">
          <ac:chgData name="今村 謙之" userId="bc27a5e0-5669-41a4-865b-584c1eac539e" providerId="ADAL" clId="{342DA2C4-B094-4B86-9045-6AA34CD7B848}" dt="2026-06-06T00:53:15.589" v="1103" actId="1038"/>
          <ac:picMkLst>
            <pc:docMk/>
            <pc:sldMk cId="1873548831" sldId="769"/>
            <ac:picMk id="29" creationId="{D5A59683-CD54-1228-AFEE-9914C6BB5CAA}"/>
          </ac:picMkLst>
        </pc:picChg>
        <pc:picChg chg="add mod">
          <ac:chgData name="今村 謙之" userId="bc27a5e0-5669-41a4-865b-584c1eac539e" providerId="ADAL" clId="{342DA2C4-B094-4B86-9045-6AA34CD7B848}" dt="2026-06-06T00:53:31.045" v="1108" actId="1037"/>
          <ac:picMkLst>
            <pc:docMk/>
            <pc:sldMk cId="1873548831" sldId="769"/>
            <ac:picMk id="30" creationId="{654B86B0-C0F5-6081-5ACE-396CCCC59342}"/>
          </ac:picMkLst>
        </pc:picChg>
        <pc:picChg chg="add mod">
          <ac:chgData name="今村 謙之" userId="bc27a5e0-5669-41a4-865b-584c1eac539e" providerId="ADAL" clId="{342DA2C4-B094-4B86-9045-6AA34CD7B848}" dt="2026-06-06T00:53:47.535" v="1127" actId="1037"/>
          <ac:picMkLst>
            <pc:docMk/>
            <pc:sldMk cId="1873548831" sldId="769"/>
            <ac:picMk id="31" creationId="{779181EF-765F-0BDE-2CCA-29EC8A5CA4F9}"/>
          </ac:picMkLst>
        </pc:picChg>
        <pc:picChg chg="add mod">
          <ac:chgData name="今村 謙之" userId="bc27a5e0-5669-41a4-865b-584c1eac539e" providerId="ADAL" clId="{342DA2C4-B094-4B86-9045-6AA34CD7B848}" dt="2026-06-06T00:54:03.327" v="1141" actId="1038"/>
          <ac:picMkLst>
            <pc:docMk/>
            <pc:sldMk cId="1873548831" sldId="769"/>
            <ac:picMk id="32" creationId="{8D4758F1-F263-6E13-EF74-F3D638CA74C3}"/>
          </ac:picMkLst>
        </pc:picChg>
        <pc:picChg chg="add mod">
          <ac:chgData name="今村 謙之" userId="bc27a5e0-5669-41a4-865b-584c1eac539e" providerId="ADAL" clId="{342DA2C4-B094-4B86-9045-6AA34CD7B848}" dt="2026-06-06T00:54:21.154" v="1146" actId="1037"/>
          <ac:picMkLst>
            <pc:docMk/>
            <pc:sldMk cId="1873548831" sldId="769"/>
            <ac:picMk id="33" creationId="{1111BB33-13A3-9F44-3296-59E42B2FCBDD}"/>
          </ac:picMkLst>
        </pc:picChg>
        <pc:picChg chg="add mod">
          <ac:chgData name="今村 謙之" userId="bc27a5e0-5669-41a4-865b-584c1eac539e" providerId="ADAL" clId="{342DA2C4-B094-4B86-9045-6AA34CD7B848}" dt="2026-06-06T00:54:30.111" v="1149" actId="1038"/>
          <ac:picMkLst>
            <pc:docMk/>
            <pc:sldMk cId="1873548831" sldId="769"/>
            <ac:picMk id="34" creationId="{9752149F-92B3-7F4E-C96F-C2742D4DC0B6}"/>
          </ac:picMkLst>
        </pc:picChg>
      </pc:sldChg>
      <pc:sldChg chg="modSp add del mod setBg">
        <pc:chgData name="今村 謙之" userId="bc27a5e0-5669-41a4-865b-584c1eac539e" providerId="ADAL" clId="{342DA2C4-B094-4B86-9045-6AA34CD7B848}" dt="2026-06-06T00:57:36.971" v="1168" actId="47"/>
        <pc:sldMkLst>
          <pc:docMk/>
          <pc:sldMk cId="4183707140" sldId="4597"/>
        </pc:sldMkLst>
        <pc:spChg chg="mod">
          <ac:chgData name="今村 謙之" userId="bc27a5e0-5669-41a4-865b-584c1eac539e" providerId="ADAL" clId="{342DA2C4-B094-4B86-9045-6AA34CD7B848}" dt="2026-06-06T00:57:26.441" v="1165" actId="27636"/>
          <ac:spMkLst>
            <pc:docMk/>
            <pc:sldMk cId="4183707140" sldId="4597"/>
            <ac:spMk id="2" creationId="{D48C19C7-F7F2-77FE-BD4A-9F0B2F8C6BF9}"/>
          </ac:spMkLst>
        </pc:spChg>
      </pc:sldChg>
      <pc:sldMasterChg chg="delSldLayout">
        <pc:chgData name="今村 謙之" userId="bc27a5e0-5669-41a4-865b-584c1eac539e" providerId="ADAL" clId="{342DA2C4-B094-4B86-9045-6AA34CD7B848}" dt="2026-06-06T00:57:36.971" v="1168" actId="47"/>
        <pc:sldMasterMkLst>
          <pc:docMk/>
          <pc:sldMasterMk cId="946754946" sldId="2147483660"/>
        </pc:sldMasterMkLst>
        <pc:sldLayoutChg chg="del">
          <pc:chgData name="今村 謙之" userId="bc27a5e0-5669-41a4-865b-584c1eac539e" providerId="ADAL" clId="{342DA2C4-B094-4B86-9045-6AA34CD7B848}" dt="2026-06-06T00:57:36.971" v="1168" actId="47"/>
          <pc:sldLayoutMkLst>
            <pc:docMk/>
            <pc:sldMasterMk cId="946754946" sldId="2147483660"/>
            <pc:sldLayoutMk cId="3984018652" sldId="214748366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6701CF-6506-4C71-B9C0-D553E89A3065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2026/6/6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2CAF6EC-44B5-4F44-84B2-F1866F3C3CE5}" type="datetime1">
              <a:rPr lang="ja-JP" altLang="en-US" smtClean="0"/>
              <a:pPr/>
              <a:t>2026/6/6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F61EA0F-A667-4B49-8422-0062BC55E249}" type="slidenum">
              <a:rPr lang="en-US" altLang="ja-JP" smtClean="0"/>
              <a:pPr/>
              <a:t>‹#›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 rtlCol="0"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056" y="3575304"/>
            <a:ext cx="9921943" cy="862012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2F3FE2-6705-F565-5229-C8D3DCC9E6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69077"/>
            <a:ext cx="12192000" cy="29260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58B9EC4-4648-5254-5E35-73531440FB19}"/>
              </a:ext>
            </a:extLst>
          </p:cNvPr>
          <p:cNvSpPr txBox="1"/>
          <p:nvPr userDrawn="1"/>
        </p:nvSpPr>
        <p:spPr>
          <a:xfrm>
            <a:off x="7772402" y="6550222"/>
            <a:ext cx="1682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Mizuki Mori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3C85F884-E1B0-E184-69BB-E82FBA770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54552" y="6569077"/>
            <a:ext cx="1682149" cy="2907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3186764-8249-4F86-9F1E-0124A3C0442F}" type="datetime1">
              <a:rPr lang="ja-JP" altLang="en-US" smtClean="0"/>
              <a:t>2026/6/6</a:t>
            </a:fld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6CABB8-5CD1-1926-FDB8-93D8A284595F}"/>
              </a:ext>
            </a:extLst>
          </p:cNvPr>
          <p:cNvSpPr txBox="1"/>
          <p:nvPr userDrawn="1"/>
        </p:nvSpPr>
        <p:spPr>
          <a:xfrm>
            <a:off x="-1" y="6550223"/>
            <a:ext cx="322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accent2"/>
                </a:solidFill>
              </a:rPr>
              <a:t>IP62</a:t>
            </a:r>
            <a:endParaRPr kumimoji="1" lang="ja-JP" altLang="en-US" sz="1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468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1E2E95-C42D-4C36-B7CE-3A9BBBB31134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5330952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コンテンツ プレースホルダー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98690" y="1463040"/>
            <a:ext cx="5330952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(短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B1E2FC-C007-45CB-A704-E25C88D29217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5330952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73EFFE-E2D8-4196-AC21-B05505B1EE2E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93F5D-5A8F-FDB8-2312-7C365AD8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EFC5D-E911-2492-EBF4-7C560C93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B3258-3956-C471-1ADB-DB8BF69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FA95B-9B52-9CD7-0253-D859773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2BE04-F456-2AE2-4548-B04DECF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69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13E4DDB-C357-5010-28A6-ABF4824422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6569077"/>
            <a:ext cx="12192000" cy="292608"/>
          </a:xfrm>
          <a:prstGeom prst="rect">
            <a:avLst/>
          </a:prstGeom>
        </p:spPr>
      </p:pic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9454552" y="6569077"/>
            <a:ext cx="1682149" cy="2907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037CD71-3842-4EB6-9815-0BB8C1A5FDAB}" type="datetime1">
              <a:rPr lang="ja-JP" altLang="en-US" smtClean="0"/>
              <a:t>2026/6/6</a:t>
            </a:fld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136702" y="6565392"/>
            <a:ext cx="1055298" cy="292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860EDB8-5305-433F-BE41-D7A86D811DB3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7EAAFE-9B47-47B4-C480-DF338419C005}"/>
              </a:ext>
            </a:extLst>
          </p:cNvPr>
          <p:cNvSpPr txBox="1"/>
          <p:nvPr userDrawn="1"/>
        </p:nvSpPr>
        <p:spPr>
          <a:xfrm>
            <a:off x="-1" y="6550223"/>
            <a:ext cx="322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accent2"/>
                </a:solidFill>
              </a:rPr>
              <a:t>IP62</a:t>
            </a:r>
            <a:endParaRPr kumimoji="1" lang="ja-JP" altLang="en-US" sz="1400" b="1" dirty="0">
              <a:solidFill>
                <a:schemeClr val="accent2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CAD1A3-E133-A77C-97AF-447313CD0D2C}"/>
              </a:ext>
            </a:extLst>
          </p:cNvPr>
          <p:cNvSpPr txBox="1"/>
          <p:nvPr userDrawn="1"/>
        </p:nvSpPr>
        <p:spPr>
          <a:xfrm>
            <a:off x="7772402" y="6550222"/>
            <a:ext cx="1682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Mizuki Mori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kumimoji="1" sz="2800" kern="120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kumimoji="1" lang="en-US" sz="1600" kern="1200" dirty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 smtClean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 smtClean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>
          <p15:clr>
            <a:srgbClr val="F26B43"/>
          </p15:clr>
        </p15:guide>
        <p15:guide id="2" pos="336">
          <p15:clr>
            <a:srgbClr val="F26B43"/>
          </p15:clr>
        </p15:guide>
        <p15:guide id="3" pos="732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696">
          <p15:clr>
            <a:srgbClr val="F26B43"/>
          </p15:clr>
        </p15:guide>
        <p15:guide id="7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hi-kai.org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71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6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82.png"/><Relationship Id="rId18" Type="http://schemas.openxmlformats.org/officeDocument/2006/relationships/image" Target="../media/image129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81.png"/><Relationship Id="rId17" Type="http://schemas.openxmlformats.org/officeDocument/2006/relationships/image" Target="../media/image128.png"/><Relationship Id="rId2" Type="http://schemas.openxmlformats.org/officeDocument/2006/relationships/image" Target="../media/image117.png"/><Relationship Id="rId16" Type="http://schemas.openxmlformats.org/officeDocument/2006/relationships/image" Target="../media/image12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80.png"/><Relationship Id="rId5" Type="http://schemas.openxmlformats.org/officeDocument/2006/relationships/image" Target="../media/image120.png"/><Relationship Id="rId15" Type="http://schemas.openxmlformats.org/officeDocument/2006/relationships/image" Target="../media/image126.png"/><Relationship Id="rId10" Type="http://schemas.openxmlformats.org/officeDocument/2006/relationships/image" Target="../media/image125.png"/><Relationship Id="rId19" Type="http://schemas.openxmlformats.org/officeDocument/2006/relationships/image" Target="../media/image130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50.png"/><Relationship Id="rId3" Type="http://schemas.openxmlformats.org/officeDocument/2006/relationships/image" Target="../media/image131.png"/><Relationship Id="rId21" Type="http://schemas.openxmlformats.org/officeDocument/2006/relationships/image" Target="../media/image145.png"/><Relationship Id="rId7" Type="http://schemas.openxmlformats.org/officeDocument/2006/relationships/image" Target="../media/image90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2" Type="http://schemas.openxmlformats.org/officeDocument/2006/relationships/image" Target="../media/image117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5" Type="http://schemas.openxmlformats.org/officeDocument/2006/relationships/image" Target="../media/image88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4" Type="http://schemas.openxmlformats.org/officeDocument/2006/relationships/image" Target="../media/image87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1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26" Type="http://schemas.openxmlformats.org/officeDocument/2006/relationships/image" Target="../media/image176.png"/><Relationship Id="rId39" Type="http://schemas.openxmlformats.org/officeDocument/2006/relationships/image" Target="../media/image189.png"/><Relationship Id="rId21" Type="http://schemas.openxmlformats.org/officeDocument/2006/relationships/image" Target="../media/image171.png"/><Relationship Id="rId34" Type="http://schemas.openxmlformats.org/officeDocument/2006/relationships/image" Target="../media/image184.png"/><Relationship Id="rId42" Type="http://schemas.openxmlformats.org/officeDocument/2006/relationships/image" Target="../media/image192.png"/><Relationship Id="rId47" Type="http://schemas.openxmlformats.org/officeDocument/2006/relationships/image" Target="../media/image197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6" Type="http://schemas.openxmlformats.org/officeDocument/2006/relationships/image" Target="../media/image166.png"/><Relationship Id="rId29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24" Type="http://schemas.openxmlformats.org/officeDocument/2006/relationships/image" Target="../media/image174.png"/><Relationship Id="rId32" Type="http://schemas.openxmlformats.org/officeDocument/2006/relationships/image" Target="../media/image182.png"/><Relationship Id="rId37" Type="http://schemas.openxmlformats.org/officeDocument/2006/relationships/image" Target="../media/image187.png"/><Relationship Id="rId40" Type="http://schemas.openxmlformats.org/officeDocument/2006/relationships/image" Target="../media/image190.png"/><Relationship Id="rId45" Type="http://schemas.openxmlformats.org/officeDocument/2006/relationships/image" Target="../media/image195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23" Type="http://schemas.openxmlformats.org/officeDocument/2006/relationships/image" Target="../media/image173.png"/><Relationship Id="rId28" Type="http://schemas.openxmlformats.org/officeDocument/2006/relationships/image" Target="../media/image178.png"/><Relationship Id="rId36" Type="http://schemas.openxmlformats.org/officeDocument/2006/relationships/image" Target="../media/image186.png"/><Relationship Id="rId10" Type="http://schemas.openxmlformats.org/officeDocument/2006/relationships/image" Target="../media/image160.png"/><Relationship Id="rId19" Type="http://schemas.openxmlformats.org/officeDocument/2006/relationships/image" Target="../media/image169.png"/><Relationship Id="rId31" Type="http://schemas.openxmlformats.org/officeDocument/2006/relationships/image" Target="../media/image181.png"/><Relationship Id="rId44" Type="http://schemas.openxmlformats.org/officeDocument/2006/relationships/image" Target="../media/image194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Relationship Id="rId22" Type="http://schemas.openxmlformats.org/officeDocument/2006/relationships/image" Target="../media/image172.png"/><Relationship Id="rId27" Type="http://schemas.openxmlformats.org/officeDocument/2006/relationships/image" Target="../media/image177.png"/><Relationship Id="rId30" Type="http://schemas.openxmlformats.org/officeDocument/2006/relationships/image" Target="../media/image180.png"/><Relationship Id="rId35" Type="http://schemas.openxmlformats.org/officeDocument/2006/relationships/image" Target="../media/image185.png"/><Relationship Id="rId43" Type="http://schemas.openxmlformats.org/officeDocument/2006/relationships/image" Target="../media/image193.png"/><Relationship Id="rId48" Type="http://schemas.openxmlformats.org/officeDocument/2006/relationships/image" Target="../media/image198.png"/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5" Type="http://schemas.openxmlformats.org/officeDocument/2006/relationships/image" Target="../media/image175.png"/><Relationship Id="rId33" Type="http://schemas.openxmlformats.org/officeDocument/2006/relationships/image" Target="../media/image183.png"/><Relationship Id="rId38" Type="http://schemas.openxmlformats.org/officeDocument/2006/relationships/image" Target="../media/image188.png"/><Relationship Id="rId46" Type="http://schemas.openxmlformats.org/officeDocument/2006/relationships/image" Target="../media/image196.png"/><Relationship Id="rId20" Type="http://schemas.openxmlformats.org/officeDocument/2006/relationships/image" Target="../media/image170.png"/><Relationship Id="rId41" Type="http://schemas.openxmlformats.org/officeDocument/2006/relationships/image" Target="../media/image19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2 進数の数字が表示された CPU と青写真">
            <a:extLst>
              <a:ext uri="{FF2B5EF4-FFF2-40B4-BE49-F238E27FC236}">
                <a16:creationId xmlns:a16="http://schemas.microsoft.com/office/drawing/2014/main" id="{273EEEF4-5448-6621-ACCF-9FC5FC7106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985B9EF-5891-44BD-296C-D3F4FB431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94" y="1122363"/>
            <a:ext cx="11442583" cy="2489952"/>
          </a:xfrm>
        </p:spPr>
        <p:txBody>
          <a:bodyPr>
            <a:noAutofit/>
          </a:bodyPr>
          <a:lstStyle/>
          <a:p>
            <a:r>
              <a:rPr kumimoji="1" lang="en-US" altLang="ja-JP" sz="8000" dirty="0">
                <a:solidFill>
                  <a:schemeClr val="bg1"/>
                </a:solidFill>
              </a:rPr>
              <a:t>Rail-to-</a:t>
            </a:r>
            <a:r>
              <a:rPr kumimoji="1" lang="en-US" altLang="ja-JP" sz="8000" dirty="0" err="1">
                <a:solidFill>
                  <a:schemeClr val="bg1"/>
                </a:solidFill>
              </a:rPr>
              <a:t>RailOPAMP</a:t>
            </a:r>
            <a:r>
              <a:rPr kumimoji="1" lang="ja-JP" altLang="en-US" sz="8000" dirty="0">
                <a:solidFill>
                  <a:schemeClr val="bg1"/>
                </a:solidFill>
              </a:rPr>
              <a:t>設計（</a:t>
            </a:r>
            <a:r>
              <a:rPr lang="en-US" altLang="ja-JP" sz="8000" dirty="0">
                <a:solidFill>
                  <a:schemeClr val="bg1"/>
                </a:solidFill>
              </a:rPr>
              <a:t>OpenSUSI-TR10</a:t>
            </a:r>
            <a:r>
              <a:rPr kumimoji="1" lang="ja-JP" altLang="en-US" sz="80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A143C-6BCF-C6CB-42E7-691F52B0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95924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ISHI</a:t>
            </a:r>
            <a:r>
              <a:rPr lang="zh-TW" altLang="en-US" dirty="0">
                <a:solidFill>
                  <a:schemeClr val="bg1"/>
                </a:solidFill>
              </a:rPr>
              <a:t>会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  <a:hlinkClick r:id="rId3"/>
              </a:rPr>
              <a:t>https://ishi-kai.org/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Mail: info@ishi-kai.org</a:t>
            </a: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2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4B8153B0-A4AB-9B84-1982-0881D96A7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もくじ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E61B6BD-6745-EE9C-EE9F-0082A31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EBB4CA-19A5-C46A-4428-8D24C403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7623083E-8319-6612-5562-C70B6C3A1F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サイズ</a:t>
            </a:r>
            <a:r>
              <a:rPr lang="en-US" altLang="ja-JP" sz="2000" dirty="0"/>
              <a:t>L</a:t>
            </a:r>
            <a:r>
              <a:rPr lang="ja-JP" altLang="en-US" sz="2000" dirty="0"/>
              <a:t>をどうやって決めるか？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チャネル長変調効果を受けずらい電流源を作る</a:t>
            </a:r>
            <a:r>
              <a:rPr lang="en-US" altLang="ja-JP" sz="2000" dirty="0"/>
              <a:t>	</a:t>
            </a:r>
            <a:r>
              <a:rPr lang="ja-JP" altLang="en-US" sz="2000" dirty="0"/>
              <a:t>：　カスコードカレントミラー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ゲインが低い問題を解決する</a:t>
            </a:r>
            <a:r>
              <a:rPr lang="en-US" altLang="ja-JP" sz="2000" dirty="0"/>
              <a:t>			</a:t>
            </a:r>
            <a:r>
              <a:rPr lang="ja-JP" altLang="en-US" sz="2000" dirty="0"/>
              <a:t>：　フォールデッドカスコードオペアンプ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入力電圧レンジを広くとる</a:t>
            </a:r>
            <a:r>
              <a:rPr lang="en-US" altLang="ja-JP" sz="2000" dirty="0"/>
              <a:t>			</a:t>
            </a:r>
            <a:r>
              <a:rPr lang="ja-JP" altLang="en-US" sz="2000" dirty="0"/>
              <a:t>：　</a:t>
            </a:r>
            <a:r>
              <a:rPr lang="en-US" altLang="ja-JP" sz="2000" dirty="0"/>
              <a:t>rail-to-rail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出力電圧レンジも広くとる</a:t>
            </a:r>
            <a:r>
              <a:rPr lang="en-US" altLang="ja-JP" sz="2000" dirty="0"/>
              <a:t>			</a:t>
            </a:r>
            <a:r>
              <a:rPr lang="ja-JP" altLang="en-US" sz="2000" dirty="0"/>
              <a:t>：　</a:t>
            </a:r>
            <a:r>
              <a:rPr lang="en-US" altLang="ja-JP" sz="2000" dirty="0"/>
              <a:t>AB</a:t>
            </a:r>
            <a:r>
              <a:rPr lang="ja-JP" altLang="en-US" sz="2000" dirty="0"/>
              <a:t>級バッファ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621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8F34-6C71-BA85-34DA-88EDEE9F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9CAE3D58-2ED8-5860-5A12-79DA12D9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オペアンプ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2B3F32-024E-F282-5D14-2F1823BB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A5E8FC-F3DB-8C37-D27D-07D8B69F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BC274D26-D156-4402-B68B-3D1446230F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サイズ</a:t>
            </a:r>
            <a:r>
              <a:rPr lang="en-US" altLang="ja-JP" sz="2000" dirty="0"/>
              <a:t>L</a:t>
            </a:r>
            <a:r>
              <a:rPr lang="ja-JP" altLang="en-US" sz="2000" dirty="0"/>
              <a:t>をどうやって決めるか？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チャネル長変調効果を受けずらい電流源を作る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カスコードカレントミラー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ゲインが低い問題を解決する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フォールデッドカスコードオペアンプ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入力電圧レンジを広くとる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rail-to-rail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出力電圧レンジも広くとる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AB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級バッファ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524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5D53A4-4388-4D72-0FD6-1C2149E4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</a:t>
            </a:r>
            <a:r>
              <a:rPr lang="ja-JP" altLang="en-US" dirty="0"/>
              <a:t>をどうやって決めるか？</a:t>
            </a:r>
            <a:endParaRPr lang="en-US" altLang="ja-JP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11F860-B0DE-6173-E68E-BC3A9655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727170-8A25-E6A8-B391-7BF0F511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4D60AD8C-E4AD-F25B-6491-F38682A4E10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39"/>
                <a:ext cx="11210543" cy="496435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000" b="1" i="1" smtClean="0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𝑫𝑺</m:t>
                            </m:r>
                          </m:sub>
                        </m:sSub>
                      </m:num>
                      <m:den>
                        <m:r>
                          <a:rPr lang="ja-JP" altLang="en-US" sz="2000" b="1" i="1" smtClean="0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𝒈𝒔</m:t>
                            </m:r>
                          </m:sub>
                        </m:sSub>
                      </m:den>
                    </m:f>
                    <m:r>
                      <a:rPr lang="en-US" altLang="ja-JP" sz="2000" b="1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sSub>
                      <m:sSubPr>
                        <m:ctrlPr>
                          <a:rPr lang="en-US" altLang="ja-JP" sz="200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altLang="ja-JP" sz="2000" b="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ja-JP" sz="2000" i="1" dirty="0"/>
                      <m:t>				</m:t>
                    </m:r>
                  </m:oMath>
                </a14:m>
                <a:r>
                  <a:rPr lang="en-US" altLang="ja-JP" sz="2000" dirty="0"/>
                  <a:t>   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sz="2000" dirty="0"/>
                      <m:t>線形領域 </m:t>
                    </m:r>
                    <m:r>
                      <m:rPr>
                        <m:nor/>
                      </m:rPr>
                      <a:rPr lang="en-US" altLang="ja-JP" sz="2000" dirty="0"/>
                      <m:t>(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m:rPr>
                        <m:nor/>
                      </m:rPr>
                      <a:rPr lang="en-US" altLang="ja-JP" sz="2000" dirty="0"/>
                      <m:t>)</m:t>
                    </m:r>
                  </m:oMath>
                </a14:m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000" b="1" i="1" smtClean="0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𝑫𝑺</m:t>
                            </m:r>
                          </m:sub>
                        </m:sSub>
                      </m:num>
                      <m:den>
                        <m:r>
                          <a:rPr lang="ja-JP" altLang="en-US" sz="2000" b="1" i="1" smtClean="0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ja-JP" sz="2000" b="1" i="1" smtClean="0">
                                <a:latin typeface="Cambria Math" panose="02040503050406030204" pitchFamily="18" charset="0"/>
                              </a:rPr>
                              <m:t>𝒈𝒔</m:t>
                            </m:r>
                          </m:sub>
                        </m:sSub>
                      </m:den>
                    </m:f>
                    <m:r>
                      <a:rPr lang="en-US" altLang="ja-JP" sz="2000" b="1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r>
                          <a:rPr lang="en-US" altLang="ja-JP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d>
                      <m:dPr>
                        <m:ctrlPr>
                          <a:rPr lang="en-US" altLang="ja-JP" sz="200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00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ja-JP" sz="2000" b="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altLang="ja-JP" sz="20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00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ja-JP" sz="2000" b="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𝑡h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altLang="ja-JP" sz="2000" dirty="0"/>
                      <m:t>			</m:t>
                    </m:r>
                  </m:oMath>
                </a14:m>
                <a:r>
                  <a:rPr lang="en-US" altLang="ja-JP" sz="2000" dirty="0"/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sz="2000" dirty="0" smtClean="0">
                        <a:solidFill>
                          <a:srgbClr val="464646"/>
                        </a:solidFill>
                      </a:rPr>
                      <m:t>飽和領域</m:t>
                    </m:r>
                    <m:r>
                      <m:rPr>
                        <m:nor/>
                      </m:rPr>
                      <a:rPr lang="en-US" altLang="ja-JP" sz="2000" dirty="0" smtClean="0">
                        <a:solidFill>
                          <a:srgbClr val="464646"/>
                        </a:solidFill>
                      </a:rPr>
                      <m:t> (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m:rPr>
                        <m:nor/>
                      </m:rPr>
                      <a:rPr lang="en-US" altLang="ja-JP" sz="2000" dirty="0">
                        <a:solidFill>
                          <a:srgbClr val="464646"/>
                        </a:solidFill>
                      </a:rPr>
                      <m:t>)</m:t>
                    </m:r>
                  </m:oMath>
                </a14:m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L</a:t>
                </a:r>
                <a:r>
                  <a:rPr lang="ja-JP" altLang="en-US" sz="2000" dirty="0"/>
                  <a:t>は小さいほど周波数特性</a:t>
                </a:r>
                <a:r>
                  <a:rPr lang="en-US" altLang="ja-JP" sz="2000" dirty="0"/>
                  <a:t>Up</a:t>
                </a:r>
                <a:r>
                  <a:rPr lang="ja-JP" altLang="en-US" sz="2000" dirty="0"/>
                  <a:t>　しかしばらつきと短チャネル効果の影響が大きくなる</a:t>
                </a:r>
                <a:endParaRPr lang="en-US" altLang="ja-JP" sz="2000" dirty="0"/>
              </a:p>
              <a:p>
                <a:pPr marL="626364" lvl="1" indent="-342900"/>
                <a:r>
                  <a:rPr lang="ja-JP" altLang="en-US" sz="2000" dirty="0"/>
                  <a:t>ばらつき：</a:t>
                </a:r>
                <a:r>
                  <a:rPr lang="en-US" altLang="ja-JP" sz="2000" dirty="0"/>
                  <a:t>L</a:t>
                </a:r>
                <a:r>
                  <a:rPr lang="ja-JP" altLang="en-US" sz="2000" dirty="0"/>
                  <a:t>を増減させた際の電流</a:t>
                </a:r>
                <a:r>
                  <a:rPr lang="en-US" altLang="ja-JP" sz="2000" dirty="0"/>
                  <a:t>Ids</a:t>
                </a:r>
                <a:r>
                  <a:rPr lang="ja-JP" altLang="en-US" sz="2000" dirty="0"/>
                  <a:t>の変動量</a:t>
                </a:r>
                <a:br>
                  <a:rPr lang="en-US" altLang="ja-JP" sz="2000" dirty="0"/>
                </a:br>
                <a:r>
                  <a:rPr lang="en-US" altLang="ja-JP" sz="2000" dirty="0"/>
                  <a:t>W/L</a:t>
                </a:r>
                <a:r>
                  <a:rPr lang="ja-JP" altLang="en-US" sz="2000" dirty="0"/>
                  <a:t>を一定にした状態で </a:t>
                </a:r>
                <a:r>
                  <a:rPr lang="en-US" altLang="ja-JP" sz="2000" dirty="0"/>
                  <a:t>L – Ids </a:t>
                </a:r>
                <a:r>
                  <a:rPr lang="ja-JP" altLang="en-US" sz="2000" dirty="0"/>
                  <a:t>グラフをとり、許容できるところを採用</a:t>
                </a:r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L</a:t>
                </a:r>
                <a:r>
                  <a:rPr lang="ja-JP" altLang="en-US" sz="2000" dirty="0"/>
                  <a:t>は通常、固定値を採用する（</a:t>
                </a:r>
                <a:r>
                  <a:rPr lang="en-US" altLang="ja-JP" sz="2000" dirty="0"/>
                  <a:t>W</a:t>
                </a:r>
                <a:r>
                  <a:rPr lang="ja-JP" altLang="en-US" sz="2000" dirty="0"/>
                  <a:t>と異なり、</a:t>
                </a:r>
                <a:r>
                  <a:rPr lang="en-US" altLang="ja-JP" sz="2000" dirty="0"/>
                  <a:t>L</a:t>
                </a:r>
                <a:r>
                  <a:rPr lang="ja-JP" altLang="en-US" sz="2000" dirty="0"/>
                  <a:t>の増減に対して</a:t>
                </a:r>
                <a:r>
                  <a:rPr lang="en-US" altLang="ja-JP" sz="2000" dirty="0"/>
                  <a:t>Ids</a:t>
                </a:r>
                <a:r>
                  <a:rPr lang="ja-JP" altLang="en-US" sz="2000" dirty="0"/>
                  <a:t>は比例しないため）</a:t>
                </a:r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W</a:t>
                </a:r>
                <a:r>
                  <a:rPr lang="ja-JP" altLang="en-US" sz="2000" dirty="0"/>
                  <a:t>については後で述べます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4D60AD8C-E4AD-F25B-6491-F38682A4E1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39"/>
                <a:ext cx="11210543" cy="4964351"/>
              </a:xfrm>
              <a:blipFill>
                <a:blip r:embed="rId2"/>
                <a:stretch>
                  <a:fillRect l="-4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F0D8CB75-16F4-C4F6-9965-442FA4455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124" y="3750178"/>
            <a:ext cx="3143794" cy="13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69867-4047-0FFE-E868-B87D6502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レイアウトの制約から</a:t>
            </a:r>
            <a:r>
              <a:rPr kumimoji="1" lang="en-US" altLang="ja-JP" dirty="0"/>
              <a:t>L</a:t>
            </a:r>
            <a:r>
              <a:rPr kumimoji="1" lang="ja-JP" altLang="en-US" dirty="0"/>
              <a:t>を決める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AC3D25-F559-7E72-67EB-3E30CB4D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8C2F0F-3EF5-859B-2D7A-4892DA12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5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3D965E3-DB1C-9874-589B-531A975AFE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IP62</a:t>
            </a:r>
            <a:r>
              <a:rPr kumimoji="1" lang="ja-JP" altLang="en-US" dirty="0"/>
              <a:t>シャトルの際、物理的（レイアウトの）設計方針として、以下を掲げた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シングル</a:t>
            </a:r>
            <a:r>
              <a:rPr lang="en-US" altLang="ja-JP" dirty="0"/>
              <a:t>VIA</a:t>
            </a:r>
            <a:r>
              <a:rPr kumimoji="1" lang="ja-JP" altLang="en-US" dirty="0"/>
              <a:t>はなるべく避け、</a:t>
            </a:r>
            <a:r>
              <a:rPr kumimoji="1" lang="en-US" altLang="ja-JP" dirty="0"/>
              <a:t>VIA2</a:t>
            </a:r>
            <a:r>
              <a:rPr kumimoji="1" lang="ja-JP" altLang="en-US" dirty="0"/>
              <a:t>個打ちを徹底する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ゲート長</a:t>
            </a:r>
            <a:r>
              <a:rPr kumimoji="1" lang="en-US" altLang="ja-JP" dirty="0"/>
              <a:t>L</a:t>
            </a:r>
            <a:r>
              <a:rPr kumimoji="1" lang="ja-JP" altLang="en-US" dirty="0"/>
              <a:t>は横方向に</a:t>
            </a:r>
            <a:r>
              <a:rPr kumimoji="1" lang="en-US" altLang="ja-JP" dirty="0"/>
              <a:t>2</a:t>
            </a:r>
            <a:r>
              <a:rPr kumimoji="1" lang="ja-JP" altLang="en-US" dirty="0"/>
              <a:t>個</a:t>
            </a:r>
            <a:r>
              <a:rPr kumimoji="1" lang="en-US" altLang="ja-JP" dirty="0"/>
              <a:t>VIA</a:t>
            </a:r>
            <a:r>
              <a:rPr kumimoji="1" lang="ja-JP" altLang="en-US" dirty="0"/>
              <a:t>が打てる長さ　かつ、</a:t>
            </a:r>
            <a:br>
              <a:rPr kumimoji="1" lang="en-US" altLang="ja-JP" dirty="0"/>
            </a:br>
            <a:r>
              <a:rPr kumimoji="1" lang="ja-JP" altLang="en-US" dirty="0"/>
              <a:t>メタル配線はゲート配線・ドレイン配線・ソース配線の最小間隔を確保できるものとする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メタル間配線はトランジスタ</a:t>
            </a:r>
            <a:r>
              <a:rPr kumimoji="1" lang="en-US" altLang="ja-JP" dirty="0"/>
              <a:t>W</a:t>
            </a:r>
            <a:r>
              <a:rPr kumimoji="1" lang="ja-JP" altLang="en-US" dirty="0"/>
              <a:t>方向に対して</a:t>
            </a:r>
            <a:r>
              <a:rPr kumimoji="1" lang="en-US" altLang="ja-JP" dirty="0"/>
              <a:t>2</a:t>
            </a:r>
            <a:r>
              <a:rPr kumimoji="1" lang="ja-JP" altLang="en-US" dirty="0"/>
              <a:t>個</a:t>
            </a:r>
            <a:r>
              <a:rPr lang="ja-JP" altLang="en-US" dirty="0"/>
              <a:t>以上</a:t>
            </a:r>
            <a:r>
              <a:rPr kumimoji="1" lang="en-US" altLang="ja-JP" dirty="0"/>
              <a:t>VIA</a:t>
            </a:r>
            <a:r>
              <a:rPr kumimoji="1" lang="ja-JP" altLang="en-US" dirty="0"/>
              <a:t>を打つこととする</a:t>
            </a:r>
            <a:r>
              <a:rPr kumimoji="1" lang="en-US" altLang="ja-JP" dirty="0"/>
              <a:t>(</a:t>
            </a:r>
            <a:r>
              <a:rPr kumimoji="1" lang="ja-JP" altLang="en-US" dirty="0"/>
              <a:t>最小Ｗ</a:t>
            </a:r>
            <a:r>
              <a:rPr kumimoji="1" lang="en-US" altLang="ja-JP" dirty="0"/>
              <a:t>)</a:t>
            </a:r>
            <a:endParaRPr kumimoji="1"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VIA</a:t>
            </a:r>
            <a:r>
              <a:rPr kumimoji="1" lang="ja-JP" altLang="en-US" dirty="0"/>
              <a:t>と</a:t>
            </a:r>
            <a:r>
              <a:rPr kumimoji="1" lang="en-US" altLang="ja-JP" dirty="0"/>
              <a:t>CONT</a:t>
            </a:r>
            <a:r>
              <a:rPr kumimoji="1" lang="ja-JP" altLang="en-US" dirty="0"/>
              <a:t>のスタックが禁止されているため、</a:t>
            </a:r>
            <a:br>
              <a:rPr kumimoji="1" lang="en-US" altLang="ja-JP" dirty="0"/>
            </a:br>
            <a:r>
              <a:rPr kumimoji="1" lang="ja-JP" altLang="en-US" dirty="0"/>
              <a:t>ゲート配線と拡散層配線は</a:t>
            </a:r>
            <a:r>
              <a:rPr kumimoji="1" lang="en-US" altLang="ja-JP" dirty="0"/>
              <a:t>V</a:t>
            </a:r>
            <a:r>
              <a:rPr kumimoji="1" lang="ja-JP" altLang="en-US" dirty="0"/>
              <a:t>方向に出し、</a:t>
            </a:r>
            <a:r>
              <a:rPr kumimoji="1" lang="en-US" altLang="ja-JP" dirty="0"/>
              <a:t>M2</a:t>
            </a:r>
            <a:r>
              <a:rPr kumimoji="1" lang="ja-JP" altLang="en-US" dirty="0"/>
              <a:t>は</a:t>
            </a:r>
            <a:r>
              <a:rPr kumimoji="1" lang="en-US" altLang="ja-JP" dirty="0"/>
              <a:t>H</a:t>
            </a:r>
            <a:r>
              <a:rPr kumimoji="1" lang="ja-JP" altLang="en-US" dirty="0"/>
              <a:t>方向</a:t>
            </a:r>
            <a:r>
              <a:rPr lang="ja-JP" altLang="en-US" dirty="0"/>
              <a:t>のみの網目配線</a:t>
            </a:r>
            <a:r>
              <a:rPr kumimoji="1" lang="ja-JP" altLang="en-US" dirty="0"/>
              <a:t>とする</a:t>
            </a:r>
          </a:p>
          <a:p>
            <a:r>
              <a:rPr kumimoji="1" lang="ja-JP" altLang="en-US" dirty="0"/>
              <a:t>上記条件を加味してレイアウトを描いたところ</a:t>
            </a:r>
            <a:r>
              <a:rPr kumimoji="1" lang="en-US" altLang="ja-JP" dirty="0"/>
              <a:t>L=7.8u</a:t>
            </a:r>
            <a:r>
              <a:rPr kumimoji="1" lang="ja-JP" altLang="en-US" dirty="0"/>
              <a:t>が最小長であることが判明</a:t>
            </a:r>
            <a:br>
              <a:rPr lang="en-US" altLang="ja-JP" dirty="0"/>
            </a:br>
            <a:r>
              <a:rPr lang="ja-JP" altLang="en-US" dirty="0"/>
              <a:t>Ｌは短ければ短いほど周波数特性的には良いため、</a:t>
            </a:r>
            <a:br>
              <a:rPr kumimoji="1" lang="en-US" altLang="ja-JP" dirty="0"/>
            </a:br>
            <a:r>
              <a:rPr kumimoji="1" lang="ja-JP" altLang="en-US" dirty="0"/>
              <a:t>キリの良い数字として</a:t>
            </a:r>
            <a:r>
              <a:rPr kumimoji="1" lang="en-US" altLang="ja-JP" dirty="0"/>
              <a:t>L=8u</a:t>
            </a:r>
            <a:r>
              <a:rPr kumimoji="1" lang="ja-JP" altLang="en-US" dirty="0"/>
              <a:t>とした。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99381E6-4D08-9086-2AA2-D8FEAC049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83" y="1371693"/>
            <a:ext cx="3583021" cy="445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2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D1D4-526C-8BAE-BCC9-1B04498F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4E3E861F-4DE7-6324-6516-61442F50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オペアンプ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E795D6-8FAB-0E7E-13B5-B8E99982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7676A0-7C69-CE60-85A6-32FDBDFC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6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C8B117C5-8B09-1591-7D2E-8C9F646945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サイズ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L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をどうやって決めるか？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チャネル長変調効果を受けずらい電流源を作る</a:t>
            </a:r>
            <a:r>
              <a:rPr lang="en-US" altLang="ja-JP" sz="2000" dirty="0"/>
              <a:t>	</a:t>
            </a:r>
            <a:r>
              <a:rPr lang="ja-JP" altLang="en-US" sz="2000" dirty="0"/>
              <a:t>：　カスコードカレントミラー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ゲインが低い問題を解決する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フォールデッドカスコードオペアンプ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入力電圧レンジを広くとる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rail-to-rail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出力電圧レンジも広くとる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AB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級バッファ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4243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425B98-2F41-8F2C-8161-5D0DF66B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チ</a:t>
            </a:r>
            <a:r>
              <a:rPr kumimoji="1" lang="ja-JP" altLang="en-US" dirty="0"/>
              <a:t>ャネル長変調効果が大きい時の対処法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7B6458-9E73-0EFF-2AF6-69EC985F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57A0D6-9221-6FCE-9448-FC082363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7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4769D19-3000-3814-301C-5D52A0AD9A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チャネル長効果が大きい場合はカスコードカレントミラーを構成することで対処可能</a:t>
            </a:r>
            <a:endParaRPr kumimoji="1" lang="en-US" altLang="ja-JP" sz="2000" dirty="0"/>
          </a:p>
          <a:p>
            <a:r>
              <a:rPr lang="en-US" altLang="ja-JP" sz="2000" dirty="0"/>
              <a:t>Pros </a:t>
            </a:r>
            <a:r>
              <a:rPr lang="ja-JP" altLang="en-US" sz="2000" dirty="0"/>
              <a:t>：　定電流性の増加</a:t>
            </a:r>
            <a:endParaRPr lang="en-US" altLang="ja-JP" sz="2000" dirty="0"/>
          </a:p>
          <a:p>
            <a:r>
              <a:rPr kumimoji="1" lang="en-US" altLang="ja-JP" sz="2000" dirty="0"/>
              <a:t>Cons</a:t>
            </a:r>
            <a:r>
              <a:rPr kumimoji="1" lang="ja-JP" altLang="en-US" sz="2000" dirty="0"/>
              <a:t>：　飽和領域で動作する最低電源電圧の増加</a:t>
            </a:r>
            <a:br>
              <a:rPr kumimoji="1" lang="en-US" altLang="ja-JP" sz="2000" dirty="0"/>
            </a:br>
            <a:r>
              <a:rPr kumimoji="1" lang="ja-JP" altLang="en-US" sz="2000" dirty="0"/>
              <a:t>　　　　　（低電圧動作が困難）</a:t>
            </a:r>
            <a:endParaRPr kumimoji="1" lang="en-US" altLang="ja-JP" sz="2000" dirty="0"/>
          </a:p>
          <a:p>
            <a:endParaRPr kumimoji="1" lang="ja-JP" altLang="en-US" sz="18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339B429-AD4B-AD43-7950-6D26C5AC4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1" y="1892062"/>
            <a:ext cx="5729914" cy="467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8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73690-6761-ABC1-B6AB-477CDF99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カスコードカレントミラー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C16098-42C5-3956-12B7-952ED819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91A25E-2FF1-6AA6-A330-16E7A469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8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39BF8A2-F6A2-8C01-112D-39D8551087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通常のカレントミラーと</a:t>
            </a:r>
            <a:r>
              <a:rPr lang="ja-JP" altLang="en-US" sz="2000" dirty="0"/>
              <a:t>低電圧</a:t>
            </a:r>
            <a:r>
              <a:rPr kumimoji="1" lang="ja-JP" altLang="en-US" sz="2000" dirty="0"/>
              <a:t>カスコードカレントミラーとを比較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9770501-9AE1-9B77-BB1B-0133ABEF7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541" y="1978983"/>
            <a:ext cx="7318918" cy="456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5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B3DC4-AB20-DC5C-4C0B-A4927DFD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カスコードカレントミラー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A93556-BE72-F889-DA03-EE0F85DC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043CCB-C46B-FB08-8069-EE833DDB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9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16C6070-732A-20F0-98F8-96B8358D15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カスコードカレントミラーのほうが明らかに定電流性がよい！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A4D0A90-58B2-546F-3EA7-42896D49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378" y="2249048"/>
            <a:ext cx="4116311" cy="372898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BFBED2F-5DF4-F41C-6D75-C6F5990EC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94" y="2249047"/>
            <a:ext cx="4096630" cy="372898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52AEC3-21B6-EED7-47F0-0EC143169956}"/>
              </a:ext>
            </a:extLst>
          </p:cNvPr>
          <p:cNvSpPr txBox="1"/>
          <p:nvPr/>
        </p:nvSpPr>
        <p:spPr>
          <a:xfrm>
            <a:off x="984994" y="6058059"/>
            <a:ext cx="4096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dirty="0"/>
              <a:t>通常カレントミラー（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段）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60B27A-4D30-515A-00A0-DFA52BB09F96}"/>
              </a:ext>
            </a:extLst>
          </p:cNvPr>
          <p:cNvSpPr txBox="1"/>
          <p:nvPr/>
        </p:nvSpPr>
        <p:spPr>
          <a:xfrm>
            <a:off x="7110376" y="6058059"/>
            <a:ext cx="4096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dirty="0"/>
              <a:t>カスコードカレントミラー（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段）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870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3FF2C-D2AF-63B7-CEA7-4555EAD1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カスコードカレントミラー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31D5E3-4B0D-F4FA-3596-DCB680B3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661304-7921-4DA6-075D-3B23FDFF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10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60C8FD0-8032-7AE9-094C-09770F9271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カスコードカレントミラーでは内側の</a:t>
            </a:r>
            <a:r>
              <a:rPr kumimoji="1" lang="en-US" altLang="ja-JP" sz="2000" dirty="0"/>
              <a:t>MOSFET</a:t>
            </a:r>
            <a:r>
              <a:rPr kumimoji="1" lang="ja-JP" altLang="en-US" sz="2000" dirty="0"/>
              <a:t>を犠牲にして、電源側の</a:t>
            </a:r>
            <a:r>
              <a:rPr kumimoji="1" lang="en-US" altLang="ja-JP" sz="2000" dirty="0" err="1"/>
              <a:t>Vds</a:t>
            </a:r>
            <a:r>
              <a:rPr kumimoji="1" lang="ja-JP" altLang="en-US" sz="2000" dirty="0"/>
              <a:t>を一定にしようとする</a:t>
            </a:r>
            <a:br>
              <a:rPr lang="en-US" altLang="ja-JP" sz="2000" dirty="0"/>
            </a:br>
            <a:r>
              <a:rPr lang="ja-JP" altLang="en-US" sz="2000" dirty="0"/>
              <a:t>→下側の</a:t>
            </a:r>
            <a:r>
              <a:rPr lang="en-US" altLang="ja-JP" sz="2000" dirty="0" err="1"/>
              <a:t>Vds</a:t>
            </a:r>
            <a:r>
              <a:rPr lang="ja-JP" altLang="en-US" sz="2000" dirty="0"/>
              <a:t>が電源変動に対し一定であれば、チャネル長変調効果を受けず、定電流性は担保される！</a:t>
            </a:r>
            <a:endParaRPr kumimoji="1" lang="ja-JP" altLang="en-US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8D5D129-089D-D644-9DEF-C4A451F99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239" y="3429000"/>
            <a:ext cx="3442120" cy="309291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B022C8A-D4EC-8D70-5CC1-DB2E517A4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121" y="3429000"/>
            <a:ext cx="2150011" cy="3092919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8ED3753-75C9-78B7-F3C1-978A9D6B5A5B}"/>
              </a:ext>
            </a:extLst>
          </p:cNvPr>
          <p:cNvCxnSpPr>
            <a:cxnSpLocks/>
          </p:cNvCxnSpPr>
          <p:nvPr/>
        </p:nvCxnSpPr>
        <p:spPr>
          <a:xfrm>
            <a:off x="4406537" y="4967439"/>
            <a:ext cx="117270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71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8B7EC-2E9C-C38C-6D0D-09FC4EC2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低電圧カスコードカレントミラーが動作する条件とバイアス電圧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20838C-0FE2-21D4-EF6A-FDBE8711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42FD0C-49D6-55E6-09F5-3AAF13E1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11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0048908-722A-8943-48DF-50EE557F016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2000" dirty="0"/>
                  <a:t>カレントミラーが動作する条件は　飽和領域　で動作すること</a:t>
                </a:r>
                <a:endParaRPr kumimoji="1"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2000" dirty="0"/>
                  <a:t>カスコードカレントミラーが　飽和領域　で動作するには</a:t>
                </a:r>
                <a:r>
                  <a:rPr lang="en-US" altLang="ja-JP" sz="2000" dirty="0"/>
                  <a:t>…</a:t>
                </a:r>
                <a:r>
                  <a:rPr lang="ja-JP" altLang="en-US" sz="2000" dirty="0"/>
                  <a:t>　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2000" dirty="0">
                        <a:solidFill>
                          <a:srgbClr val="464646"/>
                        </a:solidFill>
                      </a:rPr>
                      <m:t>(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m:rPr>
                        <m:nor/>
                      </m:rPr>
                      <a:rPr lang="en-US" altLang="ja-JP" sz="2000" dirty="0">
                        <a:solidFill>
                          <a:srgbClr val="464646"/>
                        </a:solidFill>
                      </a:rPr>
                      <m:t>)</m:t>
                    </m:r>
                  </m:oMath>
                </a14:m>
                <a:r>
                  <a:rPr lang="ja-JP" altLang="en-US" sz="2000" dirty="0"/>
                  <a:t>　</a:t>
                </a:r>
                <a:r>
                  <a:rPr lang="en-US" altLang="ja-JP" sz="2000" dirty="0"/>
                  <a:t>※XMB0,2</a:t>
                </a:r>
                <a:r>
                  <a:rPr lang="ja-JP" altLang="en-US" sz="2000" dirty="0"/>
                  <a:t>も飽和で動かす</a:t>
                </a:r>
                <a:endParaRPr lang="en-US" altLang="ja-JP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ja-JP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ja-JP" sz="2000" b="1" dirty="0">
                    <a:solidFill>
                      <a:srgbClr val="FF0000"/>
                    </a:solidFill>
                  </a:rPr>
                  <a:t>4</a:t>
                </a:r>
                <a:r>
                  <a:rPr lang="ja-JP" altLang="en-US" sz="2000" b="1" dirty="0">
                    <a:solidFill>
                      <a:srgbClr val="FF0000"/>
                    </a:solidFill>
                  </a:rPr>
                  <a:t>個の</a:t>
                </a:r>
                <a:r>
                  <a:rPr lang="en-US" altLang="ja-JP" sz="2000" b="1" dirty="0">
                    <a:solidFill>
                      <a:srgbClr val="FF0000"/>
                    </a:solidFill>
                  </a:rPr>
                  <a:t>Tr</a:t>
                </a:r>
                <a:r>
                  <a:rPr lang="ja-JP" altLang="en-US" sz="2000" b="1" dirty="0">
                    <a:solidFill>
                      <a:srgbClr val="FF0000"/>
                    </a:solidFill>
                  </a:rPr>
                  <a:t>が飽和領域で動くようにうまいことバイアス電圧を作る</a:t>
                </a:r>
                <a:endParaRPr lang="en-US" altLang="ja-JP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ja-JP" altLang="en-US" sz="2000" dirty="0">
                    <a:solidFill>
                      <a:srgbClr val="464646"/>
                    </a:solidFill>
                  </a:rPr>
                  <a:t>今回は低電圧カスコードカレントミラーとよばれる方式を採用</a:t>
                </a:r>
                <a:endParaRPr lang="en-US" altLang="ja-JP" sz="2000" dirty="0">
                  <a:solidFill>
                    <a:srgbClr val="464646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ja-JP" altLang="en-US" sz="2000" dirty="0"/>
                  <a:t>バイアス電圧</a:t>
                </a:r>
                <a:r>
                  <a:rPr lang="en-US" altLang="ja-JP" sz="2000" dirty="0"/>
                  <a:t>BNO</a:t>
                </a:r>
                <a:r>
                  <a:rPr lang="ja-JP" altLang="en-US" sz="2000" dirty="0"/>
                  <a:t>は流したい電流に対してダイオード接続をして生成</a:t>
                </a:r>
                <a:br>
                  <a:rPr lang="en-US" altLang="ja-JP" sz="2000" dirty="0">
                    <a:solidFill>
                      <a:srgbClr val="464646"/>
                    </a:solidFill>
                  </a:rPr>
                </a:br>
                <a:r>
                  <a:rPr lang="ja-JP" altLang="en-US" sz="2000" dirty="0">
                    <a:solidFill>
                      <a:srgbClr val="464646"/>
                    </a:solidFill>
                  </a:rPr>
                  <a:t>ではバイアス電圧</a:t>
                </a:r>
                <a:r>
                  <a:rPr lang="en-US" altLang="ja-JP" sz="2000" dirty="0">
                    <a:solidFill>
                      <a:srgbClr val="464646"/>
                    </a:solidFill>
                  </a:rPr>
                  <a:t>BNI</a:t>
                </a:r>
                <a:r>
                  <a:rPr lang="ja-JP" altLang="en-US" sz="2000" dirty="0">
                    <a:solidFill>
                      <a:srgbClr val="464646"/>
                    </a:solidFill>
                  </a:rPr>
                  <a:t>はどう設定すればよいか？</a:t>
                </a:r>
                <a:endParaRPr lang="en-US" altLang="ja-JP" sz="2000" dirty="0">
                  <a:solidFill>
                    <a:srgbClr val="46464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ja-JP" altLang="en-US" sz="2000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0048908-722A-8943-48DF-50EE557F01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489" t="-662" r="-3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D39D2590-E192-8F88-693B-B7CA10F6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2570898"/>
            <a:ext cx="3303523" cy="3856494"/>
          </a:xfrm>
          <a:prstGeom prst="rect">
            <a:avLst/>
          </a:prstGeom>
        </p:spPr>
      </p:pic>
      <p:sp>
        <p:nvSpPr>
          <p:cNvPr id="13" name="矢印: 上向き折線 12">
            <a:extLst>
              <a:ext uri="{FF2B5EF4-FFF2-40B4-BE49-F238E27FC236}">
                <a16:creationId xmlns:a16="http://schemas.microsoft.com/office/drawing/2014/main" id="{531B975B-7C27-7AC6-C659-B13298757650}"/>
              </a:ext>
            </a:extLst>
          </p:cNvPr>
          <p:cNvSpPr/>
          <p:nvPr/>
        </p:nvSpPr>
        <p:spPr>
          <a:xfrm flipH="1">
            <a:off x="10177013" y="5251269"/>
            <a:ext cx="237226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3737767C-0366-001B-623F-3D4307DB4A26}"/>
                  </a:ext>
                </a:extLst>
              </p:cNvPr>
              <p:cNvSpPr txBox="1"/>
              <p:nvPr/>
            </p:nvSpPr>
            <p:spPr>
              <a:xfrm>
                <a:off x="9902693" y="5432387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3737767C-0366-001B-623F-3D4307DB4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693" y="5432387"/>
                <a:ext cx="548640" cy="369332"/>
              </a:xfrm>
              <a:prstGeom prst="rect">
                <a:avLst/>
              </a:prstGeom>
              <a:blipFill>
                <a:blip r:embed="rId4"/>
                <a:stretch>
                  <a:fillRect r="-2222"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8F7090B-BC8D-2C45-2BD4-7DB272A5DB9A}"/>
                  </a:ext>
                </a:extLst>
              </p:cNvPr>
              <p:cNvSpPr txBox="1"/>
              <p:nvPr/>
            </p:nvSpPr>
            <p:spPr>
              <a:xfrm>
                <a:off x="9902693" y="4578621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8F7090B-BC8D-2C45-2BD4-7DB272A5D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693" y="4578621"/>
                <a:ext cx="548640" cy="369332"/>
              </a:xfrm>
              <a:prstGeom prst="rect">
                <a:avLst/>
              </a:prstGeom>
              <a:blipFill>
                <a:blip r:embed="rId5"/>
                <a:stretch>
                  <a:fillRect r="-12222"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矢印: 上向き折線 16">
            <a:extLst>
              <a:ext uri="{FF2B5EF4-FFF2-40B4-BE49-F238E27FC236}">
                <a16:creationId xmlns:a16="http://schemas.microsoft.com/office/drawing/2014/main" id="{F0D9C9F5-2DAB-3126-D5D2-1C6E94172625}"/>
              </a:ext>
            </a:extLst>
          </p:cNvPr>
          <p:cNvSpPr/>
          <p:nvPr/>
        </p:nvSpPr>
        <p:spPr>
          <a:xfrm rot="5400000" flipH="1">
            <a:off x="10224910" y="4863587"/>
            <a:ext cx="237226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8" name="矢印: 上向き折線 17">
            <a:extLst>
              <a:ext uri="{FF2B5EF4-FFF2-40B4-BE49-F238E27FC236}">
                <a16:creationId xmlns:a16="http://schemas.microsoft.com/office/drawing/2014/main" id="{BF862F33-2C33-7245-BAC2-980D9BC688EC}"/>
              </a:ext>
            </a:extLst>
          </p:cNvPr>
          <p:cNvSpPr/>
          <p:nvPr/>
        </p:nvSpPr>
        <p:spPr>
          <a:xfrm flipH="1">
            <a:off x="10199832" y="4014172"/>
            <a:ext cx="237226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914F38F-A8F9-CAA4-9DBF-857C48509500}"/>
                  </a:ext>
                </a:extLst>
              </p:cNvPr>
              <p:cNvSpPr txBox="1"/>
              <p:nvPr/>
            </p:nvSpPr>
            <p:spPr>
              <a:xfrm>
                <a:off x="9925512" y="4195290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914F38F-A8F9-CAA4-9DBF-857C48509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512" y="4195290"/>
                <a:ext cx="548640" cy="369332"/>
              </a:xfrm>
              <a:prstGeom prst="rect">
                <a:avLst/>
              </a:prstGeom>
              <a:blipFill>
                <a:blip r:embed="rId6"/>
                <a:stretch>
                  <a:fillRect r="-2222"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09CBF5C-4FD1-9065-91F3-3C752CC43ACA}"/>
                  </a:ext>
                </a:extLst>
              </p:cNvPr>
              <p:cNvSpPr txBox="1"/>
              <p:nvPr/>
            </p:nvSpPr>
            <p:spPr>
              <a:xfrm>
                <a:off x="9902693" y="3311696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09CBF5C-4FD1-9065-91F3-3C752CC43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693" y="3311696"/>
                <a:ext cx="548640" cy="369332"/>
              </a:xfrm>
              <a:prstGeom prst="rect">
                <a:avLst/>
              </a:prstGeom>
              <a:blipFill>
                <a:blip r:embed="rId7"/>
                <a:stretch>
                  <a:fillRect r="-12222"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矢印: 上向き折線 20">
            <a:extLst>
              <a:ext uri="{FF2B5EF4-FFF2-40B4-BE49-F238E27FC236}">
                <a16:creationId xmlns:a16="http://schemas.microsoft.com/office/drawing/2014/main" id="{0026D1D3-A932-AB07-882F-C07E195B2B89}"/>
              </a:ext>
            </a:extLst>
          </p:cNvPr>
          <p:cNvSpPr/>
          <p:nvPr/>
        </p:nvSpPr>
        <p:spPr>
          <a:xfrm rot="5400000" flipH="1">
            <a:off x="10224910" y="3596662"/>
            <a:ext cx="237226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7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2FF9-7EEA-2AFA-2EE6-4FB6870A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CE467B-F61E-FCF3-2306-8C50135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低電圧カスコードカレントミラーが動作する条件とバイアス電圧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C90B1A7-8A84-4E76-360D-64C9EC1D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51CC47-4F19-B14B-2D0F-0373F843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12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EA63F32-8644-810B-A8A9-B6482157763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39"/>
                <a:ext cx="7806871" cy="4934121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XMB1</a:t>
                </a:r>
                <a:r>
                  <a:rPr lang="ja-JP" altLang="en-US" sz="2000" dirty="0"/>
                  <a:t>が飽和領域で動くには</a:t>
                </a:r>
                <a:r>
                  <a:rPr lang="en-US" altLang="ja-JP" sz="2000" dirty="0"/>
                  <a:t>…</a:t>
                </a:r>
                <a:r>
                  <a:rPr lang="en-US" altLang="ja-JP" sz="2000" dirty="0">
                    <a:solidFill>
                      <a:srgbClr val="464646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𝑔𝑠</m:t>
                        </m:r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XMB0</a:t>
                </a:r>
                <a:r>
                  <a:rPr lang="ja-JP" altLang="en-US" sz="2000" dirty="0"/>
                  <a:t>が飽和領域で動くには</a:t>
                </a:r>
                <a:r>
                  <a:rPr lang="en-US" altLang="ja-JP" sz="2000" dirty="0"/>
                  <a:t>…</a:t>
                </a:r>
                <a:r>
                  <a:rPr lang="en-US" altLang="ja-JP" sz="2000" dirty="0">
                    <a:solidFill>
                      <a:srgbClr val="464646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𝑔𝑠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en-US" altLang="ja-JP" sz="2000" dirty="0">
                  <a:solidFill>
                    <a:srgbClr val="46464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2000" dirty="0">
                    <a:solidFill>
                      <a:srgbClr val="464646"/>
                    </a:solidFill>
                  </a:rPr>
                  <a:t>XMB1</a:t>
                </a:r>
                <a:r>
                  <a:rPr lang="ja-JP" altLang="en-US" sz="2000" dirty="0">
                    <a:solidFill>
                      <a:srgbClr val="464646"/>
                    </a:solidFill>
                  </a:rPr>
                  <a:t>側から見た</a:t>
                </a:r>
                <a:r>
                  <a:rPr lang="en-US" altLang="ja-JP" sz="2000" dirty="0">
                    <a:solidFill>
                      <a:srgbClr val="464646"/>
                    </a:solidFill>
                  </a:rPr>
                  <a:t>BNI</a:t>
                </a:r>
                <a:r>
                  <a:rPr lang="ja-JP" altLang="en-US" sz="2000" dirty="0">
                    <a:solidFill>
                      <a:srgbClr val="464646"/>
                    </a:solidFill>
                  </a:rPr>
                  <a:t>　</a:t>
                </a:r>
                <a:r>
                  <a:rPr lang="en-US" altLang="ja-JP" sz="2000" dirty="0">
                    <a:solidFill>
                      <a:srgbClr val="464646"/>
                    </a:solidFill>
                  </a:rPr>
                  <a:t>≥</a:t>
                </a:r>
                <a:r>
                  <a:rPr lang="ja-JP" altLang="en-US" sz="2000" dirty="0">
                    <a:solidFill>
                      <a:srgbClr val="464646"/>
                    </a:solidFill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𝑔𝑠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𝑔𝑠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en-US" altLang="ja-JP" sz="2000" dirty="0">
                  <a:solidFill>
                    <a:srgbClr val="46464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XMB0</a:t>
                </a:r>
                <a:r>
                  <a:rPr lang="ja-JP" altLang="en-US" sz="2000" dirty="0"/>
                  <a:t>のドレインは</a:t>
                </a:r>
                <a:r>
                  <a:rPr lang="en-US" altLang="ja-JP" sz="2000" dirty="0"/>
                  <a:t>Vgs1</a:t>
                </a:r>
                <a:r>
                  <a:rPr lang="ja-JP" altLang="en-US" sz="2000" dirty="0"/>
                  <a:t>だから </a:t>
                </a:r>
                <a:r>
                  <a:rPr lang="en-US" altLang="ja-JP" sz="2000" dirty="0"/>
                  <a:t>BNI </a:t>
                </a:r>
                <a:r>
                  <a:rPr lang="ja-JP" altLang="en-US" sz="2000" dirty="0"/>
                  <a:t>≤</a:t>
                </a:r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𝑔𝑠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sz="2000" b="0" i="0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en-US" altLang="ja-JP" sz="20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2000" dirty="0"/>
                  <a:t>以上より、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m:rPr>
                        <m:nor/>
                      </m:rPr>
                      <a:rPr lang="en-US" altLang="ja-JP" sz="2000" b="0" i="0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ja-JP" sz="2000" dirty="0">
                        <a:solidFill>
                          <a:srgbClr val="464646"/>
                        </a:solidFill>
                      </a:rPr>
                      <m:t>≥</m:t>
                    </m:r>
                    <m:r>
                      <a:rPr lang="en-US" altLang="ja-JP" sz="2000" b="0" i="1" dirty="0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ja-JP" sz="2000" b="0" i="0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BNI</m:t>
                    </m:r>
                    <m:r>
                      <m:rPr>
                        <m:nor/>
                      </m:rPr>
                      <a:rPr lang="en-US" altLang="ja-JP" sz="2000" b="0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ja-JP" sz="2000" dirty="0">
                        <a:solidFill>
                          <a:srgbClr val="464646"/>
                        </a:solidFill>
                      </a:rPr>
                      <m:t>≥</m:t>
                    </m:r>
                    <m:r>
                      <m:rPr>
                        <m:nor/>
                      </m:rPr>
                      <a:rPr lang="en-US" altLang="ja-JP" sz="2000" b="0" i="0" dirty="0" smtClean="0">
                        <a:solidFill>
                          <a:srgbClr val="464646"/>
                        </a:solidFill>
                      </a:rPr>
                      <m:t> </m:t>
                    </m:r>
                    <m:r>
                      <a:rPr lang="en-US" altLang="ja-JP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endParaRPr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2000" dirty="0"/>
                  <a:t>右側コピー側のカスコードカレントミラーが動く最低入力電圧は</a:t>
                </a:r>
                <a:endParaRPr lang="en-US" altLang="ja-JP" sz="20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ja-JP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000" dirty="0"/>
                  <a:t>= 1</a:t>
                </a:r>
                <a:r>
                  <a:rPr lang="ja-JP" altLang="en-US" sz="2000" dirty="0"/>
                  <a:t>段の場合の</a:t>
                </a:r>
                <a:r>
                  <a:rPr lang="en-US" altLang="ja-JP" sz="2000" dirty="0"/>
                  <a:t>2</a:t>
                </a:r>
                <a:r>
                  <a:rPr lang="ja-JP" altLang="en-US" sz="2000" dirty="0"/>
                  <a:t>倍の電圧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EA63F32-8644-810B-A8A9-B648215776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39"/>
                <a:ext cx="7806871" cy="4934121"/>
              </a:xfrm>
              <a:blipFill>
                <a:blip r:embed="rId2"/>
                <a:stretch>
                  <a:fillRect l="-703" t="-8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591A3EF5-E20C-43C0-0169-B1DA98872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1" y="1493271"/>
            <a:ext cx="4226632" cy="49341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293179E1-E3A3-0C35-2A8E-52D987319458}"/>
                  </a:ext>
                </a:extLst>
              </p:cNvPr>
              <p:cNvSpPr txBox="1"/>
              <p:nvPr/>
            </p:nvSpPr>
            <p:spPr>
              <a:xfrm>
                <a:off x="9657806" y="435317"/>
                <a:ext cx="19972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ja-JP" sz="1800" dirty="0" smtClean="0">
                        <a:solidFill>
                          <a:srgbClr val="464646"/>
                        </a:solidFill>
                      </a:rPr>
                      <m:t>(</m:t>
                    </m:r>
                    <m:sSub>
                      <m:sSubPr>
                        <m:ctrlP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altLang="ja-JP" sz="18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ja-JP" sz="18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18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m:rPr>
                        <m:nor/>
                      </m:rPr>
                      <a:rPr lang="en-US" altLang="ja-JP" sz="1800" dirty="0">
                        <a:solidFill>
                          <a:srgbClr val="464646"/>
                        </a:solidFill>
                      </a:rPr>
                      <m:t>)</m:t>
                    </m:r>
                  </m:oMath>
                </a14:m>
                <a:r>
                  <a:rPr lang="ja-JP" altLang="en-US" sz="1800" dirty="0"/>
                  <a:t>　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293179E1-E3A3-0C35-2A8E-52D987319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7806" y="435317"/>
                <a:ext cx="1997237" cy="369332"/>
              </a:xfrm>
              <a:prstGeom prst="rect">
                <a:avLst/>
              </a:prstGeom>
              <a:blipFill>
                <a:blip r:embed="rId4"/>
                <a:stretch>
                  <a:fillRect l="-610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矢印: 上向き折線 10">
            <a:extLst>
              <a:ext uri="{FF2B5EF4-FFF2-40B4-BE49-F238E27FC236}">
                <a16:creationId xmlns:a16="http://schemas.microsoft.com/office/drawing/2014/main" id="{32B875CF-9C7B-8FB9-4934-F83BB3690BDD}"/>
              </a:ext>
            </a:extLst>
          </p:cNvPr>
          <p:cNvSpPr/>
          <p:nvPr/>
        </p:nvSpPr>
        <p:spPr>
          <a:xfrm>
            <a:off x="8683492" y="4998945"/>
            <a:ext cx="274321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491DB1E-C35A-A007-0A93-EFAEE0CCEB98}"/>
                  </a:ext>
                </a:extLst>
              </p:cNvPr>
              <p:cNvSpPr txBox="1"/>
              <p:nvPr/>
            </p:nvSpPr>
            <p:spPr>
              <a:xfrm>
                <a:off x="8613825" y="5251519"/>
                <a:ext cx="54864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𝑔𝑠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491DB1E-C35A-A007-0A93-EFAEE0CCE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25" y="5251519"/>
                <a:ext cx="548640" cy="391902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矢印: 上向き折線 21">
            <a:extLst>
              <a:ext uri="{FF2B5EF4-FFF2-40B4-BE49-F238E27FC236}">
                <a16:creationId xmlns:a16="http://schemas.microsoft.com/office/drawing/2014/main" id="{884903FD-7DE5-C3AA-F46B-49324A520CD6}"/>
              </a:ext>
            </a:extLst>
          </p:cNvPr>
          <p:cNvSpPr/>
          <p:nvPr/>
        </p:nvSpPr>
        <p:spPr>
          <a:xfrm rot="16200000">
            <a:off x="8683492" y="4482982"/>
            <a:ext cx="274321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1E2C0CF1-7C21-926D-F49C-5C42E3075076}"/>
                  </a:ext>
                </a:extLst>
              </p:cNvPr>
              <p:cNvSpPr txBox="1"/>
              <p:nvPr/>
            </p:nvSpPr>
            <p:spPr>
              <a:xfrm>
                <a:off x="8613825" y="4120180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1E2C0CF1-7C21-926D-F49C-5C42E3075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25" y="4120180"/>
                <a:ext cx="548640" cy="369332"/>
              </a:xfrm>
              <a:prstGeom prst="rect">
                <a:avLst/>
              </a:prstGeom>
              <a:blipFill>
                <a:blip r:embed="rId6"/>
                <a:stretch>
                  <a:fillRect r="-28889" b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矢印: 上向き折線 23">
            <a:extLst>
              <a:ext uri="{FF2B5EF4-FFF2-40B4-BE49-F238E27FC236}">
                <a16:creationId xmlns:a16="http://schemas.microsoft.com/office/drawing/2014/main" id="{50981271-B90B-1550-FE31-1E43EA7C2C6F}"/>
              </a:ext>
            </a:extLst>
          </p:cNvPr>
          <p:cNvSpPr/>
          <p:nvPr/>
        </p:nvSpPr>
        <p:spPr>
          <a:xfrm>
            <a:off x="8683492" y="3339239"/>
            <a:ext cx="274321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E6D65B0-9706-7EBB-BBBE-A3F06564918B}"/>
                  </a:ext>
                </a:extLst>
              </p:cNvPr>
              <p:cNvSpPr txBox="1"/>
              <p:nvPr/>
            </p:nvSpPr>
            <p:spPr>
              <a:xfrm>
                <a:off x="8613825" y="3591813"/>
                <a:ext cx="54864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𝑔𝑠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E6D65B0-9706-7EBB-BBBE-A3F06564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25" y="3591813"/>
                <a:ext cx="548640" cy="391902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矢印: 上向き折線 25">
            <a:extLst>
              <a:ext uri="{FF2B5EF4-FFF2-40B4-BE49-F238E27FC236}">
                <a16:creationId xmlns:a16="http://schemas.microsoft.com/office/drawing/2014/main" id="{F3AA2834-EF55-B929-8BA5-4A54A4FDB974}"/>
              </a:ext>
            </a:extLst>
          </p:cNvPr>
          <p:cNvSpPr/>
          <p:nvPr/>
        </p:nvSpPr>
        <p:spPr>
          <a:xfrm rot="16200000">
            <a:off x="8683492" y="2823276"/>
            <a:ext cx="274321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5ADD51EB-9234-B09F-3F0E-F21B3E96BA42}"/>
                  </a:ext>
                </a:extLst>
              </p:cNvPr>
              <p:cNvSpPr txBox="1"/>
              <p:nvPr/>
            </p:nvSpPr>
            <p:spPr>
              <a:xfrm>
                <a:off x="8613825" y="2460474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5ADD51EB-9234-B09F-3F0E-F21B3E96B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25" y="2460474"/>
                <a:ext cx="548640" cy="369332"/>
              </a:xfrm>
              <a:prstGeom prst="rect">
                <a:avLst/>
              </a:prstGeom>
              <a:blipFill>
                <a:blip r:embed="rId8"/>
                <a:stretch>
                  <a:fillRect r="-28889" b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3EF65323-A445-22FD-ACC4-DE9B584EF7BC}"/>
                  </a:ext>
                </a:extLst>
              </p:cNvPr>
              <p:cNvSpPr txBox="1"/>
              <p:nvPr/>
            </p:nvSpPr>
            <p:spPr>
              <a:xfrm>
                <a:off x="9940751" y="2460474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3EF65323-A445-22FD-ACC4-DE9B584EF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751" y="2460474"/>
                <a:ext cx="548640" cy="369332"/>
              </a:xfrm>
              <a:prstGeom prst="rect">
                <a:avLst/>
              </a:prstGeom>
              <a:blipFill>
                <a:blip r:embed="rId9"/>
                <a:stretch>
                  <a:fillRect r="-28889" b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矢印: 上向き折線 31">
            <a:extLst>
              <a:ext uri="{FF2B5EF4-FFF2-40B4-BE49-F238E27FC236}">
                <a16:creationId xmlns:a16="http://schemas.microsoft.com/office/drawing/2014/main" id="{9495385B-ADA2-3AD6-241A-DECB994D1BCC}"/>
              </a:ext>
            </a:extLst>
          </p:cNvPr>
          <p:cNvSpPr/>
          <p:nvPr/>
        </p:nvSpPr>
        <p:spPr>
          <a:xfrm rot="5400000" flipH="1">
            <a:off x="10297802" y="2841824"/>
            <a:ext cx="237226" cy="287382"/>
          </a:xfrm>
          <a:prstGeom prst="bentUpArrow">
            <a:avLst>
              <a:gd name="adj1" fmla="val 9375"/>
              <a:gd name="adj2" fmla="val 15625"/>
              <a:gd name="adj3" fmla="val 2031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AEA09CA-3418-28F8-8979-EC83ADB5B8C5}"/>
                  </a:ext>
                </a:extLst>
              </p:cNvPr>
              <p:cNvSpPr txBox="1"/>
              <p:nvPr/>
            </p:nvSpPr>
            <p:spPr>
              <a:xfrm>
                <a:off x="8888145" y="2225363"/>
                <a:ext cx="54864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𝑔𝑠</m:t>
                          </m:r>
                          <m:r>
                            <a:rPr lang="en-US" altLang="ja-JP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AEA09CA-3418-28F8-8979-EC83ADB5B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145" y="2225363"/>
                <a:ext cx="548640" cy="391902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3CC18BC1-8235-7FBA-5AAA-6F4269DCA271}"/>
              </a:ext>
            </a:extLst>
          </p:cNvPr>
          <p:cNvCxnSpPr>
            <a:stCxn id="33" idx="1"/>
          </p:cNvCxnSpPr>
          <p:nvPr/>
        </p:nvCxnSpPr>
        <p:spPr>
          <a:xfrm flipH="1">
            <a:off x="8525692" y="2421314"/>
            <a:ext cx="362453" cy="22382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277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C892D49-CBF0-07A3-7E37-EA174CD8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410" y="4921127"/>
            <a:ext cx="1532690" cy="16442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E3125D12-CE98-4170-1BEA-1E12CDE669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バイアス電圧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ja-JP" altLang="en-US" dirty="0"/>
                  <a:t>を作るには</a:t>
                </a:r>
                <a:r>
                  <a:rPr lang="en-US" altLang="ja-JP" dirty="0"/>
                  <a:t>…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E3125D12-CE98-4170-1BEA-1E12CDE66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142" t="-13187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AD30A02-D73E-01D2-3BF5-23AFFBC5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0E2A01-C8CC-A0FD-0637-32BAD6B0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13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D82B29E2-1351-229F-2259-390E6601726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𝐺𝑆</m:t>
                                    </m:r>
                                  </m:sub>
                                </m:sSub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ja-JP" sz="2000" dirty="0"/>
                  <a:t> </a:t>
                </a:r>
                <a:r>
                  <a:rPr kumimoji="1" lang="ja-JP" altLang="en-US" sz="2000" dirty="0"/>
                  <a:t>ただし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</m:oMath>
                </a14:m>
                <a:endParaRPr kumimoji="1"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2000" dirty="0"/>
                  <a:t>ここで、</a:t>
                </a:r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𝐷𝑆𝑠𝑎𝑡</m:t>
                        </m:r>
                      </m:sub>
                    </m:sSub>
                    <m:r>
                      <a:rPr lang="en-US" altLang="ja-JP" sz="200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kumimoji="1" lang="ja-JP" altLang="en-US" sz="2000" dirty="0"/>
                  <a:t>入れてみると</a:t>
                </a:r>
                <a:r>
                  <a:rPr kumimoji="1" lang="en-US" altLang="ja-JP" sz="2000" dirty="0"/>
                  <a:t>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solidFill>
                                      <a:srgbClr val="46464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ja-JP" sz="2000" i="1">
                                        <a:solidFill>
                                          <a:srgbClr val="46464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000" i="1">
                                        <a:solidFill>
                                          <a:srgbClr val="46464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ja-JP" sz="2000" i="1">
                                        <a:solidFill>
                                          <a:srgbClr val="46464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𝐷𝑆𝑠𝑎𝑡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𝐷𝑆𝑠𝑎𝑡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sSub>
                      <m:sSubPr>
                        <m:ctrlP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𝒓𝒆𝒇</m:t>
                        </m:r>
                      </m:sub>
                    </m:sSub>
                  </m:oMath>
                </a14:m>
                <a:endParaRPr kumimoji="1" lang="en-US" altLang="ja-JP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2000" dirty="0"/>
                  <a:t>最低でも </a:t>
                </a:r>
                <a:r>
                  <a:rPr kumimoji="1" lang="en-US" altLang="ja-JP" sz="2000" dirty="0"/>
                  <a:t>4</a:t>
                </a:r>
                <a:r>
                  <a:rPr kumimoji="1" lang="ja-JP" altLang="en-US" sz="2000" dirty="0"/>
                  <a:t>倍流せばよい！　（</a:t>
                </a:r>
                <a:r>
                  <a:rPr kumimoji="1" lang="en-US" altLang="ja-JP" sz="2000" dirty="0"/>
                  <a:t>4</a:t>
                </a:r>
                <a:r>
                  <a:rPr kumimoji="1" lang="ja-JP" altLang="en-US" sz="2000" dirty="0"/>
                  <a:t>倍だと最低限ギリギリなので通常は</a:t>
                </a:r>
                <a:r>
                  <a:rPr kumimoji="1" lang="en-US" altLang="ja-JP" sz="2000" dirty="0"/>
                  <a:t>5</a:t>
                </a:r>
                <a:r>
                  <a:rPr lang="ja-JP" altLang="en-US" sz="2000" dirty="0"/>
                  <a:t>倍～）</a:t>
                </a:r>
                <a:endParaRPr lang="en-US" altLang="ja-JP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ja-JP" sz="2000" dirty="0"/>
                  <a:t>5</a:t>
                </a:r>
                <a:r>
                  <a:rPr kumimoji="1" lang="ja-JP" altLang="en-US" sz="2000" dirty="0"/>
                  <a:t>倍流す際は右図のように同じサイズの</a:t>
                </a:r>
                <a:r>
                  <a:rPr kumimoji="1" lang="en-US" altLang="ja-JP" sz="2000" dirty="0"/>
                  <a:t>Tr</a:t>
                </a:r>
                <a:r>
                  <a:rPr kumimoji="1" lang="ja-JP" altLang="en-US" sz="2000" dirty="0"/>
                  <a:t>を縦に</a:t>
                </a:r>
                <a:r>
                  <a:rPr kumimoji="1" lang="en-US" altLang="ja-JP" sz="2000" dirty="0"/>
                  <a:t>5</a:t>
                </a:r>
                <a:r>
                  <a:rPr kumimoji="1" lang="ja-JP" altLang="en-US" sz="2000" dirty="0"/>
                  <a:t>個接続すると</a:t>
                </a:r>
                <a:r>
                  <a:rPr kumimoji="1" lang="en-US" altLang="ja-JP" sz="2000" dirty="0"/>
                  <a:t>good</a:t>
                </a:r>
              </a:p>
              <a:p>
                <a:r>
                  <a:rPr lang="en-US" altLang="ja-JP" sz="2000" dirty="0"/>
                  <a:t>※</a:t>
                </a:r>
                <a:r>
                  <a:rPr lang="ja-JP" altLang="en-US" sz="2000" dirty="0"/>
                  <a:t>通常のカスコードカレントミラーの入力電圧</a:t>
                </a:r>
                <a:r>
                  <a:rPr lang="en-US" altLang="ja-JP" sz="2000" dirty="0"/>
                  <a:t>Vo</a:t>
                </a:r>
                <a:r>
                  <a:rPr lang="ja-JP" altLang="en-US" sz="2000" dirty="0"/>
                  <a:t>は </a:t>
                </a:r>
                <a:r>
                  <a:rPr lang="en-US" altLang="ja-JP" sz="2000" dirty="0"/>
                  <a:t>2Vdssat + Vth </a:t>
                </a:r>
                <a:r>
                  <a:rPr lang="ja-JP" altLang="en-US" sz="2000" dirty="0"/>
                  <a:t>以上必要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D82B29E2-1351-229F-2259-390E660172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4"/>
                <a:stretch>
                  <a:fillRect l="-5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4B95213-70FB-9277-CB9C-48B571084C55}"/>
              </a:ext>
            </a:extLst>
          </p:cNvPr>
          <p:cNvCxnSpPr>
            <a:cxnSpLocks/>
          </p:cNvCxnSpPr>
          <p:nvPr/>
        </p:nvCxnSpPr>
        <p:spPr>
          <a:xfrm flipH="1">
            <a:off x="5303520" y="1976846"/>
            <a:ext cx="1193074" cy="90569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B2A0E31F-C0AF-8D96-6E28-0E4C626E55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85" r="36919"/>
          <a:stretch>
            <a:fillRect/>
          </a:stretch>
        </p:blipFill>
        <p:spPr>
          <a:xfrm>
            <a:off x="9292047" y="1227156"/>
            <a:ext cx="2455454" cy="531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76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60D8E-7B26-BB01-F628-1A498EE5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4D592D96-7CB3-372A-9FA9-A42B147E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オペアンプ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8FF88D-D28A-2002-06E9-910F6640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C08CE0-262E-DFA3-E9CB-9289EA71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14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A5F70016-3516-B0A2-A464-B3FC2EAD0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サイズ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L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をどうやって決めるか？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チャネル長変調効果を受けずらい電流源を作る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カスコードカレントミラー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ゲインが低い問題を解決する</a:t>
            </a:r>
            <a:r>
              <a:rPr lang="en-US" altLang="ja-JP" sz="2000" dirty="0"/>
              <a:t>			</a:t>
            </a:r>
            <a:r>
              <a:rPr lang="ja-JP" altLang="en-US" sz="2000" dirty="0"/>
              <a:t>：　フォールデッドカスコードオペアンプ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入力電圧レンジを広くとる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rail-to-rail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出力電圧レンジも広くとる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AB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級バッファ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14301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DCEC-0DF5-4165-8378-07D5C71C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FA3608-25BC-5BCD-C34A-516871FD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OTA: Operational Transconductance Amplifier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302B8A-97A6-5835-1137-8B258B24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ABDD0E-C824-36DC-EF0C-AEED8B0E4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15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コンテンツ プレースホルダー 4">
                <a:extLst>
                  <a:ext uri="{FF2B5EF4-FFF2-40B4-BE49-F238E27FC236}">
                    <a16:creationId xmlns:a16="http://schemas.microsoft.com/office/drawing/2014/main" id="{B64AEB91-3B4B-4AB5-8577-13B24869CAE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40"/>
                <a:ext cx="11474827" cy="4781006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sz="1700" dirty="0">
                    <a:latin typeface="Cambria Math" panose="02040503050406030204" pitchFamily="18" charset="0"/>
                  </a:rPr>
                  <a:t>M6,M7</a:t>
                </a:r>
                <a:r>
                  <a:rPr lang="ja-JP" altLang="en-US" sz="1700" dirty="0">
                    <a:latin typeface="Cambria Math" panose="02040503050406030204" pitchFamily="18" charset="0"/>
                  </a:rPr>
                  <a:t>なしの</a:t>
                </a:r>
                <a:r>
                  <a:rPr lang="en-US" altLang="ja-JP" sz="1700" dirty="0">
                    <a:latin typeface="Cambria Math" panose="02040503050406030204" pitchFamily="18" charset="0"/>
                  </a:rPr>
                  <a:t>1</a:t>
                </a:r>
                <a:r>
                  <a:rPr lang="ja-JP" altLang="en-US" sz="1700" dirty="0">
                    <a:latin typeface="Cambria Math" panose="02040503050406030204" pitchFamily="18" charset="0"/>
                  </a:rPr>
                  <a:t>段の</a:t>
                </a:r>
                <a:r>
                  <a:rPr lang="en-US" altLang="ja-JP" sz="1700" dirty="0">
                    <a:latin typeface="Cambria Math" panose="02040503050406030204" pitchFamily="18" charset="0"/>
                  </a:rPr>
                  <a:t>OTA</a:t>
                </a:r>
                <a:r>
                  <a:rPr lang="ja-JP" altLang="en-US" sz="1700" dirty="0">
                    <a:latin typeface="Cambria Math" panose="02040503050406030204" pitchFamily="18" charset="0"/>
                  </a:rPr>
                  <a:t>を考える</a:t>
                </a:r>
                <a:endParaRPr lang="en-US" altLang="ja-JP" sz="170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ja-JP" sz="170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𝑑𝑐</m:t>
                        </m:r>
                      </m:e>
                    </m:d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sSub>
                      <m:sSubPr>
                        <m:ctrlP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ja-JP" sz="17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ja-JP" sz="17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  <m:r>
                          <a:rPr lang="en-US" altLang="ja-JP" sz="17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altLang="ja-JP" sz="17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ja-JP" sz="17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  <m:r>
                              <a:rPr lang="en-US" altLang="ja-JP" sz="17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ja-JP" sz="1700" dirty="0"/>
              </a:p>
              <a:p>
                <a:br>
                  <a:rPr lang="en-US" altLang="ja-JP" sz="1700" dirty="0"/>
                </a:br>
                <a:r>
                  <a:rPr lang="ja-JP" altLang="en-US" sz="1700" dirty="0"/>
                  <a:t>ポイント</a:t>
                </a:r>
                <a:br>
                  <a:rPr lang="en-US" altLang="ja-JP" sz="1700" dirty="0"/>
                </a:br>
                <a:r>
                  <a:rPr lang="en-US" altLang="ja-JP" sz="1700" dirty="0"/>
                  <a:t>1. </a:t>
                </a:r>
                <a:r>
                  <a:rPr lang="ja-JP" altLang="en-US" sz="1700" dirty="0"/>
                  <a:t>ゲインは入力段トランジスタの</a:t>
                </a:r>
                <a:r>
                  <a:rPr lang="en-US" altLang="ja-JP" sz="1700" dirty="0"/>
                  <a:t>gm</a:t>
                </a:r>
                <a:r>
                  <a:rPr lang="ja-JP" altLang="en-US" sz="1700" dirty="0"/>
                  <a:t>で決まる</a:t>
                </a:r>
                <a:br>
                  <a:rPr lang="en-US" altLang="ja-JP" sz="1700" dirty="0"/>
                </a:br>
                <a:r>
                  <a:rPr lang="en-US" altLang="ja-JP" sz="1700" dirty="0"/>
                  <a:t>2.</a:t>
                </a:r>
                <a:r>
                  <a:rPr lang="ja-JP" altLang="en-US" sz="1700" dirty="0"/>
                  <a:t> 出力抵抗</a:t>
                </a:r>
                <a:r>
                  <a:rPr lang="en-US" altLang="ja-JP" sz="1700" dirty="0"/>
                  <a:t>Ro</a:t>
                </a:r>
                <a:r>
                  <a:rPr lang="ja-JP" altLang="en-US" sz="1700" dirty="0"/>
                  <a:t>を大きくするとゲインは上がるが、極は低周波に寄る　→　位相余裕の確保が難しくなるため通常、いじらない</a:t>
                </a:r>
                <a:endParaRPr lang="en-US" altLang="ja-JP" sz="1700" dirty="0"/>
              </a:p>
            </p:txBody>
          </p:sp>
        </mc:Choice>
        <mc:Fallback xmlns="">
          <p:sp>
            <p:nvSpPr>
              <p:cNvPr id="11" name="コンテンツ プレースホルダー 4">
                <a:extLst>
                  <a:ext uri="{FF2B5EF4-FFF2-40B4-BE49-F238E27FC236}">
                    <a16:creationId xmlns:a16="http://schemas.microsoft.com/office/drawing/2014/main" id="{B64AEB91-3B4B-4AB5-8577-13B24869C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40"/>
                <a:ext cx="11474827" cy="4781006"/>
              </a:xfrm>
              <a:blipFill>
                <a:blip r:embed="rId2"/>
                <a:stretch>
                  <a:fillRect l="-372" t="-3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図 14">
            <a:extLst>
              <a:ext uri="{FF2B5EF4-FFF2-40B4-BE49-F238E27FC236}">
                <a16:creationId xmlns:a16="http://schemas.microsoft.com/office/drawing/2014/main" id="{7337C975-2BC8-61B5-D6A1-2AEC16BD6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185" y="2010639"/>
            <a:ext cx="7136142" cy="352882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4C75109-2873-F856-6510-CED379ADBAE9}"/>
              </a:ext>
            </a:extLst>
          </p:cNvPr>
          <p:cNvSpPr/>
          <p:nvPr/>
        </p:nvSpPr>
        <p:spPr>
          <a:xfrm>
            <a:off x="9077325" y="2018008"/>
            <a:ext cx="2842002" cy="3521453"/>
          </a:xfrm>
          <a:prstGeom prst="rect">
            <a:avLst/>
          </a:prstGeom>
          <a:solidFill>
            <a:srgbClr val="00000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071D95-46B6-697A-70C6-C1DC441A7B3E}"/>
                  </a:ext>
                </a:extLst>
              </p:cNvPr>
              <p:cNvSpPr txBox="1"/>
              <p:nvPr/>
            </p:nvSpPr>
            <p:spPr>
              <a:xfrm>
                <a:off x="8516982" y="199326"/>
                <a:ext cx="3138061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ja-JP" sz="1800" b="1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ja-JP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num>
                        <m:den>
                          <m:r>
                            <a:rPr lang="en-US" altLang="ja-JP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sSub>
                        <m:sSub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d>
                        <m:dPr>
                          <m:ctrlPr>
                            <a:rPr lang="en-US" altLang="ja-JP" sz="180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180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altLang="ja-JP" sz="1800" b="0" i="1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180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ja-JP" sz="1800" dirty="0"/>
                        <m:t>			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071D95-46B6-697A-70C6-C1DC441A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982" y="199326"/>
                <a:ext cx="3138061" cy="6090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88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CC5E-CBF1-45C9-839F-D28C45CC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42F2BA-1C99-3DD6-DF65-2F544066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OTA+</a:t>
            </a:r>
            <a:r>
              <a:rPr lang="ja-JP" altLang="en-US" dirty="0"/>
              <a:t>ソース接地回路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A3D1C3-F009-A665-B181-E775DFDF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B607BE-A636-086A-F62B-5E721CB1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16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コンテンツ プレースホルダー 4">
                <a:extLst>
                  <a:ext uri="{FF2B5EF4-FFF2-40B4-BE49-F238E27FC236}">
                    <a16:creationId xmlns:a16="http://schemas.microsoft.com/office/drawing/2014/main" id="{4D16D78A-ED56-D9DD-1C08-CA39CB32287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40"/>
                <a:ext cx="4756149" cy="4601748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1700" b="0" i="1" smtClean="0">
                        <a:latin typeface="Cambria Math" panose="02040503050406030204" pitchFamily="18" charset="0"/>
                      </a:rPr>
                      <m:t>ソース接地</m:t>
                    </m:r>
                  </m:oMath>
                </a14:m>
                <a:r>
                  <a:rPr kumimoji="1" lang="ja-JP" altLang="en-US" sz="1700" dirty="0"/>
                  <a:t>回路を後段につけると</a:t>
                </a:r>
                <a:r>
                  <a:rPr lang="ja-JP" altLang="en-US" sz="1700" dirty="0"/>
                  <a:t>極がシフトする</a:t>
                </a:r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ja-JP" sz="17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𝑑𝑐</m:t>
                        </m:r>
                      </m:e>
                    </m:d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sSub>
                      <m:sSubPr>
                        <m:ctrlP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sz="17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∙−</m:t>
                    </m:r>
                    <m:r>
                      <a:rPr lang="en-US" altLang="ja-JP" sz="1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sSub>
                      <m:sSubPr>
                        <m:ctrlP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ja-JP" sz="1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</m:sub>
                    </m:sSub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sz="17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en-US" altLang="ja-JP" sz="17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≅−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800" i="1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ja-JP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ja-JP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altLang="ja-JP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ja-JP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en-US" altLang="ja-JP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ja-JP" sz="1800" i="1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17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≅−</m:t>
                    </m:r>
                    <m:f>
                      <m:fPr>
                        <m:ctrlPr>
                          <a:rPr lang="en-US" altLang="ja-JP" sz="17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1700" i="1" smtClean="0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b="0" i="1" smtClean="0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solidFill>
                                  <a:srgbClr val="46464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ja-JP" sz="1700" b="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>
                  <a:solidFill>
                    <a:srgbClr val="46464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ja-JP" sz="2000" dirty="0"/>
              </a:p>
            </p:txBody>
          </p:sp>
        </mc:Choice>
        <mc:Fallback xmlns="">
          <p:sp>
            <p:nvSpPr>
              <p:cNvPr id="11" name="コンテンツ プレースホルダー 4">
                <a:extLst>
                  <a:ext uri="{FF2B5EF4-FFF2-40B4-BE49-F238E27FC236}">
                    <a16:creationId xmlns:a16="http://schemas.microsoft.com/office/drawing/2014/main" id="{4D16D78A-ED56-D9DD-1C08-CA39CB322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40"/>
                <a:ext cx="4756149" cy="4601748"/>
              </a:xfrm>
              <a:blipFill>
                <a:blip r:embed="rId2"/>
                <a:stretch>
                  <a:fillRect l="-641" t="-9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図 14">
            <a:extLst>
              <a:ext uri="{FF2B5EF4-FFF2-40B4-BE49-F238E27FC236}">
                <a16:creationId xmlns:a16="http://schemas.microsoft.com/office/drawing/2014/main" id="{FA3C91FD-BBC3-BBE6-7A63-54B240DD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185" y="1153389"/>
            <a:ext cx="7136142" cy="3528822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E644A36-A818-0A8E-2AF1-BF8AABCA7891}"/>
              </a:ext>
            </a:extLst>
          </p:cNvPr>
          <p:cNvSpPr txBox="1"/>
          <p:nvPr/>
        </p:nvSpPr>
        <p:spPr>
          <a:xfrm>
            <a:off x="2197045" y="4773912"/>
            <a:ext cx="7136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464646"/>
                </a:solidFill>
              </a:rPr>
              <a:t>出力段の入力容量を小さくするにはサイズを小さくするしかない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4108531-BC60-2ADF-8AEC-8D07BE8FB940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1805124" y="4591050"/>
            <a:ext cx="391921" cy="3675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312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CDC8B-33C8-251F-18D7-F1EA8FC4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24A99B6A-402B-8ECC-9E56-54CD6F51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537" y="1660071"/>
            <a:ext cx="6111506" cy="302214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7DCB426-C040-1918-6625-55A22E35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OTA+</a:t>
            </a:r>
            <a:r>
              <a:rPr lang="ja-JP" altLang="en-US" dirty="0"/>
              <a:t>ソース接地回路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EFC1CF3-4A52-AA10-A82C-67F36F67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473B43-2678-17AF-7540-3D9C50D1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17</a:t>
            </a:fld>
            <a:endParaRPr lang="ja-JP" altLang="en-US" noProof="0"/>
          </a:p>
        </p:txBody>
      </p:sp>
      <p:sp>
        <p:nvSpPr>
          <p:cNvPr id="11" name="コンテンツ プレースホルダー 4">
            <a:extLst>
              <a:ext uri="{FF2B5EF4-FFF2-40B4-BE49-F238E27FC236}">
                <a16:creationId xmlns:a16="http://schemas.microsoft.com/office/drawing/2014/main" id="{D267FFE1-46E4-139B-424A-936DFF6DD9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581831" cy="4601748"/>
          </a:xfrm>
        </p:spPr>
        <p:txBody>
          <a:bodyPr>
            <a:normAutofit/>
          </a:bodyPr>
          <a:lstStyle/>
          <a:p>
            <a:r>
              <a:rPr lang="ja-JP" altLang="en-US" sz="2000" dirty="0">
                <a:solidFill>
                  <a:srgbClr val="464646"/>
                </a:solidFill>
              </a:rPr>
              <a:t>サイズ</a:t>
            </a:r>
            <a:r>
              <a:rPr lang="en-US" altLang="ja-JP" sz="2000" dirty="0">
                <a:solidFill>
                  <a:srgbClr val="464646"/>
                </a:solidFill>
              </a:rPr>
              <a:t>W</a:t>
            </a:r>
            <a:r>
              <a:rPr lang="ja-JP" altLang="en-US" sz="2000" dirty="0">
                <a:solidFill>
                  <a:srgbClr val="464646"/>
                </a:solidFill>
              </a:rPr>
              <a:t>と特性の主な関係</a:t>
            </a:r>
            <a:endParaRPr lang="en-US" altLang="ja-JP" sz="2000" dirty="0">
              <a:solidFill>
                <a:srgbClr val="46464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rgbClr val="464646"/>
                </a:solidFill>
              </a:rPr>
              <a:t>W1=W2: DC</a:t>
            </a:r>
            <a:r>
              <a:rPr lang="ja-JP" altLang="en-US" sz="2000" dirty="0">
                <a:solidFill>
                  <a:srgbClr val="464646"/>
                </a:solidFill>
              </a:rPr>
              <a:t>ゲイン  </a:t>
            </a:r>
            <a:r>
              <a:rPr lang="en-US" altLang="ja-JP" sz="2000" dirty="0">
                <a:solidFill>
                  <a:srgbClr val="464646"/>
                </a:solidFill>
              </a:rPr>
              <a:t>(GB</a:t>
            </a:r>
            <a:r>
              <a:rPr lang="ja-JP" altLang="en-US" sz="2000" dirty="0">
                <a:solidFill>
                  <a:srgbClr val="464646"/>
                </a:solidFill>
              </a:rPr>
              <a:t>積</a:t>
            </a:r>
            <a:r>
              <a:rPr lang="en-US" altLang="ja-JP" sz="2000" dirty="0">
                <a:solidFill>
                  <a:srgbClr val="464646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rgbClr val="464646"/>
                </a:solidFill>
              </a:rPr>
              <a:t>W3=W4: </a:t>
            </a:r>
            <a:r>
              <a:rPr lang="ja-JP" altLang="en-US" sz="2000" dirty="0">
                <a:solidFill>
                  <a:srgbClr val="464646"/>
                </a:solidFill>
              </a:rPr>
              <a:t>最小入力電圧範囲</a:t>
            </a:r>
            <a:r>
              <a:rPr lang="en-US" altLang="ja-JP" sz="2000" dirty="0">
                <a:solidFill>
                  <a:srgbClr val="464646"/>
                </a:solidFill>
              </a:rPr>
              <a:t>, </a:t>
            </a:r>
            <a:r>
              <a:rPr lang="ja-JP" altLang="en-US" sz="2000" dirty="0">
                <a:solidFill>
                  <a:srgbClr val="464646"/>
                </a:solidFill>
              </a:rPr>
              <a:t>第</a:t>
            </a:r>
            <a:r>
              <a:rPr lang="en-US" altLang="ja-JP" sz="2000" dirty="0">
                <a:solidFill>
                  <a:srgbClr val="464646"/>
                </a:solidFill>
              </a:rPr>
              <a:t>3</a:t>
            </a:r>
            <a:r>
              <a:rPr lang="ja-JP" altLang="en-US" sz="2000" dirty="0">
                <a:solidFill>
                  <a:srgbClr val="464646"/>
                </a:solidFill>
              </a:rPr>
              <a:t>極</a:t>
            </a:r>
            <a:endParaRPr lang="en-US" altLang="ja-JP" sz="2000" dirty="0">
              <a:solidFill>
                <a:srgbClr val="46464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rgbClr val="464646"/>
                </a:solidFill>
              </a:rPr>
              <a:t>W5:</a:t>
            </a:r>
            <a:r>
              <a:rPr lang="ja-JP" altLang="en-US" sz="2000" dirty="0">
                <a:solidFill>
                  <a:srgbClr val="464646"/>
                </a:solidFill>
              </a:rPr>
              <a:t> 最大入力電圧範囲、スルーレート</a:t>
            </a:r>
            <a:r>
              <a:rPr lang="en-US" altLang="ja-JP" sz="2000" dirty="0">
                <a:solidFill>
                  <a:srgbClr val="464646"/>
                </a:solidFill>
              </a:rPr>
              <a:t>(I5)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rgbClr val="464646"/>
                </a:solidFill>
              </a:rPr>
              <a:t>W6: </a:t>
            </a:r>
            <a:r>
              <a:rPr lang="ja-JP" altLang="en-US" sz="2000" dirty="0">
                <a:solidFill>
                  <a:srgbClr val="464646"/>
                </a:solidFill>
              </a:rPr>
              <a:t>最大出力電圧範囲、抵抗負荷駆動力</a:t>
            </a:r>
            <a:endParaRPr lang="en-US" altLang="ja-JP" sz="2000" dirty="0">
              <a:solidFill>
                <a:srgbClr val="46464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rgbClr val="464646"/>
                </a:solidFill>
              </a:rPr>
              <a:t>W7: </a:t>
            </a:r>
            <a:r>
              <a:rPr lang="ja-JP" altLang="en-US" sz="2000" dirty="0">
                <a:solidFill>
                  <a:srgbClr val="464646"/>
                </a:solidFill>
              </a:rPr>
              <a:t>最小出力電圧範囲、第</a:t>
            </a:r>
            <a:r>
              <a:rPr lang="en-US" altLang="ja-JP" sz="2000" dirty="0">
                <a:solidFill>
                  <a:srgbClr val="464646"/>
                </a:solidFill>
              </a:rPr>
              <a:t>2</a:t>
            </a:r>
            <a:r>
              <a:rPr lang="ja-JP" altLang="en-US" sz="2000" dirty="0">
                <a:solidFill>
                  <a:srgbClr val="464646"/>
                </a:solidFill>
              </a:rPr>
              <a:t>極</a:t>
            </a:r>
            <a:endParaRPr lang="en-US" altLang="ja-JP" sz="2000" dirty="0">
              <a:solidFill>
                <a:srgbClr val="46464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rgbClr val="464646"/>
                </a:solidFill>
              </a:rPr>
              <a:t>Cc</a:t>
            </a:r>
            <a:r>
              <a:rPr lang="ja-JP" altLang="en-US" sz="2000" dirty="0">
                <a:solidFill>
                  <a:srgbClr val="464646"/>
                </a:solidFill>
              </a:rPr>
              <a:t>　</a:t>
            </a:r>
            <a:r>
              <a:rPr lang="en-US" altLang="ja-JP" sz="2000" dirty="0">
                <a:solidFill>
                  <a:srgbClr val="464646"/>
                </a:solidFill>
              </a:rPr>
              <a:t>&gt; 0.2CL</a:t>
            </a:r>
            <a:endParaRPr lang="ja-JP" altLang="en-US" sz="2000" dirty="0">
              <a:solidFill>
                <a:srgbClr val="46464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0D0DFD7B-6AC0-619D-181F-471D95A07935}"/>
                  </a:ext>
                </a:extLst>
              </p:cNvPr>
              <p:cNvSpPr txBox="1"/>
              <p:nvPr/>
            </p:nvSpPr>
            <p:spPr>
              <a:xfrm>
                <a:off x="6406552" y="199326"/>
                <a:ext cx="5248492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ja-JP" sz="1800" b="1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ja-JP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num>
                        <m:den>
                          <m:r>
                            <a:rPr lang="en-US" altLang="ja-JP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sSub>
                        <m:sSub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d>
                        <m:dPr>
                          <m:ctrlPr>
                            <a:rPr lang="en-US" altLang="ja-JP" sz="180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180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altLang="ja-JP" sz="1800" b="0" i="1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sz="180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1800" b="0" i="1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ja-JP" sz="1800" dirty="0"/>
                        <m:t>			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0D0DFD7B-6AC0-619D-181F-471D95A07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552" y="199326"/>
                <a:ext cx="5248492" cy="6090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矢印: 右 23">
            <a:extLst>
              <a:ext uri="{FF2B5EF4-FFF2-40B4-BE49-F238E27FC236}">
                <a16:creationId xmlns:a16="http://schemas.microsoft.com/office/drawing/2014/main" id="{C1EF1F0B-3982-B917-B364-73DF1E79CEB1}"/>
              </a:ext>
            </a:extLst>
          </p:cNvPr>
          <p:cNvSpPr/>
          <p:nvPr/>
        </p:nvSpPr>
        <p:spPr>
          <a:xfrm>
            <a:off x="844207" y="5540894"/>
            <a:ext cx="1076620" cy="6008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43DD1AB-2EEF-0D3C-CE37-820F1CB78A06}"/>
                  </a:ext>
                </a:extLst>
              </p:cNvPr>
              <p:cNvSpPr txBox="1"/>
              <p:nvPr/>
            </p:nvSpPr>
            <p:spPr>
              <a:xfrm>
                <a:off x="1920827" y="5427612"/>
                <a:ext cx="2552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464646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solidFill>
                            <a:srgbClr val="464646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rgbClr val="46464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rgbClr val="464646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464646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rgbClr val="46464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ja-JP" altLang="en-US" dirty="0">
                  <a:solidFill>
                    <a:srgbClr val="464646"/>
                  </a:solidFill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43DD1AB-2EEF-0D3C-CE37-820F1CB78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27" y="5427612"/>
                <a:ext cx="2552878" cy="276999"/>
              </a:xfrm>
              <a:prstGeom prst="rect">
                <a:avLst/>
              </a:prstGeom>
              <a:blipFill>
                <a:blip r:embed="rId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2740706-2E13-33E0-E283-6B7A51B7F8F4}"/>
              </a:ext>
            </a:extLst>
          </p:cNvPr>
          <p:cNvSpPr txBox="1"/>
          <p:nvPr/>
        </p:nvSpPr>
        <p:spPr>
          <a:xfrm>
            <a:off x="1488632" y="5762336"/>
            <a:ext cx="3417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rgbClr val="464646"/>
                </a:solidFill>
              </a:rPr>
              <a:t>システマティック</a:t>
            </a:r>
            <a:br>
              <a:rPr kumimoji="1" lang="en-US" altLang="ja-JP" dirty="0">
                <a:solidFill>
                  <a:srgbClr val="464646"/>
                </a:solidFill>
              </a:rPr>
            </a:br>
            <a:r>
              <a:rPr kumimoji="1" lang="ja-JP" altLang="en-US" dirty="0">
                <a:solidFill>
                  <a:srgbClr val="464646"/>
                </a:solidFill>
              </a:rPr>
              <a:t>オフセットで自動決定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024886-7D52-58D9-D537-C15AF5650C69}"/>
              </a:ext>
            </a:extLst>
          </p:cNvPr>
          <p:cNvSpPr txBox="1"/>
          <p:nvPr/>
        </p:nvSpPr>
        <p:spPr>
          <a:xfrm>
            <a:off x="4119155" y="1220258"/>
            <a:ext cx="2185852" cy="92333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464646"/>
                </a:solidFill>
              </a:rPr>
              <a:t>第</a:t>
            </a:r>
            <a:r>
              <a:rPr kumimoji="1" lang="en-US" altLang="ja-JP" dirty="0">
                <a:solidFill>
                  <a:srgbClr val="464646"/>
                </a:solidFill>
              </a:rPr>
              <a:t>3</a:t>
            </a:r>
            <a:r>
              <a:rPr kumimoji="1" lang="ja-JP" altLang="en-US" dirty="0">
                <a:solidFill>
                  <a:srgbClr val="464646"/>
                </a:solidFill>
              </a:rPr>
              <a:t>極は非支配極で</a:t>
            </a:r>
            <a:br>
              <a:rPr kumimoji="1" lang="en-US" altLang="ja-JP" dirty="0">
                <a:solidFill>
                  <a:srgbClr val="464646"/>
                </a:solidFill>
              </a:rPr>
            </a:br>
            <a:r>
              <a:rPr kumimoji="1" lang="ja-JP" altLang="en-US" dirty="0">
                <a:solidFill>
                  <a:srgbClr val="464646"/>
                </a:solidFill>
              </a:rPr>
              <a:t>無視できる程高い</a:t>
            </a:r>
            <a:br>
              <a:rPr kumimoji="1" lang="en-US" altLang="ja-JP" dirty="0">
                <a:solidFill>
                  <a:srgbClr val="464646"/>
                </a:solidFill>
              </a:rPr>
            </a:br>
            <a:r>
              <a:rPr kumimoji="1" lang="ja-JP" altLang="en-US" dirty="0">
                <a:solidFill>
                  <a:srgbClr val="464646"/>
                </a:solidFill>
              </a:rPr>
              <a:t>周波数に位置する</a:t>
            </a:r>
          </a:p>
        </p:txBody>
      </p:sp>
    </p:spTree>
    <p:extLst>
      <p:ext uri="{BB962C8B-B14F-4D97-AF65-F5344CB8AC3E}">
        <p14:creationId xmlns:p14="http://schemas.microsoft.com/office/powerpoint/2010/main" val="3937838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2F5B34-ECF5-3535-9A25-0A5315E9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フォールデッドカスコードオペアンプ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7D12A5-3074-E4CF-31CD-29BDCEF4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1F3E19-0864-C660-5AEB-D2352E0E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18</a:t>
            </a:fld>
            <a:endParaRPr lang="ja-JP" altLang="en-US" noProof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52FF0C8-F552-7051-8679-84B7215EADB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/>
          <a:stretch/>
        </p:blipFill>
        <p:spPr>
          <a:xfrm>
            <a:off x="444500" y="1510756"/>
            <a:ext cx="11210925" cy="450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6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FAD52-37D8-570E-D73C-FCE8CDEF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フォールデッドカスコードオペアンプ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EEB8375-8F1D-ADA7-8547-79142F44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CCA564-3F10-C43A-3888-36D4E411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19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198F951B-0C04-0846-3663-B6DA9FB511D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1" y="1463040"/>
                <a:ext cx="5059316" cy="4601748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ja-JP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  <m:r>
                          <a:rPr lang="en-US" altLang="ja-JP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kumimoji="1" lang="en-US" altLang="ja-JP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≅−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ja-JP" dirty="0"/>
              </a:p>
              <a:p>
                <a:r>
                  <a:rPr lang="ja-JP" altLang="en-US" dirty="0"/>
                  <a:t>ポイント</a:t>
                </a:r>
                <a:br>
                  <a:rPr lang="en-US" altLang="ja-JP" dirty="0"/>
                </a:br>
                <a:r>
                  <a:rPr lang="en-US" altLang="ja-JP" dirty="0"/>
                  <a:t>1. </a:t>
                </a:r>
                <a:r>
                  <a:rPr kumimoji="1" lang="ja-JP" altLang="en-US" dirty="0"/>
                  <a:t>出力抵抗が高いため</a:t>
                </a:r>
                <a:r>
                  <a:rPr lang="en-US" altLang="ja-JP" dirty="0"/>
                  <a:t>OTA</a:t>
                </a:r>
                <a:r>
                  <a:rPr lang="ja-JP" altLang="en-US" dirty="0"/>
                  <a:t>よりゲインが高い</a:t>
                </a:r>
                <a:br>
                  <a:rPr lang="en-US" altLang="ja-JP" dirty="0"/>
                </a:br>
                <a:r>
                  <a:rPr lang="en-US" altLang="ja-JP" dirty="0"/>
                  <a:t>2. </a:t>
                </a:r>
                <a:r>
                  <a:rPr lang="ja-JP" altLang="en-US" dirty="0"/>
                  <a:t>ということは極は</a:t>
                </a:r>
                <a:r>
                  <a:rPr lang="en-US" altLang="ja-JP" dirty="0"/>
                  <a:t>OTA</a:t>
                </a:r>
                <a:r>
                  <a:rPr lang="ja-JP" altLang="en-US" dirty="0"/>
                  <a:t>よりも低周波によっている・・・？</a:t>
                </a:r>
                <a:br>
                  <a:rPr lang="en-US" altLang="ja-JP" dirty="0"/>
                </a:br>
                <a:endParaRPr kumimoji="1" lang="en-US" altLang="ja-JP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198F951B-0C04-0846-3663-B6DA9FB51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1" y="1463040"/>
                <a:ext cx="5059316" cy="4601748"/>
              </a:xfrm>
              <a:blipFill>
                <a:blip r:embed="rId2"/>
                <a:stretch>
                  <a:fillRect l="-7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34471922-A04F-CE75-DA7C-2E8BBDA5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258922"/>
            <a:ext cx="5415331" cy="434015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D77D3B-7344-119F-B1AC-1C23FF6BEAEA}"/>
              </a:ext>
            </a:extLst>
          </p:cNvPr>
          <p:cNvSpPr/>
          <p:nvPr/>
        </p:nvSpPr>
        <p:spPr>
          <a:xfrm>
            <a:off x="10248465" y="1258922"/>
            <a:ext cx="1262866" cy="4340156"/>
          </a:xfrm>
          <a:prstGeom prst="rect">
            <a:avLst/>
          </a:prstGeom>
          <a:solidFill>
            <a:srgbClr val="00000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373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D1AD7-045F-1D76-0F0E-829591A7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比較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7CCA5D-A10C-486F-433E-AFA98180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65D201-A918-8A71-E0B4-4E261076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20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4F35472-7F76-E312-6373-F576E4879D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入</a:t>
            </a:r>
            <a:r>
              <a:rPr kumimoji="1" lang="ja-JP" altLang="en-US" dirty="0"/>
              <a:t>力段のサイズを固定して、各種トポロジのゲインを見てみる</a:t>
            </a:r>
            <a:br>
              <a:rPr lang="en-US" altLang="ja-JP" dirty="0"/>
            </a:br>
            <a:r>
              <a:rPr lang="en-US" altLang="ja-JP" dirty="0"/>
              <a:t>※ (c)</a:t>
            </a:r>
            <a:r>
              <a:rPr lang="ja-JP" altLang="en-US" dirty="0"/>
              <a:t>やテレスコピックは直列のトランジスタが多く、</a:t>
            </a:r>
            <a:r>
              <a:rPr lang="ja-JP" altLang="en-US" b="1" dirty="0">
                <a:solidFill>
                  <a:srgbClr val="FF0000"/>
                </a:solidFill>
              </a:rPr>
              <a:t>要求される電源電圧が高くなる</a:t>
            </a:r>
            <a:r>
              <a:rPr lang="ja-JP" altLang="en-US" dirty="0"/>
              <a:t>ため忌避される</a:t>
            </a:r>
            <a:br>
              <a:rPr lang="en-US" altLang="ja-JP" dirty="0"/>
            </a:br>
            <a:r>
              <a:rPr lang="ja-JP" altLang="en-US" dirty="0"/>
              <a:t>　　飽和領域で動作するにはトランジスタ</a:t>
            </a:r>
            <a:r>
              <a:rPr lang="en-US" altLang="ja-JP" dirty="0"/>
              <a:t>1</a:t>
            </a:r>
            <a:r>
              <a:rPr lang="ja-JP" altLang="en-US" dirty="0"/>
              <a:t>個あたり、</a:t>
            </a:r>
            <a:r>
              <a:rPr lang="en-US" altLang="ja-JP" dirty="0" err="1"/>
              <a:t>Vds</a:t>
            </a:r>
            <a:r>
              <a:rPr lang="en-US" altLang="ja-JP" dirty="0"/>
              <a:t> &gt;</a:t>
            </a:r>
            <a:r>
              <a:rPr lang="ja-JP" altLang="en-US" dirty="0"/>
              <a:t> </a:t>
            </a:r>
            <a:r>
              <a:rPr lang="en-US" altLang="ja-JP" dirty="0" err="1"/>
              <a:t>Vth+Vov</a:t>
            </a:r>
            <a:r>
              <a:rPr lang="en-US" altLang="ja-JP" dirty="0"/>
              <a:t> </a:t>
            </a:r>
            <a:r>
              <a:rPr lang="ja-JP" altLang="en-US" dirty="0"/>
              <a:t>が印加される必要がある</a:t>
            </a:r>
            <a:br>
              <a:rPr lang="en-US" altLang="ja-JP" dirty="0"/>
            </a:br>
            <a:r>
              <a:rPr lang="ja-JP" altLang="en-US" dirty="0"/>
              <a:t>　　カレントミラーをカスコードにする場合はフォールデッドカスコード段とすると電源電圧が低くても動く</a:t>
            </a:r>
            <a:endParaRPr lang="en-US" altLang="ja-JP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D07DAAD-2806-C569-2814-D915DA9E3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140" y="2898981"/>
            <a:ext cx="3551903" cy="352240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77AF759-5E06-99CF-E129-8E4D11711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796" y="2892059"/>
            <a:ext cx="1956511" cy="352840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EE478F0-71CE-15EB-65A6-35098C9F2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197" y="2898981"/>
            <a:ext cx="1961159" cy="352841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3E5A4CC-AB5E-9AC7-234A-8533758F9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2898981"/>
            <a:ext cx="1945257" cy="352841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1FB6897-5E15-2D27-1B4C-8DC5EB6242E0}"/>
              </a:ext>
            </a:extLst>
          </p:cNvPr>
          <p:cNvSpPr txBox="1"/>
          <p:nvPr/>
        </p:nvSpPr>
        <p:spPr>
          <a:xfrm>
            <a:off x="444500" y="2470070"/>
            <a:ext cx="194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(a)</a:t>
            </a:r>
            <a:r>
              <a:rPr kumimoji="1" lang="ja-JP" altLang="en-US" dirty="0"/>
              <a:t> </a:t>
            </a:r>
            <a:r>
              <a:rPr kumimoji="1" lang="en-US" altLang="ja-JP" dirty="0"/>
              <a:t>OTA</a:t>
            </a:r>
            <a:r>
              <a:rPr kumimoji="1" lang="ja-JP" altLang="en-US" dirty="0"/>
              <a:t> </a:t>
            </a:r>
            <a:endParaRPr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FF811E6-01F5-DE6A-2DBC-EEBA318A3EFD}"/>
              </a:ext>
            </a:extLst>
          </p:cNvPr>
          <p:cNvSpPr txBox="1"/>
          <p:nvPr/>
        </p:nvSpPr>
        <p:spPr>
          <a:xfrm>
            <a:off x="3043197" y="2470070"/>
            <a:ext cx="194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(b)</a:t>
            </a:r>
            <a:endParaRPr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1C715D-ED3F-F96B-FD46-859FA08CDD69}"/>
              </a:ext>
            </a:extLst>
          </p:cNvPr>
          <p:cNvSpPr txBox="1"/>
          <p:nvPr/>
        </p:nvSpPr>
        <p:spPr>
          <a:xfrm>
            <a:off x="5657796" y="2470070"/>
            <a:ext cx="194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(c) </a:t>
            </a:r>
            <a:endParaRPr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F5309CE-F208-0B56-8348-CE4BD483BD9B}"/>
              </a:ext>
            </a:extLst>
          </p:cNvPr>
          <p:cNvSpPr txBox="1"/>
          <p:nvPr/>
        </p:nvSpPr>
        <p:spPr>
          <a:xfrm>
            <a:off x="8103140" y="2470070"/>
            <a:ext cx="364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(d) Folded </a:t>
            </a:r>
            <a:r>
              <a:rPr kumimoji="1" lang="en-US" altLang="ja-JP" dirty="0" err="1"/>
              <a:t>Cascode</a:t>
            </a:r>
            <a:r>
              <a:rPr kumimoji="1" lang="en-US" altLang="ja-JP" dirty="0"/>
              <a:t> Amplifier</a:t>
            </a:r>
            <a:endParaRPr lang="ja-JP" altLang="en-US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9E3527EF-ACAB-065B-7903-4F1C517AC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274" y="165181"/>
            <a:ext cx="2656077" cy="1919419"/>
          </a:xfrm>
          <a:prstGeom prst="rect">
            <a:avLst/>
          </a:prstGeom>
        </p:spPr>
      </p:pic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C9AC2BF-C3EA-15A0-EB43-A1D44D263E47}"/>
              </a:ext>
            </a:extLst>
          </p:cNvPr>
          <p:cNvSpPr/>
          <p:nvPr/>
        </p:nvSpPr>
        <p:spPr>
          <a:xfrm>
            <a:off x="5819775" y="3238500"/>
            <a:ext cx="1562100" cy="9239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14F2FFC0-403B-BBDD-33D4-88D8EB3983DB}"/>
              </a:ext>
            </a:extLst>
          </p:cNvPr>
          <p:cNvCxnSpPr/>
          <p:nvPr/>
        </p:nvCxnSpPr>
        <p:spPr>
          <a:xfrm flipH="1" flipV="1">
            <a:off x="5276850" y="2470070"/>
            <a:ext cx="542925" cy="768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83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133EA-6936-F595-2A45-D7E36C09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比較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5771745-7948-FEE0-ED87-4949BF91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235635-F254-9407-BFF6-95AAEAC9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21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98355F9-8EE8-9108-DFFF-59555908D7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1kHz</a:t>
            </a:r>
            <a:r>
              <a:rPr lang="ja-JP" altLang="en-US" dirty="0"/>
              <a:t>におけるゲインは</a:t>
            </a:r>
            <a:r>
              <a:rPr lang="en-US" altLang="ja-JP" dirty="0"/>
              <a:t>OTA</a:t>
            </a:r>
            <a:r>
              <a:rPr lang="ja-JP" altLang="en-US" dirty="0"/>
              <a:t>とフォールデッドカスコードオペアンプとで</a:t>
            </a:r>
            <a:r>
              <a:rPr lang="en-US" altLang="ja-JP" dirty="0"/>
              <a:t>10dB</a:t>
            </a:r>
            <a:r>
              <a:rPr lang="ja-JP" altLang="en-US" dirty="0"/>
              <a:t>ほど</a:t>
            </a:r>
            <a:r>
              <a:rPr lang="en-US" altLang="ja-JP" dirty="0"/>
              <a:t>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しかし極は</a:t>
            </a:r>
            <a:r>
              <a:rPr kumimoji="1" lang="en-US" altLang="ja-JP" dirty="0"/>
              <a:t>(a)</a:t>
            </a:r>
            <a:r>
              <a:rPr kumimoji="1" lang="ja-JP" altLang="en-US" dirty="0"/>
              <a:t>と</a:t>
            </a:r>
            <a:r>
              <a:rPr kumimoji="1" lang="en-US" altLang="ja-JP" dirty="0"/>
              <a:t>(d)</a:t>
            </a:r>
            <a:r>
              <a:rPr kumimoji="1" lang="ja-JP" altLang="en-US" dirty="0"/>
              <a:t>とでは明らかに</a:t>
            </a:r>
            <a:r>
              <a:rPr kumimoji="1" lang="en-US" altLang="ja-JP" dirty="0"/>
              <a:t>(d)</a:t>
            </a:r>
            <a:r>
              <a:rPr kumimoji="1" lang="ja-JP" altLang="en-US" dirty="0"/>
              <a:t>のほうが低周波でゲインが落ち始めている</a:t>
            </a:r>
            <a:endParaRPr lang="en-US" altLang="ja-JP" dirty="0"/>
          </a:p>
          <a:p>
            <a:r>
              <a:rPr kumimoji="1" lang="ja-JP" altLang="en-US" dirty="0"/>
              <a:t>フォールデッドカスコードの「うまみ」は何か？　→　２段構成にした時に現れる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3604B69-60E8-25D9-1439-4DFED9A6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28" y="2962374"/>
            <a:ext cx="2737890" cy="243258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1E39E6A-0EE4-9E5F-F2C8-9D91C36C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796" y="2962374"/>
            <a:ext cx="2717042" cy="243258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A19EBB1-AA7A-52CE-BF52-578531E7A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576" y="2962374"/>
            <a:ext cx="2783630" cy="243258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17F831E-6CD0-4BE0-79C7-4E7DA4ED9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910" y="2962374"/>
            <a:ext cx="2744076" cy="2432586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138677-87B8-CFD2-5B95-BD5CF561C563}"/>
              </a:ext>
            </a:extLst>
          </p:cNvPr>
          <p:cNvSpPr txBox="1"/>
          <p:nvPr/>
        </p:nvSpPr>
        <p:spPr>
          <a:xfrm>
            <a:off x="566999" y="5554494"/>
            <a:ext cx="200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(a)</a:t>
            </a:r>
            <a:r>
              <a:rPr kumimoji="1" lang="ja-JP" altLang="en-US" dirty="0"/>
              <a:t> </a:t>
            </a:r>
            <a:r>
              <a:rPr kumimoji="1" lang="en-US" altLang="ja-JP" dirty="0"/>
              <a:t>42.8dB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25E973-B57F-FB10-DC7A-5DDDA30999D7}"/>
              </a:ext>
            </a:extLst>
          </p:cNvPr>
          <p:cNvSpPr txBox="1"/>
          <p:nvPr/>
        </p:nvSpPr>
        <p:spPr>
          <a:xfrm>
            <a:off x="3578442" y="5554494"/>
            <a:ext cx="200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(b)</a:t>
            </a:r>
            <a:r>
              <a:rPr kumimoji="1" lang="ja-JP" altLang="en-US" dirty="0"/>
              <a:t> </a:t>
            </a:r>
            <a:r>
              <a:rPr kumimoji="1" lang="en-US" altLang="ja-JP" dirty="0"/>
              <a:t>44.3dB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5126370-0D06-BC8D-DD51-D60B9718D203}"/>
              </a:ext>
            </a:extLst>
          </p:cNvPr>
          <p:cNvSpPr txBox="1"/>
          <p:nvPr/>
        </p:nvSpPr>
        <p:spPr>
          <a:xfrm>
            <a:off x="6576368" y="5554494"/>
            <a:ext cx="200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(c)</a:t>
            </a:r>
            <a:r>
              <a:rPr kumimoji="1" lang="ja-JP" altLang="en-US" dirty="0"/>
              <a:t> </a:t>
            </a:r>
            <a:r>
              <a:rPr kumimoji="1" lang="en-US" altLang="ja-JP" dirty="0"/>
              <a:t>50.2dB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13A20A-FC8F-2288-69D7-FB457351F87F}"/>
              </a:ext>
            </a:extLst>
          </p:cNvPr>
          <p:cNvSpPr txBox="1"/>
          <p:nvPr/>
        </p:nvSpPr>
        <p:spPr>
          <a:xfrm>
            <a:off x="9551424" y="5554494"/>
            <a:ext cx="200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(d)</a:t>
            </a:r>
            <a:r>
              <a:rPr kumimoji="1" lang="ja-JP" altLang="en-US" dirty="0"/>
              <a:t> </a:t>
            </a:r>
            <a:r>
              <a:rPr kumimoji="1" lang="en-US" altLang="ja-JP" dirty="0"/>
              <a:t>53.2dB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0861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2396-85C9-CC3A-D180-26E06A95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42BD3-1D37-415B-C9CF-45FEB1B8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フォールデッドカスコードオペアンプ </a:t>
            </a:r>
            <a:r>
              <a:rPr lang="en-US" altLang="ja-JP" dirty="0"/>
              <a:t>+ </a:t>
            </a:r>
            <a:r>
              <a:rPr lang="ja-JP" altLang="en-US" dirty="0"/>
              <a:t>ソース接地回路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12258C-CAEA-D94B-6708-E0155F82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6734C2-61BF-A143-1C0D-D903527C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22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EEA4909-450A-3EB0-6A3B-7471EF43D9C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40"/>
                <a:ext cx="4756149" cy="4601748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1700" b="0" i="1" smtClean="0">
                        <a:latin typeface="Cambria Math" panose="02040503050406030204" pitchFamily="18" charset="0"/>
                      </a:rPr>
                      <m:t>ソース接地</m:t>
                    </m:r>
                  </m:oMath>
                </a14:m>
                <a:r>
                  <a:rPr kumimoji="1" lang="ja-JP" altLang="en-US" sz="1700" dirty="0"/>
                  <a:t>回路を後段につけると</a:t>
                </a:r>
                <a:r>
                  <a:rPr lang="ja-JP" altLang="en-US" sz="1700" dirty="0"/>
                  <a:t>極がシフトする</a:t>
                </a:r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ja-JP" sz="17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𝑑𝑐</m:t>
                        </m:r>
                      </m:e>
                    </m:d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700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1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  <m:r>
                          <a:rPr lang="en-US" altLang="ja-JP" sz="1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ja-JP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sub>
                    </m:sSub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altLang="ja-JP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  <m:r>
                          <a:rPr lang="en-US" altLang="ja-JP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≅−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𝑔𝑑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≅−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ja-JP" sz="2000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EEA4909-450A-3EB0-6A3B-7471EF43D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40"/>
                <a:ext cx="4756149" cy="4601748"/>
              </a:xfrm>
              <a:blipFill>
                <a:blip r:embed="rId2"/>
                <a:stretch>
                  <a:fillRect l="-513" t="-9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A7F0DE18-0B2D-C786-9DA5-093D095AE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73212" y="1183276"/>
            <a:ext cx="5099278" cy="408685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CB35E9-242C-8C4F-13E3-A9C7E8C627F8}"/>
              </a:ext>
            </a:extLst>
          </p:cNvPr>
          <p:cNvSpPr txBox="1"/>
          <p:nvPr/>
        </p:nvSpPr>
        <p:spPr>
          <a:xfrm>
            <a:off x="5126377" y="5582194"/>
            <a:ext cx="679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入力段の</a:t>
            </a:r>
            <a:r>
              <a:rPr kumimoji="1" lang="en-US" altLang="ja-JP" dirty="0"/>
              <a:t>gm</a:t>
            </a:r>
            <a:r>
              <a:rPr kumimoji="1" lang="ja-JP" altLang="en-US" dirty="0"/>
              <a:t>を大きくしなくても高い</a:t>
            </a:r>
            <a:r>
              <a:rPr kumimoji="1" lang="en-US" altLang="ja-JP" dirty="0"/>
              <a:t>DC</a:t>
            </a:r>
            <a:r>
              <a:rPr kumimoji="1" lang="ja-JP" altLang="en-US" dirty="0"/>
              <a:t>ゲインが得られる</a:t>
            </a:r>
          </a:p>
        </p:txBody>
      </p:sp>
    </p:spTree>
    <p:extLst>
      <p:ext uri="{BB962C8B-B14F-4D97-AF65-F5344CB8AC3E}">
        <p14:creationId xmlns:p14="http://schemas.microsoft.com/office/powerpoint/2010/main" val="493627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3F64-1C81-CAE7-EB45-13BEA2A4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5D81C-5838-15EA-DA7B-813FAB95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フォールデッドカスコードオペアンプ </a:t>
            </a:r>
            <a:r>
              <a:rPr lang="en-US" altLang="ja-JP" dirty="0"/>
              <a:t>+ </a:t>
            </a:r>
            <a:r>
              <a:rPr lang="ja-JP" altLang="en-US" dirty="0"/>
              <a:t>ソース接地回路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A1DFB9-E551-D840-A8DB-B245F7DD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FA7692-9DE3-CD72-1298-2371520B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23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54FDABD2-0957-5DAB-DCAA-F7D77B140F9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40"/>
                <a:ext cx="4756149" cy="4601748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1700" b="0" i="1" smtClean="0">
                        <a:latin typeface="Cambria Math" panose="02040503050406030204" pitchFamily="18" charset="0"/>
                      </a:rPr>
                      <m:t>ソース接地</m:t>
                    </m:r>
                  </m:oMath>
                </a14:m>
                <a:r>
                  <a:rPr kumimoji="1" lang="ja-JP" altLang="en-US" sz="1700" dirty="0"/>
                  <a:t>回路を後段につけると</a:t>
                </a:r>
                <a:r>
                  <a:rPr lang="ja-JP" altLang="en-US" sz="1700" dirty="0"/>
                  <a:t>極がシフトする</a:t>
                </a:r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ja-JP" sz="17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𝑑𝑐</m:t>
                        </m:r>
                      </m:e>
                    </m:d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700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1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ja-JP" sz="1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  <m:r>
                          <a:rPr lang="en-US" altLang="ja-JP" sz="1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ja-JP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sub>
                    </m:sSub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altLang="ja-JP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  <m:r>
                                  <a:rPr lang="en-US" altLang="ja-JP" sz="17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  <m:r>
                          <a:rPr lang="en-US" altLang="ja-JP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𝑑𝑠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≅−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𝑔𝑑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≅−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7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≅</m:t>
                    </m:r>
                    <m:r>
                      <a:rPr lang="en-US" altLang="ja-JP" sz="17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ja-JP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7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17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ja-JP" sz="1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ja-JP" sz="2000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54FDABD2-0957-5DAB-DCAA-F7D77B140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40"/>
                <a:ext cx="4756149" cy="4601748"/>
              </a:xfrm>
              <a:blipFill>
                <a:blip r:embed="rId2"/>
                <a:stretch>
                  <a:fillRect l="-513" t="-9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328C1C8-F817-52E9-6709-D77C7F33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73212" y="1183276"/>
            <a:ext cx="5099278" cy="408685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113539-29F2-A20E-85D6-EC0834F26EA1}"/>
              </a:ext>
            </a:extLst>
          </p:cNvPr>
          <p:cNvSpPr txBox="1"/>
          <p:nvPr/>
        </p:nvSpPr>
        <p:spPr>
          <a:xfrm>
            <a:off x="5126377" y="5582194"/>
            <a:ext cx="679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入力段の</a:t>
            </a:r>
            <a:r>
              <a:rPr kumimoji="1" lang="en-US" altLang="ja-JP" dirty="0"/>
              <a:t>gm</a:t>
            </a:r>
            <a:r>
              <a:rPr kumimoji="1" lang="ja-JP" altLang="en-US" dirty="0"/>
              <a:t>を大きくしなくても高い</a:t>
            </a:r>
            <a:r>
              <a:rPr kumimoji="1" lang="en-US" altLang="ja-JP" dirty="0"/>
              <a:t>DC</a:t>
            </a:r>
            <a:r>
              <a:rPr kumimoji="1" lang="ja-JP" altLang="en-US" dirty="0"/>
              <a:t>ゲインが得られる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E436283-0E2B-169A-4577-9EF5AE3CC756}"/>
              </a:ext>
            </a:extLst>
          </p:cNvPr>
          <p:cNvSpPr/>
          <p:nvPr/>
        </p:nvSpPr>
        <p:spPr>
          <a:xfrm>
            <a:off x="1115462" y="2623758"/>
            <a:ext cx="9715500" cy="193357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フォールデッドカスコードオペアンプのうまみは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高い</a:t>
            </a:r>
            <a:r>
              <a:rPr kumimoji="1" lang="en-US" altLang="ja-JP" sz="2800" dirty="0"/>
              <a:t>DC</a:t>
            </a:r>
            <a:r>
              <a:rPr kumimoji="1" lang="ja-JP" altLang="en-US" sz="2800" dirty="0"/>
              <a:t>ゲインではありません</a:t>
            </a:r>
            <a:br>
              <a:rPr kumimoji="1" lang="en-US" altLang="ja-JP" sz="2800" dirty="0"/>
            </a:br>
            <a:r>
              <a:rPr kumimoji="1" lang="en-US" altLang="ja-JP" sz="1600" dirty="0"/>
              <a:t>※</a:t>
            </a:r>
            <a:r>
              <a:rPr kumimoji="1" lang="ja-JP" altLang="en-US" sz="1600" dirty="0"/>
              <a:t>個人の感想です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44154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6526C0-7F37-EAD0-411D-4C86A6BB6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比較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121FB3-EFBF-48F1-A4AE-0154D908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11E689-3DAE-E264-6489-9940A636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24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709623D-D414-BCE6-83F9-7416154140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入力段サイズ、帰還容量</a:t>
            </a:r>
            <a:r>
              <a:rPr lang="en-US" altLang="ja-JP" dirty="0"/>
              <a:t>Cc</a:t>
            </a:r>
            <a:r>
              <a:rPr lang="ja-JP" altLang="en-US" dirty="0"/>
              <a:t>、出力段ソース接地回路のサイズ・電流を同じにして比較してみる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BCC39CF-416E-8DE5-1753-AE437E1B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51" y="2075968"/>
            <a:ext cx="2309399" cy="319296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820515C-A17D-D030-872A-48E835C58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1955" y="2084351"/>
            <a:ext cx="3909494" cy="317619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70BEC84-2CDC-B61F-E60F-A31AD39C3A15}"/>
              </a:ext>
            </a:extLst>
          </p:cNvPr>
          <p:cNvSpPr txBox="1"/>
          <p:nvPr/>
        </p:nvSpPr>
        <p:spPr>
          <a:xfrm>
            <a:off x="1311452" y="5451566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DC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84.24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54.9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2.5 MHz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322A6A-0D57-416A-26EE-61613B943DEF}"/>
              </a:ext>
            </a:extLst>
          </p:cNvPr>
          <p:cNvSpPr txBox="1"/>
          <p:nvPr/>
        </p:nvSpPr>
        <p:spPr>
          <a:xfrm>
            <a:off x="7662404" y="5450054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DC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91.16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57.6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2.9 MHz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9102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E767-9359-B61F-3D90-618B8ADB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E6098A-B33C-578A-46A6-CD6FF654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比較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8F19C8-C32D-F811-8584-8D8815FBC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E0CB17-CB9F-8152-4E9A-E59462FA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25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B1763AD-C762-9212-75D0-A9884FEDCD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入力段サイズ、帰還容量</a:t>
            </a:r>
            <a:r>
              <a:rPr lang="en-US" altLang="ja-JP" dirty="0"/>
              <a:t>Cc</a:t>
            </a:r>
            <a:r>
              <a:rPr lang="ja-JP" altLang="en-US" dirty="0"/>
              <a:t>、出力段ソース接地回路のサイズ・電流を同じにして比較してみる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2F00A3-E2AB-4134-1143-4080CE6C4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51" y="2075968"/>
            <a:ext cx="2309399" cy="319296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07B1D73-4E17-EAAF-4BF1-EB04D8C3D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1952" y="2084351"/>
            <a:ext cx="3909494" cy="317619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B6B6165-5DC8-C07B-3E16-BDB15A0D229F}"/>
              </a:ext>
            </a:extLst>
          </p:cNvPr>
          <p:cNvSpPr txBox="1"/>
          <p:nvPr/>
        </p:nvSpPr>
        <p:spPr>
          <a:xfrm>
            <a:off x="1311452" y="5451566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1kHz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70.42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54.9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2.5 MHz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75CCDFE-B525-74CA-B59D-37D0DEA46B48}"/>
              </a:ext>
            </a:extLst>
          </p:cNvPr>
          <p:cNvSpPr txBox="1"/>
          <p:nvPr/>
        </p:nvSpPr>
        <p:spPr>
          <a:xfrm>
            <a:off x="7662401" y="5450054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1kHz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70.42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57.6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2.9 MHz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C97F4B3-8C72-C427-944C-232BFDE47089}"/>
              </a:ext>
            </a:extLst>
          </p:cNvPr>
          <p:cNvSpPr/>
          <p:nvPr/>
        </p:nvSpPr>
        <p:spPr>
          <a:xfrm>
            <a:off x="4807522" y="5322938"/>
            <a:ext cx="2576956" cy="1104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帰還容量の影響で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AC</a:t>
            </a:r>
            <a:r>
              <a:rPr kumimoji="1" lang="ja-JP" altLang="en-US" dirty="0"/>
              <a:t>ゲインは</a:t>
            </a:r>
            <a:br>
              <a:rPr kumimoji="1" lang="en-US" altLang="ja-JP" dirty="0"/>
            </a:br>
            <a:r>
              <a:rPr kumimoji="1" lang="ja-JP" altLang="en-US" dirty="0"/>
              <a:t>そこまで変わらない</a:t>
            </a:r>
          </a:p>
        </p:txBody>
      </p:sp>
    </p:spTree>
    <p:extLst>
      <p:ext uri="{BB962C8B-B14F-4D97-AF65-F5344CB8AC3E}">
        <p14:creationId xmlns:p14="http://schemas.microsoft.com/office/powerpoint/2010/main" val="3972253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CB3C-5F8A-784E-C7EA-6E861282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723E3B-FCD0-F628-3E2D-1BC215C2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カスコード補償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766006-E718-70FA-5262-52B16E84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85215C-FEDF-BBD0-EF9B-78C378BD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26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4A0AEFE-AB0A-175B-ECF2-47818C535B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カスコード段を持つオペアンプではカスコード補償とよばれる、ミラー補償とは異なる位相補償容量のつけ方がある</a:t>
            </a:r>
            <a:br>
              <a:rPr lang="en-US" altLang="ja-JP" sz="1800" dirty="0"/>
            </a:br>
            <a:r>
              <a:rPr lang="ja-JP" altLang="en-US" sz="1800" b="1" dirty="0">
                <a:solidFill>
                  <a:srgbClr val="FF0000"/>
                </a:solidFill>
              </a:rPr>
              <a:t>フォールデッドカスコードオペアンプのうまみはカスコード補償にあり！</a:t>
            </a:r>
            <a:endParaRPr kumimoji="1" lang="ja-JP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3D1481B-DE12-41EE-5775-185945F3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952" y="2596763"/>
            <a:ext cx="3909494" cy="319296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2985ED-ECFC-8647-E2B8-C5E341E23CE1}"/>
              </a:ext>
            </a:extLst>
          </p:cNvPr>
          <p:cNvSpPr txBox="1"/>
          <p:nvPr/>
        </p:nvSpPr>
        <p:spPr>
          <a:xfrm>
            <a:off x="850554" y="5972361"/>
            <a:ext cx="390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ミラー補償 </a:t>
            </a:r>
            <a:r>
              <a:rPr kumimoji="1" lang="en-US" altLang="ja-JP" dirty="0"/>
              <a:t>Cc=8pF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C181E33-D7B7-FB62-1D3B-1ECB4C267D1E}"/>
              </a:ext>
            </a:extLst>
          </p:cNvPr>
          <p:cNvSpPr txBox="1"/>
          <p:nvPr/>
        </p:nvSpPr>
        <p:spPr>
          <a:xfrm>
            <a:off x="7431953" y="5970849"/>
            <a:ext cx="390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カスコード補償 </a:t>
            </a:r>
            <a:r>
              <a:rPr kumimoji="1" lang="en-US" altLang="ja-JP" dirty="0"/>
              <a:t>Cc=8pF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AF61B4E-5F4A-008A-F1CC-558E96399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554" y="2605146"/>
            <a:ext cx="3909494" cy="317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41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FEAD-BFF3-EE40-B837-D469C557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A0CAB8FB-B692-05AC-F6AB-17B9A43CA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952" y="1946287"/>
            <a:ext cx="3909494" cy="319296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0454656-C20D-C392-CE51-14972468F5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554" y="1954670"/>
            <a:ext cx="3909494" cy="317619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40222BF-75AE-4B3A-19B3-35C45D38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カスコード補償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80EB0C-C4B0-E1E4-85B4-5F3C5E6E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2511D5-65D3-E01D-5CD8-633CC438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27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1EBCE27-4DCF-4BAC-CBF4-C0BCF41A22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ミラー補償とカスコード補償それぞれで同じ帰還容量 </a:t>
            </a:r>
            <a:r>
              <a:rPr lang="en-US" altLang="ja-JP" sz="1800" dirty="0"/>
              <a:t>8pF </a:t>
            </a:r>
            <a:r>
              <a:rPr lang="ja-JP" altLang="en-US" sz="1800" dirty="0"/>
              <a:t>でシミュレーション</a:t>
            </a:r>
            <a:endParaRPr kumimoji="1" lang="ja-JP" altLang="en-US" sz="1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F7FDAA-55E5-4326-E473-219BF57343FF}"/>
              </a:ext>
            </a:extLst>
          </p:cNvPr>
          <p:cNvSpPr txBox="1"/>
          <p:nvPr/>
        </p:nvSpPr>
        <p:spPr>
          <a:xfrm>
            <a:off x="850554" y="5140762"/>
            <a:ext cx="390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ミラー補償 </a:t>
            </a:r>
            <a:r>
              <a:rPr kumimoji="1" lang="en-US" altLang="ja-JP" dirty="0"/>
              <a:t>Cc=8pF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54FCBC-3057-C61F-7E00-E959684CDD80}"/>
              </a:ext>
            </a:extLst>
          </p:cNvPr>
          <p:cNvSpPr txBox="1"/>
          <p:nvPr/>
        </p:nvSpPr>
        <p:spPr>
          <a:xfrm>
            <a:off x="7431953" y="5139250"/>
            <a:ext cx="390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カスコード補償 </a:t>
            </a:r>
            <a:r>
              <a:rPr kumimoji="1" lang="en-US" altLang="ja-JP" dirty="0"/>
              <a:t>Cc=8pF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E33979-BF09-0A8B-F1B5-62DF30BEC978}"/>
              </a:ext>
            </a:extLst>
          </p:cNvPr>
          <p:cNvSpPr txBox="1"/>
          <p:nvPr/>
        </p:nvSpPr>
        <p:spPr>
          <a:xfrm>
            <a:off x="1311452" y="5451566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1kHz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70.42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54.9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2.5 MHz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37C6117-C34C-F88C-14E9-634D035B8498}"/>
              </a:ext>
            </a:extLst>
          </p:cNvPr>
          <p:cNvSpPr txBox="1"/>
          <p:nvPr/>
        </p:nvSpPr>
        <p:spPr>
          <a:xfrm>
            <a:off x="7662401" y="5450054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1kHz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70.57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</a:t>
            </a:r>
            <a:r>
              <a:rPr kumimoji="1" lang="en-US" altLang="ja-JP" b="1" dirty="0">
                <a:solidFill>
                  <a:srgbClr val="FF0000"/>
                </a:solidFill>
              </a:rPr>
              <a:t>72.8</a:t>
            </a:r>
            <a:r>
              <a:rPr kumimoji="1" lang="ja-JP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ja-JP" b="1" dirty="0">
                <a:solidFill>
                  <a:srgbClr val="FF0000"/>
                </a:solidFill>
              </a:rPr>
              <a:t>deg</a:t>
            </a:r>
          </a:p>
          <a:p>
            <a:r>
              <a:rPr kumimoji="1" lang="en-US" altLang="ja-JP" dirty="0"/>
              <a:t>f(0dB)		</a:t>
            </a:r>
            <a:r>
              <a:rPr kumimoji="1" lang="en-US" altLang="ja-JP" b="1" dirty="0">
                <a:solidFill>
                  <a:srgbClr val="FF0000"/>
                </a:solidFill>
              </a:rPr>
              <a:t>3.7 MHz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747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F8C8-CFFD-744A-0180-3E511A5B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DD07E703-B9FE-829D-D300-731E4906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952" y="1946287"/>
            <a:ext cx="3909494" cy="319296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965D5E0-0AB7-B79D-71A2-C86D9787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554" y="1954670"/>
            <a:ext cx="3909494" cy="317619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DD80C80-07E4-C31B-2774-01157B27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カスコード補償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A40BA9-A5BF-A66F-3AA3-329EE88C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BC0449-5683-1E2F-7293-FA8BEB2F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28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15E2B989-C745-AF79-0533-58DD5474A3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800" dirty="0"/>
              <a:t>カスコード補償ではミラー補償と比べて位相余裕が作りやすいため、補償容量が小さく、周波数特性も比較的良好。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018E9AC-BC1E-AAE7-3869-F0E48C621184}"/>
              </a:ext>
            </a:extLst>
          </p:cNvPr>
          <p:cNvSpPr txBox="1"/>
          <p:nvPr/>
        </p:nvSpPr>
        <p:spPr>
          <a:xfrm>
            <a:off x="850554" y="5140762"/>
            <a:ext cx="390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ミラー補償 </a:t>
            </a:r>
            <a:r>
              <a:rPr kumimoji="1" lang="en-US" altLang="ja-JP" dirty="0"/>
              <a:t>Cc=8pF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BBDC0BB-32BF-55FF-1D3B-919623DDC0F7}"/>
              </a:ext>
            </a:extLst>
          </p:cNvPr>
          <p:cNvSpPr txBox="1"/>
          <p:nvPr/>
        </p:nvSpPr>
        <p:spPr>
          <a:xfrm>
            <a:off x="7431953" y="5139250"/>
            <a:ext cx="390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カスコード補償 </a:t>
            </a:r>
            <a:r>
              <a:rPr kumimoji="1" lang="en-US" altLang="ja-JP" b="1" dirty="0">
                <a:solidFill>
                  <a:srgbClr val="FF0000"/>
                </a:solidFill>
              </a:rPr>
              <a:t>Cc=6.4pF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13F2E7A-5B98-2674-4502-A99A3CA713F4}"/>
              </a:ext>
            </a:extLst>
          </p:cNvPr>
          <p:cNvSpPr txBox="1"/>
          <p:nvPr/>
        </p:nvSpPr>
        <p:spPr>
          <a:xfrm>
            <a:off x="1311452" y="5451566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1kHz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70.42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54.9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2.5 MHz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620C22C-7494-BB0A-5A84-15A8D5FCFFFD}"/>
              </a:ext>
            </a:extLst>
          </p:cNvPr>
          <p:cNvSpPr txBox="1"/>
          <p:nvPr/>
        </p:nvSpPr>
        <p:spPr>
          <a:xfrm>
            <a:off x="7662401" y="5450054"/>
            <a:ext cx="3448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1kHz</a:t>
            </a:r>
            <a:r>
              <a:rPr kumimoji="1" lang="ja-JP" altLang="en-US" dirty="0"/>
              <a:t>ゲイン</a:t>
            </a:r>
            <a:r>
              <a:rPr kumimoji="1" lang="en-US" altLang="ja-JP" dirty="0"/>
              <a:t>	72.32 dB</a:t>
            </a:r>
          </a:p>
          <a:p>
            <a:r>
              <a:rPr kumimoji="1" lang="ja-JP" altLang="en-US" dirty="0"/>
              <a:t>位相余裕</a:t>
            </a:r>
            <a:r>
              <a:rPr kumimoji="1" lang="en-US" altLang="ja-JP" dirty="0"/>
              <a:t>	58.4</a:t>
            </a:r>
            <a:r>
              <a:rPr kumimoji="1" lang="ja-JP" altLang="en-US" dirty="0"/>
              <a:t> </a:t>
            </a:r>
            <a:r>
              <a:rPr kumimoji="1" lang="en-US" altLang="ja-JP" dirty="0"/>
              <a:t>deg</a:t>
            </a:r>
          </a:p>
          <a:p>
            <a:r>
              <a:rPr kumimoji="1" lang="en-US" altLang="ja-JP" dirty="0"/>
              <a:t>f(0dB)		</a:t>
            </a:r>
            <a:r>
              <a:rPr kumimoji="1" lang="en-US" altLang="ja-JP" b="1" dirty="0">
                <a:solidFill>
                  <a:srgbClr val="FF0000"/>
                </a:solidFill>
              </a:rPr>
              <a:t>4.7 MHz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957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3B3FC3-0956-5E78-74D1-BEA80E47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フォールデッドカスコードオペアンプの</a:t>
            </a:r>
            <a:r>
              <a:rPr kumimoji="1" lang="en-US" altLang="ja-JP" dirty="0"/>
              <a:t>W</a:t>
            </a:r>
            <a:r>
              <a:rPr kumimoji="1" lang="ja-JP" altLang="en-US" dirty="0"/>
              <a:t>比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CEA1CB-E377-1181-40C8-0685F69A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94F74C-1C35-1A48-B647-DD4A0B0B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29</a:t>
            </a:fld>
            <a:endParaRPr lang="ja-JP" altLang="en-US" noProof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803CCA2-FD4E-7C0C-1090-12670F7B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16504" y="1463040"/>
            <a:ext cx="6138540" cy="4919777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BF965F7-7048-A387-E904-89CB02D8F734}"/>
              </a:ext>
            </a:extLst>
          </p:cNvPr>
          <p:cNvCxnSpPr/>
          <p:nvPr/>
        </p:nvCxnSpPr>
        <p:spPr>
          <a:xfrm>
            <a:off x="7408041" y="3683794"/>
            <a:ext cx="0" cy="112395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13E6F5E-AFC2-4241-289F-79626E9E4198}"/>
              </a:ext>
            </a:extLst>
          </p:cNvPr>
          <p:cNvCxnSpPr/>
          <p:nvPr/>
        </p:nvCxnSpPr>
        <p:spPr>
          <a:xfrm>
            <a:off x="6136453" y="3683794"/>
            <a:ext cx="0" cy="112395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BFF7CB39-A86C-A1B7-6DBC-841413FC0097}"/>
              </a:ext>
            </a:extLst>
          </p:cNvPr>
          <p:cNvCxnSpPr>
            <a:cxnSpLocks/>
          </p:cNvCxnSpPr>
          <p:nvPr/>
        </p:nvCxnSpPr>
        <p:spPr>
          <a:xfrm>
            <a:off x="6769865" y="4881563"/>
            <a:ext cx="0" cy="995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A46C322-03BE-6C62-4885-848D619527BB}"/>
                  </a:ext>
                </a:extLst>
              </p:cNvPr>
              <p:cNvSpPr txBox="1"/>
              <p:nvPr/>
            </p:nvSpPr>
            <p:spPr>
              <a:xfrm>
                <a:off x="6769865" y="5194578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A46C322-03BE-6C62-4885-848D61952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865" y="5194578"/>
                <a:ext cx="781050" cy="369332"/>
              </a:xfrm>
              <a:prstGeom prst="rect">
                <a:avLst/>
              </a:prstGeom>
              <a:blipFill>
                <a:blip r:embed="rId3"/>
                <a:stretch>
                  <a:fillRect t="-9836" r="-703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666FDC9-B27F-F6C4-0BC6-153063E1E347}"/>
                  </a:ext>
                </a:extLst>
              </p:cNvPr>
              <p:cNvSpPr txBox="1"/>
              <p:nvPr/>
            </p:nvSpPr>
            <p:spPr>
              <a:xfrm>
                <a:off x="6125340" y="403758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666FDC9-B27F-F6C4-0BC6-153063E1E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340" y="4037584"/>
                <a:ext cx="781050" cy="369332"/>
              </a:xfrm>
              <a:prstGeom prst="rect">
                <a:avLst/>
              </a:prstGeom>
              <a:blipFill>
                <a:blip r:embed="rId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649A2D5-45A2-D393-8EBA-C402CFFF806A}"/>
                  </a:ext>
                </a:extLst>
              </p:cNvPr>
              <p:cNvSpPr txBox="1"/>
              <p:nvPr/>
            </p:nvSpPr>
            <p:spPr>
              <a:xfrm>
                <a:off x="7312790" y="403758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649A2D5-45A2-D393-8EBA-C402CFFF8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90" y="4037584"/>
                <a:ext cx="781050" cy="369332"/>
              </a:xfrm>
              <a:prstGeom prst="rect">
                <a:avLst/>
              </a:prstGeom>
              <a:blipFill>
                <a:blip r:embed="rId5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F707653-7ACC-AE3F-3456-5D5255A2EBE9}"/>
              </a:ext>
            </a:extLst>
          </p:cNvPr>
          <p:cNvCxnSpPr/>
          <p:nvPr/>
        </p:nvCxnSpPr>
        <p:spPr>
          <a:xfrm>
            <a:off x="9795641" y="4788694"/>
            <a:ext cx="0" cy="112395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E2A31558-FE93-2A50-1CB2-A8ED68DFD78C}"/>
              </a:ext>
            </a:extLst>
          </p:cNvPr>
          <p:cNvCxnSpPr/>
          <p:nvPr/>
        </p:nvCxnSpPr>
        <p:spPr>
          <a:xfrm>
            <a:off x="8835203" y="4788694"/>
            <a:ext cx="0" cy="112395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CD4185CE-EDD6-2E8B-6172-01250F59C093}"/>
                  </a:ext>
                </a:extLst>
              </p:cNvPr>
              <p:cNvSpPr txBox="1"/>
              <p:nvPr/>
            </p:nvSpPr>
            <p:spPr>
              <a:xfrm>
                <a:off x="8824090" y="514248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CD4185CE-EDD6-2E8B-6172-01250F59C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090" y="5142484"/>
                <a:ext cx="781050" cy="369332"/>
              </a:xfrm>
              <a:prstGeom prst="rect">
                <a:avLst/>
              </a:prstGeom>
              <a:blipFill>
                <a:blip r:embed="rId6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1D11357-B178-F37D-BCA8-3F034CE137BB}"/>
                  </a:ext>
                </a:extLst>
              </p:cNvPr>
              <p:cNvSpPr txBox="1"/>
              <p:nvPr/>
            </p:nvSpPr>
            <p:spPr>
              <a:xfrm>
                <a:off x="9700390" y="514248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1D11357-B178-F37D-BCA8-3F034CE13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390" y="5142484"/>
                <a:ext cx="781050" cy="369332"/>
              </a:xfrm>
              <a:prstGeom prst="rect">
                <a:avLst/>
              </a:prstGeom>
              <a:blipFill>
                <a:blip r:embed="rId7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906EF1A-27A8-EC51-1ABF-A662979E6DF0}"/>
              </a:ext>
            </a:extLst>
          </p:cNvPr>
          <p:cNvCxnSpPr>
            <a:cxnSpLocks/>
          </p:cNvCxnSpPr>
          <p:nvPr/>
        </p:nvCxnSpPr>
        <p:spPr>
          <a:xfrm>
            <a:off x="9795641" y="2556121"/>
            <a:ext cx="0" cy="7231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5AB10C6-B594-1A50-AC47-3D139D8BAF17}"/>
              </a:ext>
            </a:extLst>
          </p:cNvPr>
          <p:cNvCxnSpPr>
            <a:cxnSpLocks/>
          </p:cNvCxnSpPr>
          <p:nvPr/>
        </p:nvCxnSpPr>
        <p:spPr>
          <a:xfrm>
            <a:off x="8835203" y="2556121"/>
            <a:ext cx="0" cy="7231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557B32-0964-580F-712B-12419E28B4F5}"/>
                  </a:ext>
                </a:extLst>
              </p:cNvPr>
              <p:cNvSpPr txBox="1"/>
              <p:nvPr/>
            </p:nvSpPr>
            <p:spPr>
              <a:xfrm>
                <a:off x="8824090" y="2666968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557B32-0964-580F-712B-12419E28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090" y="2666968"/>
                <a:ext cx="781050" cy="369332"/>
              </a:xfrm>
              <a:prstGeom prst="rect">
                <a:avLst/>
              </a:prstGeom>
              <a:blipFill>
                <a:blip r:embed="rId8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11F271A7-3DF3-C1B7-ECD2-6E07A299DF16}"/>
                  </a:ext>
                </a:extLst>
              </p:cNvPr>
              <p:cNvSpPr txBox="1"/>
              <p:nvPr/>
            </p:nvSpPr>
            <p:spPr>
              <a:xfrm>
                <a:off x="9700390" y="2666968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11F271A7-3DF3-C1B7-ECD2-6E07A299D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390" y="2666968"/>
                <a:ext cx="781050" cy="369332"/>
              </a:xfrm>
              <a:prstGeom prst="rect">
                <a:avLst/>
              </a:prstGeom>
              <a:blipFill>
                <a:blip r:embed="rId9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336A42A-9DEA-DE7D-C7A3-187255AC897B}"/>
              </a:ext>
            </a:extLst>
          </p:cNvPr>
          <p:cNvCxnSpPr>
            <a:cxnSpLocks/>
          </p:cNvCxnSpPr>
          <p:nvPr/>
        </p:nvCxnSpPr>
        <p:spPr>
          <a:xfrm>
            <a:off x="9795641" y="1604669"/>
            <a:ext cx="0" cy="7231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4EAD3EA5-07EA-7410-AC0B-4A0BB0C39053}"/>
              </a:ext>
            </a:extLst>
          </p:cNvPr>
          <p:cNvCxnSpPr>
            <a:cxnSpLocks/>
          </p:cNvCxnSpPr>
          <p:nvPr/>
        </p:nvCxnSpPr>
        <p:spPr>
          <a:xfrm>
            <a:off x="8835203" y="1604669"/>
            <a:ext cx="0" cy="7231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FE9BDC3-D528-1CFB-A6A1-5CFBC0686891}"/>
                  </a:ext>
                </a:extLst>
              </p:cNvPr>
              <p:cNvSpPr txBox="1"/>
              <p:nvPr/>
            </p:nvSpPr>
            <p:spPr>
              <a:xfrm>
                <a:off x="8632003" y="1795967"/>
                <a:ext cx="133190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  <m:r>
                        <a:rPr kumimoji="1" lang="en-US" altLang="ja-JP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FE9BDC3-D528-1CFB-A6A1-5CFBC0686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003" y="1795967"/>
                <a:ext cx="1331907" cy="307777"/>
              </a:xfrm>
              <a:prstGeom prst="rect">
                <a:avLst/>
              </a:prstGeom>
              <a:blipFill>
                <a:blip r:embed="rId1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C3178DD-C904-D200-49AB-C0C7233F4DB0}"/>
                  </a:ext>
                </a:extLst>
              </p:cNvPr>
              <p:cNvSpPr txBox="1"/>
              <p:nvPr/>
            </p:nvSpPr>
            <p:spPr>
              <a:xfrm>
                <a:off x="9648002" y="1795966"/>
                <a:ext cx="133190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  <m:r>
                        <a:rPr kumimoji="1" lang="en-US" altLang="ja-JP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C3178DD-C904-D200-49AB-C0C7233F4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02" y="1795966"/>
                <a:ext cx="1331907" cy="307777"/>
              </a:xfrm>
              <a:prstGeom prst="rect">
                <a:avLst/>
              </a:prstGeom>
              <a:blipFill>
                <a:blip r:embed="rId1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コンテンツ プレースホルダー 4">
            <a:extLst>
              <a:ext uri="{FF2B5EF4-FFF2-40B4-BE49-F238E27FC236}">
                <a16:creationId xmlns:a16="http://schemas.microsoft.com/office/drawing/2014/main" id="{6DBB09A1-E9E8-3FE0-BED6-03FC1956E1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1" y="1463040"/>
            <a:ext cx="4976754" cy="460174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800" dirty="0"/>
              <a:t>W</a:t>
            </a:r>
            <a:r>
              <a:rPr kumimoji="1" lang="ja-JP" altLang="en-US" sz="1800" dirty="0"/>
              <a:t>比は入力段と折り返しカスコード段の電流を</a:t>
            </a:r>
            <a:br>
              <a:rPr kumimoji="1" lang="en-US" altLang="ja-JP" sz="1800" dirty="0"/>
            </a:br>
            <a:r>
              <a:rPr lang="ja-JP" altLang="en-US" sz="1800" dirty="0"/>
              <a:t>どれくらい流すかにより</a:t>
            </a:r>
            <a:r>
              <a:rPr kumimoji="1" lang="ja-JP" altLang="en-US" sz="1800" dirty="0"/>
              <a:t>決</a:t>
            </a:r>
            <a:r>
              <a:rPr lang="ja-JP" altLang="en-US" sz="1800" dirty="0"/>
              <a:t>まる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800" dirty="0"/>
              <a:t>出力段のソース接地回路は</a:t>
            </a:r>
            <a:r>
              <a:rPr kumimoji="1" lang="en-US" altLang="ja-JP" sz="1800" dirty="0"/>
              <a:t>OTA</a:t>
            </a:r>
            <a:r>
              <a:rPr kumimoji="1" lang="ja-JP" altLang="en-US" sz="1800" dirty="0"/>
              <a:t>と変わらず</a:t>
            </a:r>
            <a:br>
              <a:rPr kumimoji="1" lang="en-US" altLang="ja-JP" sz="1800" dirty="0"/>
            </a:br>
            <a:r>
              <a:rPr kumimoji="1" lang="ja-JP" altLang="en-US" sz="1800" dirty="0"/>
              <a:t>最小／最大出力電圧範囲と第</a:t>
            </a:r>
            <a:r>
              <a:rPr kumimoji="1" lang="en-US" altLang="ja-JP" sz="1800" dirty="0"/>
              <a:t>2</a:t>
            </a:r>
            <a:r>
              <a:rPr kumimoji="1" lang="ja-JP" altLang="en-US" sz="1800" dirty="0"/>
              <a:t>極の位置を</a:t>
            </a:r>
            <a:br>
              <a:rPr kumimoji="1" lang="en-US" altLang="ja-JP" sz="1800" dirty="0"/>
            </a:br>
            <a:r>
              <a:rPr kumimoji="1" lang="ja-JP" altLang="en-US" sz="1800" dirty="0"/>
              <a:t>どこに置くかで決定。</a:t>
            </a:r>
          </a:p>
        </p:txBody>
      </p:sp>
    </p:spTree>
    <p:extLst>
      <p:ext uri="{BB962C8B-B14F-4D97-AF65-F5344CB8AC3E}">
        <p14:creationId xmlns:p14="http://schemas.microsoft.com/office/powerpoint/2010/main" val="2144346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D1AD-8718-91B1-6C59-B3D37E4F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703FE-0447-09FE-E1B5-4D5CFAA4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フォールデッドカスコードオペアンプの</a:t>
            </a:r>
            <a:r>
              <a:rPr kumimoji="1" lang="en-US" altLang="ja-JP" dirty="0"/>
              <a:t>W</a:t>
            </a:r>
            <a:r>
              <a:rPr kumimoji="1" lang="ja-JP" altLang="en-US" dirty="0"/>
              <a:t>比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123E8B-9533-6196-E254-89EFB853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072E5B-06D7-31EC-A71C-0EB87022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30</a:t>
            </a:fld>
            <a:endParaRPr lang="ja-JP" altLang="en-US" noProof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DFADFD6-54E9-DF69-9298-7BB17EFE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16504" y="1463040"/>
            <a:ext cx="6138540" cy="4919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32B5560-132C-7428-B2A4-96F11EEEB5B5}"/>
                  </a:ext>
                </a:extLst>
              </p:cNvPr>
              <p:cNvSpPr txBox="1"/>
              <p:nvPr/>
            </p:nvSpPr>
            <p:spPr>
              <a:xfrm>
                <a:off x="6769865" y="4840868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32B5560-132C-7428-B2A4-96F11EEEB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865" y="4840868"/>
                <a:ext cx="781050" cy="369332"/>
              </a:xfrm>
              <a:prstGeom prst="rect">
                <a:avLst/>
              </a:prstGeom>
              <a:blipFill>
                <a:blip r:embed="rId3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83DE549-E095-4677-5676-A5B22C374A5D}"/>
                  </a:ext>
                </a:extLst>
              </p:cNvPr>
              <p:cNvSpPr txBox="1"/>
              <p:nvPr/>
            </p:nvSpPr>
            <p:spPr>
              <a:xfrm>
                <a:off x="6125340" y="4037584"/>
                <a:ext cx="3770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83DE549-E095-4677-5676-A5B22C374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340" y="4037584"/>
                <a:ext cx="377060" cy="369332"/>
              </a:xfrm>
              <a:prstGeom prst="rect">
                <a:avLst/>
              </a:prstGeom>
              <a:blipFill>
                <a:blip r:embed="rId4"/>
                <a:stretch>
                  <a:fillRect t="-9836" r="-1290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7F08386-9495-8A3F-0705-175337B9BB35}"/>
                  </a:ext>
                </a:extLst>
              </p:cNvPr>
              <p:cNvSpPr txBox="1"/>
              <p:nvPr/>
            </p:nvSpPr>
            <p:spPr>
              <a:xfrm>
                <a:off x="8719318" y="476783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7F08386-9495-8A3F-0705-175337B9B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318" y="4767835"/>
                <a:ext cx="781050" cy="369332"/>
              </a:xfrm>
              <a:prstGeom prst="rect">
                <a:avLst/>
              </a:prstGeom>
              <a:blipFill>
                <a:blip r:embed="rId5"/>
                <a:stretch>
                  <a:fillRect t="-9836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9532F7F-C78D-719E-7B19-E39E6012BA9C}"/>
                  </a:ext>
                </a:extLst>
              </p:cNvPr>
              <p:cNvSpPr txBox="1"/>
              <p:nvPr/>
            </p:nvSpPr>
            <p:spPr>
              <a:xfrm>
                <a:off x="9700390" y="476783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9532F7F-C78D-719E-7B19-E39E6012B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390" y="4767835"/>
                <a:ext cx="781050" cy="369332"/>
              </a:xfrm>
              <a:prstGeom prst="rect">
                <a:avLst/>
              </a:prstGeom>
              <a:blipFill>
                <a:blip r:embed="rId6"/>
                <a:stretch>
                  <a:fillRect t="-9836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87B8251-0EF4-ECEE-8417-D287D0D18551}"/>
                  </a:ext>
                </a:extLst>
              </p:cNvPr>
              <p:cNvSpPr txBox="1"/>
              <p:nvPr/>
            </p:nvSpPr>
            <p:spPr>
              <a:xfrm>
                <a:off x="8726872" y="266136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87B8251-0EF4-ECEE-8417-D287D0D18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872" y="2661361"/>
                <a:ext cx="781050" cy="390748"/>
              </a:xfrm>
              <a:prstGeom prst="rect">
                <a:avLst/>
              </a:prstGeom>
              <a:blipFill>
                <a:blip r:embed="rId7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FB03DAE-6273-E71A-FC95-1A7DA583BB6B}"/>
                  </a:ext>
                </a:extLst>
              </p:cNvPr>
              <p:cNvSpPr txBox="1"/>
              <p:nvPr/>
            </p:nvSpPr>
            <p:spPr>
              <a:xfrm>
                <a:off x="9700390" y="266136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FB03DAE-6273-E71A-FC95-1A7DA583B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390" y="2661361"/>
                <a:ext cx="781050" cy="390748"/>
              </a:xfrm>
              <a:prstGeom prst="rect">
                <a:avLst/>
              </a:prstGeom>
              <a:blipFill>
                <a:blip r:embed="rId8"/>
                <a:stretch>
                  <a:fillRect t="-10938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CC33E86-B9F3-0C97-8DA5-34F8D772FE82}"/>
                  </a:ext>
                </a:extLst>
              </p:cNvPr>
              <p:cNvSpPr txBox="1"/>
              <p:nvPr/>
            </p:nvSpPr>
            <p:spPr>
              <a:xfrm>
                <a:off x="8726872" y="1795967"/>
                <a:ext cx="72768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CC33E86-B9F3-0C97-8DA5-34F8D772F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872" y="1795967"/>
                <a:ext cx="727680" cy="390748"/>
              </a:xfrm>
              <a:prstGeom prst="rect">
                <a:avLst/>
              </a:prstGeom>
              <a:blipFill>
                <a:blip r:embed="rId9"/>
                <a:stretch>
                  <a:fillRect t="-10938" r="-5042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EC92670-7131-847E-7903-B78D945E148F}"/>
                  </a:ext>
                </a:extLst>
              </p:cNvPr>
              <p:cNvSpPr txBox="1"/>
              <p:nvPr/>
            </p:nvSpPr>
            <p:spPr>
              <a:xfrm>
                <a:off x="9707945" y="1795966"/>
                <a:ext cx="773496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EC92670-7131-847E-7903-B78D945E1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45" y="1795966"/>
                <a:ext cx="773496" cy="390748"/>
              </a:xfrm>
              <a:prstGeom prst="rect">
                <a:avLst/>
              </a:prstGeom>
              <a:blipFill>
                <a:blip r:embed="rId10"/>
                <a:stretch>
                  <a:fillRect t="-10938" r="-23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コンテンツ プレースホルダー 4">
                <a:extLst>
                  <a:ext uri="{FF2B5EF4-FFF2-40B4-BE49-F238E27FC236}">
                    <a16:creationId xmlns:a16="http://schemas.microsoft.com/office/drawing/2014/main" id="{8F8A7764-0C9C-001C-0724-8F90AA1551A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1" y="1463039"/>
                <a:ext cx="4976754" cy="4919777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ja-JP" altLang="en-US" sz="1400" dirty="0"/>
                  <a:t>入力段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</m:sub>
                    </m:sSub>
                  </m:oMath>
                </a14:m>
                <a:r>
                  <a:rPr kumimoji="1" lang="ja-JP" altLang="en-US" sz="1400" dirty="0"/>
                  <a:t>と折り返しカスコード段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𝑐𝑎𝑠</m:t>
                        </m:r>
                      </m:sub>
                    </m:sSub>
                  </m:oMath>
                </a14:m>
                <a:r>
                  <a:rPr kumimoji="1" lang="ja-JP" altLang="en-US" sz="1400" dirty="0"/>
                  <a:t>で</a:t>
                </a:r>
                <a:br>
                  <a:rPr kumimoji="1" lang="en-US" altLang="ja-JP" sz="1400" dirty="0"/>
                </a:br>
                <a:r>
                  <a:rPr kumimoji="1" lang="ja-JP" altLang="en-US" sz="1400" dirty="0"/>
                  <a:t>同じ電流を流す場合の</a:t>
                </a:r>
                <a:r>
                  <a:rPr kumimoji="1" lang="en-US" altLang="ja-JP" sz="1400" dirty="0"/>
                  <a:t>W</a:t>
                </a:r>
                <a:r>
                  <a:rPr kumimoji="1" lang="ja-JP" altLang="en-US" sz="1400" dirty="0"/>
                  <a:t>比は右の通り</a:t>
                </a:r>
                <a:endParaRPr kumimoji="1" lang="en-US" altLang="ja-JP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1400" dirty="0"/>
                  <a:t>入力段側の電流と折り返しカスコード段の電流は</a:t>
                </a:r>
                <a:br>
                  <a:rPr lang="en-US" altLang="ja-JP" sz="1400" dirty="0"/>
                </a:br>
                <a:r>
                  <a:rPr lang="ja-JP" altLang="en-US" sz="1400" dirty="0"/>
                  <a:t>必ずしも同じである必要はない。</a:t>
                </a:r>
                <a:br>
                  <a:rPr lang="en-US" altLang="ja-JP" sz="1400" dirty="0"/>
                </a:br>
                <a:r>
                  <a:rPr lang="ja-JP" altLang="en-US" sz="1400" dirty="0"/>
                  <a:t>入力段側の電流量：スルーレート</a:t>
                </a:r>
                <a:br>
                  <a:rPr lang="en-US" altLang="ja-JP" sz="1400" dirty="0"/>
                </a:br>
                <a:r>
                  <a:rPr lang="ja-JP" altLang="en-US" sz="1400" dirty="0"/>
                  <a:t>折り返しカスコード段側の電流量：</a:t>
                </a:r>
                <a:r>
                  <a:rPr lang="en-US" altLang="ja-JP" sz="1400" dirty="0"/>
                  <a:t>DC</a:t>
                </a:r>
                <a:r>
                  <a:rPr lang="ja-JP" altLang="en-US" sz="1400" dirty="0"/>
                  <a:t>ゲインおよび極を司る </a:t>
                </a:r>
                <a:r>
                  <a:rPr lang="en-US" altLang="ja-JP" sz="1400" dirty="0"/>
                  <a:t>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1400" dirty="0"/>
                  <a:t>入力</a:t>
                </a:r>
                <a:r>
                  <a:rPr lang="en-US" altLang="ja-JP" sz="1400" dirty="0"/>
                  <a:t>Tr.</a:t>
                </a:r>
                <a:r>
                  <a:rPr lang="ja-JP" altLang="en-US" sz="1400" dirty="0"/>
                  <a:t>の</a:t>
                </a:r>
                <a:r>
                  <a:rPr lang="en-US" altLang="ja-JP" sz="1400" dirty="0"/>
                  <a:t>W/L</a:t>
                </a:r>
                <a:r>
                  <a:rPr lang="ja-JP" altLang="en-US" sz="1400" dirty="0"/>
                  <a:t>は他の</a:t>
                </a:r>
                <a:r>
                  <a:rPr lang="en-US" altLang="ja-JP" sz="1400" dirty="0"/>
                  <a:t>Tr.</a:t>
                </a:r>
                <a:r>
                  <a:rPr lang="ja-JP" altLang="en-US" sz="1400" dirty="0"/>
                  <a:t>サイズに影響を与えない</a:t>
                </a:r>
                <a:br>
                  <a:rPr lang="en-US" altLang="ja-JP" sz="1400" dirty="0"/>
                </a:br>
                <a:r>
                  <a:rPr lang="ja-JP" altLang="en-US" sz="1400" dirty="0"/>
                  <a:t>主に</a:t>
                </a:r>
                <a:r>
                  <a:rPr lang="en-US" altLang="ja-JP" sz="1400" dirty="0"/>
                  <a:t>DC</a:t>
                </a:r>
                <a:r>
                  <a:rPr lang="ja-JP" altLang="en-US" sz="1400" dirty="0"/>
                  <a:t>ゲイン </a:t>
                </a:r>
                <a14:m>
                  <m:oMath xmlns:m="http://schemas.openxmlformats.org/officeDocument/2006/math">
                    <m:r>
                      <a:rPr lang="en-US" altLang="ja-JP" sz="1400" b="0" i="1" smtClean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1400" b="0" i="1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altLang="ja-JP" sz="14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14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140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sz="14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ja-JP" sz="1400" b="0" i="1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sz="1400" dirty="0"/>
                  <a:t>　に寄与</a:t>
                </a:r>
                <a:endParaRPr kumimoji="1" lang="en-US" altLang="ja-JP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i="1" dirty="0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ja-JP" sz="1400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kumimoji="1" lang="ja-JP" altLang="en-US" sz="1400" dirty="0"/>
                  <a:t>、</a:t>
                </a:r>
                <a:r>
                  <a:rPr lang="en-US" altLang="ja-JP" sz="1400" dirty="0">
                    <a:solidFill>
                      <a:srgbClr val="464646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400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00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ja-JP" sz="1400" b="0" i="1" dirty="0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ja-JP" altLang="en-US" sz="1400" dirty="0"/>
                  <a:t>は</a:t>
                </a:r>
                <a:r>
                  <a:rPr kumimoji="1" lang="en-US" altLang="ja-JP" sz="1400" dirty="0"/>
                  <a:t>Ro</a:t>
                </a:r>
                <a:r>
                  <a:rPr kumimoji="1" lang="ja-JP" altLang="en-US" sz="1400" dirty="0"/>
                  <a:t>に大きく寄与。</a:t>
                </a:r>
                <a:br>
                  <a:rPr kumimoji="1" lang="en-US" altLang="ja-JP" sz="1400" dirty="0"/>
                </a:br>
                <a:r>
                  <a:rPr kumimoji="1" lang="en-US" altLang="ja-JP" sz="1400" dirty="0"/>
                  <a:t>DC</a:t>
                </a:r>
                <a:r>
                  <a:rPr kumimoji="1" lang="ja-JP" altLang="en-US" sz="1400" dirty="0"/>
                  <a:t>ゲイン・位相余裕・ユニティゲイン周波数を考えると</a:t>
                </a:r>
                <a:br>
                  <a:rPr lang="en-US" altLang="ja-JP" sz="1400" dirty="0"/>
                </a:br>
                <a:r>
                  <a:rPr lang="ja-JP" altLang="en-US" sz="1400" dirty="0"/>
                  <a:t>小さくてもダメだし大きくてもダメ。　ほどほどの値になる</a:t>
                </a:r>
                <a:endParaRPr lang="en-US" altLang="ja-JP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sz="1400" dirty="0"/>
                  <a:t>ソース接地段は</a:t>
                </a:r>
                <a:r>
                  <a:rPr lang="en-US" altLang="ja-JP" sz="1400" dirty="0"/>
                  <a:t>OTA</a:t>
                </a:r>
                <a:r>
                  <a:rPr lang="ja-JP" altLang="en-US" sz="1400" dirty="0"/>
                  <a:t>の時と同じ。</a:t>
                </a:r>
                <a:br>
                  <a:rPr lang="en-US" altLang="ja-JP" sz="1400" dirty="0"/>
                </a:br>
                <a:r>
                  <a:rPr lang="ja-JP" altLang="en-US" sz="1400" dirty="0"/>
                  <a:t>出力電圧範囲・抵抗駆動能力・第</a:t>
                </a:r>
                <a:r>
                  <a:rPr lang="en-US" altLang="ja-JP" sz="1400" dirty="0"/>
                  <a:t>2</a:t>
                </a:r>
                <a:r>
                  <a:rPr lang="ja-JP" altLang="en-US" sz="1400" dirty="0"/>
                  <a:t>極に寄与</a:t>
                </a:r>
                <a:endParaRPr kumimoji="1" lang="en-US" altLang="ja-JP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1400" dirty="0"/>
                  <a:t>1</a:t>
                </a:r>
                <a:r>
                  <a:rPr lang="ja-JP" altLang="en-US" sz="1400" dirty="0"/>
                  <a:t>段目</a:t>
                </a:r>
                <a:r>
                  <a:rPr lang="en-US" altLang="ja-JP" sz="1400" dirty="0"/>
                  <a:t>Tr.</a:t>
                </a:r>
                <a:r>
                  <a:rPr lang="ja-JP" altLang="en-US" sz="1400" dirty="0"/>
                  <a:t>と</a:t>
                </a:r>
                <a:r>
                  <a:rPr lang="en-US" altLang="ja-JP" sz="1400" dirty="0"/>
                  <a:t>2</a:t>
                </a:r>
                <a:r>
                  <a:rPr lang="ja-JP" altLang="en-US" sz="1400" dirty="0"/>
                  <a:t>段目</a:t>
                </a:r>
                <a:r>
                  <a:rPr lang="en-US" altLang="ja-JP" sz="1400" dirty="0"/>
                  <a:t>Tr.</a:t>
                </a:r>
                <a:r>
                  <a:rPr lang="ja-JP" altLang="en-US" sz="1400" dirty="0"/>
                  <a:t>は</a:t>
                </a:r>
                <a:r>
                  <a:rPr kumimoji="1" lang="ja-JP" altLang="en-US" sz="1400" dirty="0"/>
                  <a:t> </a:t>
                </a:r>
                <a:r>
                  <a:rPr kumimoji="1" lang="en-US" altLang="ja-JP" sz="1400" dirty="0"/>
                  <a:t>PMOS</a:t>
                </a:r>
                <a:r>
                  <a:rPr kumimoji="1" lang="ja-JP" altLang="en-US" sz="1400" dirty="0"/>
                  <a:t>と</a:t>
                </a:r>
                <a:r>
                  <a:rPr kumimoji="1" lang="en-US" altLang="ja-JP" sz="1400" dirty="0"/>
                  <a:t>NMOS</a:t>
                </a:r>
                <a:r>
                  <a:rPr kumimoji="1" lang="ja-JP" altLang="en-US" sz="1400" dirty="0"/>
                  <a:t>の比が</a:t>
                </a:r>
                <a:br>
                  <a:rPr kumimoji="1" lang="en-US" altLang="ja-JP" sz="1400" dirty="0"/>
                </a:br>
                <a:r>
                  <a:rPr kumimoji="1" lang="ja-JP" altLang="en-US" sz="1400" dirty="0"/>
                  <a:t>揃っていればよい（システマティックオフセット）</a:t>
                </a:r>
              </a:p>
            </p:txBody>
          </p:sp>
        </mc:Choice>
        <mc:Fallback xmlns="">
          <p:sp>
            <p:nvSpPr>
              <p:cNvPr id="35" name="コンテンツ プレースホルダー 4">
                <a:extLst>
                  <a:ext uri="{FF2B5EF4-FFF2-40B4-BE49-F238E27FC236}">
                    <a16:creationId xmlns:a16="http://schemas.microsoft.com/office/drawing/2014/main" id="{8F8A7764-0C9C-001C-0724-8F90AA155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1" y="1463039"/>
                <a:ext cx="4976754" cy="4919777"/>
              </a:xfrm>
              <a:blipFill>
                <a:blip r:embed="rId11"/>
                <a:stretch>
                  <a:fillRect l="-245" t="-2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1167C5-299B-AA64-A411-671535BA862C}"/>
                  </a:ext>
                </a:extLst>
              </p:cNvPr>
              <p:cNvSpPr txBox="1"/>
              <p:nvPr/>
            </p:nvSpPr>
            <p:spPr>
              <a:xfrm>
                <a:off x="6779772" y="551181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1167C5-299B-AA64-A411-671535BA8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772" y="5511816"/>
                <a:ext cx="781050" cy="369332"/>
              </a:xfrm>
              <a:prstGeom prst="rect">
                <a:avLst/>
              </a:prstGeom>
              <a:blipFill>
                <a:blip r:embed="rId12"/>
                <a:stretch>
                  <a:fillRect t="-9836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6C5164D-081D-0414-CED9-03883B0747EF}"/>
                  </a:ext>
                </a:extLst>
              </p:cNvPr>
              <p:cNvSpPr txBox="1"/>
              <p:nvPr/>
            </p:nvSpPr>
            <p:spPr>
              <a:xfrm>
                <a:off x="8726872" y="551181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6C5164D-081D-0414-CED9-03883B074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872" y="5511816"/>
                <a:ext cx="781050" cy="369332"/>
              </a:xfrm>
              <a:prstGeom prst="rect">
                <a:avLst/>
              </a:prstGeom>
              <a:blipFill>
                <a:blip r:embed="rId13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37F1BE8-9027-0D7B-AD01-F9E4D80C9C69}"/>
                  </a:ext>
                </a:extLst>
              </p:cNvPr>
              <p:cNvSpPr txBox="1"/>
              <p:nvPr/>
            </p:nvSpPr>
            <p:spPr>
              <a:xfrm>
                <a:off x="9707944" y="551181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37F1BE8-9027-0D7B-AD01-F9E4D80C9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44" y="5511816"/>
                <a:ext cx="781050" cy="369332"/>
              </a:xfrm>
              <a:prstGeom prst="rect">
                <a:avLst/>
              </a:prstGeom>
              <a:blipFill>
                <a:blip r:embed="rId14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F1EE9BF-A7AC-7C82-5E0B-FA5256633E6A}"/>
                  </a:ext>
                </a:extLst>
              </p:cNvPr>
              <p:cNvSpPr txBox="1"/>
              <p:nvPr/>
            </p:nvSpPr>
            <p:spPr>
              <a:xfrm>
                <a:off x="7431987" y="4037584"/>
                <a:ext cx="3770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F1EE9BF-A7AC-7C82-5E0B-FA5256633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987" y="4037584"/>
                <a:ext cx="377060" cy="369332"/>
              </a:xfrm>
              <a:prstGeom prst="rect">
                <a:avLst/>
              </a:prstGeom>
              <a:blipFill>
                <a:blip r:embed="rId15"/>
                <a:stretch>
                  <a:fillRect t="-9836" r="-1451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614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4BEF-89CB-03D9-B922-27F852F3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B88433D4-42CF-B95C-B173-71D3AB90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オペアンプ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17626C-B2C4-12E8-56D3-EE92E116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B4BF52-1DA8-5C54-C424-0E333AD1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31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DF22CB5-272B-71AF-D578-468F18D480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サイズ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L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をどうやって決めるか？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チャネル長変調効果を受けずらい電流源を作る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カスコードカレントミラー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ゲインが低い問題を解決する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フォールデッドカスコードオペアンプ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入力電圧レンジを広くとる</a:t>
            </a:r>
            <a:r>
              <a:rPr lang="en-US" altLang="ja-JP" sz="2000" dirty="0"/>
              <a:t>			</a:t>
            </a:r>
            <a:r>
              <a:rPr lang="ja-JP" altLang="en-US" sz="2000" dirty="0"/>
              <a:t>：　</a:t>
            </a:r>
            <a:r>
              <a:rPr lang="en-US" altLang="ja-JP" sz="2000" dirty="0"/>
              <a:t>rail-to-rail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出力電圧レンジも広くとる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AB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級バッファ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96433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8945D-45F3-D89F-5ADC-2930ACBA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Rail-to-Rail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E418C2-6073-BD4E-B7E1-44BF20CE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FC2E3D-20E7-69EB-4103-39E2395F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32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75558A3-E43C-5FC1-1148-2B1822F80A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入力段が</a:t>
            </a:r>
            <a:r>
              <a:rPr lang="en-US" altLang="ja-JP" sz="2000" dirty="0"/>
              <a:t>NMOS</a:t>
            </a:r>
            <a:r>
              <a:rPr lang="ja-JP" altLang="en-US" sz="2000" dirty="0"/>
              <a:t>のみ</a:t>
            </a:r>
            <a:r>
              <a:rPr lang="en-US" altLang="ja-JP" sz="2000" dirty="0"/>
              <a:t>(</a:t>
            </a:r>
            <a:r>
              <a:rPr lang="ja-JP" altLang="en-US" sz="2000" dirty="0"/>
              <a:t>または</a:t>
            </a:r>
            <a:r>
              <a:rPr lang="en-US" altLang="ja-JP" sz="2000" dirty="0"/>
              <a:t>PMOS</a:t>
            </a:r>
            <a:r>
              <a:rPr lang="ja-JP" altLang="en-US" sz="2000" dirty="0"/>
              <a:t>のみ）では</a:t>
            </a:r>
            <a:r>
              <a:rPr lang="en-US" altLang="ja-JP" sz="2000" dirty="0"/>
              <a:t>Vth</a:t>
            </a:r>
            <a:r>
              <a:rPr lang="ja-JP" altLang="en-US" sz="2000" dirty="0"/>
              <a:t>以下の入力電圧を検知できず歪む</a:t>
            </a:r>
            <a:br>
              <a:rPr lang="en-US" altLang="ja-JP" sz="2000" dirty="0"/>
            </a:br>
            <a:r>
              <a:rPr lang="ja-JP" altLang="en-US" sz="2000" dirty="0"/>
              <a:t>→　</a:t>
            </a:r>
            <a:r>
              <a:rPr lang="en-US" altLang="ja-JP" sz="2000" dirty="0"/>
              <a:t>PMOS</a:t>
            </a:r>
            <a:r>
              <a:rPr lang="ja-JP" altLang="en-US" sz="2000" dirty="0"/>
              <a:t>と</a:t>
            </a:r>
            <a:r>
              <a:rPr lang="en-US" altLang="ja-JP" sz="2000" dirty="0"/>
              <a:t>NMOS</a:t>
            </a:r>
            <a:r>
              <a:rPr lang="ja-JP" altLang="en-US" sz="2000" dirty="0"/>
              <a:t>の両方を入力段として採用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000" dirty="0"/>
              <a:t>OTA</a:t>
            </a:r>
            <a:r>
              <a:rPr lang="ja-JP" altLang="en-US" sz="2000" dirty="0"/>
              <a:t>をベースに作る場合は電流加算用のカレントミラーを組む必要があり若干面倒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フォールデッドカスコード構成では</a:t>
            </a:r>
            <a:r>
              <a:rPr lang="en-US" altLang="ja-JP" sz="2000" dirty="0"/>
              <a:t>Rail-to-rail</a:t>
            </a:r>
            <a:r>
              <a:rPr lang="ja-JP" altLang="en-US" sz="2000" dirty="0"/>
              <a:t>の構成が作りやすく、トポロジも美しい</a:t>
            </a:r>
            <a:endParaRPr lang="en-US" altLang="ja-JP" sz="20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88311E9-438D-C0E4-7FA4-D44142778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799" y="2724914"/>
            <a:ext cx="4163281" cy="258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90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45EF7-984C-A21B-B407-1AAC718A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 </a:t>
            </a:r>
            <a:r>
              <a:rPr lang="en-US" altLang="ja-JP" dirty="0"/>
              <a:t>folded</a:t>
            </a:r>
            <a:r>
              <a:rPr lang="ja-JP" altLang="en-US" dirty="0"/>
              <a:t> </a:t>
            </a:r>
            <a:r>
              <a:rPr lang="en-US" altLang="ja-JP" dirty="0" err="1"/>
              <a:t>cascode</a:t>
            </a:r>
            <a:r>
              <a:rPr lang="ja-JP" altLang="en-US" dirty="0"/>
              <a:t> </a:t>
            </a:r>
            <a:r>
              <a:rPr lang="en-US" altLang="ja-JP" dirty="0" err="1"/>
              <a:t>opamp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1E2E95-F4D2-3D54-D1AB-4B4B926E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7FBF3C-F884-4E98-8237-72CC2043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33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9762714-5A4F-7F55-77F5-FE28E600F8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入力段テール電流の左右分割は回路的に大きな意味はない</a:t>
            </a:r>
            <a:br>
              <a:rPr kumimoji="1" lang="en-US" altLang="ja-JP" dirty="0"/>
            </a:br>
            <a:r>
              <a:rPr kumimoji="1" lang="ja-JP" altLang="en-US" dirty="0"/>
              <a:t>（レイアウトが描きやすいので分割）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DC</a:t>
            </a:r>
            <a:r>
              <a:rPr lang="ja-JP" altLang="en-US" dirty="0"/>
              <a:t>ゲインは入力電圧に対する</a:t>
            </a:r>
            <a:r>
              <a:rPr lang="en-US" altLang="ja-JP" dirty="0"/>
              <a:t>PMOS</a:t>
            </a:r>
            <a:r>
              <a:rPr lang="ja-JP" altLang="en-US" dirty="0"/>
              <a:t>／</a:t>
            </a:r>
            <a:r>
              <a:rPr lang="en-US" altLang="ja-JP" dirty="0"/>
              <a:t>NMOS</a:t>
            </a:r>
            <a:r>
              <a:rPr lang="ja-JP" altLang="en-US" dirty="0"/>
              <a:t>の寄与度によって</a:t>
            </a:r>
            <a:br>
              <a:rPr lang="en-US" altLang="ja-JP" dirty="0"/>
            </a:br>
            <a:r>
              <a:rPr lang="ja-JP" altLang="en-US" dirty="0"/>
              <a:t>決定するため手計算での算出は非常に困難（ご勘弁ください</a:t>
            </a:r>
            <a:r>
              <a:rPr lang="en-US" altLang="ja-JP" dirty="0"/>
              <a:t>…</a:t>
            </a:r>
            <a:r>
              <a:rPr lang="ja-JP" altLang="en-US" dirty="0"/>
              <a:t>）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入力</a:t>
            </a:r>
            <a:r>
              <a:rPr lang="en-US" altLang="ja-JP" dirty="0"/>
              <a:t>Tr.</a:t>
            </a:r>
            <a:r>
              <a:rPr lang="ja-JP" altLang="en-US" dirty="0"/>
              <a:t>の</a:t>
            </a:r>
            <a:r>
              <a:rPr lang="en-US" altLang="ja-JP" dirty="0"/>
              <a:t>gm</a:t>
            </a:r>
            <a:r>
              <a:rPr lang="ja-JP" altLang="en-US" dirty="0"/>
              <a:t>によって</a:t>
            </a:r>
            <a:r>
              <a:rPr lang="en-US" altLang="ja-JP" dirty="0"/>
              <a:t>DC</a:t>
            </a:r>
            <a:r>
              <a:rPr lang="ja-JP" altLang="en-US" dirty="0"/>
              <a:t>ゲインが決定されることに変わりはなく、</a:t>
            </a:r>
            <a:br>
              <a:rPr lang="en-US" altLang="ja-JP" dirty="0"/>
            </a:br>
            <a:r>
              <a:rPr lang="en-US" altLang="ja-JP" dirty="0"/>
              <a:t>W</a:t>
            </a:r>
            <a:r>
              <a:rPr lang="ja-JP" altLang="en-US" dirty="0"/>
              <a:t>を大きくすると極の位置を殆ど動かすことなく</a:t>
            </a:r>
            <a:r>
              <a:rPr lang="en-US" altLang="ja-JP" dirty="0"/>
              <a:t>DC</a:t>
            </a:r>
            <a:r>
              <a:rPr lang="ja-JP" altLang="en-US" dirty="0"/>
              <a:t>ゲインが上がる。</a:t>
            </a:r>
            <a:br>
              <a:rPr lang="en-US" altLang="ja-JP" dirty="0"/>
            </a:br>
            <a:r>
              <a:rPr lang="en-US" altLang="ja-JP" dirty="0"/>
              <a:t>PMOS</a:t>
            </a:r>
            <a:r>
              <a:rPr lang="ja-JP" altLang="en-US" dirty="0"/>
              <a:t>と</a:t>
            </a:r>
            <a:r>
              <a:rPr lang="en-US" altLang="ja-JP" dirty="0"/>
              <a:t>NMOS</a:t>
            </a:r>
            <a:r>
              <a:rPr lang="ja-JP" altLang="en-US" dirty="0"/>
              <a:t>の</a:t>
            </a:r>
            <a:r>
              <a:rPr lang="en-US" altLang="ja-JP" dirty="0"/>
              <a:t>gm</a:t>
            </a:r>
            <a:r>
              <a:rPr lang="ja-JP" altLang="en-US" dirty="0"/>
              <a:t>は必ずしも揃える必要はないが、普通は揃える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B1D49A2-DCF1-1E20-F507-9340E5B2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011" y="1199449"/>
            <a:ext cx="5233489" cy="486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07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137F-9361-87F3-3BC5-E768AB57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B1CE4D-93CF-2D41-003E-D9209D46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 </a:t>
            </a:r>
            <a:r>
              <a:rPr lang="en-US" altLang="ja-JP" dirty="0"/>
              <a:t>folded</a:t>
            </a:r>
            <a:r>
              <a:rPr lang="ja-JP" altLang="en-US" dirty="0"/>
              <a:t> </a:t>
            </a:r>
            <a:r>
              <a:rPr lang="en-US" altLang="ja-JP" dirty="0" err="1"/>
              <a:t>cascode</a:t>
            </a:r>
            <a:r>
              <a:rPr lang="ja-JP" altLang="en-US" dirty="0"/>
              <a:t> </a:t>
            </a:r>
            <a:r>
              <a:rPr lang="en-US" altLang="ja-JP" dirty="0" err="1"/>
              <a:t>opamp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73BF60-5580-FD0C-3FE0-10D7EF57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31C1FA-D004-17F0-B3C2-AE3B1790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34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20770E2-7AA1-11B7-8A3E-8FE77CBDAE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W</a:t>
            </a:r>
            <a:r>
              <a:rPr lang="ja-JP" altLang="en-US" dirty="0"/>
              <a:t>比は非</a:t>
            </a:r>
            <a:r>
              <a:rPr lang="en-US" altLang="ja-JP" dirty="0"/>
              <a:t>R2R</a:t>
            </a:r>
            <a:r>
              <a:rPr lang="ja-JP" altLang="en-US" dirty="0"/>
              <a:t>構成と同様、入力段と折り返しカスコード段の</a:t>
            </a:r>
            <a:br>
              <a:rPr lang="en-US" altLang="ja-JP" dirty="0"/>
            </a:br>
            <a:r>
              <a:rPr lang="ja-JP" altLang="en-US" dirty="0"/>
              <a:t>電流をどれくらい流すかにより決まる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rgbClr val="FF0000"/>
                </a:solidFill>
              </a:rPr>
              <a:t>折り返しカスコード段の電源側のトランジスタに流れる電流量に注意</a:t>
            </a:r>
            <a:endParaRPr lang="en-US" altLang="ja-JP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2863E7C-48BE-577C-1B90-83AFCDAB5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011" y="1199449"/>
            <a:ext cx="5233489" cy="4865340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BB35FD08-0DD8-494E-4982-4D2D69801B3D}"/>
              </a:ext>
            </a:extLst>
          </p:cNvPr>
          <p:cNvCxnSpPr>
            <a:cxnSpLocks/>
          </p:cNvCxnSpPr>
          <p:nvPr/>
        </p:nvCxnSpPr>
        <p:spPr>
          <a:xfrm>
            <a:off x="8804475" y="3782790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2DDC6EC-E7C5-9687-83B2-D6A18C7F4B63}"/>
              </a:ext>
            </a:extLst>
          </p:cNvPr>
          <p:cNvCxnSpPr>
            <a:cxnSpLocks/>
          </p:cNvCxnSpPr>
          <p:nvPr/>
        </p:nvCxnSpPr>
        <p:spPr>
          <a:xfrm>
            <a:off x="7532887" y="3782790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33603E25-5B8B-34F7-B00B-03E37CD0454B}"/>
              </a:ext>
            </a:extLst>
          </p:cNvPr>
          <p:cNvCxnSpPr>
            <a:cxnSpLocks/>
          </p:cNvCxnSpPr>
          <p:nvPr/>
        </p:nvCxnSpPr>
        <p:spPr>
          <a:xfrm>
            <a:off x="8166299" y="4626769"/>
            <a:ext cx="0" cy="1316831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0373193-89C3-E516-5C50-6D2B3919EAEA}"/>
                  </a:ext>
                </a:extLst>
              </p:cNvPr>
              <p:cNvSpPr txBox="1"/>
              <p:nvPr/>
            </p:nvSpPr>
            <p:spPr>
              <a:xfrm>
                <a:off x="8166299" y="511123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0373193-89C3-E516-5C50-6D2B3919E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299" y="5111234"/>
                <a:ext cx="781050" cy="369332"/>
              </a:xfrm>
              <a:prstGeom prst="rect">
                <a:avLst/>
              </a:prstGeom>
              <a:blipFill>
                <a:blip r:embed="rId3"/>
                <a:stretch>
                  <a:fillRect t="-9836" r="-14844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DC3CE97-10E9-0625-F66B-B1DBD4120F4F}"/>
                  </a:ext>
                </a:extLst>
              </p:cNvPr>
              <p:cNvSpPr txBox="1"/>
              <p:nvPr/>
            </p:nvSpPr>
            <p:spPr>
              <a:xfrm>
                <a:off x="7521774" y="378279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DC3CE97-10E9-0625-F66B-B1DBD4120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774" y="3782790"/>
                <a:ext cx="781050" cy="369332"/>
              </a:xfrm>
              <a:prstGeom prst="rect">
                <a:avLst/>
              </a:prstGeom>
              <a:blipFill>
                <a:blip r:embed="rId4"/>
                <a:stretch>
                  <a:fillRect t="-11667" r="-5469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4D3D0FB-C993-0272-E849-FEE7FD414DBB}"/>
                  </a:ext>
                </a:extLst>
              </p:cNvPr>
              <p:cNvSpPr txBox="1"/>
              <p:nvPr/>
            </p:nvSpPr>
            <p:spPr>
              <a:xfrm>
                <a:off x="8709224" y="378279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4D3D0FB-C993-0272-E849-FEE7FD414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224" y="3782790"/>
                <a:ext cx="781050" cy="369332"/>
              </a:xfrm>
              <a:prstGeom prst="rect">
                <a:avLst/>
              </a:prstGeom>
              <a:blipFill>
                <a:blip r:embed="rId5"/>
                <a:stretch>
                  <a:fillRect t="-11667" r="-5469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8CD9873-98FA-057A-A108-F6B78DBEECDF}"/>
              </a:ext>
            </a:extLst>
          </p:cNvPr>
          <p:cNvCxnSpPr>
            <a:cxnSpLocks/>
          </p:cNvCxnSpPr>
          <p:nvPr/>
        </p:nvCxnSpPr>
        <p:spPr>
          <a:xfrm>
            <a:off x="8023425" y="3059668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55EADDE5-F17E-3815-AF34-7CD421DE899F}"/>
              </a:ext>
            </a:extLst>
          </p:cNvPr>
          <p:cNvCxnSpPr>
            <a:cxnSpLocks/>
          </p:cNvCxnSpPr>
          <p:nvPr/>
        </p:nvCxnSpPr>
        <p:spPr>
          <a:xfrm>
            <a:off x="7056637" y="3059668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EF9F07DF-398B-1C9F-05AB-637FCFECBDCB}"/>
                  </a:ext>
                </a:extLst>
              </p:cNvPr>
              <p:cNvSpPr txBox="1"/>
              <p:nvPr/>
            </p:nvSpPr>
            <p:spPr>
              <a:xfrm>
                <a:off x="7045524" y="305966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EF9F07DF-398B-1C9F-05AB-637FCFECB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524" y="3059668"/>
                <a:ext cx="781050" cy="390748"/>
              </a:xfrm>
              <a:prstGeom prst="rect">
                <a:avLst/>
              </a:prstGeom>
              <a:blipFill>
                <a:blip r:embed="rId6"/>
                <a:stretch>
                  <a:fillRect t="-10938" r="-5469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55C090E4-8BE2-7F50-5944-C73D95AD8378}"/>
                  </a:ext>
                </a:extLst>
              </p:cNvPr>
              <p:cNvSpPr txBox="1"/>
              <p:nvPr/>
            </p:nvSpPr>
            <p:spPr>
              <a:xfrm>
                <a:off x="7928174" y="305966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55C090E4-8BE2-7F50-5944-C73D95AD8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3059668"/>
                <a:ext cx="781050" cy="390748"/>
              </a:xfrm>
              <a:prstGeom prst="rect">
                <a:avLst/>
              </a:prstGeom>
              <a:blipFill>
                <a:blip r:embed="rId7"/>
                <a:stretch>
                  <a:fillRect t="-10938" r="-5469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9BE528ED-772B-C989-E318-75A2471511A6}"/>
              </a:ext>
            </a:extLst>
          </p:cNvPr>
          <p:cNvCxnSpPr>
            <a:cxnSpLocks/>
          </p:cNvCxnSpPr>
          <p:nvPr/>
        </p:nvCxnSpPr>
        <p:spPr>
          <a:xfrm>
            <a:off x="7532887" y="1377434"/>
            <a:ext cx="0" cy="1316831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57E96028-C3AB-F348-9431-0D9C13AED0BC}"/>
                  </a:ext>
                </a:extLst>
              </p:cNvPr>
              <p:cNvSpPr txBox="1"/>
              <p:nvPr/>
            </p:nvSpPr>
            <p:spPr>
              <a:xfrm>
                <a:off x="7532887" y="1861899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57E96028-C3AB-F348-9431-0D9C13AED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887" y="1861899"/>
                <a:ext cx="781050" cy="390748"/>
              </a:xfrm>
              <a:prstGeom prst="rect">
                <a:avLst/>
              </a:prstGeom>
              <a:blipFill>
                <a:blip r:embed="rId8"/>
                <a:stretch>
                  <a:fillRect t="-9231" r="-14063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A75D18FD-6845-4B41-4BEB-A3985B51817B}"/>
              </a:ext>
            </a:extLst>
          </p:cNvPr>
          <p:cNvCxnSpPr>
            <a:cxnSpLocks/>
          </p:cNvCxnSpPr>
          <p:nvPr/>
        </p:nvCxnSpPr>
        <p:spPr>
          <a:xfrm>
            <a:off x="10268150" y="2354723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8D0BB604-FF0A-DD5B-0A85-0D5478E818C4}"/>
                  </a:ext>
                </a:extLst>
              </p:cNvPr>
              <p:cNvSpPr txBox="1"/>
              <p:nvPr/>
            </p:nvSpPr>
            <p:spPr>
              <a:xfrm>
                <a:off x="10268147" y="2354723"/>
                <a:ext cx="963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8D0BB604-FF0A-DD5B-0A85-0D5478E81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147" y="2354723"/>
                <a:ext cx="963800" cy="369332"/>
              </a:xfrm>
              <a:prstGeom prst="rect">
                <a:avLst/>
              </a:prstGeom>
              <a:blipFill>
                <a:blip r:embed="rId9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4E0ABCB-516C-608D-FFEF-72E95FFAFA59}"/>
              </a:ext>
            </a:extLst>
          </p:cNvPr>
          <p:cNvCxnSpPr>
            <a:cxnSpLocks/>
          </p:cNvCxnSpPr>
          <p:nvPr/>
        </p:nvCxnSpPr>
        <p:spPr>
          <a:xfrm>
            <a:off x="11231952" y="2354723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DA54CD8E-D946-B4DC-FA0B-CE4292D3B41C}"/>
              </a:ext>
            </a:extLst>
          </p:cNvPr>
          <p:cNvCxnSpPr>
            <a:cxnSpLocks/>
          </p:cNvCxnSpPr>
          <p:nvPr/>
        </p:nvCxnSpPr>
        <p:spPr>
          <a:xfrm>
            <a:off x="10268150" y="4513635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131335C-D1C8-D51C-0CDB-85AF2756467C}"/>
                  </a:ext>
                </a:extLst>
              </p:cNvPr>
              <p:cNvSpPr txBox="1"/>
              <p:nvPr/>
            </p:nvSpPr>
            <p:spPr>
              <a:xfrm>
                <a:off x="10268145" y="4513635"/>
                <a:ext cx="9638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131335C-D1C8-D51C-0CDB-85AF27564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145" y="4513635"/>
                <a:ext cx="963801" cy="369332"/>
              </a:xfrm>
              <a:prstGeom prst="rect">
                <a:avLst/>
              </a:prstGeom>
              <a:blipFill>
                <a:blip r:embed="rId10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EAEF9FE0-5FDE-A9EB-747A-F755EE6969F4}"/>
              </a:ext>
            </a:extLst>
          </p:cNvPr>
          <p:cNvCxnSpPr>
            <a:cxnSpLocks/>
          </p:cNvCxnSpPr>
          <p:nvPr/>
        </p:nvCxnSpPr>
        <p:spPr>
          <a:xfrm>
            <a:off x="11231952" y="4513635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03297548-06B6-610D-1C56-A1C141623F4B}"/>
              </a:ext>
            </a:extLst>
          </p:cNvPr>
          <p:cNvCxnSpPr>
            <a:cxnSpLocks/>
          </p:cNvCxnSpPr>
          <p:nvPr/>
        </p:nvCxnSpPr>
        <p:spPr>
          <a:xfrm>
            <a:off x="10268150" y="5222147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145D5C6-870F-7223-6EFE-45A582BECF7C}"/>
                  </a:ext>
                </a:extLst>
              </p:cNvPr>
              <p:cNvSpPr txBox="1"/>
              <p:nvPr/>
            </p:nvSpPr>
            <p:spPr>
              <a:xfrm>
                <a:off x="10301801" y="5331006"/>
                <a:ext cx="963800" cy="291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  <m:r>
                        <a:rPr kumimoji="1" lang="en-US" altLang="ja-JP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𝒕𝒂𝒊𝒍𝒑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145D5C6-870F-7223-6EFE-45A582BEC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801" y="5331006"/>
                <a:ext cx="963800" cy="291298"/>
              </a:xfrm>
              <a:prstGeom prst="rect">
                <a:avLst/>
              </a:prstGeom>
              <a:blipFill>
                <a:blip r:embed="rId11"/>
                <a:stretch>
                  <a:fillRect t="-2128" r="-1266" b="-127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5B715F3-CEEC-51B0-B4E9-54F6C97486CE}"/>
              </a:ext>
            </a:extLst>
          </p:cNvPr>
          <p:cNvCxnSpPr>
            <a:cxnSpLocks/>
          </p:cNvCxnSpPr>
          <p:nvPr/>
        </p:nvCxnSpPr>
        <p:spPr>
          <a:xfrm>
            <a:off x="11231952" y="5222147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00047426-0FB0-6A5B-C635-0D5EAEFA8BC8}"/>
                  </a:ext>
                </a:extLst>
              </p:cNvPr>
              <p:cNvSpPr txBox="1"/>
              <p:nvPr/>
            </p:nvSpPr>
            <p:spPr>
              <a:xfrm>
                <a:off x="10268152" y="1687081"/>
                <a:ext cx="963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  <m:r>
                        <a:rPr kumimoji="1" lang="en-US" altLang="ja-JP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𝒕𝒂𝒊𝒍𝒏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00047426-0FB0-6A5B-C635-0D5EAEFA8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152" y="1687081"/>
                <a:ext cx="963800" cy="276999"/>
              </a:xfrm>
              <a:prstGeom prst="rect">
                <a:avLst/>
              </a:prstGeom>
              <a:blipFill>
                <a:blip r:embed="rId12"/>
                <a:stretch>
                  <a:fillRect t="-2222" r="-1258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077080E-0265-0F51-57EA-86D6FF42DCC1}"/>
              </a:ext>
            </a:extLst>
          </p:cNvPr>
          <p:cNvCxnSpPr>
            <a:cxnSpLocks/>
          </p:cNvCxnSpPr>
          <p:nvPr/>
        </p:nvCxnSpPr>
        <p:spPr>
          <a:xfrm flipH="1">
            <a:off x="9099749" y="2116447"/>
            <a:ext cx="4861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0CB70C1B-535C-1129-44D8-3E83F999EE73}"/>
              </a:ext>
            </a:extLst>
          </p:cNvPr>
          <p:cNvCxnSpPr>
            <a:cxnSpLocks/>
          </p:cNvCxnSpPr>
          <p:nvPr/>
        </p:nvCxnSpPr>
        <p:spPr>
          <a:xfrm flipH="1">
            <a:off x="9099749" y="2192647"/>
            <a:ext cx="4861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58280155-790A-4BB6-C00E-A17D2FFCBD0D}"/>
                  </a:ext>
                </a:extLst>
              </p:cNvPr>
              <p:cNvSpPr txBox="1"/>
              <p:nvPr/>
            </p:nvSpPr>
            <p:spPr>
              <a:xfrm>
                <a:off x="8991895" y="1665897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58280155-790A-4BB6-C00E-A17D2FFC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895" y="1665897"/>
                <a:ext cx="781050" cy="369332"/>
              </a:xfrm>
              <a:prstGeom prst="rect">
                <a:avLst/>
              </a:prstGeom>
              <a:blipFill>
                <a:blip r:embed="rId13"/>
                <a:stretch>
                  <a:fillRect t="-9836" r="-6250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E0C8E738-9788-C8FD-7867-CD1802C06F05}"/>
                  </a:ext>
                </a:extLst>
              </p:cNvPr>
              <p:cNvSpPr txBox="1"/>
              <p:nvPr/>
            </p:nvSpPr>
            <p:spPr>
              <a:xfrm>
                <a:off x="8991895" y="21630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E0C8E738-9788-C8FD-7867-CD1802C06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895" y="2163014"/>
                <a:ext cx="781050" cy="369332"/>
              </a:xfrm>
              <a:prstGeom prst="rect">
                <a:avLst/>
              </a:prstGeom>
              <a:blipFill>
                <a:blip r:embed="rId14"/>
                <a:stretch>
                  <a:fillRect t="-11667" r="-6250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95AC1662-5676-9C28-1B4F-0AC468197797}"/>
              </a:ext>
            </a:extLst>
          </p:cNvPr>
          <p:cNvGrpSpPr/>
          <p:nvPr/>
        </p:nvGrpSpPr>
        <p:grpSpPr>
          <a:xfrm rot="10800000">
            <a:off x="9289556" y="4933314"/>
            <a:ext cx="486156" cy="76200"/>
            <a:chOff x="9289556" y="4933314"/>
            <a:chExt cx="486156" cy="76200"/>
          </a:xfrm>
        </p:grpSpPr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68A9EA1F-63EF-87E4-CE66-02CBB5DA2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9556" y="4933314"/>
              <a:ext cx="48615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C7041B66-54E8-E752-1746-27973A4591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9556" y="5009514"/>
              <a:ext cx="48615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DB54736-C720-33DC-F0F0-ACDCE8032E44}"/>
                  </a:ext>
                </a:extLst>
              </p:cNvPr>
              <p:cNvSpPr txBox="1"/>
              <p:nvPr/>
            </p:nvSpPr>
            <p:spPr>
              <a:xfrm>
                <a:off x="9181702" y="4482764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DB54736-C720-33DC-F0F0-ACDCE8032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02" y="4482764"/>
                <a:ext cx="781050" cy="390748"/>
              </a:xfrm>
              <a:prstGeom prst="rect">
                <a:avLst/>
              </a:prstGeom>
              <a:blipFill>
                <a:blip r:embed="rId15"/>
                <a:stretch>
                  <a:fillRect t="-9375" r="-6250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26A42864-3E29-42D5-F180-8AFA09044698}"/>
                  </a:ext>
                </a:extLst>
              </p:cNvPr>
              <p:cNvSpPr txBox="1"/>
              <p:nvPr/>
            </p:nvSpPr>
            <p:spPr>
              <a:xfrm>
                <a:off x="9181702" y="49798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26A42864-3E29-42D5-F180-8AFA09044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02" y="4979881"/>
                <a:ext cx="781050" cy="390748"/>
              </a:xfrm>
              <a:prstGeom prst="rect">
                <a:avLst/>
              </a:prstGeom>
              <a:blipFill>
                <a:blip r:embed="rId16"/>
                <a:stretch>
                  <a:fillRect t="-10938" r="-6250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787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7643-1FF3-F798-66C7-EF34D4F6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D4AC0-3C98-D4AD-D98F-61D1A873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 </a:t>
            </a:r>
            <a:r>
              <a:rPr lang="en-US" altLang="ja-JP" dirty="0"/>
              <a:t>folded</a:t>
            </a:r>
            <a:r>
              <a:rPr lang="ja-JP" altLang="en-US" dirty="0"/>
              <a:t> </a:t>
            </a:r>
            <a:r>
              <a:rPr lang="en-US" altLang="ja-JP" dirty="0" err="1"/>
              <a:t>cascode</a:t>
            </a:r>
            <a:r>
              <a:rPr lang="ja-JP" altLang="en-US" dirty="0"/>
              <a:t> </a:t>
            </a:r>
            <a:r>
              <a:rPr lang="en-US" altLang="ja-JP" dirty="0" err="1"/>
              <a:t>opamp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5DF5755-11C1-DE44-3D98-3EA83B578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D4ECC3-87B1-0E8F-E9A4-EF7E2FAF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35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A6FF420C-56A2-80E6-4F08-659573DF4AF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39"/>
                <a:ext cx="11210543" cy="4964351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入力段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と折り返しカスコード段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𝑐𝑎𝑠</m:t>
                        </m:r>
                      </m:sub>
                    </m:sSub>
                  </m:oMath>
                </a14:m>
                <a:r>
                  <a:rPr lang="ja-JP" altLang="en-US" dirty="0"/>
                  <a:t>で</a:t>
                </a:r>
                <a:br>
                  <a:rPr lang="en-US" altLang="ja-JP" dirty="0"/>
                </a:br>
                <a:r>
                  <a:rPr lang="ja-JP" altLang="en-US" dirty="0"/>
                  <a:t>同じ電流を流す場合の</a:t>
                </a:r>
                <a:r>
                  <a:rPr lang="en-US" altLang="ja-JP" dirty="0"/>
                  <a:t>W</a:t>
                </a:r>
                <a:r>
                  <a:rPr lang="ja-JP" altLang="en-US" dirty="0"/>
                  <a:t>比は右の通り</a:t>
                </a:r>
                <a:br>
                  <a:rPr lang="en-US" altLang="ja-JP" dirty="0"/>
                </a:br>
                <a:r>
                  <a:rPr lang="en-US" altLang="ja-JP" dirty="0">
                    <a:solidFill>
                      <a:srgbClr val="464646"/>
                    </a:solidFill>
                  </a:rPr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𝑐𝑎𝑠</m:t>
                        </m:r>
                      </m:sub>
                    </m:sSub>
                    <m:r>
                      <a:rPr lang="en-US" altLang="ja-JP" i="1" dirty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US" altLang="ja-JP" b="0" i="1" dirty="0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b="0" i="1" dirty="0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が流れる折り返しカスコード段の電源側サイズは</a:t>
                </a:r>
                <a:br>
                  <a:rPr lang="en-US" altLang="ja-JP" dirty="0"/>
                </a:br>
                <a:r>
                  <a:rPr lang="ja-JP" altLang="en-US" dirty="0"/>
                  <a:t>　　</a:t>
                </a:r>
                <a:r>
                  <a:rPr lang="en-US" altLang="ja-JP" dirty="0"/>
                  <a:t>PMOS</a:t>
                </a:r>
                <a:r>
                  <a:rPr lang="ja-JP" altLang="en-US" dirty="0"/>
                  <a:t>側の電流</a:t>
                </a:r>
                <a:r>
                  <a:rPr lang="en-US" altLang="ja-JP" dirty="0"/>
                  <a:t>(Vg=BPO, W=Wp)</a:t>
                </a:r>
                <a:r>
                  <a:rPr lang="ja-JP" altLang="en-US" dirty="0"/>
                  <a:t>の電流量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と</a:t>
                </a:r>
                <a:br>
                  <a:rPr lang="en-US" altLang="ja-JP" dirty="0"/>
                </a:br>
                <a:r>
                  <a:rPr lang="ja-JP" altLang="en-US" dirty="0"/>
                  <a:t>　　</a:t>
                </a:r>
                <a:r>
                  <a:rPr lang="en-US" altLang="ja-JP" dirty="0"/>
                  <a:t>NMOS</a:t>
                </a:r>
                <a:r>
                  <a:rPr lang="ja-JP" altLang="en-US" dirty="0"/>
                  <a:t>側の電流</a:t>
                </a:r>
                <a:r>
                  <a:rPr lang="en-US" altLang="ja-JP" dirty="0"/>
                  <a:t>(Vg=BNO, W=</a:t>
                </a:r>
                <a:r>
                  <a:rPr lang="en-US" altLang="ja-JP" dirty="0" err="1"/>
                  <a:t>Wn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の電流量とが</a:t>
                </a:r>
                <a:br>
                  <a:rPr lang="en-US" altLang="ja-JP" dirty="0"/>
                </a:br>
                <a:r>
                  <a:rPr lang="ja-JP" altLang="en-US" dirty="0"/>
                  <a:t>　　等しいことを前提に算出</a:t>
                </a:r>
                <a:endParaRPr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入力段側の電流と折り返しカスコード段の電流は</a:t>
                </a:r>
                <a:br>
                  <a:rPr lang="en-US" altLang="ja-JP" dirty="0"/>
                </a:br>
                <a:r>
                  <a:rPr lang="ja-JP" altLang="en-US" dirty="0"/>
                  <a:t>必ずしも同じである必要はない。</a:t>
                </a:r>
                <a:br>
                  <a:rPr lang="en-US" altLang="ja-JP" dirty="0"/>
                </a:br>
                <a:r>
                  <a:rPr lang="ja-JP" altLang="en-US" dirty="0"/>
                  <a:t>入力段側の電流量：スルーレート</a:t>
                </a:r>
                <a:br>
                  <a:rPr lang="en-US" altLang="ja-JP" dirty="0"/>
                </a:br>
                <a:r>
                  <a:rPr lang="ja-JP" altLang="en-US" dirty="0"/>
                  <a:t>折り返しカスコード段側の電流量：</a:t>
                </a:r>
                <a:r>
                  <a:rPr lang="en-US" altLang="ja-JP" dirty="0"/>
                  <a:t>DC</a:t>
                </a:r>
                <a:r>
                  <a:rPr lang="ja-JP" altLang="en-US" dirty="0"/>
                  <a:t>ゲインおよび極を司る </a:t>
                </a:r>
                <a:r>
                  <a:rPr lang="en-US" altLang="ja-JP" dirty="0"/>
                  <a:t>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入力</a:t>
                </a:r>
                <a:r>
                  <a:rPr lang="en-US" altLang="ja-JP" dirty="0"/>
                  <a:t>Tr.</a:t>
                </a:r>
                <a:r>
                  <a:rPr lang="ja-JP" altLang="en-US" dirty="0"/>
                  <a:t>の</a:t>
                </a:r>
                <a:r>
                  <a:rPr lang="en-US" altLang="ja-JP" dirty="0"/>
                  <a:t>W/L</a:t>
                </a:r>
                <a:r>
                  <a:rPr lang="ja-JP" altLang="en-US" dirty="0"/>
                  <a:t>は他の</a:t>
                </a:r>
                <a:r>
                  <a:rPr lang="en-US" altLang="ja-JP" dirty="0"/>
                  <a:t>Tr.</a:t>
                </a:r>
                <a:r>
                  <a:rPr lang="ja-JP" altLang="en-US" dirty="0"/>
                  <a:t>サイズに影響を与えない</a:t>
                </a:r>
                <a:br>
                  <a:rPr lang="en-US" altLang="ja-JP" dirty="0"/>
                </a:br>
                <a:r>
                  <a:rPr lang="ja-JP" altLang="en-US" dirty="0"/>
                  <a:t>極を大きく変動させることなく</a:t>
                </a:r>
                <a:r>
                  <a:rPr lang="en-US" altLang="ja-JP" dirty="0"/>
                  <a:t>DC</a:t>
                </a:r>
                <a:r>
                  <a:rPr lang="ja-JP" altLang="en-US" dirty="0"/>
                  <a:t>ゲインを調整できる</a:t>
                </a:r>
                <a:endParaRPr lang="en-US" altLang="ja-JP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ja-JP" altLang="en-US" dirty="0"/>
                  <a:t>、</a:t>
                </a:r>
                <a:r>
                  <a:rPr lang="en-US" altLang="ja-JP" dirty="0">
                    <a:solidFill>
                      <a:srgbClr val="464646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Ro</a:t>
                </a:r>
                <a:r>
                  <a:rPr lang="ja-JP" altLang="en-US" dirty="0"/>
                  <a:t>に大きく寄与。</a:t>
                </a:r>
                <a:br>
                  <a:rPr lang="en-US" altLang="ja-JP" dirty="0"/>
                </a:br>
                <a:r>
                  <a:rPr lang="en-US" altLang="ja-JP" dirty="0"/>
                  <a:t>DC</a:t>
                </a:r>
                <a:r>
                  <a:rPr lang="ja-JP" altLang="en-US" dirty="0"/>
                  <a:t>ゲイン・位相余裕・ユニティゲイン周波数を考えると</a:t>
                </a:r>
                <a:br>
                  <a:rPr lang="en-US" altLang="ja-JP" dirty="0"/>
                </a:br>
                <a:r>
                  <a:rPr lang="ja-JP" altLang="en-US" dirty="0"/>
                  <a:t>小さくてもダメだし大きくてもダメ。　ほどほどの値になる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A6FF420C-56A2-80E6-4F08-659573DF4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39"/>
                <a:ext cx="11210543" cy="4964351"/>
              </a:xfrm>
              <a:blipFill>
                <a:blip r:embed="rId2"/>
                <a:stretch>
                  <a:fillRect l="-218" t="-4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662C2B92-BC55-124D-947D-A5001982E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011" y="1199449"/>
            <a:ext cx="5233489" cy="4865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1B158E6-1ADA-E929-6FDD-806B8C0F2F23}"/>
                  </a:ext>
                </a:extLst>
              </p:cNvPr>
              <p:cNvSpPr txBox="1"/>
              <p:nvPr/>
            </p:nvSpPr>
            <p:spPr>
              <a:xfrm>
                <a:off x="7521774" y="3782790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1B158E6-1ADA-E929-6FDD-806B8C0F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774" y="3782790"/>
                <a:ext cx="618926" cy="369332"/>
              </a:xfrm>
              <a:prstGeom prst="rect">
                <a:avLst/>
              </a:prstGeom>
              <a:blipFill>
                <a:blip r:embed="rId4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A798426-F430-A872-C9E2-B4FEFFB3C374}"/>
                  </a:ext>
                </a:extLst>
              </p:cNvPr>
              <p:cNvSpPr txBox="1"/>
              <p:nvPr/>
            </p:nvSpPr>
            <p:spPr>
              <a:xfrm>
                <a:off x="8709224" y="3782790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A798426-F430-A872-C9E2-B4FEFFB3C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224" y="3782790"/>
                <a:ext cx="618926" cy="369332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1567028-3E4C-B72E-A7AA-3B75309CB199}"/>
                  </a:ext>
                </a:extLst>
              </p:cNvPr>
              <p:cNvSpPr txBox="1"/>
              <p:nvPr/>
            </p:nvSpPr>
            <p:spPr>
              <a:xfrm>
                <a:off x="7045524" y="3059668"/>
                <a:ext cx="476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1567028-3E4C-B72E-A7AA-3B75309C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524" y="3059668"/>
                <a:ext cx="476250" cy="369332"/>
              </a:xfrm>
              <a:prstGeom prst="rect">
                <a:avLst/>
              </a:prstGeom>
              <a:blipFill>
                <a:blip r:embed="rId6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C24F7D08-DD2B-3EB5-4360-FBED29926516}"/>
                  </a:ext>
                </a:extLst>
              </p:cNvPr>
              <p:cNvSpPr txBox="1"/>
              <p:nvPr/>
            </p:nvSpPr>
            <p:spPr>
              <a:xfrm>
                <a:off x="7928174" y="3059668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C24F7D08-DD2B-3EB5-4360-FBED29926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3059668"/>
                <a:ext cx="618926" cy="369332"/>
              </a:xfrm>
              <a:prstGeom prst="rect">
                <a:avLst/>
              </a:prstGeom>
              <a:blipFill>
                <a:blip r:embed="rId7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F8A8466-949A-ED23-B177-73735D2366F3}"/>
                  </a:ext>
                </a:extLst>
              </p:cNvPr>
              <p:cNvSpPr txBox="1"/>
              <p:nvPr/>
            </p:nvSpPr>
            <p:spPr>
              <a:xfrm>
                <a:off x="6902053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F8A8466-949A-ED23-B177-73735D236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053" y="1644481"/>
                <a:ext cx="781050" cy="390748"/>
              </a:xfrm>
              <a:prstGeom prst="rect">
                <a:avLst/>
              </a:prstGeom>
              <a:blipFill>
                <a:blip r:embed="rId8"/>
                <a:stretch>
                  <a:fillRect t="-10938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7D0E4B0-20CE-0A89-710B-6195B6166474}"/>
                  </a:ext>
                </a:extLst>
              </p:cNvPr>
              <p:cNvSpPr txBox="1"/>
              <p:nvPr/>
            </p:nvSpPr>
            <p:spPr>
              <a:xfrm>
                <a:off x="7928174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7D0E4B0-20CE-0A89-710B-6195B616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1644481"/>
                <a:ext cx="781050" cy="390748"/>
              </a:xfrm>
              <a:prstGeom prst="rect">
                <a:avLst/>
              </a:prstGeom>
              <a:blipFill>
                <a:blip r:embed="rId9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8647146-DAD2-25F7-B9C4-C70FB0E608B5}"/>
                  </a:ext>
                </a:extLst>
              </p:cNvPr>
              <p:cNvSpPr txBox="1"/>
              <p:nvPr/>
            </p:nvSpPr>
            <p:spPr>
              <a:xfrm>
                <a:off x="6902053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8647146-DAD2-25F7-B9C4-C70FB0E60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053" y="2367603"/>
                <a:ext cx="781050" cy="390748"/>
              </a:xfrm>
              <a:prstGeom prst="rect">
                <a:avLst/>
              </a:prstGeom>
              <a:blipFill>
                <a:blip r:embed="rId10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924B4C5-562D-2EB4-7061-D193BC56154E}"/>
                  </a:ext>
                </a:extLst>
              </p:cNvPr>
              <p:cNvSpPr txBox="1"/>
              <p:nvPr/>
            </p:nvSpPr>
            <p:spPr>
              <a:xfrm>
                <a:off x="7928174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924B4C5-562D-2EB4-7061-D193BC561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2367603"/>
                <a:ext cx="781050" cy="390748"/>
              </a:xfrm>
              <a:prstGeom prst="rect">
                <a:avLst/>
              </a:prstGeom>
              <a:blipFill>
                <a:blip r:embed="rId11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4276E48-8362-3CCE-2202-6E0AB650EC48}"/>
                  </a:ext>
                </a:extLst>
              </p:cNvPr>
              <p:cNvSpPr txBox="1"/>
              <p:nvPr/>
            </p:nvSpPr>
            <p:spPr>
              <a:xfrm>
                <a:off x="7452222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4276E48-8362-3CCE-2202-6E0AB650E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222" y="4559304"/>
                <a:ext cx="781050" cy="369332"/>
              </a:xfrm>
              <a:prstGeom prst="rect">
                <a:avLst/>
              </a:prstGeom>
              <a:blipFill>
                <a:blip r:embed="rId12"/>
                <a:stretch>
                  <a:fillRect t="-11475" r="-7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1160EB0-0B76-6B01-1396-C24E32F86984}"/>
                  </a:ext>
                </a:extLst>
              </p:cNvPr>
              <p:cNvSpPr txBox="1"/>
              <p:nvPr/>
            </p:nvSpPr>
            <p:spPr>
              <a:xfrm>
                <a:off x="8913819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1160EB0-0B76-6B01-1396-C24E32F8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19" y="4559304"/>
                <a:ext cx="781050" cy="369332"/>
              </a:xfrm>
              <a:prstGeom prst="rect">
                <a:avLst/>
              </a:prstGeom>
              <a:blipFill>
                <a:blip r:embed="rId13"/>
                <a:stretch>
                  <a:fillRect t="-11475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ED2E12C-5270-8D8C-B96A-9A3EF39B1B5E}"/>
                  </a:ext>
                </a:extLst>
              </p:cNvPr>
              <p:cNvSpPr txBox="1"/>
              <p:nvPr/>
            </p:nvSpPr>
            <p:spPr>
              <a:xfrm>
                <a:off x="7452222" y="528242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ED2E12C-5270-8D8C-B96A-9A3EF39B1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222" y="5282426"/>
                <a:ext cx="781050" cy="369332"/>
              </a:xfrm>
              <a:prstGeom prst="rect">
                <a:avLst/>
              </a:prstGeom>
              <a:blipFill>
                <a:blip r:embed="rId14"/>
                <a:stretch>
                  <a:fillRect t="-11667" r="-775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5D19481-8DC0-8645-500A-6C7A6D6F3D7B}"/>
                  </a:ext>
                </a:extLst>
              </p:cNvPr>
              <p:cNvSpPr txBox="1"/>
              <p:nvPr/>
            </p:nvSpPr>
            <p:spPr>
              <a:xfrm>
                <a:off x="8913819" y="528242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5D19481-8DC0-8645-500A-6C7A6D6F3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19" y="5282426"/>
                <a:ext cx="781050" cy="369332"/>
              </a:xfrm>
              <a:prstGeom prst="rect">
                <a:avLst/>
              </a:prstGeom>
              <a:blipFill>
                <a:blip r:embed="rId15"/>
                <a:stretch>
                  <a:fillRect t="-11667" r="-1563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E3B1D5D-C067-CADC-CC47-79E14DFA2D8B}"/>
                  </a:ext>
                </a:extLst>
              </p:cNvPr>
              <p:cNvSpPr txBox="1"/>
              <p:nvPr/>
            </p:nvSpPr>
            <p:spPr>
              <a:xfrm>
                <a:off x="10245557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E3B1D5D-C067-CADC-CC47-79E14DFA2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1644481"/>
                <a:ext cx="781050" cy="390748"/>
              </a:xfrm>
              <a:prstGeom prst="rect">
                <a:avLst/>
              </a:prstGeom>
              <a:blipFill>
                <a:blip r:embed="rId16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187B01-FEE4-EDF7-65D4-583A149F5C10}"/>
                  </a:ext>
                </a:extLst>
              </p:cNvPr>
              <p:cNvSpPr txBox="1"/>
              <p:nvPr/>
            </p:nvSpPr>
            <p:spPr>
              <a:xfrm>
                <a:off x="11119064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187B01-FEE4-EDF7-65D4-583A149F5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064" y="1644481"/>
                <a:ext cx="781050" cy="390748"/>
              </a:xfrm>
              <a:prstGeom prst="rect">
                <a:avLst/>
              </a:prstGeom>
              <a:blipFill>
                <a:blip r:embed="rId17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17DC676-3AF9-BBB7-93E8-ECA55BBAFB31}"/>
                  </a:ext>
                </a:extLst>
              </p:cNvPr>
              <p:cNvSpPr txBox="1"/>
              <p:nvPr/>
            </p:nvSpPr>
            <p:spPr>
              <a:xfrm>
                <a:off x="10245557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17DC676-3AF9-BBB7-93E8-ECA55BBAF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2367603"/>
                <a:ext cx="781050" cy="390748"/>
              </a:xfrm>
              <a:prstGeom prst="rect">
                <a:avLst/>
              </a:prstGeom>
              <a:blipFill>
                <a:blip r:embed="rId18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CC45C33-8EA9-C524-0CCA-2D0E0026C5AB}"/>
                  </a:ext>
                </a:extLst>
              </p:cNvPr>
              <p:cNvSpPr txBox="1"/>
              <p:nvPr/>
            </p:nvSpPr>
            <p:spPr>
              <a:xfrm>
                <a:off x="11119064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CC45C33-8EA9-C524-0CCA-2D0E0026C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064" y="2367603"/>
                <a:ext cx="781050" cy="390748"/>
              </a:xfrm>
              <a:prstGeom prst="rect">
                <a:avLst/>
              </a:prstGeom>
              <a:blipFill>
                <a:blip r:embed="rId19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57AB7077-9246-7E48-5799-B745629E186A}"/>
                  </a:ext>
                </a:extLst>
              </p:cNvPr>
              <p:cNvSpPr txBox="1"/>
              <p:nvPr/>
            </p:nvSpPr>
            <p:spPr>
              <a:xfrm>
                <a:off x="10245557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57AB7077-9246-7E48-5799-B745629E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4559304"/>
                <a:ext cx="781050" cy="369332"/>
              </a:xfrm>
              <a:prstGeom prst="rect">
                <a:avLst/>
              </a:prstGeom>
              <a:blipFill>
                <a:blip r:embed="rId20"/>
                <a:stretch>
                  <a:fillRect t="-11475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0CF10855-BA32-D253-B8E5-99453FC4966D}"/>
                  </a:ext>
                </a:extLst>
              </p:cNvPr>
              <p:cNvSpPr txBox="1"/>
              <p:nvPr/>
            </p:nvSpPr>
            <p:spPr>
              <a:xfrm>
                <a:off x="11119064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0CF10855-BA32-D253-B8E5-99453FC4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064" y="4559304"/>
                <a:ext cx="781050" cy="369332"/>
              </a:xfrm>
              <a:prstGeom prst="rect">
                <a:avLst/>
              </a:prstGeom>
              <a:blipFill>
                <a:blip r:embed="rId21"/>
                <a:stretch>
                  <a:fillRect t="-11475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EB13A748-7668-3FD1-2B84-0185157E63C7}"/>
                  </a:ext>
                </a:extLst>
              </p:cNvPr>
              <p:cNvSpPr txBox="1"/>
              <p:nvPr/>
            </p:nvSpPr>
            <p:spPr>
              <a:xfrm>
                <a:off x="10245557" y="531204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EB13A748-7668-3FD1-2B84-0185157E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5312046"/>
                <a:ext cx="781050" cy="369332"/>
              </a:xfrm>
              <a:prstGeom prst="rect">
                <a:avLst/>
              </a:prstGeom>
              <a:blipFill>
                <a:blip r:embed="rId22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D54AA4D-8837-C726-9A6D-15E9FDD2A1A5}"/>
                  </a:ext>
                </a:extLst>
              </p:cNvPr>
              <p:cNvSpPr txBox="1"/>
              <p:nvPr/>
            </p:nvSpPr>
            <p:spPr>
              <a:xfrm>
                <a:off x="11119064" y="531204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D54AA4D-8837-C726-9A6D-15E9FDD2A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064" y="5312046"/>
                <a:ext cx="781050" cy="369332"/>
              </a:xfrm>
              <a:prstGeom prst="rect">
                <a:avLst/>
              </a:prstGeom>
              <a:blipFill>
                <a:blip r:embed="rId23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293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4AC9-E43A-E695-11E2-38C04216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D6E6485C-42EF-E6DF-1DB0-A8FAB58C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Rail-to-Rail</a:t>
            </a:r>
            <a:r>
              <a:rPr lang="ja-JP" altLang="en-US" dirty="0"/>
              <a:t>オペアンプ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7EE83D4-4C53-4D65-6B67-CC232E35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EE8BAB-AD2D-BD04-8A04-12A3B4AD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36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B2AEB88C-C348-04BC-3D3B-9113EC1D310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サイズ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L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をどうやって決めるか？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チャネル長変調効果を受けずらい電流源を作る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カスコードカレントミラー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ゲインが低い問題を解決する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フォールデッドカスコードオペアンプ</a:t>
            </a:r>
            <a:endParaRPr lang="en-US" altLang="ja-JP" sz="2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入力電圧レンジを広くとる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			</a:t>
            </a:r>
            <a:r>
              <a:rPr lang="ja-JP" altLang="en-US" sz="2000" dirty="0">
                <a:solidFill>
                  <a:schemeClr val="bg1">
                    <a:lumMod val="85000"/>
                  </a:schemeClr>
                </a:solidFill>
              </a:rPr>
              <a:t>：　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</a:rPr>
              <a:t>rail-to-rail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出力電圧レンジも広くとる</a:t>
            </a:r>
            <a:r>
              <a:rPr lang="en-US" altLang="ja-JP" sz="2000" dirty="0"/>
              <a:t>			</a:t>
            </a:r>
            <a:r>
              <a:rPr lang="ja-JP" altLang="en-US" sz="2000" dirty="0"/>
              <a:t>：　</a:t>
            </a:r>
            <a:r>
              <a:rPr lang="en-US" altLang="ja-JP" sz="2000" dirty="0"/>
              <a:t>AB</a:t>
            </a:r>
            <a:r>
              <a:rPr lang="ja-JP" altLang="en-US" sz="2000" dirty="0"/>
              <a:t>級バッファ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26774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EE2645-48BD-9B43-84C0-C378B158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段目に何つける問題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125FF89-46C0-586D-3150-52ECC1A4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581509-51D4-9FB0-1A16-9F2E2F21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37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94FF9E2-DE1C-6892-4933-55EE487E07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別に</a:t>
            </a:r>
            <a:r>
              <a:rPr lang="ja-JP" altLang="en-US" sz="2000" dirty="0"/>
              <a:t>ソース接地回路を接続してもよい。　</a:t>
            </a:r>
            <a:r>
              <a:rPr lang="en-US" altLang="ja-JP" sz="2000" dirty="0"/>
              <a:t>NMOS</a:t>
            </a:r>
            <a:r>
              <a:rPr lang="ja-JP" altLang="en-US" sz="2000" dirty="0"/>
              <a:t>入力では</a:t>
            </a:r>
            <a:r>
              <a:rPr lang="en-US" altLang="ja-JP" sz="2000" dirty="0"/>
              <a:t>GND</a:t>
            </a:r>
            <a:r>
              <a:rPr lang="ja-JP" altLang="en-US" sz="2000" dirty="0"/>
              <a:t>付近の出力が困難</a:t>
            </a:r>
            <a:br>
              <a:rPr lang="en-US" altLang="ja-JP" sz="2000" dirty="0"/>
            </a:br>
            <a:r>
              <a:rPr lang="ja-JP" altLang="en-US" sz="2000" dirty="0"/>
              <a:t>→入力 </a:t>
            </a:r>
            <a:r>
              <a:rPr lang="en-US" altLang="ja-JP" sz="2000" dirty="0"/>
              <a:t>rail-to-rail </a:t>
            </a:r>
            <a:r>
              <a:rPr lang="ja-JP" altLang="en-US" sz="2000" dirty="0"/>
              <a:t>だが、　出力は構造上</a:t>
            </a:r>
            <a:r>
              <a:rPr lang="en-US" altLang="ja-JP" sz="2000" dirty="0"/>
              <a:t>rail-to-rail</a:t>
            </a:r>
            <a:r>
              <a:rPr lang="ja-JP" altLang="en-US" sz="2000" dirty="0"/>
              <a:t>ではない</a:t>
            </a:r>
            <a:endParaRPr lang="en-US" altLang="ja-JP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411C638-F6C7-7195-5BAA-97440021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84" y="2098129"/>
            <a:ext cx="5695487" cy="432926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A938F69-BCC8-054B-EFAE-FCC2E7C90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0534" y="2098129"/>
            <a:ext cx="4952648" cy="427219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F94BB04-5F0A-DDF4-DF00-C81DD2DB32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63" t="83355" r="53711" b="7880"/>
          <a:stretch>
            <a:fillRect/>
          </a:stretch>
        </p:blipFill>
        <p:spPr>
          <a:xfrm>
            <a:off x="9454552" y="191893"/>
            <a:ext cx="2577738" cy="181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13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3382-D5C7-7E5E-0C69-C1D53352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68D4A1-C45C-2542-6FAD-36C3BD72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PMOS</a:t>
            </a:r>
            <a:r>
              <a:rPr kumimoji="1" lang="ja-JP" altLang="en-US" dirty="0"/>
              <a:t>と</a:t>
            </a:r>
            <a:r>
              <a:rPr kumimoji="1" lang="en-US" altLang="ja-JP" dirty="0"/>
              <a:t>NMOS</a:t>
            </a:r>
            <a:r>
              <a:rPr kumimoji="1" lang="ja-JP" altLang="en-US" dirty="0"/>
              <a:t>両方に信号を入力してバッファを駆動させたい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9374618-D759-C88C-7623-72144864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AB5520-F2C1-9E21-03BB-DF54F2D4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38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D86141D-5F08-A6D3-3167-2C21DE9481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800" dirty="0"/>
              <a:t>AC</a:t>
            </a:r>
            <a:r>
              <a:rPr kumimoji="1" lang="ja-JP" altLang="en-US" sz="1800" dirty="0"/>
              <a:t>特性は置いておき、</a:t>
            </a:r>
            <a:r>
              <a:rPr kumimoji="1" lang="en-US" altLang="ja-JP" sz="1800" dirty="0"/>
              <a:t>DC</a:t>
            </a:r>
            <a:r>
              <a:rPr lang="ja-JP" altLang="en-US" sz="1800" dirty="0"/>
              <a:t>で電源近傍が出力できる設計をするには</a:t>
            </a:r>
            <a:br>
              <a:rPr lang="en-US" altLang="ja-JP" sz="1800" dirty="0"/>
            </a:br>
            <a:r>
              <a:rPr lang="ja-JP" altLang="en-US" sz="1800" dirty="0"/>
              <a:t>ソース接地回路（</a:t>
            </a:r>
            <a:r>
              <a:rPr lang="en-US" altLang="ja-JP" sz="1800" dirty="0"/>
              <a:t>A</a:t>
            </a:r>
            <a:r>
              <a:rPr lang="ja-JP" altLang="en-US" sz="1800" dirty="0"/>
              <a:t>級バッファ）ではない別のトポロジを組む必要がある</a:t>
            </a:r>
            <a:endParaRPr lang="en-US" altLang="ja-JP" sz="1800" dirty="0"/>
          </a:p>
          <a:p>
            <a:r>
              <a:rPr lang="en-US" altLang="ja-JP" sz="1800" dirty="0"/>
              <a:t>※</a:t>
            </a:r>
            <a:r>
              <a:rPr lang="ja-JP" altLang="en-US" sz="1800" dirty="0"/>
              <a:t>普通は</a:t>
            </a:r>
            <a:r>
              <a:rPr lang="en-US" altLang="ja-JP" sz="1800" dirty="0"/>
              <a:t>rail-to-rail</a:t>
            </a:r>
            <a:r>
              <a:rPr lang="ja-JP" altLang="en-US" sz="1800" dirty="0"/>
              <a:t>でも電源近傍の入力／出力はしないよう使用する</a:t>
            </a:r>
            <a:endParaRPr lang="en-US" altLang="ja-JP" sz="1800" dirty="0"/>
          </a:p>
          <a:p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お手軽爆熱コース：</a:t>
            </a:r>
            <a:r>
              <a:rPr lang="en-US" altLang="ja-JP" sz="1800" dirty="0"/>
              <a:t>CMOS</a:t>
            </a:r>
            <a:r>
              <a:rPr lang="ja-JP" altLang="en-US" sz="1800" dirty="0"/>
              <a:t>インバータ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ちゃんと組む：</a:t>
            </a:r>
            <a:r>
              <a:rPr lang="en-US" altLang="ja-JP" sz="1800" dirty="0"/>
              <a:t>AB</a:t>
            </a:r>
            <a:r>
              <a:rPr lang="ja-JP" altLang="en-US" sz="1800" dirty="0"/>
              <a:t>級バッファ</a:t>
            </a:r>
            <a:endParaRPr lang="en-US" altLang="ja-JP" sz="18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F6E6D6-4100-8E97-F913-5BD13A641FFF}"/>
              </a:ext>
            </a:extLst>
          </p:cNvPr>
          <p:cNvSpPr txBox="1"/>
          <p:nvPr/>
        </p:nvSpPr>
        <p:spPr>
          <a:xfrm>
            <a:off x="7323909" y="5569157"/>
            <a:ext cx="3605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参考</a:t>
            </a:r>
            <a:r>
              <a:rPr lang="en-US" altLang="ja-JP" dirty="0"/>
              <a:t>: OTA + </a:t>
            </a:r>
            <a:r>
              <a:rPr lang="en-US" altLang="ja-JP" sz="1800" dirty="0"/>
              <a:t>AB</a:t>
            </a:r>
            <a:r>
              <a:rPr lang="ja-JP" altLang="en-US" sz="1800" dirty="0"/>
              <a:t>級バッファ</a:t>
            </a:r>
            <a:endParaRPr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758F1FD-2FFA-FD6D-8CCE-F458CE88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50" y="2600960"/>
            <a:ext cx="5292395" cy="296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69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A7E46-8CDC-C851-84B7-73CE5078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インバータをつける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975715-8D87-35ED-095C-EB01A27E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212B6F-D20E-D358-3145-28FB8708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39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72E764E-AD4F-AEBF-3DFD-E50DF123BA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11210543" cy="51005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シンプルに</a:t>
            </a:r>
            <a:r>
              <a:rPr kumimoji="1" lang="en-US" altLang="ja-JP" dirty="0"/>
              <a:t>CMOS</a:t>
            </a:r>
            <a:r>
              <a:rPr kumimoji="1" lang="ja-JP" altLang="en-US" dirty="0"/>
              <a:t>インバータを２段目につけた構成</a:t>
            </a:r>
            <a:br>
              <a:rPr kumimoji="1" lang="en-US" altLang="ja-JP" dirty="0"/>
            </a:br>
            <a:r>
              <a:rPr kumimoji="1" lang="en-US" altLang="ja-JP" dirty="0"/>
              <a:t>PMOS</a:t>
            </a:r>
            <a:r>
              <a:rPr kumimoji="1" lang="ja-JP" altLang="en-US" dirty="0"/>
              <a:t>と</a:t>
            </a:r>
            <a:r>
              <a:rPr kumimoji="1" lang="en-US" altLang="ja-JP" dirty="0"/>
              <a:t>NMOS</a:t>
            </a:r>
            <a:r>
              <a:rPr kumimoji="1" lang="ja-JP" altLang="en-US" dirty="0"/>
              <a:t>両方で出力段を駆動する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DC</a:t>
            </a:r>
            <a:r>
              <a:rPr lang="ja-JP" altLang="en-US" dirty="0"/>
              <a:t>（低周波）で電源近傍の出力ができる！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 dirty="0">
                <a:solidFill>
                  <a:srgbClr val="FF0000"/>
                </a:solidFill>
              </a:rPr>
              <a:t>PMOS</a:t>
            </a:r>
            <a:r>
              <a:rPr kumimoji="1" lang="ja-JP" altLang="en-US" b="1" dirty="0">
                <a:solidFill>
                  <a:srgbClr val="FF0000"/>
                </a:solidFill>
              </a:rPr>
              <a:t>も</a:t>
            </a:r>
            <a:r>
              <a:rPr kumimoji="1" lang="en-US" altLang="ja-JP" b="1" dirty="0">
                <a:solidFill>
                  <a:srgbClr val="FF0000"/>
                </a:solidFill>
              </a:rPr>
              <a:t>NMOS</a:t>
            </a:r>
            <a:r>
              <a:rPr kumimoji="1" lang="ja-JP" altLang="en-US" b="1" dirty="0">
                <a:solidFill>
                  <a:srgbClr val="FF0000"/>
                </a:solidFill>
              </a:rPr>
              <a:t>も</a:t>
            </a:r>
            <a:r>
              <a:rPr kumimoji="1" lang="en-US" altLang="ja-JP" b="1" dirty="0">
                <a:solidFill>
                  <a:srgbClr val="FF0000"/>
                </a:solidFill>
              </a:rPr>
              <a:t>ON</a:t>
            </a:r>
            <a:r>
              <a:rPr kumimoji="1" lang="ja-JP" altLang="en-US" b="1" dirty="0">
                <a:solidFill>
                  <a:srgbClr val="FF0000"/>
                </a:solidFill>
              </a:rPr>
              <a:t>状態で駆動するため消費電流大</a:t>
            </a:r>
            <a:br>
              <a:rPr kumimoji="1" lang="en-US" altLang="ja-JP" b="1" dirty="0">
                <a:solidFill>
                  <a:srgbClr val="FF0000"/>
                </a:solidFill>
              </a:rPr>
            </a:br>
            <a:r>
              <a:rPr kumimoji="1" lang="ja-JP" altLang="en-US" b="1" dirty="0">
                <a:solidFill>
                  <a:srgbClr val="FF0000"/>
                </a:solidFill>
              </a:rPr>
              <a:t>（</a:t>
            </a:r>
            <a:r>
              <a:rPr kumimoji="1" lang="en-US" altLang="ja-JP" b="1" dirty="0">
                <a:solidFill>
                  <a:srgbClr val="FF0000"/>
                </a:solidFill>
              </a:rPr>
              <a:t>AB</a:t>
            </a:r>
            <a:r>
              <a:rPr kumimoji="1" lang="ja-JP" altLang="en-US" b="1" dirty="0">
                <a:solidFill>
                  <a:srgbClr val="FF0000"/>
                </a:solidFill>
              </a:rPr>
              <a:t>級バッファ構成と比べて全体の消費電力がおよそ</a:t>
            </a:r>
            <a:r>
              <a:rPr kumimoji="1" lang="en-US" altLang="ja-JP" b="1" dirty="0">
                <a:solidFill>
                  <a:srgbClr val="FF0000"/>
                </a:solidFill>
              </a:rPr>
              <a:t>2</a:t>
            </a:r>
            <a:r>
              <a:rPr kumimoji="1" lang="ja-JP" altLang="en-US" b="1" dirty="0">
                <a:solidFill>
                  <a:srgbClr val="FF0000"/>
                </a:solidFill>
              </a:rPr>
              <a:t>倍）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46F505-F2B8-CCFF-D740-FAC182FB1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004" y="1449880"/>
            <a:ext cx="6158496" cy="461490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5AC34F9-101A-F588-7DD8-8A6B8340E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17" y="2617561"/>
            <a:ext cx="3324670" cy="294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251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6F2AF-9338-64E4-95A1-8CD18B05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消費電力を抑える設計：</a:t>
            </a:r>
            <a:r>
              <a:rPr kumimoji="1" lang="en-US" altLang="ja-JP" dirty="0"/>
              <a:t>AB</a:t>
            </a:r>
            <a:r>
              <a:rPr kumimoji="1" lang="ja-JP" altLang="en-US" dirty="0"/>
              <a:t>級バッファ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28BE8B-F4B3-3A9A-54C3-DECB22C2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F179F7-0E71-7B5A-67CF-19D49C23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40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A9287B0-07CB-6DF3-CBE0-F4E4CED722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PMOS</a:t>
            </a:r>
            <a:r>
              <a:rPr kumimoji="1" lang="ja-JP" altLang="en-US" sz="2000" dirty="0"/>
              <a:t>と</a:t>
            </a:r>
            <a:r>
              <a:rPr kumimoji="1" lang="en-US" altLang="ja-JP" sz="2000" dirty="0"/>
              <a:t>NMOS</a:t>
            </a:r>
            <a:r>
              <a:rPr kumimoji="1" lang="ja-JP" altLang="en-US" sz="2000" dirty="0"/>
              <a:t>の動作点をずらして両方とも完全</a:t>
            </a:r>
            <a:r>
              <a:rPr kumimoji="1" lang="en-US" altLang="ja-JP" sz="2000" dirty="0"/>
              <a:t>ON</a:t>
            </a:r>
            <a:r>
              <a:rPr kumimoji="1" lang="ja-JP" altLang="en-US" sz="2000" dirty="0"/>
              <a:t>状態で駆動しないようにする</a:t>
            </a:r>
            <a:br>
              <a:rPr lang="en-US" altLang="ja-JP" sz="2000" dirty="0"/>
            </a:br>
            <a:r>
              <a:rPr lang="ja-JP" altLang="en-US" sz="2000" dirty="0"/>
              <a:t>いくつか方式があるが、</a:t>
            </a:r>
            <a:r>
              <a:rPr lang="en-US" altLang="ja-JP" sz="2000" dirty="0"/>
              <a:t>Baker</a:t>
            </a:r>
            <a:r>
              <a:rPr lang="ja-JP" altLang="en-US" sz="2000" dirty="0"/>
              <a:t>に記載のフローティング</a:t>
            </a:r>
            <a:r>
              <a:rPr lang="en-US" altLang="ja-JP" sz="2000" dirty="0"/>
              <a:t>AB</a:t>
            </a:r>
            <a:r>
              <a:rPr lang="ja-JP" altLang="en-US" sz="2000" dirty="0"/>
              <a:t>級バッファとよばれる構成を用いた</a:t>
            </a:r>
            <a:br>
              <a:rPr lang="en-US" altLang="ja-JP" sz="2000" dirty="0"/>
            </a:br>
            <a:r>
              <a:rPr lang="ja-JP" altLang="en-US" sz="2000" dirty="0"/>
              <a:t>バイアス電圧生成の際、電流量は</a:t>
            </a:r>
            <a:r>
              <a:rPr lang="en-US" altLang="ja-JP" sz="2000" dirty="0"/>
              <a:t>PMOS</a:t>
            </a:r>
            <a:r>
              <a:rPr lang="ja-JP" altLang="en-US" sz="2000" dirty="0"/>
              <a:t>側と</a:t>
            </a:r>
            <a:r>
              <a:rPr lang="en-US" altLang="ja-JP" sz="2000" dirty="0"/>
              <a:t>NMOS</a:t>
            </a:r>
            <a:r>
              <a:rPr lang="ja-JP" altLang="en-US" sz="2000" dirty="0"/>
              <a:t>側とで同じ電流量とする（赤丸が電流源）</a:t>
            </a:r>
            <a:endParaRPr kumimoji="1" lang="en-US" altLang="ja-JP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11D351C-37AC-449E-AF08-DD8B21D550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45940" y="2454677"/>
            <a:ext cx="4009103" cy="407859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ED007C4-BCD3-9869-B8E2-0A185DF75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47" y="2448514"/>
            <a:ext cx="2212081" cy="407780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9ABE750-62BD-7F08-66A9-96854FFB7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419" y="2435394"/>
            <a:ext cx="2195661" cy="4090921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14A5D5E-C586-41C1-4E7F-0EF89A3A8265}"/>
              </a:ext>
            </a:extLst>
          </p:cNvPr>
          <p:cNvCxnSpPr>
            <a:cxnSpLocks/>
          </p:cNvCxnSpPr>
          <p:nvPr/>
        </p:nvCxnSpPr>
        <p:spPr>
          <a:xfrm flipV="1">
            <a:off x="6062663" y="3763914"/>
            <a:ext cx="2280148" cy="648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AD287E2-1E18-F1B7-928A-1A158C2F2928}"/>
              </a:ext>
            </a:extLst>
          </p:cNvPr>
          <p:cNvCxnSpPr>
            <a:cxnSpLocks/>
          </p:cNvCxnSpPr>
          <p:nvPr/>
        </p:nvCxnSpPr>
        <p:spPr>
          <a:xfrm>
            <a:off x="6062663" y="4776788"/>
            <a:ext cx="2280148" cy="387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D0684102-28E8-C427-561A-6625BA9E7021}"/>
              </a:ext>
            </a:extLst>
          </p:cNvPr>
          <p:cNvSpPr/>
          <p:nvPr/>
        </p:nvSpPr>
        <p:spPr>
          <a:xfrm>
            <a:off x="1448419" y="2699657"/>
            <a:ext cx="458758" cy="11930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4113E1E-C4A7-6304-1822-7F1C10C3D7A8}"/>
              </a:ext>
            </a:extLst>
          </p:cNvPr>
          <p:cNvSpPr/>
          <p:nvPr/>
        </p:nvSpPr>
        <p:spPr>
          <a:xfrm>
            <a:off x="1907177" y="5164183"/>
            <a:ext cx="458758" cy="11930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1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E21561-7CD5-9F3A-9647-0BCCE401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AB</a:t>
            </a:r>
            <a:r>
              <a:rPr kumimoji="1" lang="ja-JP" altLang="en-US" dirty="0"/>
              <a:t>級バッファ付</a:t>
            </a:r>
            <a:r>
              <a:rPr kumimoji="1" lang="en-US" altLang="ja-JP" dirty="0"/>
              <a:t>R2R</a:t>
            </a:r>
            <a:r>
              <a:rPr kumimoji="1" lang="ja-JP" altLang="en-US" dirty="0"/>
              <a:t>フォールデッドカスコードオペアンプ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C8B86F-97DB-AB21-6A5E-314F8F16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986F47-A3C8-2108-ED25-98DFB920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41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3258F25B-9B35-03DC-F51A-918036497D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折り返しカスコード段にフローティングカレントミラーを挿入した</a:t>
            </a:r>
            <a:endParaRPr lang="en-US" altLang="ja-JP" dirty="0"/>
          </a:p>
          <a:p>
            <a:pPr marL="569214" lvl="1" indent="-285750"/>
            <a:r>
              <a:rPr kumimoji="1" lang="ja-JP" altLang="en-US" dirty="0"/>
              <a:t>左右対称となるように逆側にも同様のカレントミラーを挿入する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DA2B562-48AD-0AC1-FFAC-84559931A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148" y="2672399"/>
            <a:ext cx="4973248" cy="337738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E34DA47-E378-F1EA-9450-66AFE9D2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30" y="2675947"/>
            <a:ext cx="3627510" cy="3373839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747E6E17-D118-0B33-78AF-F752F44E3BFB}"/>
              </a:ext>
            </a:extLst>
          </p:cNvPr>
          <p:cNvSpPr/>
          <p:nvPr/>
        </p:nvSpPr>
        <p:spPr>
          <a:xfrm>
            <a:off x="5289542" y="4005724"/>
            <a:ext cx="656603" cy="749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8CCB6D8-0275-519A-12F4-01B8A7B3B5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40389" y="223620"/>
            <a:ext cx="1951007" cy="1984824"/>
          </a:xfrm>
          <a:prstGeom prst="rect">
            <a:avLst/>
          </a:prstGeom>
        </p:spPr>
      </p:pic>
      <p:sp>
        <p:nvSpPr>
          <p:cNvPr id="14" name="矢印: 右 13">
            <a:extLst>
              <a:ext uri="{FF2B5EF4-FFF2-40B4-BE49-F238E27FC236}">
                <a16:creationId xmlns:a16="http://schemas.microsoft.com/office/drawing/2014/main" id="{49C623BC-311D-E47A-EC65-117DB2E90E76}"/>
              </a:ext>
            </a:extLst>
          </p:cNvPr>
          <p:cNvSpPr/>
          <p:nvPr/>
        </p:nvSpPr>
        <p:spPr>
          <a:xfrm rot="5400000">
            <a:off x="10424104" y="2239961"/>
            <a:ext cx="383575" cy="437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451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66E18-903D-794F-A080-3D8DBEBE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AF37A-9C81-A65B-AEF0-35D3424C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AB</a:t>
            </a:r>
            <a:r>
              <a:rPr lang="ja-JP" altLang="en-US" dirty="0"/>
              <a:t>級バッファ付</a:t>
            </a:r>
            <a:r>
              <a:rPr lang="en-US" altLang="ja-JP" dirty="0"/>
              <a:t>R2R</a:t>
            </a:r>
            <a:r>
              <a:rPr lang="ja-JP" altLang="en-US" dirty="0"/>
              <a:t>フォールデッドカスコードオペアンプ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47C03C-56C2-8E76-0C73-7B2CFB5B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2AA886-3906-2630-DD02-84FB086D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42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7E99F86-5126-EEB5-DD17-E59B10170B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W</a:t>
            </a:r>
            <a:r>
              <a:rPr lang="ja-JP" altLang="en-US" dirty="0"/>
              <a:t>比は</a:t>
            </a:r>
            <a:r>
              <a:rPr lang="en-US" altLang="ja-JP" dirty="0"/>
              <a:t>R2R</a:t>
            </a:r>
            <a:r>
              <a:rPr lang="ja-JP" altLang="en-US" dirty="0"/>
              <a:t>構成と同様、入力段と折り返しカスコード段の</a:t>
            </a:r>
            <a:br>
              <a:rPr lang="en-US" altLang="ja-JP" dirty="0"/>
            </a:br>
            <a:r>
              <a:rPr lang="ja-JP" altLang="en-US" dirty="0"/>
              <a:t>電流をどれくらい流すかにより決まる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フローティングカレントミラーは</a:t>
            </a:r>
            <a:r>
              <a:rPr lang="en-US" altLang="ja-JP" dirty="0"/>
              <a:t>PMOS</a:t>
            </a:r>
            <a:r>
              <a:rPr lang="ja-JP" altLang="en-US" dirty="0"/>
              <a:t>と</a:t>
            </a:r>
            <a:r>
              <a:rPr lang="en-US" altLang="ja-JP" dirty="0"/>
              <a:t>NMOS</a:t>
            </a:r>
            <a:r>
              <a:rPr lang="ja-JP" altLang="en-US" dirty="0"/>
              <a:t>が並列かつ、</a:t>
            </a:r>
            <a:br>
              <a:rPr lang="en-US" altLang="ja-JP" dirty="0"/>
            </a:br>
            <a:r>
              <a:rPr lang="ja-JP" altLang="en-US" dirty="0"/>
              <a:t>同じ電流が流れるようにバイアス電圧を作るため、</a:t>
            </a:r>
            <a:br>
              <a:rPr lang="en-US" altLang="ja-JP" dirty="0"/>
            </a:br>
            <a:r>
              <a:rPr lang="ja-JP" altLang="en-US" dirty="0"/>
              <a:t>トランジスタにはそれぞれ</a:t>
            </a:r>
            <a:r>
              <a:rPr lang="en-US" altLang="ja-JP" dirty="0" err="1"/>
              <a:t>Icas</a:t>
            </a:r>
            <a:r>
              <a:rPr lang="ja-JP" altLang="en-US" dirty="0"/>
              <a:t>の半分の電流が流れる。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rgbClr val="FF0000"/>
                </a:solidFill>
              </a:rPr>
              <a:t>折り返しカスコード段の電源側のトランジスタに流れる電流量に注意</a:t>
            </a:r>
            <a:endParaRPr lang="en-US" altLang="ja-JP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5E2A3B8-AE47-56A2-53F0-70EA644EB317}"/>
              </a:ext>
            </a:extLst>
          </p:cNvPr>
          <p:cNvGrpSpPr/>
          <p:nvPr/>
        </p:nvGrpSpPr>
        <p:grpSpPr>
          <a:xfrm>
            <a:off x="6631681" y="1199449"/>
            <a:ext cx="5086411" cy="4865340"/>
            <a:chOff x="6631681" y="1199449"/>
            <a:chExt cx="5086411" cy="486534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A735AB2-F4B7-B5F0-F952-C35C874AEC27}"/>
                </a:ext>
              </a:extLst>
            </p:cNvPr>
            <p:cNvSpPr/>
            <p:nvPr/>
          </p:nvSpPr>
          <p:spPr>
            <a:xfrm>
              <a:off x="11347269" y="1199449"/>
              <a:ext cx="370823" cy="486533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9B4680B-9039-5161-882C-BE34EEECE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631681" y="1199449"/>
              <a:ext cx="4845748" cy="4865340"/>
            </a:xfrm>
            <a:prstGeom prst="rect">
              <a:avLst/>
            </a:prstGeom>
          </p:spPr>
        </p:pic>
      </p:grp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ED7DD37D-2BD9-AFE9-FED2-80B16EAD180E}"/>
              </a:ext>
            </a:extLst>
          </p:cNvPr>
          <p:cNvCxnSpPr>
            <a:cxnSpLocks/>
          </p:cNvCxnSpPr>
          <p:nvPr/>
        </p:nvCxnSpPr>
        <p:spPr>
          <a:xfrm>
            <a:off x="8886428" y="3782790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06ED22C-482A-931A-D6DA-240383B459D0}"/>
              </a:ext>
            </a:extLst>
          </p:cNvPr>
          <p:cNvCxnSpPr>
            <a:cxnSpLocks/>
          </p:cNvCxnSpPr>
          <p:nvPr/>
        </p:nvCxnSpPr>
        <p:spPr>
          <a:xfrm>
            <a:off x="7614840" y="3782790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ABA1E18-5045-F97E-BC1C-4696D4A3E005}"/>
              </a:ext>
            </a:extLst>
          </p:cNvPr>
          <p:cNvCxnSpPr>
            <a:cxnSpLocks/>
          </p:cNvCxnSpPr>
          <p:nvPr/>
        </p:nvCxnSpPr>
        <p:spPr>
          <a:xfrm>
            <a:off x="8217901" y="4626769"/>
            <a:ext cx="0" cy="1316831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A8CF201-787B-773B-515E-5ADC978D02CE}"/>
                  </a:ext>
                </a:extLst>
              </p:cNvPr>
              <p:cNvSpPr txBox="1"/>
              <p:nvPr/>
            </p:nvSpPr>
            <p:spPr>
              <a:xfrm>
                <a:off x="8217901" y="511123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A8CF201-787B-773B-515E-5ADC978D0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901" y="5111234"/>
                <a:ext cx="781050" cy="369332"/>
              </a:xfrm>
              <a:prstGeom prst="rect">
                <a:avLst/>
              </a:prstGeom>
              <a:blipFill>
                <a:blip r:embed="rId3"/>
                <a:stretch>
                  <a:fillRect t="-9836" r="-1562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FFDB8C6-00CC-1C29-8EF4-1D368D920850}"/>
                  </a:ext>
                </a:extLst>
              </p:cNvPr>
              <p:cNvSpPr txBox="1"/>
              <p:nvPr/>
            </p:nvSpPr>
            <p:spPr>
              <a:xfrm>
                <a:off x="7603727" y="378279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FFDB8C6-00CC-1C29-8EF4-1D368D920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727" y="3782790"/>
                <a:ext cx="781050" cy="369332"/>
              </a:xfrm>
              <a:prstGeom prst="rect">
                <a:avLst/>
              </a:prstGeom>
              <a:blipFill>
                <a:blip r:embed="rId4"/>
                <a:stretch>
                  <a:fillRect t="-11667" r="-6250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8EDDF05-977F-D490-4445-DE4C9B6E1EA1}"/>
                  </a:ext>
                </a:extLst>
              </p:cNvPr>
              <p:cNvSpPr txBox="1"/>
              <p:nvPr/>
            </p:nvSpPr>
            <p:spPr>
              <a:xfrm>
                <a:off x="8791177" y="378279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8EDDF05-977F-D490-4445-DE4C9B6E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77" y="3782790"/>
                <a:ext cx="781050" cy="369332"/>
              </a:xfrm>
              <a:prstGeom prst="rect">
                <a:avLst/>
              </a:prstGeom>
              <a:blipFill>
                <a:blip r:embed="rId5"/>
                <a:stretch>
                  <a:fillRect t="-11667" r="-6250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A2C71D6-A06B-5F75-5CE0-2787130C02BE}"/>
              </a:ext>
            </a:extLst>
          </p:cNvPr>
          <p:cNvCxnSpPr>
            <a:cxnSpLocks/>
          </p:cNvCxnSpPr>
          <p:nvPr/>
        </p:nvCxnSpPr>
        <p:spPr>
          <a:xfrm>
            <a:off x="8118676" y="3059668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43926D4C-B9B0-D472-2B42-B72EB96C9746}"/>
              </a:ext>
            </a:extLst>
          </p:cNvPr>
          <p:cNvCxnSpPr>
            <a:cxnSpLocks/>
          </p:cNvCxnSpPr>
          <p:nvPr/>
        </p:nvCxnSpPr>
        <p:spPr>
          <a:xfrm>
            <a:off x="7151888" y="3059668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3F40F33-BEFF-A45F-9A0E-DDD66661E921}"/>
                  </a:ext>
                </a:extLst>
              </p:cNvPr>
              <p:cNvSpPr txBox="1"/>
              <p:nvPr/>
            </p:nvSpPr>
            <p:spPr>
              <a:xfrm>
                <a:off x="7140775" y="305966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3F40F33-BEFF-A45F-9A0E-DDD66661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775" y="3059668"/>
                <a:ext cx="781050" cy="390748"/>
              </a:xfrm>
              <a:prstGeom prst="rect">
                <a:avLst/>
              </a:prstGeom>
              <a:blipFill>
                <a:blip r:embed="rId6"/>
                <a:stretch>
                  <a:fillRect t="-10938" r="-5426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EB878B32-AA5A-0859-72A3-52F72149CE3A}"/>
                  </a:ext>
                </a:extLst>
              </p:cNvPr>
              <p:cNvSpPr txBox="1"/>
              <p:nvPr/>
            </p:nvSpPr>
            <p:spPr>
              <a:xfrm>
                <a:off x="8023425" y="305966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EB878B32-AA5A-0859-72A3-52F72149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425" y="3059668"/>
                <a:ext cx="781050" cy="390748"/>
              </a:xfrm>
              <a:prstGeom prst="rect">
                <a:avLst/>
              </a:prstGeom>
              <a:blipFill>
                <a:blip r:embed="rId7"/>
                <a:stretch>
                  <a:fillRect t="-10938" r="-6250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27338E4C-2B56-4322-07A9-F9E6EA4522D9}"/>
              </a:ext>
            </a:extLst>
          </p:cNvPr>
          <p:cNvCxnSpPr>
            <a:cxnSpLocks/>
          </p:cNvCxnSpPr>
          <p:nvPr/>
        </p:nvCxnSpPr>
        <p:spPr>
          <a:xfrm>
            <a:off x="7588791" y="1305231"/>
            <a:ext cx="0" cy="1316831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33E66C00-503A-D6FA-3650-E78F9623C746}"/>
                  </a:ext>
                </a:extLst>
              </p:cNvPr>
              <p:cNvSpPr txBox="1"/>
              <p:nvPr/>
            </p:nvSpPr>
            <p:spPr>
              <a:xfrm>
                <a:off x="7588791" y="1789696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33E66C00-503A-D6FA-3650-E78F9623C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791" y="1789696"/>
                <a:ext cx="781050" cy="390748"/>
              </a:xfrm>
              <a:prstGeom prst="rect">
                <a:avLst/>
              </a:prstGeom>
              <a:blipFill>
                <a:blip r:embed="rId8"/>
                <a:stretch>
                  <a:fillRect t="-10938" r="-140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7BA24D9-76FF-E8F5-75D3-54D72141C20F}"/>
              </a:ext>
            </a:extLst>
          </p:cNvPr>
          <p:cNvCxnSpPr>
            <a:cxnSpLocks/>
          </p:cNvCxnSpPr>
          <p:nvPr/>
        </p:nvCxnSpPr>
        <p:spPr>
          <a:xfrm>
            <a:off x="10301801" y="2220595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7FEB590-F709-22EE-D76F-751E33851EB2}"/>
                  </a:ext>
                </a:extLst>
              </p:cNvPr>
              <p:cNvSpPr txBox="1"/>
              <p:nvPr/>
            </p:nvSpPr>
            <p:spPr>
              <a:xfrm>
                <a:off x="10268147" y="2332159"/>
                <a:ext cx="963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7FEB590-F709-22EE-D76F-751E33851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147" y="2332159"/>
                <a:ext cx="963800" cy="369332"/>
              </a:xfrm>
              <a:prstGeom prst="rect">
                <a:avLst/>
              </a:prstGeom>
              <a:blipFill>
                <a:blip r:embed="rId9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327169B9-6C05-ED53-6FB4-B6BEA5583155}"/>
              </a:ext>
            </a:extLst>
          </p:cNvPr>
          <p:cNvCxnSpPr>
            <a:cxnSpLocks/>
          </p:cNvCxnSpPr>
          <p:nvPr/>
        </p:nvCxnSpPr>
        <p:spPr>
          <a:xfrm>
            <a:off x="11231946" y="2232769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633E998-4963-1CBB-7825-2DBB1A1A1DA7}"/>
              </a:ext>
            </a:extLst>
          </p:cNvPr>
          <p:cNvCxnSpPr>
            <a:cxnSpLocks/>
          </p:cNvCxnSpPr>
          <p:nvPr/>
        </p:nvCxnSpPr>
        <p:spPr>
          <a:xfrm>
            <a:off x="10273298" y="4438258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17F4913-B9EA-A1D6-3B0C-DE59DC94CCE5}"/>
                  </a:ext>
                </a:extLst>
              </p:cNvPr>
              <p:cNvSpPr txBox="1"/>
              <p:nvPr/>
            </p:nvSpPr>
            <p:spPr>
              <a:xfrm>
                <a:off x="10273293" y="4438258"/>
                <a:ext cx="9638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17F4913-B9EA-A1D6-3B0C-DE59DC94C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3293" y="4438258"/>
                <a:ext cx="963801" cy="369332"/>
              </a:xfrm>
              <a:prstGeom prst="rect">
                <a:avLst/>
              </a:prstGeom>
              <a:blipFill>
                <a:blip r:embed="rId10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2F516A6A-0C75-A596-F289-B49D935B3CCA}"/>
              </a:ext>
            </a:extLst>
          </p:cNvPr>
          <p:cNvCxnSpPr>
            <a:cxnSpLocks/>
          </p:cNvCxnSpPr>
          <p:nvPr/>
        </p:nvCxnSpPr>
        <p:spPr>
          <a:xfrm>
            <a:off x="11237100" y="4438258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32334A6-E4D6-1FD4-47E0-B1FD883D614D}"/>
              </a:ext>
            </a:extLst>
          </p:cNvPr>
          <p:cNvCxnSpPr>
            <a:cxnSpLocks/>
          </p:cNvCxnSpPr>
          <p:nvPr/>
        </p:nvCxnSpPr>
        <p:spPr>
          <a:xfrm>
            <a:off x="10268150" y="5222147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35532769-F77B-0443-FC3F-8DE1F90CB58D}"/>
                  </a:ext>
                </a:extLst>
              </p:cNvPr>
              <p:cNvSpPr txBox="1"/>
              <p:nvPr/>
            </p:nvSpPr>
            <p:spPr>
              <a:xfrm>
                <a:off x="10301801" y="5331006"/>
                <a:ext cx="963800" cy="291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  <m:r>
                        <a:rPr kumimoji="1" lang="en-US" altLang="ja-JP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𝒕𝒂𝒊𝒍𝒑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35532769-F77B-0443-FC3F-8DE1F90CB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801" y="5331006"/>
                <a:ext cx="963800" cy="291298"/>
              </a:xfrm>
              <a:prstGeom prst="rect">
                <a:avLst/>
              </a:prstGeom>
              <a:blipFill>
                <a:blip r:embed="rId11"/>
                <a:stretch>
                  <a:fillRect t="-2128" r="-1266" b="-127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F53FCD31-97D3-C8FE-5B2B-5D472BEBD783}"/>
              </a:ext>
            </a:extLst>
          </p:cNvPr>
          <p:cNvCxnSpPr>
            <a:cxnSpLocks/>
          </p:cNvCxnSpPr>
          <p:nvPr/>
        </p:nvCxnSpPr>
        <p:spPr>
          <a:xfrm>
            <a:off x="11231952" y="5222147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97A007F5-AE24-FDF0-B144-5A1EAA7484E6}"/>
                  </a:ext>
                </a:extLst>
              </p:cNvPr>
              <p:cNvSpPr txBox="1"/>
              <p:nvPr/>
            </p:nvSpPr>
            <p:spPr>
              <a:xfrm>
                <a:off x="10268152" y="1687081"/>
                <a:ext cx="963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𝑐𝑎𝑠</m:t>
                          </m:r>
                        </m:sub>
                      </m:sSub>
                      <m:r>
                        <a:rPr kumimoji="1" lang="en-US" altLang="ja-JP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ja-JP" sz="12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𝒕𝒂𝒊𝒍𝒏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97A007F5-AE24-FDF0-B144-5A1EAA748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152" y="1687081"/>
                <a:ext cx="963800" cy="276999"/>
              </a:xfrm>
              <a:prstGeom prst="rect">
                <a:avLst/>
              </a:prstGeom>
              <a:blipFill>
                <a:blip r:embed="rId12"/>
                <a:stretch>
                  <a:fillRect t="-2222" r="-1258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17C5F705-BA0D-27FD-0B04-DBA92F44F7ED}"/>
              </a:ext>
            </a:extLst>
          </p:cNvPr>
          <p:cNvCxnSpPr>
            <a:cxnSpLocks/>
          </p:cNvCxnSpPr>
          <p:nvPr/>
        </p:nvCxnSpPr>
        <p:spPr>
          <a:xfrm flipH="1">
            <a:off x="9099749" y="2116447"/>
            <a:ext cx="4861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ED97DB92-3951-ED81-4D0D-8BD06EF8947C}"/>
              </a:ext>
            </a:extLst>
          </p:cNvPr>
          <p:cNvCxnSpPr>
            <a:cxnSpLocks/>
          </p:cNvCxnSpPr>
          <p:nvPr/>
        </p:nvCxnSpPr>
        <p:spPr>
          <a:xfrm flipH="1">
            <a:off x="9099749" y="2192647"/>
            <a:ext cx="4861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28311574-9E67-1E17-3C2E-0ABF7A53B892}"/>
                  </a:ext>
                </a:extLst>
              </p:cNvPr>
              <p:cNvSpPr txBox="1"/>
              <p:nvPr/>
            </p:nvSpPr>
            <p:spPr>
              <a:xfrm>
                <a:off x="8991895" y="1665897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28311574-9E67-1E17-3C2E-0ABF7A53B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895" y="1665897"/>
                <a:ext cx="781050" cy="369332"/>
              </a:xfrm>
              <a:prstGeom prst="rect">
                <a:avLst/>
              </a:prstGeom>
              <a:blipFill>
                <a:blip r:embed="rId13"/>
                <a:stretch>
                  <a:fillRect t="-9836" r="-6250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95E6860-9A98-F2AF-6B39-B7D66A4FE7AF}"/>
                  </a:ext>
                </a:extLst>
              </p:cNvPr>
              <p:cNvSpPr txBox="1"/>
              <p:nvPr/>
            </p:nvSpPr>
            <p:spPr>
              <a:xfrm>
                <a:off x="8991895" y="21630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695E6860-9A98-F2AF-6B39-B7D66A4FE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895" y="2163014"/>
                <a:ext cx="781050" cy="369332"/>
              </a:xfrm>
              <a:prstGeom prst="rect">
                <a:avLst/>
              </a:prstGeom>
              <a:blipFill>
                <a:blip r:embed="rId14"/>
                <a:stretch>
                  <a:fillRect t="-11667" r="-6250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3EEDB8E6-417F-9692-486D-776886A6AC4C}"/>
              </a:ext>
            </a:extLst>
          </p:cNvPr>
          <p:cNvGrpSpPr/>
          <p:nvPr/>
        </p:nvGrpSpPr>
        <p:grpSpPr>
          <a:xfrm rot="10800000">
            <a:off x="9289556" y="4869293"/>
            <a:ext cx="486156" cy="76200"/>
            <a:chOff x="9289556" y="4933314"/>
            <a:chExt cx="486156" cy="76200"/>
          </a:xfrm>
        </p:grpSpPr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B163F647-CB71-3D80-B4FC-C48DB9545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9556" y="4933314"/>
              <a:ext cx="48615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36E23399-3C1E-9103-A643-856C46B53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89556" y="5009514"/>
              <a:ext cx="48615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66C3270-15D2-3778-D9DF-137AD86903B4}"/>
                  </a:ext>
                </a:extLst>
              </p:cNvPr>
              <p:cNvSpPr txBox="1"/>
              <p:nvPr/>
            </p:nvSpPr>
            <p:spPr>
              <a:xfrm>
                <a:off x="9181702" y="441874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166C3270-15D2-3778-D9DF-137AD8690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02" y="4418743"/>
                <a:ext cx="781050" cy="390748"/>
              </a:xfrm>
              <a:prstGeom prst="rect">
                <a:avLst/>
              </a:prstGeom>
              <a:blipFill>
                <a:blip r:embed="rId15"/>
                <a:stretch>
                  <a:fillRect t="-10938" r="-6250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89013AE4-E5AA-A831-B702-39C1CEED73B8}"/>
                  </a:ext>
                </a:extLst>
              </p:cNvPr>
              <p:cNvSpPr txBox="1"/>
              <p:nvPr/>
            </p:nvSpPr>
            <p:spPr>
              <a:xfrm>
                <a:off x="9181702" y="4915860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𝑡𝑎𝑖𝑙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89013AE4-E5AA-A831-B702-39C1CEED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02" y="4915860"/>
                <a:ext cx="781050" cy="390748"/>
              </a:xfrm>
              <a:prstGeom prst="rect">
                <a:avLst/>
              </a:prstGeom>
              <a:blipFill>
                <a:blip r:embed="rId16"/>
                <a:stretch>
                  <a:fillRect t="-9231" r="-6250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40DA56B-5BF0-2179-6233-1C4B49DD02F3}"/>
              </a:ext>
            </a:extLst>
          </p:cNvPr>
          <p:cNvCxnSpPr>
            <a:cxnSpLocks/>
          </p:cNvCxnSpPr>
          <p:nvPr/>
        </p:nvCxnSpPr>
        <p:spPr>
          <a:xfrm>
            <a:off x="10301801" y="3376581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B766CC2-1DA7-2A3F-1943-7F955682F32B}"/>
              </a:ext>
            </a:extLst>
          </p:cNvPr>
          <p:cNvCxnSpPr>
            <a:cxnSpLocks/>
          </p:cNvCxnSpPr>
          <p:nvPr/>
        </p:nvCxnSpPr>
        <p:spPr>
          <a:xfrm>
            <a:off x="10530401" y="3376581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78C80EA8-EDFE-FAF3-A3D4-6E25802F11CD}"/>
              </a:ext>
            </a:extLst>
          </p:cNvPr>
          <p:cNvCxnSpPr>
            <a:cxnSpLocks/>
          </p:cNvCxnSpPr>
          <p:nvPr/>
        </p:nvCxnSpPr>
        <p:spPr>
          <a:xfrm>
            <a:off x="11003476" y="3376581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CBA95CA-5320-8FA0-F9B6-403BD0AED15A}"/>
              </a:ext>
            </a:extLst>
          </p:cNvPr>
          <p:cNvCxnSpPr>
            <a:cxnSpLocks/>
          </p:cNvCxnSpPr>
          <p:nvPr/>
        </p:nvCxnSpPr>
        <p:spPr>
          <a:xfrm>
            <a:off x="11249922" y="3376581"/>
            <a:ext cx="0" cy="5034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4EC83FE-8D44-1E56-203D-2F2FA87171B4}"/>
                  </a:ext>
                </a:extLst>
              </p:cNvPr>
              <p:cNvSpPr txBox="1"/>
              <p:nvPr/>
            </p:nvSpPr>
            <p:spPr>
              <a:xfrm>
                <a:off x="9545298" y="3307846"/>
                <a:ext cx="963800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𝑐𝑎𝑠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4EC83FE-8D44-1E56-203D-2F2FA8717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298" y="3307846"/>
                <a:ext cx="963800" cy="6090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5AB0BC7-A1C2-D05F-95C0-3F8786E81660}"/>
                  </a:ext>
                </a:extLst>
              </p:cNvPr>
              <p:cNvSpPr txBox="1"/>
              <p:nvPr/>
            </p:nvSpPr>
            <p:spPr>
              <a:xfrm>
                <a:off x="10295626" y="3270531"/>
                <a:ext cx="963800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𝑐𝑎𝑠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5AB0BC7-A1C2-D05F-95C0-3F8786E8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626" y="3270531"/>
                <a:ext cx="963800" cy="6090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8532423-AA36-E40D-D44A-F4263B66C266}"/>
                  </a:ext>
                </a:extLst>
              </p:cNvPr>
              <p:cNvSpPr txBox="1"/>
              <p:nvPr/>
            </p:nvSpPr>
            <p:spPr>
              <a:xfrm>
                <a:off x="11001704" y="3296240"/>
                <a:ext cx="963800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𝑐𝑎𝑠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8532423-AA36-E40D-D44A-F4263B66C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704" y="3296240"/>
                <a:ext cx="963800" cy="6090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図 21">
            <a:extLst>
              <a:ext uri="{FF2B5EF4-FFF2-40B4-BE49-F238E27FC236}">
                <a16:creationId xmlns:a16="http://schemas.microsoft.com/office/drawing/2014/main" id="{4D7C77F3-BE2D-585F-DFEB-CBD9D0D93B5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6482" y="3584683"/>
            <a:ext cx="3324670" cy="294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63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995C-6D2F-9621-BEC2-BCF2DE0F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C935BED8-0392-694F-1238-87D5F2C03AFF}"/>
              </a:ext>
            </a:extLst>
          </p:cNvPr>
          <p:cNvGrpSpPr/>
          <p:nvPr/>
        </p:nvGrpSpPr>
        <p:grpSpPr>
          <a:xfrm>
            <a:off x="6631681" y="1199449"/>
            <a:ext cx="5086411" cy="4865340"/>
            <a:chOff x="6631681" y="1199449"/>
            <a:chExt cx="5086411" cy="4865340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2A8D2D8-9DB4-4934-0AD8-FDFC08DFAE6C}"/>
                </a:ext>
              </a:extLst>
            </p:cNvPr>
            <p:cNvSpPr/>
            <p:nvPr/>
          </p:nvSpPr>
          <p:spPr>
            <a:xfrm>
              <a:off x="11347269" y="1199449"/>
              <a:ext cx="370823" cy="486533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642F9314-128A-040D-7A9A-9EC63F714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631681" y="1199449"/>
              <a:ext cx="4845748" cy="4865340"/>
            </a:xfrm>
            <a:prstGeom prst="rect">
              <a:avLst/>
            </a:prstGeom>
          </p:spPr>
        </p:pic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AD24A029-B771-1E97-E011-E7271484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AB</a:t>
            </a:r>
            <a:r>
              <a:rPr lang="ja-JP" altLang="en-US" dirty="0"/>
              <a:t>級バッファ付</a:t>
            </a:r>
            <a:r>
              <a:rPr lang="en-US" altLang="ja-JP" dirty="0"/>
              <a:t>R2R</a:t>
            </a:r>
            <a:r>
              <a:rPr lang="ja-JP" altLang="en-US" dirty="0"/>
              <a:t>フォールデッドカスコードオペアンプ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4FA8D76-B9A7-5755-3422-A01C1F08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CCB597-F5FC-0070-FDB3-1E070025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43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DAAEFF98-F5BA-B851-F2D4-E9122FC0E9A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500" y="1463039"/>
                <a:ext cx="11210543" cy="240356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入力段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と折り返しカスコード段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𝑐𝑎𝑠</m:t>
                        </m:r>
                      </m:sub>
                    </m:sSub>
                  </m:oMath>
                </a14:m>
                <a:r>
                  <a:rPr lang="ja-JP" altLang="en-US" dirty="0"/>
                  <a:t>で</a:t>
                </a:r>
                <a:br>
                  <a:rPr lang="en-US" altLang="ja-JP" dirty="0"/>
                </a:br>
                <a:r>
                  <a:rPr lang="ja-JP" altLang="en-US" dirty="0"/>
                  <a:t>同じ電流を流す場合の</a:t>
                </a:r>
                <a:r>
                  <a:rPr lang="en-US" altLang="ja-JP" dirty="0"/>
                  <a:t>W</a:t>
                </a:r>
                <a:r>
                  <a:rPr lang="ja-JP" altLang="en-US" dirty="0"/>
                  <a:t>比は右の通り</a:t>
                </a:r>
                <a:br>
                  <a:rPr lang="en-US" altLang="ja-JP" dirty="0"/>
                </a:br>
                <a:r>
                  <a:rPr lang="en-US" altLang="ja-JP" dirty="0">
                    <a:solidFill>
                      <a:srgbClr val="464646"/>
                    </a:solidFill>
                  </a:rPr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𝑐𝑎𝑠</m:t>
                        </m:r>
                      </m:sub>
                    </m:sSub>
                    <m:r>
                      <a:rPr lang="en-US" altLang="ja-JP" i="1" dirty="0">
                        <a:solidFill>
                          <a:srgbClr val="46464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US" altLang="ja-JP" b="0" i="1" dirty="0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b="0" i="1" dirty="0" smtClean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i="1" dirty="0">
                            <a:solidFill>
                              <a:srgbClr val="46464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が流れる折り返しカスコード段の電源側サイズは</a:t>
                </a:r>
                <a:br>
                  <a:rPr lang="en-US" altLang="ja-JP" dirty="0"/>
                </a:br>
                <a:r>
                  <a:rPr lang="ja-JP" altLang="en-US" dirty="0"/>
                  <a:t>　　</a:t>
                </a:r>
                <a:r>
                  <a:rPr lang="en-US" altLang="ja-JP" dirty="0"/>
                  <a:t>PMOS</a:t>
                </a:r>
                <a:r>
                  <a:rPr lang="ja-JP" altLang="en-US" dirty="0"/>
                  <a:t>側の電流</a:t>
                </a:r>
                <a:r>
                  <a:rPr lang="en-US" altLang="ja-JP" dirty="0"/>
                  <a:t>(Vg=BPO, W=Wp)</a:t>
                </a:r>
                <a:r>
                  <a:rPr lang="ja-JP" altLang="en-US" dirty="0"/>
                  <a:t>の電流量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と</a:t>
                </a:r>
                <a:br>
                  <a:rPr lang="en-US" altLang="ja-JP" dirty="0"/>
                </a:br>
                <a:r>
                  <a:rPr lang="ja-JP" altLang="en-US" dirty="0"/>
                  <a:t>　　</a:t>
                </a:r>
                <a:r>
                  <a:rPr lang="en-US" altLang="ja-JP" dirty="0"/>
                  <a:t>NMOS</a:t>
                </a:r>
                <a:r>
                  <a:rPr lang="ja-JP" altLang="en-US" dirty="0"/>
                  <a:t>側の電流</a:t>
                </a:r>
                <a:r>
                  <a:rPr lang="en-US" altLang="ja-JP" dirty="0"/>
                  <a:t>(Vg=BNO, W=</a:t>
                </a:r>
                <a:r>
                  <a:rPr lang="en-US" altLang="ja-JP" dirty="0" err="1"/>
                  <a:t>Wn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の電流量とが</a:t>
                </a:r>
                <a:br>
                  <a:rPr lang="en-US" altLang="ja-JP" dirty="0"/>
                </a:br>
                <a:r>
                  <a:rPr lang="ja-JP" altLang="en-US" dirty="0"/>
                  <a:t>　　等しいことを前提に算出</a:t>
                </a:r>
                <a:br>
                  <a:rPr lang="en-US" altLang="ja-JP" dirty="0"/>
                </a:br>
                <a:r>
                  <a:rPr lang="en-US" altLang="ja-JP" dirty="0"/>
                  <a:t>※</a:t>
                </a:r>
                <a:r>
                  <a:rPr lang="ja-JP" altLang="en-US" dirty="0"/>
                  <a:t>フローティングカレントミラーのバイアス電圧を作るトランジスタサイズが</a:t>
                </a:r>
                <a:br>
                  <a:rPr lang="en-US" altLang="ja-JP" dirty="0"/>
                </a:br>
                <a:r>
                  <a:rPr lang="ja-JP" altLang="en-US" dirty="0"/>
                  <a:t>　 カスコードカレントミラー段のバイアス電圧を作るトランジスタサイズと</a:t>
                </a:r>
                <a:br>
                  <a:rPr lang="en-US" altLang="ja-JP" dirty="0"/>
                </a:br>
                <a:r>
                  <a:rPr lang="ja-JP" altLang="en-US" dirty="0"/>
                  <a:t>　 基本的に同じであることを前提に算出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DAAEFF98-F5BA-B851-F2D4-E9122FC0E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500" y="1463039"/>
                <a:ext cx="11210543" cy="2403567"/>
              </a:xfrm>
              <a:blipFill>
                <a:blip r:embed="rId3"/>
                <a:stretch>
                  <a:fillRect l="-218" t="-1015" b="-2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EAFF4F5-50D3-68E1-B3B1-B974E30AA132}"/>
                  </a:ext>
                </a:extLst>
              </p:cNvPr>
              <p:cNvSpPr txBox="1"/>
              <p:nvPr/>
            </p:nvSpPr>
            <p:spPr>
              <a:xfrm>
                <a:off x="7521774" y="3782790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6EAFF4F5-50D3-68E1-B3B1-B974E30AA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774" y="3782790"/>
                <a:ext cx="618926" cy="369332"/>
              </a:xfrm>
              <a:prstGeom prst="rect">
                <a:avLst/>
              </a:prstGeom>
              <a:blipFill>
                <a:blip r:embed="rId4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8AE9F0CE-E28C-2728-1959-AB58E8052C2C}"/>
                  </a:ext>
                </a:extLst>
              </p:cNvPr>
              <p:cNvSpPr txBox="1"/>
              <p:nvPr/>
            </p:nvSpPr>
            <p:spPr>
              <a:xfrm>
                <a:off x="8709224" y="3782790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8AE9F0CE-E28C-2728-1959-AB58E8052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224" y="3782790"/>
                <a:ext cx="618926" cy="369332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8787B31-5E83-48CB-8EAC-8AF037FDE3DF}"/>
                  </a:ext>
                </a:extLst>
              </p:cNvPr>
              <p:cNvSpPr txBox="1"/>
              <p:nvPr/>
            </p:nvSpPr>
            <p:spPr>
              <a:xfrm>
                <a:off x="7045524" y="3059668"/>
                <a:ext cx="476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8787B31-5E83-48CB-8EAC-8AF037FDE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524" y="3059668"/>
                <a:ext cx="476250" cy="369332"/>
              </a:xfrm>
              <a:prstGeom prst="rect">
                <a:avLst/>
              </a:prstGeom>
              <a:blipFill>
                <a:blip r:embed="rId6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ECF4E36E-B646-6ABE-9816-E57D8C08C8A7}"/>
                  </a:ext>
                </a:extLst>
              </p:cNvPr>
              <p:cNvSpPr txBox="1"/>
              <p:nvPr/>
            </p:nvSpPr>
            <p:spPr>
              <a:xfrm>
                <a:off x="7928174" y="3059668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ECF4E36E-B646-6ABE-9816-E57D8C08C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3059668"/>
                <a:ext cx="618926" cy="369332"/>
              </a:xfrm>
              <a:prstGeom prst="rect">
                <a:avLst/>
              </a:prstGeom>
              <a:blipFill>
                <a:blip r:embed="rId7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EFBA9D3-E8DA-CE2E-19FF-A0C15F826F50}"/>
                  </a:ext>
                </a:extLst>
              </p:cNvPr>
              <p:cNvSpPr txBox="1"/>
              <p:nvPr/>
            </p:nvSpPr>
            <p:spPr>
              <a:xfrm>
                <a:off x="6902053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EFBA9D3-E8DA-CE2E-19FF-A0C15F826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053" y="1644481"/>
                <a:ext cx="781050" cy="390748"/>
              </a:xfrm>
              <a:prstGeom prst="rect">
                <a:avLst/>
              </a:prstGeom>
              <a:blipFill>
                <a:blip r:embed="rId8"/>
                <a:stretch>
                  <a:fillRect t="-10938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F296921-92B9-DE6F-CF22-C9E62025191C}"/>
                  </a:ext>
                </a:extLst>
              </p:cNvPr>
              <p:cNvSpPr txBox="1"/>
              <p:nvPr/>
            </p:nvSpPr>
            <p:spPr>
              <a:xfrm>
                <a:off x="7928174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F296921-92B9-DE6F-CF22-C9E62025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1644481"/>
                <a:ext cx="781050" cy="390748"/>
              </a:xfrm>
              <a:prstGeom prst="rect">
                <a:avLst/>
              </a:prstGeom>
              <a:blipFill>
                <a:blip r:embed="rId9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3A58F336-37A2-68C3-B61F-35BACBC93F4A}"/>
                  </a:ext>
                </a:extLst>
              </p:cNvPr>
              <p:cNvSpPr txBox="1"/>
              <p:nvPr/>
            </p:nvSpPr>
            <p:spPr>
              <a:xfrm>
                <a:off x="6902053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3A58F336-37A2-68C3-B61F-35BACBC93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053" y="2367603"/>
                <a:ext cx="781050" cy="390748"/>
              </a:xfrm>
              <a:prstGeom prst="rect">
                <a:avLst/>
              </a:prstGeom>
              <a:blipFill>
                <a:blip r:embed="rId10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48A73CC-966B-0241-D35F-D2DFD6D6264A}"/>
                  </a:ext>
                </a:extLst>
              </p:cNvPr>
              <p:cNvSpPr txBox="1"/>
              <p:nvPr/>
            </p:nvSpPr>
            <p:spPr>
              <a:xfrm>
                <a:off x="7928174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48A73CC-966B-0241-D35F-D2DFD6D62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174" y="2367603"/>
                <a:ext cx="781050" cy="390748"/>
              </a:xfrm>
              <a:prstGeom prst="rect">
                <a:avLst/>
              </a:prstGeom>
              <a:blipFill>
                <a:blip r:embed="rId11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4A351C7-68E6-BC08-A855-776E55114803}"/>
                  </a:ext>
                </a:extLst>
              </p:cNvPr>
              <p:cNvSpPr txBox="1"/>
              <p:nvPr/>
            </p:nvSpPr>
            <p:spPr>
              <a:xfrm>
                <a:off x="7452222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4A351C7-68E6-BC08-A855-776E55114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222" y="4559304"/>
                <a:ext cx="781050" cy="369332"/>
              </a:xfrm>
              <a:prstGeom prst="rect">
                <a:avLst/>
              </a:prstGeom>
              <a:blipFill>
                <a:blip r:embed="rId12"/>
                <a:stretch>
                  <a:fillRect t="-11475" r="-7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3FB9B05-724F-E5BF-0108-0DAF0942B7F0}"/>
                  </a:ext>
                </a:extLst>
              </p:cNvPr>
              <p:cNvSpPr txBox="1"/>
              <p:nvPr/>
            </p:nvSpPr>
            <p:spPr>
              <a:xfrm>
                <a:off x="8913819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3FB9B05-724F-E5BF-0108-0DAF0942B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19" y="4559304"/>
                <a:ext cx="781050" cy="369332"/>
              </a:xfrm>
              <a:prstGeom prst="rect">
                <a:avLst/>
              </a:prstGeom>
              <a:blipFill>
                <a:blip r:embed="rId13"/>
                <a:stretch>
                  <a:fillRect t="-11475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BC269EE-D784-E994-790C-64BB58500EAB}"/>
                  </a:ext>
                </a:extLst>
              </p:cNvPr>
              <p:cNvSpPr txBox="1"/>
              <p:nvPr/>
            </p:nvSpPr>
            <p:spPr>
              <a:xfrm>
                <a:off x="7452222" y="528242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BC269EE-D784-E994-790C-64BB58500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222" y="5282426"/>
                <a:ext cx="781050" cy="369332"/>
              </a:xfrm>
              <a:prstGeom prst="rect">
                <a:avLst/>
              </a:prstGeom>
              <a:blipFill>
                <a:blip r:embed="rId14"/>
                <a:stretch>
                  <a:fillRect t="-11667" r="-775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222C39C-B0DF-3F48-C53A-CA965A86C0C5}"/>
                  </a:ext>
                </a:extLst>
              </p:cNvPr>
              <p:cNvSpPr txBox="1"/>
              <p:nvPr/>
            </p:nvSpPr>
            <p:spPr>
              <a:xfrm>
                <a:off x="8913819" y="528242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9222C39C-B0DF-3F48-C53A-CA965A86C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19" y="5282426"/>
                <a:ext cx="781050" cy="369332"/>
              </a:xfrm>
              <a:prstGeom prst="rect">
                <a:avLst/>
              </a:prstGeom>
              <a:blipFill>
                <a:blip r:embed="rId15"/>
                <a:stretch>
                  <a:fillRect t="-11667" r="-1563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83CCE11-88C6-582A-83AE-8A1D2B54560A}"/>
                  </a:ext>
                </a:extLst>
              </p:cNvPr>
              <p:cNvSpPr txBox="1"/>
              <p:nvPr/>
            </p:nvSpPr>
            <p:spPr>
              <a:xfrm>
                <a:off x="10245557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683CCE11-88C6-582A-83AE-8A1D2B545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1644481"/>
                <a:ext cx="781050" cy="390748"/>
              </a:xfrm>
              <a:prstGeom prst="rect">
                <a:avLst/>
              </a:prstGeom>
              <a:blipFill>
                <a:blip r:embed="rId16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78533EF-3BAF-7C46-58C5-D5906C3013B2}"/>
                  </a:ext>
                </a:extLst>
              </p:cNvPr>
              <p:cNvSpPr txBox="1"/>
              <p:nvPr/>
            </p:nvSpPr>
            <p:spPr>
              <a:xfrm>
                <a:off x="11077193" y="1644481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78533EF-3BAF-7C46-58C5-D5906C301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193" y="1644481"/>
                <a:ext cx="781050" cy="390748"/>
              </a:xfrm>
              <a:prstGeom prst="rect">
                <a:avLst/>
              </a:prstGeom>
              <a:blipFill>
                <a:blip r:embed="rId17"/>
                <a:stretch>
                  <a:fillRect t="-10938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FC9681C-C6FD-9D77-B145-9E019809F1BD}"/>
                  </a:ext>
                </a:extLst>
              </p:cNvPr>
              <p:cNvSpPr txBox="1"/>
              <p:nvPr/>
            </p:nvSpPr>
            <p:spPr>
              <a:xfrm>
                <a:off x="10245557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FC9681C-C6FD-9D77-B145-9E019809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2367603"/>
                <a:ext cx="781050" cy="390748"/>
              </a:xfrm>
              <a:prstGeom prst="rect">
                <a:avLst/>
              </a:prstGeom>
              <a:blipFill>
                <a:blip r:embed="rId18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A4E5CCE-6C9D-122E-0121-CFF6CCD69E04}"/>
                  </a:ext>
                </a:extLst>
              </p:cNvPr>
              <p:cNvSpPr txBox="1"/>
              <p:nvPr/>
            </p:nvSpPr>
            <p:spPr>
              <a:xfrm>
                <a:off x="11077193" y="236760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A4E5CCE-6C9D-122E-0121-CFF6CCD69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193" y="2367603"/>
                <a:ext cx="781050" cy="390748"/>
              </a:xfrm>
              <a:prstGeom prst="rect">
                <a:avLst/>
              </a:prstGeom>
              <a:blipFill>
                <a:blip r:embed="rId19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A49E061-CA3A-C479-457F-53983A85B287}"/>
                  </a:ext>
                </a:extLst>
              </p:cNvPr>
              <p:cNvSpPr txBox="1"/>
              <p:nvPr/>
            </p:nvSpPr>
            <p:spPr>
              <a:xfrm>
                <a:off x="10245557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A49E061-CA3A-C479-457F-53983A85B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4559304"/>
                <a:ext cx="781050" cy="369332"/>
              </a:xfrm>
              <a:prstGeom prst="rect">
                <a:avLst/>
              </a:prstGeom>
              <a:blipFill>
                <a:blip r:embed="rId20"/>
                <a:stretch>
                  <a:fillRect t="-11475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6B89797-A385-D7A9-B08C-BA9A1B96E1FA}"/>
                  </a:ext>
                </a:extLst>
              </p:cNvPr>
              <p:cNvSpPr txBox="1"/>
              <p:nvPr/>
            </p:nvSpPr>
            <p:spPr>
              <a:xfrm>
                <a:off x="11077193" y="455930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6B89797-A385-D7A9-B08C-BA9A1B96E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193" y="4559304"/>
                <a:ext cx="781050" cy="369332"/>
              </a:xfrm>
              <a:prstGeom prst="rect">
                <a:avLst/>
              </a:prstGeom>
              <a:blipFill>
                <a:blip r:embed="rId21"/>
                <a:stretch>
                  <a:fillRect t="-11475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3774FC1-C757-7CDE-89A9-98D52D30E56C}"/>
                  </a:ext>
                </a:extLst>
              </p:cNvPr>
              <p:cNvSpPr txBox="1"/>
              <p:nvPr/>
            </p:nvSpPr>
            <p:spPr>
              <a:xfrm>
                <a:off x="10245557" y="531204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3774FC1-C757-7CDE-89A9-98D52D30E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5312046"/>
                <a:ext cx="781050" cy="369332"/>
              </a:xfrm>
              <a:prstGeom prst="rect">
                <a:avLst/>
              </a:prstGeom>
              <a:blipFill>
                <a:blip r:embed="rId22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1EAF7C9D-A94C-9830-D13A-A30D1C3D98CC}"/>
                  </a:ext>
                </a:extLst>
              </p:cNvPr>
              <p:cNvSpPr txBox="1"/>
              <p:nvPr/>
            </p:nvSpPr>
            <p:spPr>
              <a:xfrm>
                <a:off x="11077193" y="5312046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1EAF7C9D-A94C-9830-D13A-A30D1C3D9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193" y="5312046"/>
                <a:ext cx="781050" cy="369332"/>
              </a:xfrm>
              <a:prstGeom prst="rect">
                <a:avLst/>
              </a:prstGeom>
              <a:blipFill>
                <a:blip r:embed="rId23"/>
                <a:stretch>
                  <a:fillRect t="-9836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32A54F-9519-B907-EBD2-2C665BB36EF3}"/>
                  </a:ext>
                </a:extLst>
              </p:cNvPr>
              <p:cNvSpPr txBox="1"/>
              <p:nvPr/>
            </p:nvSpPr>
            <p:spPr>
              <a:xfrm>
                <a:off x="10245557" y="303762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32A54F-9519-B907-EBD2-2C665BB36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557" y="3037623"/>
                <a:ext cx="781050" cy="390748"/>
              </a:xfrm>
              <a:prstGeom prst="rect">
                <a:avLst/>
              </a:prstGeom>
              <a:blipFill>
                <a:blip r:embed="rId24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E3B355A-284F-2F88-CDF4-34CA8D14702D}"/>
                  </a:ext>
                </a:extLst>
              </p:cNvPr>
              <p:cNvSpPr txBox="1"/>
              <p:nvPr/>
            </p:nvSpPr>
            <p:spPr>
              <a:xfrm>
                <a:off x="11077193" y="3037623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E3B355A-284F-2F88-CDF4-34CA8D147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193" y="3037623"/>
                <a:ext cx="781050" cy="390748"/>
              </a:xfrm>
              <a:prstGeom prst="rect">
                <a:avLst/>
              </a:prstGeom>
              <a:blipFill>
                <a:blip r:embed="rId25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B36C6B81-C0FA-2FD9-AF99-54AB6C55FC11}"/>
                  </a:ext>
                </a:extLst>
              </p:cNvPr>
              <p:cNvSpPr txBox="1"/>
              <p:nvPr/>
            </p:nvSpPr>
            <p:spPr>
              <a:xfrm>
                <a:off x="10296143" y="378279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B36C6B81-C0FA-2FD9-AF99-54AB6C55F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143" y="3782790"/>
                <a:ext cx="781050" cy="369332"/>
              </a:xfrm>
              <a:prstGeom prst="rect">
                <a:avLst/>
              </a:prstGeom>
              <a:blipFill>
                <a:blip r:embed="rId26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58C2D96-83E7-E2C3-A555-4EFD2169E2D7}"/>
                  </a:ext>
                </a:extLst>
              </p:cNvPr>
              <p:cNvSpPr txBox="1"/>
              <p:nvPr/>
            </p:nvSpPr>
            <p:spPr>
              <a:xfrm>
                <a:off x="11077193" y="378279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58C2D96-83E7-E2C3-A555-4EFD2169E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193" y="3782790"/>
                <a:ext cx="781050" cy="369332"/>
              </a:xfrm>
              <a:prstGeom prst="rect">
                <a:avLst/>
              </a:prstGeom>
              <a:blipFill>
                <a:blip r:embed="rId27"/>
                <a:stretch>
                  <a:fillRect t="-11667" r="-1563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599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6E85CC5-5AFB-B0AD-8A23-A1F80918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5" y="2067984"/>
            <a:ext cx="11701271" cy="449556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E11099C-B912-1ABD-8F4C-66CE939D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AB</a:t>
            </a:r>
            <a:r>
              <a:rPr lang="ja-JP" altLang="en-US" dirty="0"/>
              <a:t>級バッファ付</a:t>
            </a:r>
            <a:r>
              <a:rPr lang="en-US" altLang="ja-JP" dirty="0"/>
              <a:t>R2R</a:t>
            </a:r>
            <a:r>
              <a:rPr lang="ja-JP" altLang="en-US" dirty="0"/>
              <a:t>フォールデッドカスコードオペアンプ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A1AFE4-2F44-2353-23D6-FF609F20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80A605-2089-2905-0560-FC79E1CE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44</a:t>
            </a:fld>
            <a:endParaRPr lang="ja-JP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946C96D3-AC9A-63BF-940D-3B60A9C1B1A1}"/>
                  </a:ext>
                </a:extLst>
              </p:cNvPr>
              <p:cNvSpPr txBox="1"/>
              <p:nvPr/>
            </p:nvSpPr>
            <p:spPr>
              <a:xfrm>
                <a:off x="5984789" y="4484435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946C96D3-AC9A-63BF-940D-3B60A9C1B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789" y="4484435"/>
                <a:ext cx="618926" cy="369332"/>
              </a:xfrm>
              <a:prstGeom prst="rect">
                <a:avLst/>
              </a:prstGeom>
              <a:blipFill>
                <a:blip r:embed="rId3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27BCB77-EFBB-0E3E-1BB8-E928B9DF4172}"/>
                  </a:ext>
                </a:extLst>
              </p:cNvPr>
              <p:cNvSpPr txBox="1"/>
              <p:nvPr/>
            </p:nvSpPr>
            <p:spPr>
              <a:xfrm>
                <a:off x="7174330" y="4483700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27BCB77-EFBB-0E3E-1BB8-E928B9DF4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330" y="4483700"/>
                <a:ext cx="618926" cy="369332"/>
              </a:xfrm>
              <a:prstGeom prst="rect">
                <a:avLst/>
              </a:prstGeom>
              <a:blipFill>
                <a:blip r:embed="rId4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300BEC6-C590-9E61-020F-B1DD6CC4A2E1}"/>
                  </a:ext>
                </a:extLst>
              </p:cNvPr>
              <p:cNvSpPr txBox="1"/>
              <p:nvPr/>
            </p:nvSpPr>
            <p:spPr>
              <a:xfrm>
                <a:off x="5619750" y="3834438"/>
                <a:ext cx="476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300BEC6-C590-9E61-020F-B1DD6CC4A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0" y="3834438"/>
                <a:ext cx="476250" cy="369332"/>
              </a:xfrm>
              <a:prstGeom prst="rect">
                <a:avLst/>
              </a:prstGeom>
              <a:blipFill>
                <a:blip r:embed="rId5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40EC8F7-1C6F-3233-D5D9-5487E2CBCC6F}"/>
                  </a:ext>
                </a:extLst>
              </p:cNvPr>
              <p:cNvSpPr txBox="1"/>
              <p:nvPr/>
            </p:nvSpPr>
            <p:spPr>
              <a:xfrm>
                <a:off x="6456376" y="3836570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40EC8F7-1C6F-3233-D5D9-5487E2CB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376" y="3836570"/>
                <a:ext cx="618926" cy="369332"/>
              </a:xfrm>
              <a:prstGeom prst="rect">
                <a:avLst/>
              </a:prstGeom>
              <a:blipFill>
                <a:blip r:embed="rId6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B495CD5-48BA-1333-0A2F-CCF7853E8726}"/>
                  </a:ext>
                </a:extLst>
              </p:cNvPr>
              <p:cNvSpPr txBox="1"/>
              <p:nvPr/>
            </p:nvSpPr>
            <p:spPr>
              <a:xfrm>
                <a:off x="5594264" y="2507917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B495CD5-48BA-1333-0A2F-CCF7853E8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264" y="2507917"/>
                <a:ext cx="781050" cy="390748"/>
              </a:xfrm>
              <a:prstGeom prst="rect">
                <a:avLst/>
              </a:prstGeom>
              <a:blipFill>
                <a:blip r:embed="rId7"/>
                <a:stretch>
                  <a:fillRect t="-9231" r="-781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A537868-3FB7-9D57-38F7-E69E0E135134}"/>
                  </a:ext>
                </a:extLst>
              </p:cNvPr>
              <p:cNvSpPr txBox="1"/>
              <p:nvPr/>
            </p:nvSpPr>
            <p:spPr>
              <a:xfrm>
                <a:off x="6620385" y="2507917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A537868-3FB7-9D57-38F7-E69E0E135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385" y="2507917"/>
                <a:ext cx="781050" cy="390748"/>
              </a:xfrm>
              <a:prstGeom prst="rect">
                <a:avLst/>
              </a:prstGeom>
              <a:blipFill>
                <a:blip r:embed="rId8"/>
                <a:stretch>
                  <a:fillRect t="-9231" r="-1563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D7B6AC2-7BEE-D91E-6A09-71ADE560D18C}"/>
                  </a:ext>
                </a:extLst>
              </p:cNvPr>
              <p:cNvSpPr txBox="1"/>
              <p:nvPr/>
            </p:nvSpPr>
            <p:spPr>
              <a:xfrm>
                <a:off x="5594264" y="3231039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D7B6AC2-7BEE-D91E-6A09-71ADE560D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264" y="3231039"/>
                <a:ext cx="781050" cy="390748"/>
              </a:xfrm>
              <a:prstGeom prst="rect">
                <a:avLst/>
              </a:prstGeom>
              <a:blipFill>
                <a:blip r:embed="rId9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F2DC7DD1-E8CA-CD42-4EA0-FF327FA7DDD7}"/>
                  </a:ext>
                </a:extLst>
              </p:cNvPr>
              <p:cNvSpPr txBox="1"/>
              <p:nvPr/>
            </p:nvSpPr>
            <p:spPr>
              <a:xfrm>
                <a:off x="6620385" y="3231039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F2DC7DD1-E8CA-CD42-4EA0-FF327FA7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385" y="3231039"/>
                <a:ext cx="781050" cy="390748"/>
              </a:xfrm>
              <a:prstGeom prst="rect">
                <a:avLst/>
              </a:prstGeom>
              <a:blipFill>
                <a:blip r:embed="rId10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EEEF9DF6-EB59-AD3F-92DB-31951ACCECCC}"/>
                  </a:ext>
                </a:extLst>
              </p:cNvPr>
              <p:cNvSpPr txBox="1"/>
              <p:nvPr/>
            </p:nvSpPr>
            <p:spPr>
              <a:xfrm>
                <a:off x="5984789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EEEF9DF6-EB59-AD3F-92DB-31951ACC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789" y="5107575"/>
                <a:ext cx="781050" cy="369332"/>
              </a:xfrm>
              <a:prstGeom prst="rect">
                <a:avLst/>
              </a:prstGeom>
              <a:blipFill>
                <a:blip r:embed="rId11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89C9111-7562-B56D-0536-482F9AA849F2}"/>
                  </a:ext>
                </a:extLst>
              </p:cNvPr>
              <p:cNvSpPr txBox="1"/>
              <p:nvPr/>
            </p:nvSpPr>
            <p:spPr>
              <a:xfrm>
                <a:off x="7239311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89C9111-7562-B56D-0536-482F9AA8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11" y="5107575"/>
                <a:ext cx="781050" cy="369332"/>
              </a:xfrm>
              <a:prstGeom prst="rect">
                <a:avLst/>
              </a:prstGeom>
              <a:blipFill>
                <a:blip r:embed="rId12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09CAC3A-43F4-AD04-E913-953742590EBE}"/>
                  </a:ext>
                </a:extLst>
              </p:cNvPr>
              <p:cNvSpPr txBox="1"/>
              <p:nvPr/>
            </p:nvSpPr>
            <p:spPr>
              <a:xfrm>
                <a:off x="5984789" y="5830697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09CAC3A-43F4-AD04-E913-953742590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789" y="5830697"/>
                <a:ext cx="781050" cy="369332"/>
              </a:xfrm>
              <a:prstGeom prst="rect">
                <a:avLst/>
              </a:prstGeom>
              <a:blipFill>
                <a:blip r:embed="rId13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7E63169-1AE4-1FB9-8083-4213845F07B1}"/>
                  </a:ext>
                </a:extLst>
              </p:cNvPr>
              <p:cNvSpPr txBox="1"/>
              <p:nvPr/>
            </p:nvSpPr>
            <p:spPr>
              <a:xfrm>
                <a:off x="7239311" y="5830697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7E63169-1AE4-1FB9-8083-4213845F0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11" y="5830697"/>
                <a:ext cx="781050" cy="369332"/>
              </a:xfrm>
              <a:prstGeom prst="rect">
                <a:avLst/>
              </a:prstGeom>
              <a:blipFill>
                <a:blip r:embed="rId14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5F1E4F8-B1F7-3BC7-3028-996E8ACF2366}"/>
                  </a:ext>
                </a:extLst>
              </p:cNvPr>
              <p:cNvSpPr txBox="1"/>
              <p:nvPr/>
            </p:nvSpPr>
            <p:spPr>
              <a:xfrm>
                <a:off x="8454052" y="2513016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5F1E4F8-B1F7-3BC7-3028-996E8ACF2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052" y="2513016"/>
                <a:ext cx="781050" cy="390748"/>
              </a:xfrm>
              <a:prstGeom prst="rect">
                <a:avLst/>
              </a:prstGeom>
              <a:blipFill>
                <a:blip r:embed="rId15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894325F6-F3EB-041E-76EE-E65B572FE8DD}"/>
                  </a:ext>
                </a:extLst>
              </p:cNvPr>
              <p:cNvSpPr txBox="1"/>
              <p:nvPr/>
            </p:nvSpPr>
            <p:spPr>
              <a:xfrm>
                <a:off x="9260395" y="2513016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894325F6-F3EB-041E-76EE-E65B572FE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395" y="2513016"/>
                <a:ext cx="781050" cy="390748"/>
              </a:xfrm>
              <a:prstGeom prst="rect">
                <a:avLst/>
              </a:prstGeom>
              <a:blipFill>
                <a:blip r:embed="rId16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F869343-7189-AF73-111F-C8E5A8F82F76}"/>
                  </a:ext>
                </a:extLst>
              </p:cNvPr>
              <p:cNvSpPr txBox="1"/>
              <p:nvPr/>
            </p:nvSpPr>
            <p:spPr>
              <a:xfrm>
                <a:off x="8454052" y="323613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F869343-7189-AF73-111F-C8E5A8F8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052" y="3236138"/>
                <a:ext cx="781050" cy="390748"/>
              </a:xfrm>
              <a:prstGeom prst="rect">
                <a:avLst/>
              </a:prstGeom>
              <a:blipFill>
                <a:blip r:embed="rId17"/>
                <a:stretch>
                  <a:fillRect t="-10938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4511A7BB-46ED-1B38-9D32-049BE51F59EA}"/>
                  </a:ext>
                </a:extLst>
              </p:cNvPr>
              <p:cNvSpPr txBox="1"/>
              <p:nvPr/>
            </p:nvSpPr>
            <p:spPr>
              <a:xfrm>
                <a:off x="9260395" y="323613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4511A7BB-46ED-1B38-9D32-049BE51F5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395" y="3236138"/>
                <a:ext cx="781050" cy="390748"/>
              </a:xfrm>
              <a:prstGeom prst="rect">
                <a:avLst/>
              </a:prstGeom>
              <a:blipFill>
                <a:blip r:embed="rId18"/>
                <a:stretch>
                  <a:fillRect t="-10938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EA2913DE-6ED9-22AD-F8F0-ACA7863ED1F4}"/>
                  </a:ext>
                </a:extLst>
              </p:cNvPr>
              <p:cNvSpPr txBox="1"/>
              <p:nvPr/>
            </p:nvSpPr>
            <p:spPr>
              <a:xfrm>
                <a:off x="8454052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EA2913DE-6ED9-22AD-F8F0-ACA7863E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052" y="5107575"/>
                <a:ext cx="781050" cy="369332"/>
              </a:xfrm>
              <a:prstGeom prst="rect">
                <a:avLst/>
              </a:prstGeom>
              <a:blipFill>
                <a:blip r:embed="rId19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0683D03-20CB-790D-A415-92C6ED387482}"/>
                  </a:ext>
                </a:extLst>
              </p:cNvPr>
              <p:cNvSpPr txBox="1"/>
              <p:nvPr/>
            </p:nvSpPr>
            <p:spPr>
              <a:xfrm>
                <a:off x="9285688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0683D03-20CB-790D-A415-92C6ED387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688" y="5107575"/>
                <a:ext cx="781050" cy="369332"/>
              </a:xfrm>
              <a:prstGeom prst="rect">
                <a:avLst/>
              </a:prstGeom>
              <a:blipFill>
                <a:blip r:embed="rId20"/>
                <a:stretch>
                  <a:fillRect t="-11667" r="-1563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8CE827BB-6BE2-9640-F169-D977F31C9302}"/>
                  </a:ext>
                </a:extLst>
              </p:cNvPr>
              <p:cNvSpPr txBox="1"/>
              <p:nvPr/>
            </p:nvSpPr>
            <p:spPr>
              <a:xfrm>
                <a:off x="8454052" y="5830697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8CE827BB-6BE2-9640-F169-D977F31C9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052" y="5830697"/>
                <a:ext cx="781050" cy="369332"/>
              </a:xfrm>
              <a:prstGeom prst="rect">
                <a:avLst/>
              </a:prstGeom>
              <a:blipFill>
                <a:blip r:embed="rId21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E03EB8C4-211F-B6FB-2952-FC00D923D745}"/>
                  </a:ext>
                </a:extLst>
              </p:cNvPr>
              <p:cNvSpPr txBox="1"/>
              <p:nvPr/>
            </p:nvSpPr>
            <p:spPr>
              <a:xfrm>
                <a:off x="9285688" y="5830697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E03EB8C4-211F-B6FB-2952-FC00D923D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688" y="5830697"/>
                <a:ext cx="781050" cy="369332"/>
              </a:xfrm>
              <a:prstGeom prst="rect">
                <a:avLst/>
              </a:prstGeom>
              <a:blipFill>
                <a:blip r:embed="rId22"/>
                <a:stretch>
                  <a:fillRect t="-9836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AD0C2545-9CAC-B85F-F670-216702CD1932}"/>
                  </a:ext>
                </a:extLst>
              </p:cNvPr>
              <p:cNvSpPr txBox="1"/>
              <p:nvPr/>
            </p:nvSpPr>
            <p:spPr>
              <a:xfrm>
                <a:off x="8454052" y="383443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AD0C2545-9CAC-B85F-F670-216702CD1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052" y="3834438"/>
                <a:ext cx="781050" cy="390748"/>
              </a:xfrm>
              <a:prstGeom prst="rect">
                <a:avLst/>
              </a:prstGeom>
              <a:blipFill>
                <a:blip r:embed="rId23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5DAF244-4B58-25BD-CE04-A41D9EA45C41}"/>
                  </a:ext>
                </a:extLst>
              </p:cNvPr>
              <p:cNvSpPr txBox="1"/>
              <p:nvPr/>
            </p:nvSpPr>
            <p:spPr>
              <a:xfrm>
                <a:off x="9285688" y="383443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5DAF244-4B58-25BD-CE04-A41D9EA45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688" y="3834438"/>
                <a:ext cx="781050" cy="390748"/>
              </a:xfrm>
              <a:prstGeom prst="rect">
                <a:avLst/>
              </a:prstGeom>
              <a:blipFill>
                <a:blip r:embed="rId24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ECE4D7A-CF5E-B5AF-2DEA-B2F8FD5FB45D}"/>
                  </a:ext>
                </a:extLst>
              </p:cNvPr>
              <p:cNvSpPr txBox="1"/>
              <p:nvPr/>
            </p:nvSpPr>
            <p:spPr>
              <a:xfrm>
                <a:off x="8428852" y="4489171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ECE4D7A-CF5E-B5AF-2DEA-B2F8FD5F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852" y="4489171"/>
                <a:ext cx="781050" cy="369332"/>
              </a:xfrm>
              <a:prstGeom prst="rect">
                <a:avLst/>
              </a:prstGeom>
              <a:blipFill>
                <a:blip r:embed="rId25"/>
                <a:stretch>
                  <a:fillRect t="-9836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10B59176-B04F-CB39-1400-C0F9D6250F89}"/>
                  </a:ext>
                </a:extLst>
              </p:cNvPr>
              <p:cNvSpPr txBox="1"/>
              <p:nvPr/>
            </p:nvSpPr>
            <p:spPr>
              <a:xfrm>
                <a:off x="9285688" y="4489171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10B59176-B04F-CB39-1400-C0F9D6250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688" y="4489171"/>
                <a:ext cx="781050" cy="369332"/>
              </a:xfrm>
              <a:prstGeom prst="rect">
                <a:avLst/>
              </a:prstGeom>
              <a:blipFill>
                <a:blip r:embed="rId26"/>
                <a:stretch>
                  <a:fillRect t="-9836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4D7E6596-44F5-5BFE-6B15-5E2F36FFDED7}"/>
                  </a:ext>
                </a:extLst>
              </p:cNvPr>
              <p:cNvSpPr txBox="1"/>
              <p:nvPr/>
            </p:nvSpPr>
            <p:spPr>
              <a:xfrm>
                <a:off x="3910683" y="383443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4D7E6596-44F5-5BFE-6B15-5E2F36FFD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683" y="3834438"/>
                <a:ext cx="781050" cy="390748"/>
              </a:xfrm>
              <a:prstGeom prst="rect">
                <a:avLst/>
              </a:prstGeom>
              <a:blipFill>
                <a:blip r:embed="rId27"/>
                <a:stretch>
                  <a:fillRect t="-9375" r="-781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1FD1F117-7BD0-07D1-02BD-284DA1E36DCD}"/>
                  </a:ext>
                </a:extLst>
              </p:cNvPr>
              <p:cNvSpPr txBox="1"/>
              <p:nvPr/>
            </p:nvSpPr>
            <p:spPr>
              <a:xfrm>
                <a:off x="3406314" y="4483700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1FD1F117-7BD0-07D1-02BD-284DA1E36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314" y="4483700"/>
                <a:ext cx="781050" cy="369332"/>
              </a:xfrm>
              <a:prstGeom prst="rect">
                <a:avLst/>
              </a:prstGeom>
              <a:blipFill>
                <a:blip r:embed="rId28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CABB2480-E1B7-864E-3BCC-22C8CC711362}"/>
                  </a:ext>
                </a:extLst>
              </p:cNvPr>
              <p:cNvSpPr txBox="1"/>
              <p:nvPr/>
            </p:nvSpPr>
            <p:spPr>
              <a:xfrm>
                <a:off x="3922636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CABB2480-E1B7-864E-3BCC-22C8CC71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636" y="5107575"/>
                <a:ext cx="781050" cy="369332"/>
              </a:xfrm>
              <a:prstGeom prst="rect">
                <a:avLst/>
              </a:prstGeom>
              <a:blipFill>
                <a:blip r:embed="rId29"/>
                <a:stretch>
                  <a:fillRect t="-11667" r="-775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44134A17-DA0C-DB53-A075-E02AA562ADFC}"/>
                  </a:ext>
                </a:extLst>
              </p:cNvPr>
              <p:cNvSpPr txBox="1"/>
              <p:nvPr/>
            </p:nvSpPr>
            <p:spPr>
              <a:xfrm>
                <a:off x="3922636" y="57544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44134A17-DA0C-DB53-A075-E02AA562A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636" y="5754414"/>
                <a:ext cx="781050" cy="369332"/>
              </a:xfrm>
              <a:prstGeom prst="rect">
                <a:avLst/>
              </a:prstGeom>
              <a:blipFill>
                <a:blip r:embed="rId30"/>
                <a:stretch>
                  <a:fillRect t="-11475" r="-775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431AF050-5F80-2C7B-01E4-389FF581B06E}"/>
                  </a:ext>
                </a:extLst>
              </p:cNvPr>
              <p:cNvSpPr txBox="1"/>
              <p:nvPr/>
            </p:nvSpPr>
            <p:spPr>
              <a:xfrm>
                <a:off x="3418267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431AF050-5F80-2C7B-01E4-389FF581B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267" y="5107575"/>
                <a:ext cx="781050" cy="369332"/>
              </a:xfrm>
              <a:prstGeom prst="rect">
                <a:avLst/>
              </a:prstGeom>
              <a:blipFill>
                <a:blip r:embed="rId31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EDDC091F-AF71-0BDC-F98D-18929680E2A1}"/>
                  </a:ext>
                </a:extLst>
              </p:cNvPr>
              <p:cNvSpPr txBox="1"/>
              <p:nvPr/>
            </p:nvSpPr>
            <p:spPr>
              <a:xfrm>
                <a:off x="3418267" y="57544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EDDC091F-AF71-0BDC-F98D-18929680E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267" y="5754414"/>
                <a:ext cx="781050" cy="369332"/>
              </a:xfrm>
              <a:prstGeom prst="rect">
                <a:avLst/>
              </a:prstGeom>
              <a:blipFill>
                <a:blip r:embed="rId32"/>
                <a:stretch>
                  <a:fillRect t="-11475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BC07C739-A641-C995-D814-BEA4314AB15F}"/>
                  </a:ext>
                </a:extLst>
              </p:cNvPr>
              <p:cNvSpPr txBox="1"/>
              <p:nvPr/>
            </p:nvSpPr>
            <p:spPr>
              <a:xfrm>
                <a:off x="2950352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BC07C739-A641-C995-D814-BEA4314AB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352" y="5107575"/>
                <a:ext cx="781050" cy="369332"/>
              </a:xfrm>
              <a:prstGeom prst="rect">
                <a:avLst/>
              </a:prstGeom>
              <a:blipFill>
                <a:blip r:embed="rId33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025DAE5-BE83-2053-3E89-14AFF86B94EF}"/>
                  </a:ext>
                </a:extLst>
              </p:cNvPr>
              <p:cNvSpPr txBox="1"/>
              <p:nvPr/>
            </p:nvSpPr>
            <p:spPr>
              <a:xfrm>
                <a:off x="2950352" y="57544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025DAE5-BE83-2053-3E89-14AFF86B9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352" y="5754414"/>
                <a:ext cx="781050" cy="369332"/>
              </a:xfrm>
              <a:prstGeom prst="rect">
                <a:avLst/>
              </a:prstGeom>
              <a:blipFill>
                <a:blip r:embed="rId34"/>
                <a:stretch>
                  <a:fillRect t="-11475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F1E9E528-1DFB-BC46-D2BF-BE6EA2B38A19}"/>
                  </a:ext>
                </a:extLst>
              </p:cNvPr>
              <p:cNvSpPr txBox="1"/>
              <p:nvPr/>
            </p:nvSpPr>
            <p:spPr>
              <a:xfrm>
                <a:off x="2420866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F1E9E528-1DFB-BC46-D2BF-BE6EA2B38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866" y="5107575"/>
                <a:ext cx="781050" cy="369332"/>
              </a:xfrm>
              <a:prstGeom prst="rect">
                <a:avLst/>
              </a:prstGeom>
              <a:blipFill>
                <a:blip r:embed="rId35"/>
                <a:stretch>
                  <a:fillRect t="-11667" r="-1563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AFCDB33-831A-16EE-487E-5A3FEB4B8E38}"/>
                  </a:ext>
                </a:extLst>
              </p:cNvPr>
              <p:cNvSpPr txBox="1"/>
              <p:nvPr/>
            </p:nvSpPr>
            <p:spPr>
              <a:xfrm>
                <a:off x="2420866" y="57544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AFCDB33-831A-16EE-487E-5A3FEB4B8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866" y="5754414"/>
                <a:ext cx="781050" cy="369332"/>
              </a:xfrm>
              <a:prstGeom prst="rect">
                <a:avLst/>
              </a:prstGeom>
              <a:blipFill>
                <a:blip r:embed="rId36"/>
                <a:stretch>
                  <a:fillRect t="-11475" r="-1563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CBE3E07F-D243-9E3C-9E7D-6D44F857A37A}"/>
                  </a:ext>
                </a:extLst>
              </p:cNvPr>
              <p:cNvSpPr txBox="1"/>
              <p:nvPr/>
            </p:nvSpPr>
            <p:spPr>
              <a:xfrm>
                <a:off x="3905209" y="3197032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CBE3E07F-D243-9E3C-9E7D-6D44F857A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09" y="3197032"/>
                <a:ext cx="781050" cy="390748"/>
              </a:xfrm>
              <a:prstGeom prst="rect">
                <a:avLst/>
              </a:prstGeom>
              <a:blipFill>
                <a:blip r:embed="rId37"/>
                <a:stretch>
                  <a:fillRect t="-9231" r="-781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A0B7E84-B670-5A65-288B-BDDF9D14608B}"/>
                  </a:ext>
                </a:extLst>
              </p:cNvPr>
              <p:cNvSpPr txBox="1"/>
              <p:nvPr/>
            </p:nvSpPr>
            <p:spPr>
              <a:xfrm>
                <a:off x="3905209" y="2507917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A0B7E84-B670-5A65-288B-BDDF9D146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09" y="2507917"/>
                <a:ext cx="781050" cy="390748"/>
              </a:xfrm>
              <a:prstGeom prst="rect">
                <a:avLst/>
              </a:prstGeom>
              <a:blipFill>
                <a:blip r:embed="rId38"/>
                <a:stretch>
                  <a:fillRect t="-9231" r="-781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03C1FD77-5EDC-61CA-FCF3-6AEEF4E4DB11}"/>
                  </a:ext>
                </a:extLst>
              </p:cNvPr>
              <p:cNvSpPr txBox="1"/>
              <p:nvPr/>
            </p:nvSpPr>
            <p:spPr>
              <a:xfrm>
                <a:off x="3392149" y="2507917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03C1FD77-5EDC-61CA-FCF3-6AEEF4E4D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149" y="2507917"/>
                <a:ext cx="781050" cy="390748"/>
              </a:xfrm>
              <a:prstGeom prst="rect">
                <a:avLst/>
              </a:prstGeom>
              <a:blipFill>
                <a:blip r:embed="rId39"/>
                <a:stretch>
                  <a:fillRect t="-9231" r="-775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ED7AF140-44D1-94B5-091B-5AC452F18A3B}"/>
                  </a:ext>
                </a:extLst>
              </p:cNvPr>
              <p:cNvSpPr txBox="1"/>
              <p:nvPr/>
            </p:nvSpPr>
            <p:spPr>
              <a:xfrm>
                <a:off x="3392149" y="3171177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ED7AF140-44D1-94B5-091B-5AC452F18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149" y="3171177"/>
                <a:ext cx="781050" cy="390748"/>
              </a:xfrm>
              <a:prstGeom prst="rect">
                <a:avLst/>
              </a:prstGeom>
              <a:blipFill>
                <a:blip r:embed="rId40"/>
                <a:stretch>
                  <a:fillRect t="-9375" r="-775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CBE8B02A-E70D-6471-EEB2-4E4E78E3A00F}"/>
                  </a:ext>
                </a:extLst>
              </p:cNvPr>
              <p:cNvSpPr txBox="1"/>
              <p:nvPr/>
            </p:nvSpPr>
            <p:spPr>
              <a:xfrm>
                <a:off x="2866442" y="2514698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CBE8B02A-E70D-6471-EEB2-4E4E78E3A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442" y="2514698"/>
                <a:ext cx="781050" cy="390748"/>
              </a:xfrm>
              <a:prstGeom prst="rect">
                <a:avLst/>
              </a:prstGeom>
              <a:blipFill>
                <a:blip r:embed="rId41"/>
                <a:stretch>
                  <a:fillRect t="-10938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E424F040-0D1E-6A48-21AA-A222D563B3E2}"/>
                  </a:ext>
                </a:extLst>
              </p:cNvPr>
              <p:cNvSpPr txBox="1"/>
              <p:nvPr/>
            </p:nvSpPr>
            <p:spPr>
              <a:xfrm>
                <a:off x="2866442" y="3170959"/>
                <a:ext cx="78105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E424F040-0D1E-6A48-21AA-A222D563B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442" y="3170959"/>
                <a:ext cx="781050" cy="390748"/>
              </a:xfrm>
              <a:prstGeom prst="rect">
                <a:avLst/>
              </a:prstGeom>
              <a:blipFill>
                <a:blip r:embed="rId42"/>
                <a:stretch>
                  <a:fillRect t="-9375" r="-1563" b="-171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楕円 48">
            <a:extLst>
              <a:ext uri="{FF2B5EF4-FFF2-40B4-BE49-F238E27FC236}">
                <a16:creationId xmlns:a16="http://schemas.microsoft.com/office/drawing/2014/main" id="{44FE7C57-475B-2EE3-4E3D-6DBB51ECF88E}"/>
              </a:ext>
            </a:extLst>
          </p:cNvPr>
          <p:cNvSpPr/>
          <p:nvPr/>
        </p:nvSpPr>
        <p:spPr>
          <a:xfrm>
            <a:off x="2420866" y="2436424"/>
            <a:ext cx="529486" cy="18793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3530C32-C8F4-B870-D290-9375ADCDA29F}"/>
                  </a:ext>
                </a:extLst>
              </p:cNvPr>
              <p:cNvSpPr txBox="1"/>
              <p:nvPr/>
            </p:nvSpPr>
            <p:spPr>
              <a:xfrm>
                <a:off x="1460535" y="2346760"/>
                <a:ext cx="1075337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≤0.25</m:t>
                          </m:r>
                          <m: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3530C32-C8F4-B870-D290-9375ADCDA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35" y="2346760"/>
                <a:ext cx="1075337" cy="390748"/>
              </a:xfrm>
              <a:prstGeom prst="rect">
                <a:avLst/>
              </a:prstGeom>
              <a:blipFill>
                <a:blip r:embed="rId43"/>
                <a:stretch>
                  <a:fillRect r="-1136" b="-3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B57A0D54-317F-7386-D7D2-FEC926519EAD}"/>
                  </a:ext>
                </a:extLst>
              </p:cNvPr>
              <p:cNvSpPr txBox="1"/>
              <p:nvPr/>
            </p:nvSpPr>
            <p:spPr>
              <a:xfrm>
                <a:off x="1387011" y="5107575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B57A0D54-317F-7386-D7D2-FEC926519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11" y="5107575"/>
                <a:ext cx="781050" cy="369332"/>
              </a:xfrm>
              <a:prstGeom prst="rect">
                <a:avLst/>
              </a:prstGeom>
              <a:blipFill>
                <a:blip r:embed="rId44"/>
                <a:stretch>
                  <a:fillRect t="-11667" r="-781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2520DC5A-9454-CDD5-F39E-0C86C2B6857F}"/>
                  </a:ext>
                </a:extLst>
              </p:cNvPr>
              <p:cNvSpPr txBox="1"/>
              <p:nvPr/>
            </p:nvSpPr>
            <p:spPr>
              <a:xfrm>
                <a:off x="1387011" y="5754414"/>
                <a:ext cx="78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2520DC5A-9454-CDD5-F39E-0C86C2B68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11" y="5754414"/>
                <a:ext cx="781050" cy="369332"/>
              </a:xfrm>
              <a:prstGeom prst="rect">
                <a:avLst/>
              </a:prstGeom>
              <a:blipFill>
                <a:blip r:embed="rId45"/>
                <a:stretch>
                  <a:fillRect t="-11475" r="-781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楕円 52">
            <a:extLst>
              <a:ext uri="{FF2B5EF4-FFF2-40B4-BE49-F238E27FC236}">
                <a16:creationId xmlns:a16="http://schemas.microsoft.com/office/drawing/2014/main" id="{2958D7EC-AFA8-D15F-3271-167D9A327DB3}"/>
              </a:ext>
            </a:extLst>
          </p:cNvPr>
          <p:cNvSpPr/>
          <p:nvPr/>
        </p:nvSpPr>
        <p:spPr>
          <a:xfrm>
            <a:off x="888184" y="4434741"/>
            <a:ext cx="529486" cy="18793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EE571820-0D75-BADE-1228-4FCBB80AD9B6}"/>
                  </a:ext>
                </a:extLst>
              </p:cNvPr>
              <p:cNvSpPr txBox="1"/>
              <p:nvPr/>
            </p:nvSpPr>
            <p:spPr>
              <a:xfrm>
                <a:off x="1135516" y="4061295"/>
                <a:ext cx="10753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≤0.25</m:t>
                          </m:r>
                          <m: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EE571820-0D75-BADE-1228-4FCBB80AD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16" y="4061295"/>
                <a:ext cx="1075337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0348095D-5828-5712-EBFE-2EBABE3EB4B9}"/>
                  </a:ext>
                </a:extLst>
              </p:cNvPr>
              <p:cNvSpPr txBox="1"/>
              <p:nvPr/>
            </p:nvSpPr>
            <p:spPr>
              <a:xfrm>
                <a:off x="11192916" y="3800403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0348095D-5828-5712-EBFE-2EBABE3EB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916" y="3800403"/>
                <a:ext cx="618926" cy="369332"/>
              </a:xfrm>
              <a:prstGeom prst="rect">
                <a:avLst/>
              </a:prstGeom>
              <a:blipFill>
                <a:blip r:embed="rId47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B2BA1AFA-5620-5730-6D05-D296CF6C7FE5}"/>
                  </a:ext>
                </a:extLst>
              </p:cNvPr>
              <p:cNvSpPr txBox="1"/>
              <p:nvPr/>
            </p:nvSpPr>
            <p:spPr>
              <a:xfrm>
                <a:off x="11192916" y="4434741"/>
                <a:ext cx="61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B2BA1AFA-5620-5730-6D05-D296CF6C7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916" y="4434741"/>
                <a:ext cx="618926" cy="369332"/>
              </a:xfrm>
              <a:prstGeom prst="rect">
                <a:avLst/>
              </a:prstGeom>
              <a:blipFill>
                <a:blip r:embed="rId48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コンテンツ プレースホルダー 4">
            <a:extLst>
              <a:ext uri="{FF2B5EF4-FFF2-40B4-BE49-F238E27FC236}">
                <a16:creationId xmlns:a16="http://schemas.microsoft.com/office/drawing/2014/main" id="{720911DA-9857-F9B5-8242-0B3281ED8E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79314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設計者がいじるのは入力</a:t>
            </a:r>
            <a:r>
              <a:rPr lang="en-US" altLang="ja-JP" dirty="0"/>
              <a:t>Tr</a:t>
            </a:r>
            <a:r>
              <a:rPr lang="ja-JP" altLang="en-US" dirty="0"/>
              <a:t>の</a:t>
            </a:r>
            <a:r>
              <a:rPr lang="en-US" altLang="ja-JP" dirty="0"/>
              <a:t>gm(W/L, </a:t>
            </a:r>
            <a:r>
              <a:rPr lang="ja-JP" altLang="en-US" dirty="0"/>
              <a:t>ゲインに寄与</a:t>
            </a:r>
            <a:r>
              <a:rPr lang="en-US" altLang="ja-JP" dirty="0"/>
              <a:t>)</a:t>
            </a:r>
            <a:r>
              <a:rPr lang="ja-JP" altLang="en-US" dirty="0"/>
              <a:t>、</a:t>
            </a:r>
            <a:r>
              <a:rPr lang="en-US" altLang="ja-JP" dirty="0"/>
              <a:t>Ro(Wp, </a:t>
            </a:r>
            <a:r>
              <a:rPr lang="en-US" altLang="ja-JP" dirty="0" err="1"/>
              <a:t>Wn</a:t>
            </a:r>
            <a:r>
              <a:rPr lang="en-US" altLang="ja-JP" dirty="0"/>
              <a:t>, </a:t>
            </a:r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極とゲインに寄与</a:t>
            </a:r>
            <a:r>
              <a:rPr lang="en-US" altLang="ja-JP" dirty="0"/>
              <a:t>)</a:t>
            </a:r>
            <a:r>
              <a:rPr lang="ja-JP" altLang="en-US" dirty="0"/>
              <a:t>、出力段の</a:t>
            </a:r>
            <a:r>
              <a:rPr lang="en-US" altLang="ja-JP" dirty="0"/>
              <a:t>gm(W/L, </a:t>
            </a:r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極に寄与</a:t>
            </a:r>
            <a:r>
              <a:rPr lang="en-US" altLang="ja-JP" dirty="0"/>
              <a:t>)</a:t>
            </a:r>
            <a:r>
              <a:rPr lang="ja-JP" altLang="en-US" dirty="0"/>
              <a:t>、</a:t>
            </a:r>
            <a:br>
              <a:rPr lang="en-US" altLang="ja-JP" dirty="0"/>
            </a:br>
            <a:r>
              <a:rPr lang="ja-JP" altLang="en-US" dirty="0"/>
              <a:t>入力段・折り返しカスコード段の電流量と比</a:t>
            </a:r>
            <a:r>
              <a:rPr lang="en-US" altLang="ja-JP" dirty="0"/>
              <a:t>(SR)</a:t>
            </a:r>
            <a:r>
              <a:rPr lang="ja-JP" altLang="en-US" dirty="0"/>
              <a:t>、位相補償容量</a:t>
            </a:r>
            <a:r>
              <a:rPr lang="en-US" altLang="ja-JP" dirty="0"/>
              <a:t>Cc(</a:t>
            </a:r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極に寄与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12905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1895-C026-8D97-530C-3C150CEC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963E7A-1A1E-E042-E61C-198DE9BB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AB</a:t>
            </a:r>
            <a:r>
              <a:rPr lang="ja-JP" altLang="en-US" dirty="0"/>
              <a:t>級バッファ付</a:t>
            </a:r>
            <a:r>
              <a:rPr lang="en-US" altLang="ja-JP" dirty="0"/>
              <a:t>R2R</a:t>
            </a:r>
            <a:r>
              <a:rPr lang="ja-JP" altLang="en-US" dirty="0"/>
              <a:t>フォールデッドカスコードオペアンプ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394D46-E578-4CE3-4ED2-EB0CCB89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2026/6/6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C5FABF-7FEA-ECAC-6D92-450EF99B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45</a:t>
            </a:fld>
            <a:endParaRPr lang="ja-JP" altLang="en-US" noProof="0"/>
          </a:p>
        </p:txBody>
      </p:sp>
      <p:sp>
        <p:nvSpPr>
          <p:cNvPr id="59" name="コンテンツ プレースホルダー 4">
            <a:extLst>
              <a:ext uri="{FF2B5EF4-FFF2-40B4-BE49-F238E27FC236}">
                <a16:creationId xmlns:a16="http://schemas.microsoft.com/office/drawing/2014/main" id="{FDB3A128-9A1F-34A6-994A-2C531436FC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79314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Baker CMOS</a:t>
            </a:r>
            <a:r>
              <a:rPr lang="ja-JP" altLang="en-US" dirty="0"/>
              <a:t> に載っている構成・</a:t>
            </a:r>
            <a:r>
              <a:rPr lang="en-US" altLang="ja-JP" dirty="0"/>
              <a:t>W</a:t>
            </a:r>
            <a:r>
              <a:rPr lang="ja-JP" altLang="en-US" dirty="0"/>
              <a:t>比と全く同じ！！！　（正確には</a:t>
            </a:r>
            <a:r>
              <a:rPr lang="en-US" altLang="ja-JP" dirty="0"/>
              <a:t>PMOS</a:t>
            </a:r>
            <a:r>
              <a:rPr lang="ja-JP" altLang="en-US" dirty="0"/>
              <a:t>側に帰還容量がない）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DF81523-6E6A-4BE2-23CD-E6CDE0CAC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98" y="2537259"/>
            <a:ext cx="5506694" cy="328598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7170C17-F8AA-06C5-8190-2B32C6DED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391" y="2256184"/>
            <a:ext cx="6131078" cy="391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59585"/>
      </p:ext>
    </p:extLst>
  </p:cSld>
  <p:clrMapOvr>
    <a:masterClrMapping/>
  </p:clrMapOvr>
</p:sld>
</file>

<file path=ppt/theme/theme1.xml><?xml version="1.0" encoding="utf-8"?>
<a:theme xmlns:a="http://schemas.openxmlformats.org/drawingml/2006/main" name="ようこそ_文書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6061985_TF44889724_Win32.potx" id="{CE220313-E667-4DBC-B373-C1853ECA9094}" vid="{4053D2BB-4974-4800-BD1E-F398603442E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1320</TotalTime>
  <Words>3514</Words>
  <Application>Microsoft Office PowerPoint</Application>
  <PresentationFormat>ワイド画面</PresentationFormat>
  <Paragraphs>511</Paragraphs>
  <Slides>45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0" baseType="lpstr">
      <vt:lpstr>Meiryo UI</vt:lpstr>
      <vt:lpstr>Arial</vt:lpstr>
      <vt:lpstr>Cambria Math</vt:lpstr>
      <vt:lpstr>Segoe UI</vt:lpstr>
      <vt:lpstr>ようこそ_文書</vt:lpstr>
      <vt:lpstr>Rail-to-RailOPAMP設計（OpenSUSI-TR10）</vt:lpstr>
      <vt:lpstr>もくじ</vt:lpstr>
      <vt:lpstr>Rail-to-Railオペアンプ</vt:lpstr>
      <vt:lpstr>Lをどうやって決めるか？</vt:lpstr>
      <vt:lpstr>レイアウトの制約からLを決める</vt:lpstr>
      <vt:lpstr>Rail-to-Railオペアンプ</vt:lpstr>
      <vt:lpstr>チャネル長変調効果が大きい時の対処法</vt:lpstr>
      <vt:lpstr>カスコードカレントミラー</vt:lpstr>
      <vt:lpstr>カスコードカレントミラー</vt:lpstr>
      <vt:lpstr>カスコードカレントミラー</vt:lpstr>
      <vt:lpstr>低電圧カスコードカレントミラーが動作する条件とバイアス電圧</vt:lpstr>
      <vt:lpstr>低電圧カスコードカレントミラーが動作する条件とバイアス電圧</vt:lpstr>
      <vt:lpstr>バイアス電圧2V_DSsat+V_thを作るには…</vt:lpstr>
      <vt:lpstr>Rail-to-Railオペアンプ</vt:lpstr>
      <vt:lpstr>OTA: Operational Transconductance Amplifier</vt:lpstr>
      <vt:lpstr>OTA+ソース接地回路</vt:lpstr>
      <vt:lpstr>OTA+ソース接地回路</vt:lpstr>
      <vt:lpstr>フォールデッドカスコードオペアンプ</vt:lpstr>
      <vt:lpstr>フォールデッドカスコードオペアンプ</vt:lpstr>
      <vt:lpstr>比較</vt:lpstr>
      <vt:lpstr>比較</vt:lpstr>
      <vt:lpstr>フォールデッドカスコードオペアンプ + ソース接地回路</vt:lpstr>
      <vt:lpstr>フォールデッドカスコードオペアンプ + ソース接地回路</vt:lpstr>
      <vt:lpstr>比較</vt:lpstr>
      <vt:lpstr>比較</vt:lpstr>
      <vt:lpstr>カスコード補償</vt:lpstr>
      <vt:lpstr>カスコード補償</vt:lpstr>
      <vt:lpstr>カスコード補償</vt:lpstr>
      <vt:lpstr>フォールデッドカスコードオペアンプのW比</vt:lpstr>
      <vt:lpstr>フォールデッドカスコードオペアンプのW比</vt:lpstr>
      <vt:lpstr>Rail-to-Railオペアンプ</vt:lpstr>
      <vt:lpstr>Rail-to-Rail</vt:lpstr>
      <vt:lpstr>Rail-to-rail folded cascode opamp</vt:lpstr>
      <vt:lpstr>Rail-to-rail folded cascode opamp</vt:lpstr>
      <vt:lpstr>Rail-to-rail folded cascode opamp</vt:lpstr>
      <vt:lpstr>Rail-to-Railオペアンプ</vt:lpstr>
      <vt:lpstr>2段目に何つける問題</vt:lpstr>
      <vt:lpstr>PMOSとNMOS両方に信号を入力してバッファを駆動させたい</vt:lpstr>
      <vt:lpstr>インバータをつける</vt:lpstr>
      <vt:lpstr>消費電力を抑える設計：AB級バッファ</vt:lpstr>
      <vt:lpstr>AB級バッファ付R2Rフォールデッドカスコードオペアンプ</vt:lpstr>
      <vt:lpstr>AB級バッファ付R2Rフォールデッドカスコードオペアンプ</vt:lpstr>
      <vt:lpstr>AB級バッファ付R2Rフォールデッドカスコードオペアンプ</vt:lpstr>
      <vt:lpstr>AB級バッファ付R2Rフォールデッドカスコードオペアンプ</vt:lpstr>
      <vt:lpstr>AB級バッファ付R2Rフォールデッドカスコードオペアンプ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森瑞紀</dc:creator>
  <cp:keywords/>
  <cp:lastModifiedBy>今村 謙之</cp:lastModifiedBy>
  <cp:revision>10</cp:revision>
  <dcterms:created xsi:type="dcterms:W3CDTF">2025-01-03T13:25:45Z</dcterms:created>
  <dcterms:modified xsi:type="dcterms:W3CDTF">2026-06-06T00:57:55Z</dcterms:modified>
</cp:coreProperties>
</file>