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2"/>
  </p:notesMasterIdLst>
  <p:sldIdLst>
    <p:sldId id="256" r:id="rId2"/>
    <p:sldId id="5064" r:id="rId3"/>
    <p:sldId id="4906" r:id="rId4"/>
    <p:sldId id="4907" r:id="rId5"/>
    <p:sldId id="4597" r:id="rId6"/>
    <p:sldId id="4943" r:id="rId7"/>
    <p:sldId id="4908" r:id="rId8"/>
    <p:sldId id="5066" r:id="rId9"/>
    <p:sldId id="4876" r:id="rId10"/>
    <p:sldId id="4919" r:id="rId11"/>
    <p:sldId id="4920" r:id="rId12"/>
    <p:sldId id="4927" r:id="rId13"/>
    <p:sldId id="4928" r:id="rId14"/>
    <p:sldId id="4929" r:id="rId15"/>
    <p:sldId id="4930" r:id="rId16"/>
    <p:sldId id="4939" r:id="rId17"/>
    <p:sldId id="4938" r:id="rId18"/>
    <p:sldId id="4932" r:id="rId19"/>
    <p:sldId id="4925" r:id="rId20"/>
    <p:sldId id="4905" r:id="rId21"/>
    <p:sldId id="4921" r:id="rId22"/>
    <p:sldId id="4940" r:id="rId23"/>
    <p:sldId id="4975" r:id="rId24"/>
    <p:sldId id="4910" r:id="rId25"/>
    <p:sldId id="4882" r:id="rId26"/>
    <p:sldId id="4899" r:id="rId27"/>
    <p:sldId id="4877" r:id="rId28"/>
    <p:sldId id="4884" r:id="rId29"/>
    <p:sldId id="4904" r:id="rId30"/>
    <p:sldId id="4937" r:id="rId31"/>
    <p:sldId id="5006" r:id="rId32"/>
    <p:sldId id="5007" r:id="rId33"/>
    <p:sldId id="5009" r:id="rId34"/>
    <p:sldId id="5060" r:id="rId35"/>
    <p:sldId id="5010" r:id="rId36"/>
    <p:sldId id="4909" r:id="rId37"/>
    <p:sldId id="4918" r:id="rId38"/>
    <p:sldId id="4976" r:id="rId39"/>
    <p:sldId id="4981" r:id="rId40"/>
    <p:sldId id="4977" r:id="rId41"/>
    <p:sldId id="5067" r:id="rId42"/>
    <p:sldId id="321" r:id="rId43"/>
    <p:sldId id="327" r:id="rId44"/>
    <p:sldId id="4917" r:id="rId45"/>
    <p:sldId id="5039" r:id="rId46"/>
    <p:sldId id="5041" r:id="rId47"/>
    <p:sldId id="5040" r:id="rId48"/>
    <p:sldId id="5042" r:id="rId49"/>
    <p:sldId id="5043" r:id="rId50"/>
    <p:sldId id="5083" r:id="rId51"/>
    <p:sldId id="4767" r:id="rId52"/>
    <p:sldId id="4766" r:id="rId53"/>
    <p:sldId id="4847" r:id="rId54"/>
    <p:sldId id="4850" r:id="rId55"/>
    <p:sldId id="4851" r:id="rId56"/>
    <p:sldId id="4852" r:id="rId57"/>
    <p:sldId id="4853" r:id="rId58"/>
    <p:sldId id="4854" r:id="rId59"/>
    <p:sldId id="4799" r:id="rId60"/>
    <p:sldId id="4858" r:id="rId61"/>
    <p:sldId id="4859" r:id="rId62"/>
    <p:sldId id="4857" r:id="rId63"/>
    <p:sldId id="4862" r:id="rId64"/>
    <p:sldId id="4855" r:id="rId65"/>
    <p:sldId id="4865" r:id="rId66"/>
    <p:sldId id="4872" r:id="rId67"/>
    <p:sldId id="4901" r:id="rId68"/>
    <p:sldId id="4864" r:id="rId69"/>
    <p:sldId id="4898" r:id="rId70"/>
    <p:sldId id="4900" r:id="rId71"/>
    <p:sldId id="5056" r:id="rId72"/>
    <p:sldId id="5059" r:id="rId73"/>
    <p:sldId id="5023" r:id="rId74"/>
    <p:sldId id="5024" r:id="rId75"/>
    <p:sldId id="5029" r:id="rId76"/>
    <p:sldId id="5025" r:id="rId77"/>
    <p:sldId id="5061" r:id="rId78"/>
    <p:sldId id="5027" r:id="rId79"/>
    <p:sldId id="5069" r:id="rId80"/>
    <p:sldId id="5075" r:id="rId81"/>
    <p:sldId id="5076" r:id="rId82"/>
    <p:sldId id="5080" r:id="rId83"/>
    <p:sldId id="5058" r:id="rId84"/>
    <p:sldId id="5077" r:id="rId85"/>
    <p:sldId id="5082" r:id="rId86"/>
    <p:sldId id="4861" r:id="rId87"/>
    <p:sldId id="4607" r:id="rId88"/>
    <p:sldId id="4608" r:id="rId89"/>
    <p:sldId id="4609" r:id="rId90"/>
    <p:sldId id="4867" r:id="rId91"/>
    <p:sldId id="4896" r:id="rId92"/>
    <p:sldId id="510" r:id="rId93"/>
    <p:sldId id="4965" r:id="rId94"/>
    <p:sldId id="4966" r:id="rId95"/>
    <p:sldId id="4944" r:id="rId96"/>
    <p:sldId id="4952" r:id="rId97"/>
    <p:sldId id="373" r:id="rId98"/>
    <p:sldId id="4950" r:id="rId99"/>
    <p:sldId id="4970" r:id="rId100"/>
    <p:sldId id="4967" r:id="rId101"/>
    <p:sldId id="376" r:id="rId102"/>
    <p:sldId id="4968" r:id="rId103"/>
    <p:sldId id="377" r:id="rId104"/>
    <p:sldId id="4969" r:id="rId105"/>
    <p:sldId id="4971" r:id="rId106"/>
    <p:sldId id="4960" r:id="rId107"/>
    <p:sldId id="4662" r:id="rId108"/>
    <p:sldId id="4947" r:id="rId109"/>
    <p:sldId id="4955" r:id="rId110"/>
    <p:sldId id="4973" r:id="rId111"/>
    <p:sldId id="4972" r:id="rId112"/>
    <p:sldId id="4985" r:id="rId113"/>
    <p:sldId id="4984" r:id="rId114"/>
    <p:sldId id="4987" r:id="rId115"/>
    <p:sldId id="4988" r:id="rId116"/>
    <p:sldId id="5001" r:id="rId117"/>
    <p:sldId id="5046" r:id="rId118"/>
    <p:sldId id="5013" r:id="rId119"/>
    <p:sldId id="4998" r:id="rId120"/>
    <p:sldId id="5004" r:id="rId121"/>
    <p:sldId id="5044" r:id="rId122"/>
    <p:sldId id="5003" r:id="rId123"/>
    <p:sldId id="5047" r:id="rId124"/>
    <p:sldId id="5048" r:id="rId125"/>
    <p:sldId id="5049" r:id="rId126"/>
    <p:sldId id="5050" r:id="rId127"/>
    <p:sldId id="4945" r:id="rId128"/>
    <p:sldId id="4959" r:id="rId129"/>
    <p:sldId id="4948" r:id="rId130"/>
    <p:sldId id="4958" r:id="rId13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D973"/>
    <a:srgbClr val="AFB2F5"/>
    <a:srgbClr val="00FFFF"/>
    <a:srgbClr val="33CC33"/>
    <a:srgbClr val="000000"/>
    <a:srgbClr val="F2AA84"/>
    <a:srgbClr val="E97132"/>
    <a:srgbClr val="C04F15"/>
    <a:srgbClr val="F571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317522-D0D0-48F1-83C0-2657DAD78CD0}" v="2" dt="2026-07-11T07:48:32.927"/>
  </p1510:revLst>
</p1510:revInfo>
</file>

<file path=ppt/tableStyles.xml><?xml version="1.0" encoding="utf-8"?>
<a:tblStyleLst xmlns:a="http://schemas.openxmlformats.org/drawingml/2006/main" def="{5C22544A-7EE6-4342-B048-85BDC9FD1C3A}">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2"/>
  </p:normalViewPr>
  <p:slideViewPr>
    <p:cSldViewPr snapToGrid="0">
      <p:cViewPr varScale="1">
        <p:scale>
          <a:sx n="104" d="100"/>
          <a:sy n="104" d="100"/>
        </p:scale>
        <p:origin x="280" y="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microsoft.com/office/2015/10/relationships/revisionInfo" Target="revisionInfo.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今村 謙之" userId="bc27a5e0-5669-41a4-865b-584c1eac539e" providerId="ADAL" clId="{342DA2C4-B094-4B86-9045-6AA34CD7B848}"/>
    <pc:docChg chg="undo custSel addSld delSld modSld sldOrd">
      <pc:chgData name="今村 謙之" userId="bc27a5e0-5669-41a4-865b-584c1eac539e" providerId="ADAL" clId="{342DA2C4-B094-4B86-9045-6AA34CD7B848}" dt="2026-07-11T10:51:19.345" v="18432" actId="20577"/>
      <pc:docMkLst>
        <pc:docMk/>
      </pc:docMkLst>
      <pc:sldChg chg="addSp delSp modSp add mod ord setBg">
        <pc:chgData name="今村 謙之" userId="bc27a5e0-5669-41a4-865b-584c1eac539e" providerId="ADAL" clId="{342DA2C4-B094-4B86-9045-6AA34CD7B848}" dt="2026-06-17T01:59:56.619" v="18306" actId="1038"/>
        <pc:sldMkLst>
          <pc:docMk/>
          <pc:sldMk cId="4290159537" sldId="5023"/>
        </pc:sldMkLst>
        <pc:picChg chg="add mod modCrop">
          <ac:chgData name="今村 謙之" userId="bc27a5e0-5669-41a4-865b-584c1eac539e" providerId="ADAL" clId="{342DA2C4-B094-4B86-9045-6AA34CD7B848}" dt="2026-06-17T01:59:56.619" v="18306" actId="1038"/>
          <ac:picMkLst>
            <pc:docMk/>
            <pc:sldMk cId="4290159537" sldId="5023"/>
            <ac:picMk id="5" creationId="{8B8CFFED-3A25-BF60-4186-9BF7F8F72B20}"/>
          </ac:picMkLst>
        </pc:picChg>
      </pc:sldChg>
      <pc:sldChg chg="addSp delSp modSp add mod ord setBg">
        <pc:chgData name="今村 謙之" userId="bc27a5e0-5669-41a4-865b-584c1eac539e" providerId="ADAL" clId="{342DA2C4-B094-4B86-9045-6AA34CD7B848}" dt="2026-06-16T15:03:54.467" v="17287"/>
        <pc:sldMkLst>
          <pc:docMk/>
          <pc:sldMk cId="1654231903" sldId="5024"/>
        </pc:sldMkLst>
        <pc:spChg chg="mod ord">
          <ac:chgData name="今村 謙之" userId="bc27a5e0-5669-41a4-865b-584c1eac539e" providerId="ADAL" clId="{342DA2C4-B094-4B86-9045-6AA34CD7B848}" dt="2026-06-16T15:02:09.931" v="17273" actId="27636"/>
          <ac:spMkLst>
            <pc:docMk/>
            <pc:sldMk cId="1654231903" sldId="5024"/>
            <ac:spMk id="8" creationId="{C2C49A7B-C797-FC4E-A09E-12FDF642CE0B}"/>
          </ac:spMkLst>
        </pc:spChg>
      </pc:sldChg>
      <pc:sldChg chg="addSp delSp modSp add mod ord setBg">
        <pc:chgData name="今村 謙之" userId="bc27a5e0-5669-41a4-865b-584c1eac539e" providerId="ADAL" clId="{342DA2C4-B094-4B86-9045-6AA34CD7B848}" dt="2026-06-16T15:03:51.963" v="17285"/>
        <pc:sldMkLst>
          <pc:docMk/>
          <pc:sldMk cId="3050852643" sldId="5025"/>
        </pc:sldMkLst>
        <pc:spChg chg="mod ord">
          <ac:chgData name="今村 謙之" userId="bc27a5e0-5669-41a4-865b-584c1eac539e" providerId="ADAL" clId="{342DA2C4-B094-4B86-9045-6AA34CD7B848}" dt="2026-06-16T15:02:20.488" v="17283" actId="20577"/>
          <ac:spMkLst>
            <pc:docMk/>
            <pc:sldMk cId="3050852643" sldId="5025"/>
            <ac:spMk id="8" creationId="{0340D578-42FA-9B4C-BB46-384B64B23756}"/>
          </ac:spMkLst>
        </pc:spChg>
      </pc:sldChg>
      <pc:sldChg chg="addSp delSp modSp add mod ord setBg">
        <pc:chgData name="今村 謙之" userId="bc27a5e0-5669-41a4-865b-584c1eac539e" providerId="ADAL" clId="{342DA2C4-B094-4B86-9045-6AA34CD7B848}" dt="2026-06-16T15:03:51.963" v="17285"/>
        <pc:sldMkLst>
          <pc:docMk/>
          <pc:sldMk cId="3970009598" sldId="5029"/>
        </pc:sldMkLst>
      </pc:sldChg>
      <pc:sldChg chg="modSp add mod">
        <pc:chgData name="今村 謙之" userId="bc27a5e0-5669-41a4-865b-584c1eac539e" providerId="ADAL" clId="{342DA2C4-B094-4B86-9045-6AA34CD7B848}" dt="2026-06-14T21:43:29.250" v="17203" actId="20577"/>
        <pc:sldMkLst>
          <pc:docMk/>
          <pc:sldMk cId="1016944738" sldId="5042"/>
        </pc:sldMkLst>
        <pc:spChg chg="mod">
          <ac:chgData name="今村 謙之" userId="bc27a5e0-5669-41a4-865b-584c1eac539e" providerId="ADAL" clId="{342DA2C4-B094-4B86-9045-6AA34CD7B848}" dt="2026-06-14T21:43:29.250" v="17203" actId="20577"/>
          <ac:spMkLst>
            <pc:docMk/>
            <pc:sldMk cId="1016944738" sldId="5042"/>
            <ac:spMk id="3" creationId="{B9ADA4AA-B71D-781B-3FA6-5DB1505F487A}"/>
          </ac:spMkLst>
        </pc:spChg>
        <pc:spChg chg="mod">
          <ac:chgData name="今村 謙之" userId="bc27a5e0-5669-41a4-865b-584c1eac539e" providerId="ADAL" clId="{342DA2C4-B094-4B86-9045-6AA34CD7B848}" dt="2026-06-14T21:41:21.752" v="17089" actId="1076"/>
          <ac:spMkLst>
            <pc:docMk/>
            <pc:sldMk cId="1016944738" sldId="5042"/>
            <ac:spMk id="5" creationId="{646A4FAD-8C97-67A2-692F-6249EAF1B52F}"/>
          </ac:spMkLst>
        </pc:spChg>
      </pc:sldChg>
      <pc:sldChg chg="addSp modSp new mod ord setBg">
        <pc:chgData name="今村 謙之" userId="bc27a5e0-5669-41a4-865b-584c1eac539e" providerId="ADAL" clId="{342DA2C4-B094-4B86-9045-6AA34CD7B848}" dt="2026-06-16T15:02:09.898" v="17272" actId="27636"/>
        <pc:sldMkLst>
          <pc:docMk/>
          <pc:sldMk cId="1099108998" sldId="5050"/>
        </pc:sldMkLst>
        <pc:spChg chg="mod">
          <ac:chgData name="今村 謙之" userId="bc27a5e0-5669-41a4-865b-584c1eac539e" providerId="ADAL" clId="{342DA2C4-B094-4B86-9045-6AA34CD7B848}" dt="2026-06-16T15:02:09.898" v="17272" actId="27636"/>
          <ac:spMkLst>
            <pc:docMk/>
            <pc:sldMk cId="1099108998" sldId="5050"/>
            <ac:spMk id="3" creationId="{D0226C22-4831-FE0E-0AEA-DFAFFBC2A080}"/>
          </ac:spMkLst>
        </pc:spChg>
      </pc:sldChg>
      <pc:sldChg chg="addSp delSp modSp add mod ord setBg">
        <pc:chgData name="今村 謙之" userId="bc27a5e0-5669-41a4-865b-584c1eac539e" providerId="ADAL" clId="{342DA2C4-B094-4B86-9045-6AA34CD7B848}" dt="2026-06-17T01:55:39.840" v="18208" actId="20577"/>
        <pc:sldMkLst>
          <pc:docMk/>
          <pc:sldMk cId="2184561719" sldId="5058"/>
        </pc:sldMkLst>
        <pc:spChg chg="mod">
          <ac:chgData name="今村 謙之" userId="bc27a5e0-5669-41a4-865b-584c1eac539e" providerId="ADAL" clId="{342DA2C4-B094-4B86-9045-6AA34CD7B848}" dt="2026-06-17T01:55:39.840" v="18208" actId="20577"/>
          <ac:spMkLst>
            <pc:docMk/>
            <pc:sldMk cId="2184561719" sldId="5058"/>
            <ac:spMk id="3" creationId="{864EB48B-DF22-1EBD-A6AF-AFD318631B61}"/>
          </ac:spMkLst>
        </pc:spChg>
      </pc:sldChg>
      <pc:sldChg chg="addSp delSp modSp add mod ord">
        <pc:chgData name="今村 謙之" userId="bc27a5e0-5669-41a4-865b-584c1eac539e" providerId="ADAL" clId="{342DA2C4-B094-4B86-9045-6AA34CD7B848}" dt="2026-06-17T01:59:29.811" v="18260" actId="14100"/>
        <pc:sldMkLst>
          <pc:docMk/>
          <pc:sldMk cId="557691306" sldId="5059"/>
        </pc:sldMkLst>
        <pc:spChg chg="add mod">
          <ac:chgData name="今村 謙之" userId="bc27a5e0-5669-41a4-865b-584c1eac539e" providerId="ADAL" clId="{342DA2C4-B094-4B86-9045-6AA34CD7B848}" dt="2026-06-17T01:59:23.519" v="18259" actId="14100"/>
          <ac:spMkLst>
            <pc:docMk/>
            <pc:sldMk cId="557691306" sldId="5059"/>
            <ac:spMk id="9" creationId="{FAAEA0B9-C1BE-DE26-7CC5-A84DF979CFD6}"/>
          </ac:spMkLst>
        </pc:spChg>
        <pc:spChg chg="add mod">
          <ac:chgData name="今村 謙之" userId="bc27a5e0-5669-41a4-865b-584c1eac539e" providerId="ADAL" clId="{342DA2C4-B094-4B86-9045-6AA34CD7B848}" dt="2026-06-17T01:59:29.811" v="18260" actId="14100"/>
          <ac:spMkLst>
            <pc:docMk/>
            <pc:sldMk cId="557691306" sldId="5059"/>
            <ac:spMk id="12" creationId="{CE849C84-C99E-57B3-AE12-4C7E38AB1749}"/>
          </ac:spMkLst>
        </pc:spChg>
        <pc:picChg chg="add mod ord">
          <ac:chgData name="今村 謙之" userId="bc27a5e0-5669-41a4-865b-584c1eac539e" providerId="ADAL" clId="{342DA2C4-B094-4B86-9045-6AA34CD7B848}" dt="2026-06-17T01:59:14.692" v="18257" actId="1037"/>
          <ac:picMkLst>
            <pc:docMk/>
            <pc:sldMk cId="557691306" sldId="5059"/>
            <ac:picMk id="5" creationId="{55C35847-AEF0-83FE-5B27-3CF9BF354292}"/>
          </ac:picMkLst>
        </pc:picChg>
      </pc:sldChg>
      <pc:sldChg chg="modSp add mod">
        <pc:chgData name="今村 謙之" userId="bc27a5e0-5669-41a4-865b-584c1eac539e" providerId="ADAL" clId="{342DA2C4-B094-4B86-9045-6AA34CD7B848}" dt="2026-06-16T18:01:24.331" v="17707" actId="20577"/>
        <pc:sldMkLst>
          <pc:docMk/>
          <pc:sldMk cId="3403742837" sldId="5069"/>
        </pc:sldMkLst>
        <pc:spChg chg="mod">
          <ac:chgData name="今村 謙之" userId="bc27a5e0-5669-41a4-865b-584c1eac539e" providerId="ADAL" clId="{342DA2C4-B094-4B86-9045-6AA34CD7B848}" dt="2026-06-16T18:01:24.331" v="17707" actId="20577"/>
          <ac:spMkLst>
            <pc:docMk/>
            <pc:sldMk cId="3403742837" sldId="5069"/>
            <ac:spMk id="8" creationId="{E43DF2FC-A00D-A984-F320-A5F94AE83E93}"/>
          </ac:spMkLst>
        </pc:spChg>
      </pc:sldChg>
      <pc:sldChg chg="modSp add mod">
        <pc:chgData name="今村 謙之" userId="bc27a5e0-5669-41a4-865b-584c1eac539e" providerId="ADAL" clId="{342DA2C4-B094-4B86-9045-6AA34CD7B848}" dt="2026-06-17T01:50:24.931" v="17892" actId="20577"/>
        <pc:sldMkLst>
          <pc:docMk/>
          <pc:sldMk cId="3416859618" sldId="5076"/>
        </pc:sldMkLst>
        <pc:spChg chg="mod">
          <ac:chgData name="今村 謙之" userId="bc27a5e0-5669-41a4-865b-584c1eac539e" providerId="ADAL" clId="{342DA2C4-B094-4B86-9045-6AA34CD7B848}" dt="2026-06-17T01:50:24.931" v="17892" actId="20577"/>
          <ac:spMkLst>
            <pc:docMk/>
            <pc:sldMk cId="3416859618" sldId="5076"/>
            <ac:spMk id="3" creationId="{EC7180B1-E9EB-3ABB-F984-B6958466ADFD}"/>
          </ac:spMkLst>
        </pc:spChg>
      </pc:sldChg>
      <pc:sldChg chg="addSp delSp modSp add mod ord">
        <pc:chgData name="今村 謙之" userId="bc27a5e0-5669-41a4-865b-584c1eac539e" providerId="ADAL" clId="{342DA2C4-B094-4B86-9045-6AA34CD7B848}" dt="2026-06-17T02:00:26.608" v="18314" actId="14100"/>
        <pc:sldMkLst>
          <pc:docMk/>
          <pc:sldMk cId="1729914938" sldId="5080"/>
        </pc:sldMkLst>
        <pc:picChg chg="add mod modCrop">
          <ac:chgData name="今村 謙之" userId="bc27a5e0-5669-41a4-865b-584c1eac539e" providerId="ADAL" clId="{342DA2C4-B094-4B86-9045-6AA34CD7B848}" dt="2026-06-17T02:00:26.608" v="18314" actId="14100"/>
          <ac:picMkLst>
            <pc:docMk/>
            <pc:sldMk cId="1729914938" sldId="5080"/>
            <ac:picMk id="6" creationId="{ACF97111-572C-2657-B9E3-26919F48D092}"/>
          </ac:picMkLst>
        </pc:picChg>
      </pc:sldChg>
      <pc:sldChg chg="addSp delSp modSp add mod ord">
        <pc:chgData name="今村 謙之" userId="bc27a5e0-5669-41a4-865b-584c1eac539e" providerId="ADAL" clId="{342DA2C4-B094-4B86-9045-6AA34CD7B848}" dt="2026-06-17T01:56:43.747" v="18248" actId="20577"/>
        <pc:sldMkLst>
          <pc:docMk/>
          <pc:sldMk cId="1957507751" sldId="5082"/>
        </pc:sldMkLst>
        <pc:spChg chg="mod">
          <ac:chgData name="今村 謙之" userId="bc27a5e0-5669-41a4-865b-584c1eac539e" providerId="ADAL" clId="{342DA2C4-B094-4B86-9045-6AA34CD7B848}" dt="2026-06-17T01:56:43.747" v="18248" actId="20577"/>
          <ac:spMkLst>
            <pc:docMk/>
            <pc:sldMk cId="1957507751" sldId="5082"/>
            <ac:spMk id="3" creationId="{6CE92FEA-AD8B-8267-12AB-45CE7D2B0D23}"/>
          </ac:spMkLst>
        </pc:spChg>
      </pc:sldChg>
      <pc:sldChg chg="addSp delSp modSp new mod setBg">
        <pc:chgData name="今村 謙之" userId="bc27a5e0-5669-41a4-865b-584c1eac539e" providerId="ADAL" clId="{342DA2C4-B094-4B86-9045-6AA34CD7B848}" dt="2026-07-11T10:51:19.345" v="18432" actId="20577"/>
        <pc:sldMkLst>
          <pc:docMk/>
          <pc:sldMk cId="1350242486" sldId="5083"/>
        </pc:sldMkLst>
        <pc:spChg chg="mod">
          <ac:chgData name="今村 謙之" userId="bc27a5e0-5669-41a4-865b-584c1eac539e" providerId="ADAL" clId="{342DA2C4-B094-4B86-9045-6AA34CD7B848}" dt="2026-07-11T07:48:32.926" v="18316"/>
          <ac:spMkLst>
            <pc:docMk/>
            <pc:sldMk cId="1350242486" sldId="5083"/>
            <ac:spMk id="2" creationId="{33FE776E-6982-1867-7568-DFD8550D3951}"/>
          </ac:spMkLst>
        </pc:spChg>
        <pc:spChg chg="mod">
          <ac:chgData name="今村 謙之" userId="bc27a5e0-5669-41a4-865b-584c1eac539e" providerId="ADAL" clId="{342DA2C4-B094-4B86-9045-6AA34CD7B848}" dt="2026-07-11T10:51:19.345" v="18432" actId="20577"/>
          <ac:spMkLst>
            <pc:docMk/>
            <pc:sldMk cId="1350242486" sldId="5083"/>
            <ac:spMk id="3" creationId="{B94F7408-1A94-1C07-090F-A4C6714FA6BC}"/>
          </ac:spMkLst>
        </pc:spChg>
        <pc:spChg chg="add">
          <ac:chgData name="今村 謙之" userId="bc27a5e0-5669-41a4-865b-584c1eac539e" providerId="ADAL" clId="{342DA2C4-B094-4B86-9045-6AA34CD7B848}" dt="2026-06-14T21:44:45.611" v="17231" actId="26606"/>
          <ac:spMkLst>
            <pc:docMk/>
            <pc:sldMk cId="1350242486" sldId="5083"/>
            <ac:spMk id="14" creationId="{B6CDA21F-E7AF-4C75-8395-33F58D5B0E45}"/>
          </ac:spMkLst>
        </pc:spChg>
        <pc:spChg chg="add">
          <ac:chgData name="今村 謙之" userId="bc27a5e0-5669-41a4-865b-584c1eac539e" providerId="ADAL" clId="{342DA2C4-B094-4B86-9045-6AA34CD7B848}" dt="2026-06-14T21:44:45.611" v="17231" actId="26606"/>
          <ac:spMkLst>
            <pc:docMk/>
            <pc:sldMk cId="1350242486" sldId="5083"/>
            <ac:spMk id="15" creationId="{D5B0017B-2ECA-49AF-B397-DC140825DF8D}"/>
          </ac:spMkLst>
        </pc:spChg>
        <pc:grpChg chg="add">
          <ac:chgData name="今村 謙之" userId="bc27a5e0-5669-41a4-865b-584c1eac539e" providerId="ADAL" clId="{342DA2C4-B094-4B86-9045-6AA34CD7B848}" dt="2026-06-14T21:44:45.611" v="17231" actId="26606"/>
          <ac:grpSpMkLst>
            <pc:docMk/>
            <pc:sldMk cId="1350242486" sldId="5083"/>
            <ac:grpSpMk id="16" creationId="{AE1C45F0-260A-458C-96ED-C1F6D2151219}"/>
          </ac:grpSpMkLst>
        </pc:grpChg>
        <pc:cxnChg chg="add">
          <ac:chgData name="今村 謙之" userId="bc27a5e0-5669-41a4-865b-584c1eac539e" providerId="ADAL" clId="{342DA2C4-B094-4B86-9045-6AA34CD7B848}" dt="2026-06-14T21:44:45.611" v="17231" actId="26606"/>
          <ac:cxnSpMkLst>
            <pc:docMk/>
            <pc:sldMk cId="1350242486" sldId="5083"/>
            <ac:cxnSpMk id="17" creationId="{6CF1BAF6-AD41-4082-B212-8A1F9A2E8779}"/>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D92694-B6B6-48EA-B2DA-772F5A8536FA}"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0659AFD9-B1F1-4F6E-95F7-E3CC51F4D12B}">
      <dgm:prSet/>
      <dgm:spPr/>
      <dgm:t>
        <a:bodyPr/>
        <a:lstStyle/>
        <a:p>
          <a:r>
            <a:rPr kumimoji="1" lang="ja-JP"/>
            <a:t>シャトル</a:t>
          </a:r>
          <a:endParaRPr lang="en-US"/>
        </a:p>
      </dgm:t>
    </dgm:pt>
    <dgm:pt modelId="{447EE396-D96A-443F-AFC5-39A1994E5C51}" type="parTrans" cxnId="{12D1A64F-A804-4847-BABF-F90F91E8ABEB}">
      <dgm:prSet/>
      <dgm:spPr/>
      <dgm:t>
        <a:bodyPr/>
        <a:lstStyle/>
        <a:p>
          <a:endParaRPr lang="en-US"/>
        </a:p>
      </dgm:t>
    </dgm:pt>
    <dgm:pt modelId="{340CD30E-F85D-4730-88FE-7C6E2B8B6615}" type="sibTrans" cxnId="{12D1A64F-A804-4847-BABF-F90F91E8ABEB}">
      <dgm:prSet/>
      <dgm:spPr/>
      <dgm:t>
        <a:bodyPr/>
        <a:lstStyle/>
        <a:p>
          <a:endParaRPr lang="en-US"/>
        </a:p>
      </dgm:t>
    </dgm:pt>
    <dgm:pt modelId="{E64C55FA-BB43-4955-A918-D5F474F07B38}">
      <dgm:prSet/>
      <dgm:spPr/>
      <dgm:t>
        <a:bodyPr/>
        <a:lstStyle/>
        <a:p>
          <a:r>
            <a:rPr kumimoji="1" lang="en-US"/>
            <a:t>TinyTapeout</a:t>
          </a:r>
          <a:r>
            <a:rPr kumimoji="1" lang="ja-JP"/>
            <a:t>の</a:t>
          </a:r>
          <a:r>
            <a:rPr kumimoji="1" lang="en-US"/>
            <a:t>Sky130</a:t>
          </a:r>
          <a:r>
            <a:rPr kumimoji="1" lang="ja-JP"/>
            <a:t>のアナログ回路</a:t>
          </a:r>
          <a:endParaRPr lang="en-US"/>
        </a:p>
      </dgm:t>
    </dgm:pt>
    <dgm:pt modelId="{F88B0CCE-F593-403B-9E04-F8A3BF8D732C}" type="parTrans" cxnId="{C65D2794-7FB1-4FD0-8F38-1159F3F67033}">
      <dgm:prSet/>
      <dgm:spPr/>
      <dgm:t>
        <a:bodyPr/>
        <a:lstStyle/>
        <a:p>
          <a:endParaRPr lang="en-US"/>
        </a:p>
      </dgm:t>
    </dgm:pt>
    <dgm:pt modelId="{DA277EB3-C384-4A7D-8A3B-2E07167E02E5}" type="sibTrans" cxnId="{C65D2794-7FB1-4FD0-8F38-1159F3F67033}">
      <dgm:prSet/>
      <dgm:spPr/>
      <dgm:t>
        <a:bodyPr/>
        <a:lstStyle/>
        <a:p>
          <a:endParaRPr lang="en-US"/>
        </a:p>
      </dgm:t>
    </dgm:pt>
    <dgm:pt modelId="{0D1FFD24-F130-4108-9A12-9586994230CE}">
      <dgm:prSet/>
      <dgm:spPr/>
      <dgm:t>
        <a:bodyPr/>
        <a:lstStyle/>
        <a:p>
          <a:r>
            <a:rPr kumimoji="1" lang="en-US"/>
            <a:t>SAR-ADC</a:t>
          </a:r>
          <a:r>
            <a:rPr kumimoji="1" lang="ja-JP"/>
            <a:t>スペック</a:t>
          </a:r>
          <a:endParaRPr lang="en-US"/>
        </a:p>
      </dgm:t>
    </dgm:pt>
    <dgm:pt modelId="{DF8601BE-6871-4EE7-BBF5-40CFA2E86A73}" type="parTrans" cxnId="{D64D9BCB-84FF-4EF5-B25E-1E965E7778CB}">
      <dgm:prSet/>
      <dgm:spPr/>
      <dgm:t>
        <a:bodyPr/>
        <a:lstStyle/>
        <a:p>
          <a:endParaRPr lang="en-US"/>
        </a:p>
      </dgm:t>
    </dgm:pt>
    <dgm:pt modelId="{CE532431-A534-401C-9792-210D6CECE4A5}" type="sibTrans" cxnId="{D64D9BCB-84FF-4EF5-B25E-1E965E7778CB}">
      <dgm:prSet/>
      <dgm:spPr/>
      <dgm:t>
        <a:bodyPr/>
        <a:lstStyle/>
        <a:p>
          <a:endParaRPr lang="en-US"/>
        </a:p>
      </dgm:t>
    </dgm:pt>
    <dgm:pt modelId="{863E7E21-EC1D-44C0-BDC8-C72DC0B4B912}">
      <dgm:prSet/>
      <dgm:spPr/>
      <dgm:t>
        <a:bodyPr/>
        <a:lstStyle/>
        <a:p>
          <a:r>
            <a:rPr kumimoji="1" lang="ja-JP" dirty="0"/>
            <a:t>ビット数：</a:t>
          </a:r>
          <a:r>
            <a:rPr kumimoji="1" lang="en-US" dirty="0"/>
            <a:t>6bit</a:t>
          </a:r>
          <a:endParaRPr lang="en-US" dirty="0"/>
        </a:p>
      </dgm:t>
    </dgm:pt>
    <dgm:pt modelId="{127D5DDD-F315-4395-A6D8-19E27841E543}" type="parTrans" cxnId="{B6A1B24E-5838-4110-9747-95F7FA35F10E}">
      <dgm:prSet/>
      <dgm:spPr/>
      <dgm:t>
        <a:bodyPr/>
        <a:lstStyle/>
        <a:p>
          <a:endParaRPr lang="en-US"/>
        </a:p>
      </dgm:t>
    </dgm:pt>
    <dgm:pt modelId="{5CD4503C-C631-4698-908C-AEA47A874824}" type="sibTrans" cxnId="{B6A1B24E-5838-4110-9747-95F7FA35F10E}">
      <dgm:prSet/>
      <dgm:spPr/>
      <dgm:t>
        <a:bodyPr/>
        <a:lstStyle/>
        <a:p>
          <a:endParaRPr lang="en-US"/>
        </a:p>
      </dgm:t>
    </dgm:pt>
    <dgm:pt modelId="{484AD4A7-EC53-404B-8D8F-FCD7442B9075}">
      <dgm:prSet/>
      <dgm:spPr/>
      <dgm:t>
        <a:bodyPr/>
        <a:lstStyle/>
        <a:p>
          <a:r>
            <a:rPr kumimoji="1" lang="ja-JP"/>
            <a:t>クロック：</a:t>
          </a:r>
          <a:r>
            <a:rPr kumimoji="1" lang="en-US"/>
            <a:t>1.2MHz</a:t>
          </a:r>
          <a:endParaRPr lang="en-US"/>
        </a:p>
      </dgm:t>
    </dgm:pt>
    <dgm:pt modelId="{0D2BD07E-9621-418B-B7D3-89DF7885AB89}" type="parTrans" cxnId="{31C3801B-4510-464D-80B6-96903D569D1E}">
      <dgm:prSet/>
      <dgm:spPr/>
      <dgm:t>
        <a:bodyPr/>
        <a:lstStyle/>
        <a:p>
          <a:endParaRPr lang="en-US"/>
        </a:p>
      </dgm:t>
    </dgm:pt>
    <dgm:pt modelId="{1C89BD8B-BC89-4B0A-8D2C-989CD11C4472}" type="sibTrans" cxnId="{31C3801B-4510-464D-80B6-96903D569D1E}">
      <dgm:prSet/>
      <dgm:spPr/>
      <dgm:t>
        <a:bodyPr/>
        <a:lstStyle/>
        <a:p>
          <a:endParaRPr lang="en-US"/>
        </a:p>
      </dgm:t>
    </dgm:pt>
    <dgm:pt modelId="{19A00609-C428-4D70-A4D7-62CCB174F9BA}">
      <dgm:prSet/>
      <dgm:spPr/>
      <dgm:t>
        <a:bodyPr/>
        <a:lstStyle/>
        <a:p>
          <a:r>
            <a:rPr kumimoji="1" lang="ja-JP" dirty="0"/>
            <a:t>リファレンス電圧：</a:t>
          </a:r>
          <a:r>
            <a:rPr kumimoji="1" lang="en-US" dirty="0"/>
            <a:t>1.8V</a:t>
          </a:r>
          <a:r>
            <a:rPr kumimoji="1" lang="ja-JP" dirty="0"/>
            <a:t>～</a:t>
          </a:r>
          <a:r>
            <a:rPr kumimoji="1" lang="en-US" dirty="0"/>
            <a:t>5.0V</a:t>
          </a:r>
          <a:r>
            <a:rPr kumimoji="1" lang="ja-JP" dirty="0"/>
            <a:t>（可変）</a:t>
          </a:r>
          <a:endParaRPr lang="en-US" dirty="0"/>
        </a:p>
      </dgm:t>
    </dgm:pt>
    <dgm:pt modelId="{CF4D2686-1955-48A1-8C59-5182B979AE0A}" type="parTrans" cxnId="{1A5762BA-0879-4086-B86D-2D3DE7C4C6F6}">
      <dgm:prSet/>
      <dgm:spPr/>
      <dgm:t>
        <a:bodyPr/>
        <a:lstStyle/>
        <a:p>
          <a:endParaRPr lang="en-US"/>
        </a:p>
      </dgm:t>
    </dgm:pt>
    <dgm:pt modelId="{E8315611-2E35-42F0-8663-1947BB349585}" type="sibTrans" cxnId="{1A5762BA-0879-4086-B86D-2D3DE7C4C6F6}">
      <dgm:prSet/>
      <dgm:spPr/>
      <dgm:t>
        <a:bodyPr/>
        <a:lstStyle/>
        <a:p>
          <a:endParaRPr lang="en-US"/>
        </a:p>
      </dgm:t>
    </dgm:pt>
    <dgm:pt modelId="{81F40023-D92A-4505-AB69-409B3AB4FD95}" type="pres">
      <dgm:prSet presAssocID="{F7D92694-B6B6-48EA-B2DA-772F5A8536FA}" presName="Name0" presStyleCnt="0">
        <dgm:presLayoutVars>
          <dgm:dir/>
          <dgm:animLvl val="lvl"/>
          <dgm:resizeHandles val="exact"/>
        </dgm:presLayoutVars>
      </dgm:prSet>
      <dgm:spPr/>
    </dgm:pt>
    <dgm:pt modelId="{5D6A0869-1ED8-4266-B7DB-BCE347D10004}" type="pres">
      <dgm:prSet presAssocID="{0659AFD9-B1F1-4F6E-95F7-E3CC51F4D12B}" presName="composite" presStyleCnt="0"/>
      <dgm:spPr/>
    </dgm:pt>
    <dgm:pt modelId="{CC19AE3B-B30D-454A-B923-E0E8EB22AFB5}" type="pres">
      <dgm:prSet presAssocID="{0659AFD9-B1F1-4F6E-95F7-E3CC51F4D12B}" presName="parTx" presStyleLbl="alignNode1" presStyleIdx="0" presStyleCnt="2">
        <dgm:presLayoutVars>
          <dgm:chMax val="0"/>
          <dgm:chPref val="0"/>
          <dgm:bulletEnabled val="1"/>
        </dgm:presLayoutVars>
      </dgm:prSet>
      <dgm:spPr/>
    </dgm:pt>
    <dgm:pt modelId="{8649A027-F7B9-4151-969E-4930742C2DF3}" type="pres">
      <dgm:prSet presAssocID="{0659AFD9-B1F1-4F6E-95F7-E3CC51F4D12B}" presName="desTx" presStyleLbl="alignAccFollowNode1" presStyleIdx="0" presStyleCnt="2">
        <dgm:presLayoutVars>
          <dgm:bulletEnabled val="1"/>
        </dgm:presLayoutVars>
      </dgm:prSet>
      <dgm:spPr/>
    </dgm:pt>
    <dgm:pt modelId="{761D2C81-E1B0-4292-B25B-A4EF0ED0F6D9}" type="pres">
      <dgm:prSet presAssocID="{340CD30E-F85D-4730-88FE-7C6E2B8B6615}" presName="space" presStyleCnt="0"/>
      <dgm:spPr/>
    </dgm:pt>
    <dgm:pt modelId="{FA2783BD-E871-45F7-AE7B-316CC46245ED}" type="pres">
      <dgm:prSet presAssocID="{0D1FFD24-F130-4108-9A12-9586994230CE}" presName="composite" presStyleCnt="0"/>
      <dgm:spPr/>
    </dgm:pt>
    <dgm:pt modelId="{4B585283-4965-4C34-AD62-9EFCB658EF71}" type="pres">
      <dgm:prSet presAssocID="{0D1FFD24-F130-4108-9A12-9586994230CE}" presName="parTx" presStyleLbl="alignNode1" presStyleIdx="1" presStyleCnt="2">
        <dgm:presLayoutVars>
          <dgm:chMax val="0"/>
          <dgm:chPref val="0"/>
          <dgm:bulletEnabled val="1"/>
        </dgm:presLayoutVars>
      </dgm:prSet>
      <dgm:spPr/>
    </dgm:pt>
    <dgm:pt modelId="{B595714A-D6AE-43EE-963A-D1C10835AE8A}" type="pres">
      <dgm:prSet presAssocID="{0D1FFD24-F130-4108-9A12-9586994230CE}" presName="desTx" presStyleLbl="alignAccFollowNode1" presStyleIdx="1" presStyleCnt="2">
        <dgm:presLayoutVars>
          <dgm:bulletEnabled val="1"/>
        </dgm:presLayoutVars>
      </dgm:prSet>
      <dgm:spPr/>
    </dgm:pt>
  </dgm:ptLst>
  <dgm:cxnLst>
    <dgm:cxn modelId="{31C3801B-4510-464D-80B6-96903D569D1E}" srcId="{0D1FFD24-F130-4108-9A12-9586994230CE}" destId="{484AD4A7-EC53-404B-8D8F-FCD7442B9075}" srcOrd="1" destOrd="0" parTransId="{0D2BD07E-9621-418B-B7D3-89DF7885AB89}" sibTransId="{1C89BD8B-BC89-4B0A-8D2C-989CD11C4472}"/>
    <dgm:cxn modelId="{7E884432-C2E5-4C8D-AF3F-51D40DC8175A}" type="presOf" srcId="{484AD4A7-EC53-404B-8D8F-FCD7442B9075}" destId="{B595714A-D6AE-43EE-963A-D1C10835AE8A}" srcOrd="0" destOrd="1" presId="urn:microsoft.com/office/officeart/2005/8/layout/hList1"/>
    <dgm:cxn modelId="{0AF0CF34-E7C9-4376-88EE-E7A9A3CC2246}" type="presOf" srcId="{E64C55FA-BB43-4955-A918-D5F474F07B38}" destId="{8649A027-F7B9-4151-969E-4930742C2DF3}" srcOrd="0" destOrd="0" presId="urn:microsoft.com/office/officeart/2005/8/layout/hList1"/>
    <dgm:cxn modelId="{B6A1B24E-5838-4110-9747-95F7FA35F10E}" srcId="{0D1FFD24-F130-4108-9A12-9586994230CE}" destId="{863E7E21-EC1D-44C0-BDC8-C72DC0B4B912}" srcOrd="0" destOrd="0" parTransId="{127D5DDD-F315-4395-A6D8-19E27841E543}" sibTransId="{5CD4503C-C631-4698-908C-AEA47A874824}"/>
    <dgm:cxn modelId="{12D1A64F-A804-4847-BABF-F90F91E8ABEB}" srcId="{F7D92694-B6B6-48EA-B2DA-772F5A8536FA}" destId="{0659AFD9-B1F1-4F6E-95F7-E3CC51F4D12B}" srcOrd="0" destOrd="0" parTransId="{447EE396-D96A-443F-AFC5-39A1994E5C51}" sibTransId="{340CD30E-F85D-4730-88FE-7C6E2B8B6615}"/>
    <dgm:cxn modelId="{B4BD8D86-93F5-425F-B3AE-B304DDB04D6F}" type="presOf" srcId="{0659AFD9-B1F1-4F6E-95F7-E3CC51F4D12B}" destId="{CC19AE3B-B30D-454A-B923-E0E8EB22AFB5}" srcOrd="0" destOrd="0" presId="urn:microsoft.com/office/officeart/2005/8/layout/hList1"/>
    <dgm:cxn modelId="{4424148E-4B71-480D-BBE0-DEF4C4411DD8}" type="presOf" srcId="{863E7E21-EC1D-44C0-BDC8-C72DC0B4B912}" destId="{B595714A-D6AE-43EE-963A-D1C10835AE8A}" srcOrd="0" destOrd="0" presId="urn:microsoft.com/office/officeart/2005/8/layout/hList1"/>
    <dgm:cxn modelId="{C65D2794-7FB1-4FD0-8F38-1159F3F67033}" srcId="{0659AFD9-B1F1-4F6E-95F7-E3CC51F4D12B}" destId="{E64C55FA-BB43-4955-A918-D5F474F07B38}" srcOrd="0" destOrd="0" parTransId="{F88B0CCE-F593-403B-9E04-F8A3BF8D732C}" sibTransId="{DA277EB3-C384-4A7D-8A3B-2E07167E02E5}"/>
    <dgm:cxn modelId="{72B9EFB1-8FAA-477F-84AF-EFF3D8FF1258}" type="presOf" srcId="{F7D92694-B6B6-48EA-B2DA-772F5A8536FA}" destId="{81F40023-D92A-4505-AB69-409B3AB4FD95}" srcOrd="0" destOrd="0" presId="urn:microsoft.com/office/officeart/2005/8/layout/hList1"/>
    <dgm:cxn modelId="{1A5762BA-0879-4086-B86D-2D3DE7C4C6F6}" srcId="{0D1FFD24-F130-4108-9A12-9586994230CE}" destId="{19A00609-C428-4D70-A4D7-62CCB174F9BA}" srcOrd="2" destOrd="0" parTransId="{CF4D2686-1955-48A1-8C59-5182B979AE0A}" sibTransId="{E8315611-2E35-42F0-8663-1947BB349585}"/>
    <dgm:cxn modelId="{911DCCC4-1F70-4DF6-9E14-D9F190CB122B}" type="presOf" srcId="{0D1FFD24-F130-4108-9A12-9586994230CE}" destId="{4B585283-4965-4C34-AD62-9EFCB658EF71}" srcOrd="0" destOrd="0" presId="urn:microsoft.com/office/officeart/2005/8/layout/hList1"/>
    <dgm:cxn modelId="{D64D9BCB-84FF-4EF5-B25E-1E965E7778CB}" srcId="{F7D92694-B6B6-48EA-B2DA-772F5A8536FA}" destId="{0D1FFD24-F130-4108-9A12-9586994230CE}" srcOrd="1" destOrd="0" parTransId="{DF8601BE-6871-4EE7-BBF5-40CFA2E86A73}" sibTransId="{CE532431-A534-401C-9792-210D6CECE4A5}"/>
    <dgm:cxn modelId="{A18AC7D3-F82F-4E84-B460-7ACFD926253C}" type="presOf" srcId="{19A00609-C428-4D70-A4D7-62CCB174F9BA}" destId="{B595714A-D6AE-43EE-963A-D1C10835AE8A}" srcOrd="0" destOrd="2" presId="urn:microsoft.com/office/officeart/2005/8/layout/hList1"/>
    <dgm:cxn modelId="{587AA70B-AE51-4AD0-A49F-27D594D19340}" type="presParOf" srcId="{81F40023-D92A-4505-AB69-409B3AB4FD95}" destId="{5D6A0869-1ED8-4266-B7DB-BCE347D10004}" srcOrd="0" destOrd="0" presId="urn:microsoft.com/office/officeart/2005/8/layout/hList1"/>
    <dgm:cxn modelId="{D888366D-6FC9-4FD3-A7DF-F1DF3DB45CBF}" type="presParOf" srcId="{5D6A0869-1ED8-4266-B7DB-BCE347D10004}" destId="{CC19AE3B-B30D-454A-B923-E0E8EB22AFB5}" srcOrd="0" destOrd="0" presId="urn:microsoft.com/office/officeart/2005/8/layout/hList1"/>
    <dgm:cxn modelId="{EC006AE1-5FD0-4ECF-9881-1B75BCE24E84}" type="presParOf" srcId="{5D6A0869-1ED8-4266-B7DB-BCE347D10004}" destId="{8649A027-F7B9-4151-969E-4930742C2DF3}" srcOrd="1" destOrd="0" presId="urn:microsoft.com/office/officeart/2005/8/layout/hList1"/>
    <dgm:cxn modelId="{09CB523B-F2E1-4E4E-ABE6-EBB523C6D3C8}" type="presParOf" srcId="{81F40023-D92A-4505-AB69-409B3AB4FD95}" destId="{761D2C81-E1B0-4292-B25B-A4EF0ED0F6D9}" srcOrd="1" destOrd="0" presId="urn:microsoft.com/office/officeart/2005/8/layout/hList1"/>
    <dgm:cxn modelId="{D7C7DED8-7B46-4C26-AFF5-D28F7D4AC591}" type="presParOf" srcId="{81F40023-D92A-4505-AB69-409B3AB4FD95}" destId="{FA2783BD-E871-45F7-AE7B-316CC46245ED}" srcOrd="2" destOrd="0" presId="urn:microsoft.com/office/officeart/2005/8/layout/hList1"/>
    <dgm:cxn modelId="{DF5A914B-2FA3-472F-BD12-0C2E8F7B0FA2}" type="presParOf" srcId="{FA2783BD-E871-45F7-AE7B-316CC46245ED}" destId="{4B585283-4965-4C34-AD62-9EFCB658EF71}" srcOrd="0" destOrd="0" presId="urn:microsoft.com/office/officeart/2005/8/layout/hList1"/>
    <dgm:cxn modelId="{7E61BE73-7654-49EA-9964-710FC677021D}" type="presParOf" srcId="{FA2783BD-E871-45F7-AE7B-316CC46245ED}" destId="{B595714A-D6AE-43EE-963A-D1C10835AE8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4E8F74-17C8-44AD-93C3-CAA35672CA73}"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A8D5B4DD-4F0E-426E-86F4-5AC49F3190A1}">
      <dgm:prSet/>
      <dgm:spPr/>
      <dgm:t>
        <a:bodyPr/>
        <a:lstStyle/>
        <a:p>
          <a:r>
            <a:rPr kumimoji="1" lang="ja-JP" dirty="0"/>
            <a:t>単位容量：</a:t>
          </a:r>
          <a:r>
            <a:rPr kumimoji="1" lang="en-US" dirty="0"/>
            <a:t>100fF</a:t>
          </a:r>
          <a:endParaRPr lang="en-US" dirty="0"/>
        </a:p>
      </dgm:t>
    </dgm:pt>
    <dgm:pt modelId="{2411313A-02C2-4129-BACF-EE9344FDBB52}" type="parTrans" cxnId="{80A0E981-DB16-4B89-827C-1602AA2428C1}">
      <dgm:prSet/>
      <dgm:spPr/>
      <dgm:t>
        <a:bodyPr/>
        <a:lstStyle/>
        <a:p>
          <a:endParaRPr lang="en-US"/>
        </a:p>
      </dgm:t>
    </dgm:pt>
    <dgm:pt modelId="{B54DF9AF-BEF2-43E1-94C3-F509C739EA8F}" type="sibTrans" cxnId="{80A0E981-DB16-4B89-827C-1602AA2428C1}">
      <dgm:prSet/>
      <dgm:spPr/>
      <dgm:t>
        <a:bodyPr/>
        <a:lstStyle/>
        <a:p>
          <a:endParaRPr lang="en-US"/>
        </a:p>
      </dgm:t>
    </dgm:pt>
    <dgm:pt modelId="{C78356CB-35CC-45FA-9B48-5AC76D72FAF2}">
      <dgm:prSet/>
      <dgm:spPr/>
      <dgm:t>
        <a:bodyPr/>
        <a:lstStyle/>
        <a:p>
          <a:r>
            <a:rPr kumimoji="1" lang="ja-JP"/>
            <a:t>クロック：</a:t>
          </a:r>
          <a:r>
            <a:rPr kumimoji="1" lang="en-US"/>
            <a:t>1.2MHz</a:t>
          </a:r>
          <a:endParaRPr lang="en-US"/>
        </a:p>
      </dgm:t>
    </dgm:pt>
    <dgm:pt modelId="{E8B526AE-C9E5-425A-A598-A1D8BA8196F6}" type="parTrans" cxnId="{60FB5453-8DF5-40C7-90A2-2E5E7951E2B0}">
      <dgm:prSet/>
      <dgm:spPr/>
      <dgm:t>
        <a:bodyPr/>
        <a:lstStyle/>
        <a:p>
          <a:endParaRPr lang="en-US"/>
        </a:p>
      </dgm:t>
    </dgm:pt>
    <dgm:pt modelId="{4C163CEF-9BBF-4A73-8E4A-936B6A23AE39}" type="sibTrans" cxnId="{60FB5453-8DF5-40C7-90A2-2E5E7951E2B0}">
      <dgm:prSet/>
      <dgm:spPr/>
      <dgm:t>
        <a:bodyPr/>
        <a:lstStyle/>
        <a:p>
          <a:endParaRPr lang="en-US"/>
        </a:p>
      </dgm:t>
    </dgm:pt>
    <dgm:pt modelId="{EBA4082F-C5D4-4949-B470-694D65CEB991}">
      <dgm:prSet/>
      <dgm:spPr/>
      <dgm:t>
        <a:bodyPr/>
        <a:lstStyle/>
        <a:p>
          <a:r>
            <a:rPr kumimoji="1" lang="ja-JP" dirty="0"/>
            <a:t>ロジック部電圧：</a:t>
          </a:r>
          <a:r>
            <a:rPr kumimoji="1" lang="en-US" dirty="0"/>
            <a:t>1.8V</a:t>
          </a:r>
        </a:p>
        <a:p>
          <a:r>
            <a:rPr kumimoji="1" lang="en-US" dirty="0"/>
            <a:t> </a:t>
          </a:r>
          <a:r>
            <a:rPr kumimoji="1" lang="ja-JP" altLang="en-US" dirty="0"/>
            <a:t>アナログ部電圧：</a:t>
          </a:r>
          <a:r>
            <a:rPr kumimoji="1" lang="en-US" dirty="0"/>
            <a:t>5.0V</a:t>
          </a:r>
          <a:endParaRPr lang="en-US" dirty="0"/>
        </a:p>
      </dgm:t>
    </dgm:pt>
    <dgm:pt modelId="{D321BE06-F674-43B0-89B0-E7F7EFFB0EF9}" type="parTrans" cxnId="{58578B7B-F0B5-4F04-9211-2C6A19735125}">
      <dgm:prSet/>
      <dgm:spPr/>
      <dgm:t>
        <a:bodyPr/>
        <a:lstStyle/>
        <a:p>
          <a:endParaRPr lang="en-US"/>
        </a:p>
      </dgm:t>
    </dgm:pt>
    <dgm:pt modelId="{46FD7F27-F679-4F55-BD81-D985A461D318}" type="sibTrans" cxnId="{58578B7B-F0B5-4F04-9211-2C6A19735125}">
      <dgm:prSet/>
      <dgm:spPr/>
      <dgm:t>
        <a:bodyPr/>
        <a:lstStyle/>
        <a:p>
          <a:endParaRPr lang="en-US"/>
        </a:p>
      </dgm:t>
    </dgm:pt>
    <dgm:pt modelId="{B2265A1D-C52A-4A05-BD3B-D1EB6398E66A}" type="pres">
      <dgm:prSet presAssocID="{364E8F74-17C8-44AD-93C3-CAA35672CA73}" presName="hierChild1" presStyleCnt="0">
        <dgm:presLayoutVars>
          <dgm:chPref val="1"/>
          <dgm:dir/>
          <dgm:animOne val="branch"/>
          <dgm:animLvl val="lvl"/>
          <dgm:resizeHandles/>
        </dgm:presLayoutVars>
      </dgm:prSet>
      <dgm:spPr/>
    </dgm:pt>
    <dgm:pt modelId="{77A6992F-53DF-423F-A3B7-5EB4F9F05702}" type="pres">
      <dgm:prSet presAssocID="{A8D5B4DD-4F0E-426E-86F4-5AC49F3190A1}" presName="hierRoot1" presStyleCnt="0"/>
      <dgm:spPr/>
    </dgm:pt>
    <dgm:pt modelId="{E2B90DA7-8977-4A27-B672-2EBAEDEA3081}" type="pres">
      <dgm:prSet presAssocID="{A8D5B4DD-4F0E-426E-86F4-5AC49F3190A1}" presName="composite" presStyleCnt="0"/>
      <dgm:spPr/>
    </dgm:pt>
    <dgm:pt modelId="{BF9E8542-E6C8-45BB-9D7F-189EA0DC085D}" type="pres">
      <dgm:prSet presAssocID="{A8D5B4DD-4F0E-426E-86F4-5AC49F3190A1}" presName="background" presStyleLbl="node0" presStyleIdx="0" presStyleCnt="3"/>
      <dgm:spPr/>
    </dgm:pt>
    <dgm:pt modelId="{2F4202D8-EED6-445E-A3CC-22FBD228B76D}" type="pres">
      <dgm:prSet presAssocID="{A8D5B4DD-4F0E-426E-86F4-5AC49F3190A1}" presName="text" presStyleLbl="fgAcc0" presStyleIdx="0" presStyleCnt="3">
        <dgm:presLayoutVars>
          <dgm:chPref val="3"/>
        </dgm:presLayoutVars>
      </dgm:prSet>
      <dgm:spPr/>
    </dgm:pt>
    <dgm:pt modelId="{12E214A0-ADC4-4C8C-BF59-2FBA06BFF6E6}" type="pres">
      <dgm:prSet presAssocID="{A8D5B4DD-4F0E-426E-86F4-5AC49F3190A1}" presName="hierChild2" presStyleCnt="0"/>
      <dgm:spPr/>
    </dgm:pt>
    <dgm:pt modelId="{B81B8831-F3C9-47AA-B405-A33C415721AB}" type="pres">
      <dgm:prSet presAssocID="{C78356CB-35CC-45FA-9B48-5AC76D72FAF2}" presName="hierRoot1" presStyleCnt="0"/>
      <dgm:spPr/>
    </dgm:pt>
    <dgm:pt modelId="{2B932E79-CC0F-49E3-9174-DF8DCFF5B4FD}" type="pres">
      <dgm:prSet presAssocID="{C78356CB-35CC-45FA-9B48-5AC76D72FAF2}" presName="composite" presStyleCnt="0"/>
      <dgm:spPr/>
    </dgm:pt>
    <dgm:pt modelId="{19E94CC8-D065-498F-9BAC-35F6EC19976F}" type="pres">
      <dgm:prSet presAssocID="{C78356CB-35CC-45FA-9B48-5AC76D72FAF2}" presName="background" presStyleLbl="node0" presStyleIdx="1" presStyleCnt="3"/>
      <dgm:spPr/>
    </dgm:pt>
    <dgm:pt modelId="{5043E38E-1EFD-470C-B235-E71FA0679518}" type="pres">
      <dgm:prSet presAssocID="{C78356CB-35CC-45FA-9B48-5AC76D72FAF2}" presName="text" presStyleLbl="fgAcc0" presStyleIdx="1" presStyleCnt="3">
        <dgm:presLayoutVars>
          <dgm:chPref val="3"/>
        </dgm:presLayoutVars>
      </dgm:prSet>
      <dgm:spPr/>
    </dgm:pt>
    <dgm:pt modelId="{0F37AD03-DDB0-4051-905A-E5FFC3B45B1C}" type="pres">
      <dgm:prSet presAssocID="{C78356CB-35CC-45FA-9B48-5AC76D72FAF2}" presName="hierChild2" presStyleCnt="0"/>
      <dgm:spPr/>
    </dgm:pt>
    <dgm:pt modelId="{06603556-A47C-469B-ACEF-7873D4C29B7B}" type="pres">
      <dgm:prSet presAssocID="{EBA4082F-C5D4-4949-B470-694D65CEB991}" presName="hierRoot1" presStyleCnt="0"/>
      <dgm:spPr/>
    </dgm:pt>
    <dgm:pt modelId="{AFA0FD14-F9DA-491F-B120-406050A55F28}" type="pres">
      <dgm:prSet presAssocID="{EBA4082F-C5D4-4949-B470-694D65CEB991}" presName="composite" presStyleCnt="0"/>
      <dgm:spPr/>
    </dgm:pt>
    <dgm:pt modelId="{27A09155-C1B4-4A5E-883D-53CAA0B6376F}" type="pres">
      <dgm:prSet presAssocID="{EBA4082F-C5D4-4949-B470-694D65CEB991}" presName="background" presStyleLbl="node0" presStyleIdx="2" presStyleCnt="3"/>
      <dgm:spPr/>
    </dgm:pt>
    <dgm:pt modelId="{0EBE70C8-69C1-4787-A611-64609BE349A8}" type="pres">
      <dgm:prSet presAssocID="{EBA4082F-C5D4-4949-B470-694D65CEB991}" presName="text" presStyleLbl="fgAcc0" presStyleIdx="2" presStyleCnt="3">
        <dgm:presLayoutVars>
          <dgm:chPref val="3"/>
        </dgm:presLayoutVars>
      </dgm:prSet>
      <dgm:spPr/>
    </dgm:pt>
    <dgm:pt modelId="{32265778-1F5E-458A-B901-B0F4326A080F}" type="pres">
      <dgm:prSet presAssocID="{EBA4082F-C5D4-4949-B470-694D65CEB991}" presName="hierChild2" presStyleCnt="0"/>
      <dgm:spPr/>
    </dgm:pt>
  </dgm:ptLst>
  <dgm:cxnLst>
    <dgm:cxn modelId="{406DFC43-6CE7-478B-8891-9DA59F8E91CF}" type="presOf" srcId="{A8D5B4DD-4F0E-426E-86F4-5AC49F3190A1}" destId="{2F4202D8-EED6-445E-A3CC-22FBD228B76D}" srcOrd="0" destOrd="0" presId="urn:microsoft.com/office/officeart/2005/8/layout/hierarchy1"/>
    <dgm:cxn modelId="{60FB5453-8DF5-40C7-90A2-2E5E7951E2B0}" srcId="{364E8F74-17C8-44AD-93C3-CAA35672CA73}" destId="{C78356CB-35CC-45FA-9B48-5AC76D72FAF2}" srcOrd="1" destOrd="0" parTransId="{E8B526AE-C9E5-425A-A598-A1D8BA8196F6}" sibTransId="{4C163CEF-9BBF-4A73-8E4A-936B6A23AE39}"/>
    <dgm:cxn modelId="{58578B7B-F0B5-4F04-9211-2C6A19735125}" srcId="{364E8F74-17C8-44AD-93C3-CAA35672CA73}" destId="{EBA4082F-C5D4-4949-B470-694D65CEB991}" srcOrd="2" destOrd="0" parTransId="{D321BE06-F674-43B0-89B0-E7F7EFFB0EF9}" sibTransId="{46FD7F27-F679-4F55-BD81-D985A461D318}"/>
    <dgm:cxn modelId="{80A0E981-DB16-4B89-827C-1602AA2428C1}" srcId="{364E8F74-17C8-44AD-93C3-CAA35672CA73}" destId="{A8D5B4DD-4F0E-426E-86F4-5AC49F3190A1}" srcOrd="0" destOrd="0" parTransId="{2411313A-02C2-4129-BACF-EE9344FDBB52}" sibTransId="{B54DF9AF-BEF2-43E1-94C3-F509C739EA8F}"/>
    <dgm:cxn modelId="{50D4F58C-8A47-4C83-95CA-C063B899A04B}" type="presOf" srcId="{364E8F74-17C8-44AD-93C3-CAA35672CA73}" destId="{B2265A1D-C52A-4A05-BD3B-D1EB6398E66A}" srcOrd="0" destOrd="0" presId="urn:microsoft.com/office/officeart/2005/8/layout/hierarchy1"/>
    <dgm:cxn modelId="{3FB44EE3-97E5-4C21-839F-83D50EF271E0}" type="presOf" srcId="{C78356CB-35CC-45FA-9B48-5AC76D72FAF2}" destId="{5043E38E-1EFD-470C-B235-E71FA0679518}" srcOrd="0" destOrd="0" presId="urn:microsoft.com/office/officeart/2005/8/layout/hierarchy1"/>
    <dgm:cxn modelId="{90EB76FC-77C9-45D6-BF06-BFC21200C748}" type="presOf" srcId="{EBA4082F-C5D4-4949-B470-694D65CEB991}" destId="{0EBE70C8-69C1-4787-A611-64609BE349A8}" srcOrd="0" destOrd="0" presId="urn:microsoft.com/office/officeart/2005/8/layout/hierarchy1"/>
    <dgm:cxn modelId="{B9A06D1E-4A2E-4139-863A-6A0732CEEE92}" type="presParOf" srcId="{B2265A1D-C52A-4A05-BD3B-D1EB6398E66A}" destId="{77A6992F-53DF-423F-A3B7-5EB4F9F05702}" srcOrd="0" destOrd="0" presId="urn:microsoft.com/office/officeart/2005/8/layout/hierarchy1"/>
    <dgm:cxn modelId="{4BFEC53C-B7E1-4257-A523-F310440B5012}" type="presParOf" srcId="{77A6992F-53DF-423F-A3B7-5EB4F9F05702}" destId="{E2B90DA7-8977-4A27-B672-2EBAEDEA3081}" srcOrd="0" destOrd="0" presId="urn:microsoft.com/office/officeart/2005/8/layout/hierarchy1"/>
    <dgm:cxn modelId="{219CEA23-4ADE-4C6A-B1BC-DF827AA18E4C}" type="presParOf" srcId="{E2B90DA7-8977-4A27-B672-2EBAEDEA3081}" destId="{BF9E8542-E6C8-45BB-9D7F-189EA0DC085D}" srcOrd="0" destOrd="0" presId="urn:microsoft.com/office/officeart/2005/8/layout/hierarchy1"/>
    <dgm:cxn modelId="{318EC8F0-D91D-4997-BCE3-B82DB105BCAE}" type="presParOf" srcId="{E2B90DA7-8977-4A27-B672-2EBAEDEA3081}" destId="{2F4202D8-EED6-445E-A3CC-22FBD228B76D}" srcOrd="1" destOrd="0" presId="urn:microsoft.com/office/officeart/2005/8/layout/hierarchy1"/>
    <dgm:cxn modelId="{C9134066-61F1-4989-B9A5-B7B6E591EA29}" type="presParOf" srcId="{77A6992F-53DF-423F-A3B7-5EB4F9F05702}" destId="{12E214A0-ADC4-4C8C-BF59-2FBA06BFF6E6}" srcOrd="1" destOrd="0" presId="urn:microsoft.com/office/officeart/2005/8/layout/hierarchy1"/>
    <dgm:cxn modelId="{E1EB4D53-EB3F-48E8-8F15-8CCD6F872634}" type="presParOf" srcId="{B2265A1D-C52A-4A05-BD3B-D1EB6398E66A}" destId="{B81B8831-F3C9-47AA-B405-A33C415721AB}" srcOrd="1" destOrd="0" presId="urn:microsoft.com/office/officeart/2005/8/layout/hierarchy1"/>
    <dgm:cxn modelId="{58E2A87A-81F8-41F6-A773-7017E45B59CA}" type="presParOf" srcId="{B81B8831-F3C9-47AA-B405-A33C415721AB}" destId="{2B932E79-CC0F-49E3-9174-DF8DCFF5B4FD}" srcOrd="0" destOrd="0" presId="urn:microsoft.com/office/officeart/2005/8/layout/hierarchy1"/>
    <dgm:cxn modelId="{8AD4690E-D2BE-48FD-9BF9-38169521F032}" type="presParOf" srcId="{2B932E79-CC0F-49E3-9174-DF8DCFF5B4FD}" destId="{19E94CC8-D065-498F-9BAC-35F6EC19976F}" srcOrd="0" destOrd="0" presId="urn:microsoft.com/office/officeart/2005/8/layout/hierarchy1"/>
    <dgm:cxn modelId="{CD160287-E671-474B-8FBC-5F96E6BB77FF}" type="presParOf" srcId="{2B932E79-CC0F-49E3-9174-DF8DCFF5B4FD}" destId="{5043E38E-1EFD-470C-B235-E71FA0679518}" srcOrd="1" destOrd="0" presId="urn:microsoft.com/office/officeart/2005/8/layout/hierarchy1"/>
    <dgm:cxn modelId="{6B87EA8D-832E-4395-A589-CB89C2A0A693}" type="presParOf" srcId="{B81B8831-F3C9-47AA-B405-A33C415721AB}" destId="{0F37AD03-DDB0-4051-905A-E5FFC3B45B1C}" srcOrd="1" destOrd="0" presId="urn:microsoft.com/office/officeart/2005/8/layout/hierarchy1"/>
    <dgm:cxn modelId="{5570453D-4ADB-4532-8108-ADCFDC3B9B84}" type="presParOf" srcId="{B2265A1D-C52A-4A05-BD3B-D1EB6398E66A}" destId="{06603556-A47C-469B-ACEF-7873D4C29B7B}" srcOrd="2" destOrd="0" presId="urn:microsoft.com/office/officeart/2005/8/layout/hierarchy1"/>
    <dgm:cxn modelId="{A085E9D4-3C53-4746-8F33-31CA15B813A5}" type="presParOf" srcId="{06603556-A47C-469B-ACEF-7873D4C29B7B}" destId="{AFA0FD14-F9DA-491F-B120-406050A55F28}" srcOrd="0" destOrd="0" presId="urn:microsoft.com/office/officeart/2005/8/layout/hierarchy1"/>
    <dgm:cxn modelId="{92777329-3745-4B3F-9E4E-55732F503F70}" type="presParOf" srcId="{AFA0FD14-F9DA-491F-B120-406050A55F28}" destId="{27A09155-C1B4-4A5E-883D-53CAA0B6376F}" srcOrd="0" destOrd="0" presId="urn:microsoft.com/office/officeart/2005/8/layout/hierarchy1"/>
    <dgm:cxn modelId="{BC84973F-5AF5-4FDF-A43A-742AC1FBBBE6}" type="presParOf" srcId="{AFA0FD14-F9DA-491F-B120-406050A55F28}" destId="{0EBE70C8-69C1-4787-A611-64609BE349A8}" srcOrd="1" destOrd="0" presId="urn:microsoft.com/office/officeart/2005/8/layout/hierarchy1"/>
    <dgm:cxn modelId="{6ED536D7-EA3E-4668-B40C-537DA3D081D9}" type="presParOf" srcId="{06603556-A47C-469B-ACEF-7873D4C29B7B}" destId="{32265778-1F5E-458A-B901-B0F4326A080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4E8F74-17C8-44AD-93C3-CAA35672CA73}"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A8D5B4DD-4F0E-426E-86F4-5AC49F3190A1}">
      <dgm:prSet/>
      <dgm:spPr/>
      <dgm:t>
        <a:bodyPr/>
        <a:lstStyle/>
        <a:p>
          <a:r>
            <a:rPr lang="ja-JP" altLang="en-US" dirty="0"/>
            <a:t>可変</a:t>
          </a:r>
          <a:r>
            <a:rPr lang="en-US" altLang="ja-JP" dirty="0"/>
            <a:t>Ref</a:t>
          </a:r>
          <a:r>
            <a:rPr lang="ja-JP" altLang="en-US" dirty="0"/>
            <a:t>電圧：</a:t>
          </a:r>
          <a:r>
            <a:rPr lang="en-US" altLang="ja-JP" dirty="0"/>
            <a:t>1.8V-5.0V</a:t>
          </a:r>
          <a:endParaRPr lang="en-US" dirty="0"/>
        </a:p>
      </dgm:t>
    </dgm:pt>
    <dgm:pt modelId="{2411313A-02C2-4129-BACF-EE9344FDBB52}" type="parTrans" cxnId="{80A0E981-DB16-4B89-827C-1602AA2428C1}">
      <dgm:prSet/>
      <dgm:spPr/>
      <dgm:t>
        <a:bodyPr/>
        <a:lstStyle/>
        <a:p>
          <a:endParaRPr lang="en-US"/>
        </a:p>
      </dgm:t>
    </dgm:pt>
    <dgm:pt modelId="{B54DF9AF-BEF2-43E1-94C3-F509C739EA8F}" type="sibTrans" cxnId="{80A0E981-DB16-4B89-827C-1602AA2428C1}">
      <dgm:prSet/>
      <dgm:spPr/>
      <dgm:t>
        <a:bodyPr/>
        <a:lstStyle/>
        <a:p>
          <a:endParaRPr lang="en-US"/>
        </a:p>
      </dgm:t>
    </dgm:pt>
    <dgm:pt modelId="{C78356CB-35CC-45FA-9B48-5AC76D72FAF2}">
      <dgm:prSet/>
      <dgm:spPr/>
      <dgm:t>
        <a:bodyPr/>
        <a:lstStyle/>
        <a:p>
          <a:r>
            <a:rPr kumimoji="1" lang="ja-JP" altLang="en-US" dirty="0"/>
            <a:t>ビット数</a:t>
          </a:r>
          <a:r>
            <a:rPr kumimoji="1" lang="ja-JP" dirty="0"/>
            <a:t>：</a:t>
          </a:r>
          <a:r>
            <a:rPr kumimoji="1" lang="en-US" altLang="ja-JP" dirty="0"/>
            <a:t>6bit</a:t>
          </a:r>
          <a:endParaRPr lang="en-US" dirty="0"/>
        </a:p>
      </dgm:t>
    </dgm:pt>
    <dgm:pt modelId="{E8B526AE-C9E5-425A-A598-A1D8BA8196F6}" type="parTrans" cxnId="{60FB5453-8DF5-40C7-90A2-2E5E7951E2B0}">
      <dgm:prSet/>
      <dgm:spPr/>
      <dgm:t>
        <a:bodyPr/>
        <a:lstStyle/>
        <a:p>
          <a:endParaRPr lang="en-US"/>
        </a:p>
      </dgm:t>
    </dgm:pt>
    <dgm:pt modelId="{4C163CEF-9BBF-4A73-8E4A-936B6A23AE39}" type="sibTrans" cxnId="{60FB5453-8DF5-40C7-90A2-2E5E7951E2B0}">
      <dgm:prSet/>
      <dgm:spPr/>
      <dgm:t>
        <a:bodyPr/>
        <a:lstStyle/>
        <a:p>
          <a:endParaRPr lang="en-US"/>
        </a:p>
      </dgm:t>
    </dgm:pt>
    <dgm:pt modelId="{EBA4082F-C5D4-4949-B470-694D65CEB991}">
      <dgm:prSet/>
      <dgm:spPr/>
      <dgm:t>
        <a:bodyPr/>
        <a:lstStyle/>
        <a:p>
          <a:r>
            <a:rPr kumimoji="1" lang="ja-JP" dirty="0"/>
            <a:t>クロック：</a:t>
          </a:r>
          <a:r>
            <a:rPr kumimoji="1" lang="en-US" dirty="0"/>
            <a:t>1.2MHz</a:t>
          </a:r>
          <a:endParaRPr lang="en-US" dirty="0"/>
        </a:p>
      </dgm:t>
    </dgm:pt>
    <dgm:pt modelId="{D321BE06-F674-43B0-89B0-E7F7EFFB0EF9}" type="parTrans" cxnId="{58578B7B-F0B5-4F04-9211-2C6A19735125}">
      <dgm:prSet/>
      <dgm:spPr/>
      <dgm:t>
        <a:bodyPr/>
        <a:lstStyle/>
        <a:p>
          <a:endParaRPr lang="en-US"/>
        </a:p>
      </dgm:t>
    </dgm:pt>
    <dgm:pt modelId="{46FD7F27-F679-4F55-BD81-D985A461D318}" type="sibTrans" cxnId="{58578B7B-F0B5-4F04-9211-2C6A19735125}">
      <dgm:prSet/>
      <dgm:spPr/>
      <dgm:t>
        <a:bodyPr/>
        <a:lstStyle/>
        <a:p>
          <a:endParaRPr lang="en-US"/>
        </a:p>
      </dgm:t>
    </dgm:pt>
    <dgm:pt modelId="{DB702835-98B7-4FE3-9DA5-5D8B889925E7}">
      <dgm:prSet/>
      <dgm:spPr/>
      <dgm:t>
        <a:bodyPr/>
        <a:lstStyle/>
        <a:p>
          <a:r>
            <a:rPr lang="en-US" altLang="ja-JP"/>
            <a:t>Rail-to-Rail</a:t>
          </a:r>
          <a:r>
            <a:rPr lang="ja-JP" altLang="en-US"/>
            <a:t>動作：</a:t>
          </a:r>
          <a:endParaRPr lang="en-US" altLang="ja-JP"/>
        </a:p>
        <a:p>
          <a:r>
            <a:rPr lang="en-US"/>
            <a:t>0-5V</a:t>
          </a:r>
          <a:endParaRPr lang="en-US" dirty="0"/>
        </a:p>
      </dgm:t>
    </dgm:pt>
    <dgm:pt modelId="{3D674355-D265-48FD-8ECD-D1C3DD587BCE}" type="parTrans" cxnId="{FA698698-4FAE-4EBE-8359-36BDDBA37EB7}">
      <dgm:prSet/>
      <dgm:spPr/>
      <dgm:t>
        <a:bodyPr/>
        <a:lstStyle/>
        <a:p>
          <a:endParaRPr kumimoji="1" lang="ja-JP" altLang="en-US"/>
        </a:p>
      </dgm:t>
    </dgm:pt>
    <dgm:pt modelId="{575C1869-25AC-499F-A975-A4C51DD56CF4}" type="sibTrans" cxnId="{FA698698-4FAE-4EBE-8359-36BDDBA37EB7}">
      <dgm:prSet/>
      <dgm:spPr/>
      <dgm:t>
        <a:bodyPr/>
        <a:lstStyle/>
        <a:p>
          <a:endParaRPr kumimoji="1" lang="ja-JP" altLang="en-US"/>
        </a:p>
      </dgm:t>
    </dgm:pt>
    <dgm:pt modelId="{B2265A1D-C52A-4A05-BD3B-D1EB6398E66A}" type="pres">
      <dgm:prSet presAssocID="{364E8F74-17C8-44AD-93C3-CAA35672CA73}" presName="hierChild1" presStyleCnt="0">
        <dgm:presLayoutVars>
          <dgm:chPref val="1"/>
          <dgm:dir/>
          <dgm:animOne val="branch"/>
          <dgm:animLvl val="lvl"/>
          <dgm:resizeHandles/>
        </dgm:presLayoutVars>
      </dgm:prSet>
      <dgm:spPr/>
    </dgm:pt>
    <dgm:pt modelId="{77A6992F-53DF-423F-A3B7-5EB4F9F05702}" type="pres">
      <dgm:prSet presAssocID="{A8D5B4DD-4F0E-426E-86F4-5AC49F3190A1}" presName="hierRoot1" presStyleCnt="0"/>
      <dgm:spPr/>
    </dgm:pt>
    <dgm:pt modelId="{E2B90DA7-8977-4A27-B672-2EBAEDEA3081}" type="pres">
      <dgm:prSet presAssocID="{A8D5B4DD-4F0E-426E-86F4-5AC49F3190A1}" presName="composite" presStyleCnt="0"/>
      <dgm:spPr/>
    </dgm:pt>
    <dgm:pt modelId="{BF9E8542-E6C8-45BB-9D7F-189EA0DC085D}" type="pres">
      <dgm:prSet presAssocID="{A8D5B4DD-4F0E-426E-86F4-5AC49F3190A1}" presName="background" presStyleLbl="node0" presStyleIdx="0" presStyleCnt="4"/>
      <dgm:spPr/>
    </dgm:pt>
    <dgm:pt modelId="{2F4202D8-EED6-445E-A3CC-22FBD228B76D}" type="pres">
      <dgm:prSet presAssocID="{A8D5B4DD-4F0E-426E-86F4-5AC49F3190A1}" presName="text" presStyleLbl="fgAcc0" presStyleIdx="0" presStyleCnt="4">
        <dgm:presLayoutVars>
          <dgm:chPref val="3"/>
        </dgm:presLayoutVars>
      </dgm:prSet>
      <dgm:spPr/>
    </dgm:pt>
    <dgm:pt modelId="{12E214A0-ADC4-4C8C-BF59-2FBA06BFF6E6}" type="pres">
      <dgm:prSet presAssocID="{A8D5B4DD-4F0E-426E-86F4-5AC49F3190A1}" presName="hierChild2" presStyleCnt="0"/>
      <dgm:spPr/>
    </dgm:pt>
    <dgm:pt modelId="{F2EDF2F1-977B-4C77-B487-308EF41C5FFE}" type="pres">
      <dgm:prSet presAssocID="{DB702835-98B7-4FE3-9DA5-5D8B889925E7}" presName="hierRoot1" presStyleCnt="0"/>
      <dgm:spPr/>
    </dgm:pt>
    <dgm:pt modelId="{176B8130-A248-4F5A-841F-E0C8D6CB3FB8}" type="pres">
      <dgm:prSet presAssocID="{DB702835-98B7-4FE3-9DA5-5D8B889925E7}" presName="composite" presStyleCnt="0"/>
      <dgm:spPr/>
    </dgm:pt>
    <dgm:pt modelId="{5ADEB6C3-7FEA-4031-8AD2-EF94FB90C874}" type="pres">
      <dgm:prSet presAssocID="{DB702835-98B7-4FE3-9DA5-5D8B889925E7}" presName="background" presStyleLbl="node0" presStyleIdx="1" presStyleCnt="4"/>
      <dgm:spPr/>
    </dgm:pt>
    <dgm:pt modelId="{42DEE762-A5CE-4372-8178-9E9FE68386A0}" type="pres">
      <dgm:prSet presAssocID="{DB702835-98B7-4FE3-9DA5-5D8B889925E7}" presName="text" presStyleLbl="fgAcc0" presStyleIdx="1" presStyleCnt="4">
        <dgm:presLayoutVars>
          <dgm:chPref val="3"/>
        </dgm:presLayoutVars>
      </dgm:prSet>
      <dgm:spPr/>
    </dgm:pt>
    <dgm:pt modelId="{88108893-AC14-4616-9020-C5F0C452172F}" type="pres">
      <dgm:prSet presAssocID="{DB702835-98B7-4FE3-9DA5-5D8B889925E7}" presName="hierChild2" presStyleCnt="0"/>
      <dgm:spPr/>
    </dgm:pt>
    <dgm:pt modelId="{B81B8831-F3C9-47AA-B405-A33C415721AB}" type="pres">
      <dgm:prSet presAssocID="{C78356CB-35CC-45FA-9B48-5AC76D72FAF2}" presName="hierRoot1" presStyleCnt="0"/>
      <dgm:spPr/>
    </dgm:pt>
    <dgm:pt modelId="{2B932E79-CC0F-49E3-9174-DF8DCFF5B4FD}" type="pres">
      <dgm:prSet presAssocID="{C78356CB-35CC-45FA-9B48-5AC76D72FAF2}" presName="composite" presStyleCnt="0"/>
      <dgm:spPr/>
    </dgm:pt>
    <dgm:pt modelId="{19E94CC8-D065-498F-9BAC-35F6EC19976F}" type="pres">
      <dgm:prSet presAssocID="{C78356CB-35CC-45FA-9B48-5AC76D72FAF2}" presName="background" presStyleLbl="node0" presStyleIdx="2" presStyleCnt="4"/>
      <dgm:spPr/>
    </dgm:pt>
    <dgm:pt modelId="{5043E38E-1EFD-470C-B235-E71FA0679518}" type="pres">
      <dgm:prSet presAssocID="{C78356CB-35CC-45FA-9B48-5AC76D72FAF2}" presName="text" presStyleLbl="fgAcc0" presStyleIdx="2" presStyleCnt="4">
        <dgm:presLayoutVars>
          <dgm:chPref val="3"/>
        </dgm:presLayoutVars>
      </dgm:prSet>
      <dgm:spPr/>
    </dgm:pt>
    <dgm:pt modelId="{0F37AD03-DDB0-4051-905A-E5FFC3B45B1C}" type="pres">
      <dgm:prSet presAssocID="{C78356CB-35CC-45FA-9B48-5AC76D72FAF2}" presName="hierChild2" presStyleCnt="0"/>
      <dgm:spPr/>
    </dgm:pt>
    <dgm:pt modelId="{06603556-A47C-469B-ACEF-7873D4C29B7B}" type="pres">
      <dgm:prSet presAssocID="{EBA4082F-C5D4-4949-B470-694D65CEB991}" presName="hierRoot1" presStyleCnt="0"/>
      <dgm:spPr/>
    </dgm:pt>
    <dgm:pt modelId="{AFA0FD14-F9DA-491F-B120-406050A55F28}" type="pres">
      <dgm:prSet presAssocID="{EBA4082F-C5D4-4949-B470-694D65CEB991}" presName="composite" presStyleCnt="0"/>
      <dgm:spPr/>
    </dgm:pt>
    <dgm:pt modelId="{27A09155-C1B4-4A5E-883D-53CAA0B6376F}" type="pres">
      <dgm:prSet presAssocID="{EBA4082F-C5D4-4949-B470-694D65CEB991}" presName="background" presStyleLbl="node0" presStyleIdx="3" presStyleCnt="4"/>
      <dgm:spPr/>
    </dgm:pt>
    <dgm:pt modelId="{0EBE70C8-69C1-4787-A611-64609BE349A8}" type="pres">
      <dgm:prSet presAssocID="{EBA4082F-C5D4-4949-B470-694D65CEB991}" presName="text" presStyleLbl="fgAcc0" presStyleIdx="3" presStyleCnt="4">
        <dgm:presLayoutVars>
          <dgm:chPref val="3"/>
        </dgm:presLayoutVars>
      </dgm:prSet>
      <dgm:spPr/>
    </dgm:pt>
    <dgm:pt modelId="{32265778-1F5E-458A-B901-B0F4326A080F}" type="pres">
      <dgm:prSet presAssocID="{EBA4082F-C5D4-4949-B470-694D65CEB991}" presName="hierChild2" presStyleCnt="0"/>
      <dgm:spPr/>
    </dgm:pt>
  </dgm:ptLst>
  <dgm:cxnLst>
    <dgm:cxn modelId="{406DFC43-6CE7-478B-8891-9DA59F8E91CF}" type="presOf" srcId="{A8D5B4DD-4F0E-426E-86F4-5AC49F3190A1}" destId="{2F4202D8-EED6-445E-A3CC-22FBD228B76D}" srcOrd="0" destOrd="0" presId="urn:microsoft.com/office/officeart/2005/8/layout/hierarchy1"/>
    <dgm:cxn modelId="{60FB5453-8DF5-40C7-90A2-2E5E7951E2B0}" srcId="{364E8F74-17C8-44AD-93C3-CAA35672CA73}" destId="{C78356CB-35CC-45FA-9B48-5AC76D72FAF2}" srcOrd="2" destOrd="0" parTransId="{E8B526AE-C9E5-425A-A598-A1D8BA8196F6}" sibTransId="{4C163CEF-9BBF-4A73-8E4A-936B6A23AE39}"/>
    <dgm:cxn modelId="{58578B7B-F0B5-4F04-9211-2C6A19735125}" srcId="{364E8F74-17C8-44AD-93C3-CAA35672CA73}" destId="{EBA4082F-C5D4-4949-B470-694D65CEB991}" srcOrd="3" destOrd="0" parTransId="{D321BE06-F674-43B0-89B0-E7F7EFFB0EF9}" sibTransId="{46FD7F27-F679-4F55-BD81-D985A461D318}"/>
    <dgm:cxn modelId="{80A0E981-DB16-4B89-827C-1602AA2428C1}" srcId="{364E8F74-17C8-44AD-93C3-CAA35672CA73}" destId="{A8D5B4DD-4F0E-426E-86F4-5AC49F3190A1}" srcOrd="0" destOrd="0" parTransId="{2411313A-02C2-4129-BACF-EE9344FDBB52}" sibTransId="{B54DF9AF-BEF2-43E1-94C3-F509C739EA8F}"/>
    <dgm:cxn modelId="{50D4F58C-8A47-4C83-95CA-C063B899A04B}" type="presOf" srcId="{364E8F74-17C8-44AD-93C3-CAA35672CA73}" destId="{B2265A1D-C52A-4A05-BD3B-D1EB6398E66A}" srcOrd="0" destOrd="0" presId="urn:microsoft.com/office/officeart/2005/8/layout/hierarchy1"/>
    <dgm:cxn modelId="{FA698698-4FAE-4EBE-8359-36BDDBA37EB7}" srcId="{364E8F74-17C8-44AD-93C3-CAA35672CA73}" destId="{DB702835-98B7-4FE3-9DA5-5D8B889925E7}" srcOrd="1" destOrd="0" parTransId="{3D674355-D265-48FD-8ECD-D1C3DD587BCE}" sibTransId="{575C1869-25AC-499F-A975-A4C51DD56CF4}"/>
    <dgm:cxn modelId="{3FB44EE3-97E5-4C21-839F-83D50EF271E0}" type="presOf" srcId="{C78356CB-35CC-45FA-9B48-5AC76D72FAF2}" destId="{5043E38E-1EFD-470C-B235-E71FA0679518}" srcOrd="0" destOrd="0" presId="urn:microsoft.com/office/officeart/2005/8/layout/hierarchy1"/>
    <dgm:cxn modelId="{A848FAF0-7C9D-4BD3-9B22-24A0993E78FC}" type="presOf" srcId="{DB702835-98B7-4FE3-9DA5-5D8B889925E7}" destId="{42DEE762-A5CE-4372-8178-9E9FE68386A0}" srcOrd="0" destOrd="0" presId="urn:microsoft.com/office/officeart/2005/8/layout/hierarchy1"/>
    <dgm:cxn modelId="{90EB76FC-77C9-45D6-BF06-BFC21200C748}" type="presOf" srcId="{EBA4082F-C5D4-4949-B470-694D65CEB991}" destId="{0EBE70C8-69C1-4787-A611-64609BE349A8}" srcOrd="0" destOrd="0" presId="urn:microsoft.com/office/officeart/2005/8/layout/hierarchy1"/>
    <dgm:cxn modelId="{B9A06D1E-4A2E-4139-863A-6A0732CEEE92}" type="presParOf" srcId="{B2265A1D-C52A-4A05-BD3B-D1EB6398E66A}" destId="{77A6992F-53DF-423F-A3B7-5EB4F9F05702}" srcOrd="0" destOrd="0" presId="urn:microsoft.com/office/officeart/2005/8/layout/hierarchy1"/>
    <dgm:cxn modelId="{4BFEC53C-B7E1-4257-A523-F310440B5012}" type="presParOf" srcId="{77A6992F-53DF-423F-A3B7-5EB4F9F05702}" destId="{E2B90DA7-8977-4A27-B672-2EBAEDEA3081}" srcOrd="0" destOrd="0" presId="urn:microsoft.com/office/officeart/2005/8/layout/hierarchy1"/>
    <dgm:cxn modelId="{219CEA23-4ADE-4C6A-B1BC-DF827AA18E4C}" type="presParOf" srcId="{E2B90DA7-8977-4A27-B672-2EBAEDEA3081}" destId="{BF9E8542-E6C8-45BB-9D7F-189EA0DC085D}" srcOrd="0" destOrd="0" presId="urn:microsoft.com/office/officeart/2005/8/layout/hierarchy1"/>
    <dgm:cxn modelId="{318EC8F0-D91D-4997-BCE3-B82DB105BCAE}" type="presParOf" srcId="{E2B90DA7-8977-4A27-B672-2EBAEDEA3081}" destId="{2F4202D8-EED6-445E-A3CC-22FBD228B76D}" srcOrd="1" destOrd="0" presId="urn:microsoft.com/office/officeart/2005/8/layout/hierarchy1"/>
    <dgm:cxn modelId="{C9134066-61F1-4989-B9A5-B7B6E591EA29}" type="presParOf" srcId="{77A6992F-53DF-423F-A3B7-5EB4F9F05702}" destId="{12E214A0-ADC4-4C8C-BF59-2FBA06BFF6E6}" srcOrd="1" destOrd="0" presId="urn:microsoft.com/office/officeart/2005/8/layout/hierarchy1"/>
    <dgm:cxn modelId="{AE69ED07-3386-4AFD-AA02-0B2F8D31E7E9}" type="presParOf" srcId="{B2265A1D-C52A-4A05-BD3B-D1EB6398E66A}" destId="{F2EDF2F1-977B-4C77-B487-308EF41C5FFE}" srcOrd="1" destOrd="0" presId="urn:microsoft.com/office/officeart/2005/8/layout/hierarchy1"/>
    <dgm:cxn modelId="{CE0867C0-E9B9-4F3A-B4D6-AA6CBF30E85D}" type="presParOf" srcId="{F2EDF2F1-977B-4C77-B487-308EF41C5FFE}" destId="{176B8130-A248-4F5A-841F-E0C8D6CB3FB8}" srcOrd="0" destOrd="0" presId="urn:microsoft.com/office/officeart/2005/8/layout/hierarchy1"/>
    <dgm:cxn modelId="{8076CAEA-196E-4AB3-822A-C35BCAF1435E}" type="presParOf" srcId="{176B8130-A248-4F5A-841F-E0C8D6CB3FB8}" destId="{5ADEB6C3-7FEA-4031-8AD2-EF94FB90C874}" srcOrd="0" destOrd="0" presId="urn:microsoft.com/office/officeart/2005/8/layout/hierarchy1"/>
    <dgm:cxn modelId="{B4E8A0D7-F984-409A-B459-CA0D0BE780E3}" type="presParOf" srcId="{176B8130-A248-4F5A-841F-E0C8D6CB3FB8}" destId="{42DEE762-A5CE-4372-8178-9E9FE68386A0}" srcOrd="1" destOrd="0" presId="urn:microsoft.com/office/officeart/2005/8/layout/hierarchy1"/>
    <dgm:cxn modelId="{ABDCF409-F641-464E-AC82-5668506D9AC1}" type="presParOf" srcId="{F2EDF2F1-977B-4C77-B487-308EF41C5FFE}" destId="{88108893-AC14-4616-9020-C5F0C452172F}" srcOrd="1" destOrd="0" presId="urn:microsoft.com/office/officeart/2005/8/layout/hierarchy1"/>
    <dgm:cxn modelId="{E1EB4D53-EB3F-48E8-8F15-8CCD6F872634}" type="presParOf" srcId="{B2265A1D-C52A-4A05-BD3B-D1EB6398E66A}" destId="{B81B8831-F3C9-47AA-B405-A33C415721AB}" srcOrd="2" destOrd="0" presId="urn:microsoft.com/office/officeart/2005/8/layout/hierarchy1"/>
    <dgm:cxn modelId="{58E2A87A-81F8-41F6-A773-7017E45B59CA}" type="presParOf" srcId="{B81B8831-F3C9-47AA-B405-A33C415721AB}" destId="{2B932E79-CC0F-49E3-9174-DF8DCFF5B4FD}" srcOrd="0" destOrd="0" presId="urn:microsoft.com/office/officeart/2005/8/layout/hierarchy1"/>
    <dgm:cxn modelId="{8AD4690E-D2BE-48FD-9BF9-38169521F032}" type="presParOf" srcId="{2B932E79-CC0F-49E3-9174-DF8DCFF5B4FD}" destId="{19E94CC8-D065-498F-9BAC-35F6EC19976F}" srcOrd="0" destOrd="0" presId="urn:microsoft.com/office/officeart/2005/8/layout/hierarchy1"/>
    <dgm:cxn modelId="{CD160287-E671-474B-8FBC-5F96E6BB77FF}" type="presParOf" srcId="{2B932E79-CC0F-49E3-9174-DF8DCFF5B4FD}" destId="{5043E38E-1EFD-470C-B235-E71FA0679518}" srcOrd="1" destOrd="0" presId="urn:microsoft.com/office/officeart/2005/8/layout/hierarchy1"/>
    <dgm:cxn modelId="{6B87EA8D-832E-4395-A589-CB89C2A0A693}" type="presParOf" srcId="{B81B8831-F3C9-47AA-B405-A33C415721AB}" destId="{0F37AD03-DDB0-4051-905A-E5FFC3B45B1C}" srcOrd="1" destOrd="0" presId="urn:microsoft.com/office/officeart/2005/8/layout/hierarchy1"/>
    <dgm:cxn modelId="{5570453D-4ADB-4532-8108-ADCFDC3B9B84}" type="presParOf" srcId="{B2265A1D-C52A-4A05-BD3B-D1EB6398E66A}" destId="{06603556-A47C-469B-ACEF-7873D4C29B7B}" srcOrd="3" destOrd="0" presId="urn:microsoft.com/office/officeart/2005/8/layout/hierarchy1"/>
    <dgm:cxn modelId="{A085E9D4-3C53-4746-8F33-31CA15B813A5}" type="presParOf" srcId="{06603556-A47C-469B-ACEF-7873D4C29B7B}" destId="{AFA0FD14-F9DA-491F-B120-406050A55F28}" srcOrd="0" destOrd="0" presId="urn:microsoft.com/office/officeart/2005/8/layout/hierarchy1"/>
    <dgm:cxn modelId="{92777329-3745-4B3F-9E4E-55732F503F70}" type="presParOf" srcId="{AFA0FD14-F9DA-491F-B120-406050A55F28}" destId="{27A09155-C1B4-4A5E-883D-53CAA0B6376F}" srcOrd="0" destOrd="0" presId="urn:microsoft.com/office/officeart/2005/8/layout/hierarchy1"/>
    <dgm:cxn modelId="{BC84973F-5AF5-4FDF-A43A-742AC1FBBBE6}" type="presParOf" srcId="{AFA0FD14-F9DA-491F-B120-406050A55F28}" destId="{0EBE70C8-69C1-4787-A611-64609BE349A8}" srcOrd="1" destOrd="0" presId="urn:microsoft.com/office/officeart/2005/8/layout/hierarchy1"/>
    <dgm:cxn modelId="{6ED536D7-EA3E-4668-B40C-537DA3D081D9}" type="presParOf" srcId="{06603556-A47C-469B-ACEF-7873D4C29B7B}" destId="{32265778-1F5E-458A-B901-B0F4326A080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E0D01B-2EC3-4D03-A314-D99934AED34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8D1AE160-E148-4EA6-984E-4CC9531C8588}">
      <dgm:prSet/>
      <dgm:spPr/>
      <dgm:t>
        <a:bodyPr/>
        <a:lstStyle/>
        <a:p>
          <a:r>
            <a:rPr kumimoji="1" lang="ja-JP"/>
            <a:t>温度</a:t>
          </a:r>
          <a:r>
            <a:rPr kumimoji="1" lang="en-US"/>
            <a:t>=temp</a:t>
          </a:r>
          <a:endParaRPr lang="en-US"/>
        </a:p>
      </dgm:t>
    </dgm:pt>
    <dgm:pt modelId="{F8991011-D8A6-46DF-ACB8-BDD51C4512C1}" type="parTrans" cxnId="{BABDD2BF-3AA3-4E5F-A5E4-F28E6FDF45A7}">
      <dgm:prSet/>
      <dgm:spPr/>
      <dgm:t>
        <a:bodyPr/>
        <a:lstStyle/>
        <a:p>
          <a:endParaRPr lang="en-US"/>
        </a:p>
      </dgm:t>
    </dgm:pt>
    <dgm:pt modelId="{FF71980E-87D4-42EE-812A-C9EA29A29166}" type="sibTrans" cxnId="{BABDD2BF-3AA3-4E5F-A5E4-F28E6FDF45A7}">
      <dgm:prSet/>
      <dgm:spPr/>
      <dgm:t>
        <a:bodyPr/>
        <a:lstStyle/>
        <a:p>
          <a:endParaRPr lang="en-US"/>
        </a:p>
      </dgm:t>
    </dgm:pt>
    <dgm:pt modelId="{36C8A584-0567-4688-801A-528ABC57DC45}">
      <dgm:prSet/>
      <dgm:spPr/>
      <dgm:t>
        <a:bodyPr/>
        <a:lstStyle/>
        <a:p>
          <a:r>
            <a:rPr kumimoji="1" lang="en-US"/>
            <a:t>27</a:t>
          </a:r>
          <a:r>
            <a:rPr kumimoji="1" lang="ja-JP"/>
            <a:t>度</a:t>
          </a:r>
          <a:endParaRPr lang="en-US"/>
        </a:p>
      </dgm:t>
    </dgm:pt>
    <dgm:pt modelId="{D207DBA0-3700-402D-B95F-817264DE753A}" type="parTrans" cxnId="{9F50CE7D-EAD3-49BD-A3D9-B76E651084C1}">
      <dgm:prSet/>
      <dgm:spPr/>
      <dgm:t>
        <a:bodyPr/>
        <a:lstStyle/>
        <a:p>
          <a:endParaRPr lang="en-US"/>
        </a:p>
      </dgm:t>
    </dgm:pt>
    <dgm:pt modelId="{CC71827A-B971-4454-A07D-488D868156AF}" type="sibTrans" cxnId="{9F50CE7D-EAD3-49BD-A3D9-B76E651084C1}">
      <dgm:prSet/>
      <dgm:spPr/>
      <dgm:t>
        <a:bodyPr/>
        <a:lstStyle/>
        <a:p>
          <a:endParaRPr lang="en-US"/>
        </a:p>
      </dgm:t>
    </dgm:pt>
    <dgm:pt modelId="{528AF1D5-6A08-4AB6-9149-1A25B6255D60}">
      <dgm:prSet/>
      <dgm:spPr/>
      <dgm:t>
        <a:bodyPr/>
        <a:lstStyle/>
        <a:p>
          <a:r>
            <a:rPr kumimoji="1" lang="ja-JP"/>
            <a:t>コーナー</a:t>
          </a:r>
          <a:r>
            <a:rPr kumimoji="1" lang="ja-JP" altLang="en-US"/>
            <a:t>モデル</a:t>
          </a:r>
          <a:endParaRPr lang="en-US"/>
        </a:p>
      </dgm:t>
    </dgm:pt>
    <dgm:pt modelId="{6EC65170-5038-4282-8D36-5D253C96651C}" type="parTrans" cxnId="{670FC8C3-E6D0-4EAD-9408-4F542B5BF481}">
      <dgm:prSet/>
      <dgm:spPr/>
      <dgm:t>
        <a:bodyPr/>
        <a:lstStyle/>
        <a:p>
          <a:endParaRPr lang="en-US"/>
        </a:p>
      </dgm:t>
    </dgm:pt>
    <dgm:pt modelId="{1AE0495B-709D-4566-9DCA-2881538074B4}" type="sibTrans" cxnId="{670FC8C3-E6D0-4EAD-9408-4F542B5BF481}">
      <dgm:prSet/>
      <dgm:spPr/>
      <dgm:t>
        <a:bodyPr/>
        <a:lstStyle/>
        <a:p>
          <a:endParaRPr lang="en-US"/>
        </a:p>
      </dgm:t>
    </dgm:pt>
    <dgm:pt modelId="{C8D83A90-4022-40CC-9D32-35D315E07891}">
      <dgm:prSet/>
      <dgm:spPr/>
      <dgm:t>
        <a:bodyPr/>
        <a:lstStyle/>
        <a:p>
          <a:r>
            <a:rPr kumimoji="1" lang="en-US"/>
            <a:t>ff, tt, ss</a:t>
          </a:r>
          <a:endParaRPr lang="en-US"/>
        </a:p>
      </dgm:t>
    </dgm:pt>
    <dgm:pt modelId="{F3FEB390-30C9-4124-923B-C54AB3A229D0}" type="parTrans" cxnId="{3CDA7BD2-DCD8-4CB9-BF7D-48FAA95C9691}">
      <dgm:prSet/>
      <dgm:spPr/>
      <dgm:t>
        <a:bodyPr/>
        <a:lstStyle/>
        <a:p>
          <a:endParaRPr lang="en-US"/>
        </a:p>
      </dgm:t>
    </dgm:pt>
    <dgm:pt modelId="{29DB31F4-6940-43A2-9C3D-C42D5B512795}" type="sibTrans" cxnId="{3CDA7BD2-DCD8-4CB9-BF7D-48FAA95C9691}">
      <dgm:prSet/>
      <dgm:spPr/>
      <dgm:t>
        <a:bodyPr/>
        <a:lstStyle/>
        <a:p>
          <a:endParaRPr lang="en-US"/>
        </a:p>
      </dgm:t>
    </dgm:pt>
    <dgm:pt modelId="{7872B133-BC15-42DC-8928-77947E77056D}" type="pres">
      <dgm:prSet presAssocID="{CDE0D01B-2EC3-4D03-A314-D99934AED342}" presName="linear" presStyleCnt="0">
        <dgm:presLayoutVars>
          <dgm:dir/>
          <dgm:animLvl val="lvl"/>
          <dgm:resizeHandles val="exact"/>
        </dgm:presLayoutVars>
      </dgm:prSet>
      <dgm:spPr/>
    </dgm:pt>
    <dgm:pt modelId="{BC51441F-0CB6-4BFA-B26F-B6AB017ED63B}" type="pres">
      <dgm:prSet presAssocID="{8D1AE160-E148-4EA6-984E-4CC9531C8588}" presName="parentLin" presStyleCnt="0"/>
      <dgm:spPr/>
    </dgm:pt>
    <dgm:pt modelId="{BAEBD882-25FB-4FE9-B068-79674BF1BF7D}" type="pres">
      <dgm:prSet presAssocID="{8D1AE160-E148-4EA6-984E-4CC9531C8588}" presName="parentLeftMargin" presStyleLbl="node1" presStyleIdx="0" presStyleCnt="2"/>
      <dgm:spPr/>
    </dgm:pt>
    <dgm:pt modelId="{61321CBC-6036-4DA3-A026-0D74E60FF64A}" type="pres">
      <dgm:prSet presAssocID="{8D1AE160-E148-4EA6-984E-4CC9531C8588}" presName="parentText" presStyleLbl="node1" presStyleIdx="0" presStyleCnt="2">
        <dgm:presLayoutVars>
          <dgm:chMax val="0"/>
          <dgm:bulletEnabled val="1"/>
        </dgm:presLayoutVars>
      </dgm:prSet>
      <dgm:spPr/>
    </dgm:pt>
    <dgm:pt modelId="{23896C93-C449-492C-BF42-4726EB7E2A52}" type="pres">
      <dgm:prSet presAssocID="{8D1AE160-E148-4EA6-984E-4CC9531C8588}" presName="negativeSpace" presStyleCnt="0"/>
      <dgm:spPr/>
    </dgm:pt>
    <dgm:pt modelId="{E1233501-A536-4074-8937-C88C448487DA}" type="pres">
      <dgm:prSet presAssocID="{8D1AE160-E148-4EA6-984E-4CC9531C8588}" presName="childText" presStyleLbl="conFgAcc1" presStyleIdx="0" presStyleCnt="2">
        <dgm:presLayoutVars>
          <dgm:bulletEnabled val="1"/>
        </dgm:presLayoutVars>
      </dgm:prSet>
      <dgm:spPr/>
    </dgm:pt>
    <dgm:pt modelId="{8FBAE505-9C66-4E8B-82F2-3E8F0D45B94C}" type="pres">
      <dgm:prSet presAssocID="{FF71980E-87D4-42EE-812A-C9EA29A29166}" presName="spaceBetweenRectangles" presStyleCnt="0"/>
      <dgm:spPr/>
    </dgm:pt>
    <dgm:pt modelId="{B9BA8ED6-77CC-4144-9392-9D6937B85229}" type="pres">
      <dgm:prSet presAssocID="{528AF1D5-6A08-4AB6-9149-1A25B6255D60}" presName="parentLin" presStyleCnt="0"/>
      <dgm:spPr/>
    </dgm:pt>
    <dgm:pt modelId="{DEC1C8D9-3D3D-4EE6-AC2C-AFCF4D5ADA46}" type="pres">
      <dgm:prSet presAssocID="{528AF1D5-6A08-4AB6-9149-1A25B6255D60}" presName="parentLeftMargin" presStyleLbl="node1" presStyleIdx="0" presStyleCnt="2"/>
      <dgm:spPr/>
    </dgm:pt>
    <dgm:pt modelId="{2AE3CD3F-AFE1-41BF-AC22-C8F4309B5D0D}" type="pres">
      <dgm:prSet presAssocID="{528AF1D5-6A08-4AB6-9149-1A25B6255D60}" presName="parentText" presStyleLbl="node1" presStyleIdx="1" presStyleCnt="2">
        <dgm:presLayoutVars>
          <dgm:chMax val="0"/>
          <dgm:bulletEnabled val="1"/>
        </dgm:presLayoutVars>
      </dgm:prSet>
      <dgm:spPr/>
    </dgm:pt>
    <dgm:pt modelId="{DE61FA1F-1189-4E66-A57B-9B58C53D64CD}" type="pres">
      <dgm:prSet presAssocID="{528AF1D5-6A08-4AB6-9149-1A25B6255D60}" presName="negativeSpace" presStyleCnt="0"/>
      <dgm:spPr/>
    </dgm:pt>
    <dgm:pt modelId="{B4BE981E-8950-44E7-AB8A-53BEA74AF851}" type="pres">
      <dgm:prSet presAssocID="{528AF1D5-6A08-4AB6-9149-1A25B6255D60}" presName="childText" presStyleLbl="conFgAcc1" presStyleIdx="1" presStyleCnt="2">
        <dgm:presLayoutVars>
          <dgm:bulletEnabled val="1"/>
        </dgm:presLayoutVars>
      </dgm:prSet>
      <dgm:spPr/>
    </dgm:pt>
  </dgm:ptLst>
  <dgm:cxnLst>
    <dgm:cxn modelId="{B7E44C38-CD0A-440E-83B7-786A354A2FFD}" type="presOf" srcId="{8D1AE160-E148-4EA6-984E-4CC9531C8588}" destId="{BAEBD882-25FB-4FE9-B068-79674BF1BF7D}" srcOrd="0" destOrd="0" presId="urn:microsoft.com/office/officeart/2005/8/layout/list1"/>
    <dgm:cxn modelId="{68F2126B-1212-48A8-B3A4-2FEA9884563C}" type="presOf" srcId="{8D1AE160-E148-4EA6-984E-4CC9531C8588}" destId="{61321CBC-6036-4DA3-A026-0D74E60FF64A}" srcOrd="1" destOrd="0" presId="urn:microsoft.com/office/officeart/2005/8/layout/list1"/>
    <dgm:cxn modelId="{FDE59C51-951F-45A6-9E06-E354B189968D}" type="presOf" srcId="{528AF1D5-6A08-4AB6-9149-1A25B6255D60}" destId="{2AE3CD3F-AFE1-41BF-AC22-C8F4309B5D0D}" srcOrd="1" destOrd="0" presId="urn:microsoft.com/office/officeart/2005/8/layout/list1"/>
    <dgm:cxn modelId="{9F50CE7D-EAD3-49BD-A3D9-B76E651084C1}" srcId="{8D1AE160-E148-4EA6-984E-4CC9531C8588}" destId="{36C8A584-0567-4688-801A-528ABC57DC45}" srcOrd="0" destOrd="0" parTransId="{D207DBA0-3700-402D-B95F-817264DE753A}" sibTransId="{CC71827A-B971-4454-A07D-488D868156AF}"/>
    <dgm:cxn modelId="{5852897E-12E7-488C-B392-4C23C4001264}" type="presOf" srcId="{528AF1D5-6A08-4AB6-9149-1A25B6255D60}" destId="{DEC1C8D9-3D3D-4EE6-AC2C-AFCF4D5ADA46}" srcOrd="0" destOrd="0" presId="urn:microsoft.com/office/officeart/2005/8/layout/list1"/>
    <dgm:cxn modelId="{AD7DDD9D-DB38-4DE1-92A0-A0D561FB7A20}" type="presOf" srcId="{36C8A584-0567-4688-801A-528ABC57DC45}" destId="{E1233501-A536-4074-8937-C88C448487DA}" srcOrd="0" destOrd="0" presId="urn:microsoft.com/office/officeart/2005/8/layout/list1"/>
    <dgm:cxn modelId="{BABDD2BF-3AA3-4E5F-A5E4-F28E6FDF45A7}" srcId="{CDE0D01B-2EC3-4D03-A314-D99934AED342}" destId="{8D1AE160-E148-4EA6-984E-4CC9531C8588}" srcOrd="0" destOrd="0" parTransId="{F8991011-D8A6-46DF-ACB8-BDD51C4512C1}" sibTransId="{FF71980E-87D4-42EE-812A-C9EA29A29166}"/>
    <dgm:cxn modelId="{670FC8C3-E6D0-4EAD-9408-4F542B5BF481}" srcId="{CDE0D01B-2EC3-4D03-A314-D99934AED342}" destId="{528AF1D5-6A08-4AB6-9149-1A25B6255D60}" srcOrd="1" destOrd="0" parTransId="{6EC65170-5038-4282-8D36-5D253C96651C}" sibTransId="{1AE0495B-709D-4566-9DCA-2881538074B4}"/>
    <dgm:cxn modelId="{E17127C5-10E2-43EC-841E-CDA478B5074C}" type="presOf" srcId="{CDE0D01B-2EC3-4D03-A314-D99934AED342}" destId="{7872B133-BC15-42DC-8928-77947E77056D}" srcOrd="0" destOrd="0" presId="urn:microsoft.com/office/officeart/2005/8/layout/list1"/>
    <dgm:cxn modelId="{FFC2C9C9-7C28-49EA-87A2-765C7F3686F7}" type="presOf" srcId="{C8D83A90-4022-40CC-9D32-35D315E07891}" destId="{B4BE981E-8950-44E7-AB8A-53BEA74AF851}" srcOrd="0" destOrd="0" presId="urn:microsoft.com/office/officeart/2005/8/layout/list1"/>
    <dgm:cxn modelId="{3CDA7BD2-DCD8-4CB9-BF7D-48FAA95C9691}" srcId="{528AF1D5-6A08-4AB6-9149-1A25B6255D60}" destId="{C8D83A90-4022-40CC-9D32-35D315E07891}" srcOrd="0" destOrd="0" parTransId="{F3FEB390-30C9-4124-923B-C54AB3A229D0}" sibTransId="{29DB31F4-6940-43A2-9C3D-C42D5B512795}"/>
    <dgm:cxn modelId="{E053BBC8-A624-44B1-A310-E9EA47747D17}" type="presParOf" srcId="{7872B133-BC15-42DC-8928-77947E77056D}" destId="{BC51441F-0CB6-4BFA-B26F-B6AB017ED63B}" srcOrd="0" destOrd="0" presId="urn:microsoft.com/office/officeart/2005/8/layout/list1"/>
    <dgm:cxn modelId="{C6409FD4-F5E1-4982-9B5F-7BE5BDDDA151}" type="presParOf" srcId="{BC51441F-0CB6-4BFA-B26F-B6AB017ED63B}" destId="{BAEBD882-25FB-4FE9-B068-79674BF1BF7D}" srcOrd="0" destOrd="0" presId="urn:microsoft.com/office/officeart/2005/8/layout/list1"/>
    <dgm:cxn modelId="{7B9205A5-5884-4FAC-9D86-3E8741D6340B}" type="presParOf" srcId="{BC51441F-0CB6-4BFA-B26F-B6AB017ED63B}" destId="{61321CBC-6036-4DA3-A026-0D74E60FF64A}" srcOrd="1" destOrd="0" presId="urn:microsoft.com/office/officeart/2005/8/layout/list1"/>
    <dgm:cxn modelId="{878C16E6-34CE-430D-BFE0-6E2BD271F039}" type="presParOf" srcId="{7872B133-BC15-42DC-8928-77947E77056D}" destId="{23896C93-C449-492C-BF42-4726EB7E2A52}" srcOrd="1" destOrd="0" presId="urn:microsoft.com/office/officeart/2005/8/layout/list1"/>
    <dgm:cxn modelId="{133F21AD-686A-4DB6-8349-5E1220C9FC84}" type="presParOf" srcId="{7872B133-BC15-42DC-8928-77947E77056D}" destId="{E1233501-A536-4074-8937-C88C448487DA}" srcOrd="2" destOrd="0" presId="urn:microsoft.com/office/officeart/2005/8/layout/list1"/>
    <dgm:cxn modelId="{678E8567-A4F0-46AB-9FF9-5BB563FBD53B}" type="presParOf" srcId="{7872B133-BC15-42DC-8928-77947E77056D}" destId="{8FBAE505-9C66-4E8B-82F2-3E8F0D45B94C}" srcOrd="3" destOrd="0" presId="urn:microsoft.com/office/officeart/2005/8/layout/list1"/>
    <dgm:cxn modelId="{7569580F-D3F3-42DC-B91A-D4E2ECA19626}" type="presParOf" srcId="{7872B133-BC15-42DC-8928-77947E77056D}" destId="{B9BA8ED6-77CC-4144-9392-9D6937B85229}" srcOrd="4" destOrd="0" presId="urn:microsoft.com/office/officeart/2005/8/layout/list1"/>
    <dgm:cxn modelId="{07D0273D-F15B-49CF-9ED0-4A49E1BDC4A1}" type="presParOf" srcId="{B9BA8ED6-77CC-4144-9392-9D6937B85229}" destId="{DEC1C8D9-3D3D-4EE6-AC2C-AFCF4D5ADA46}" srcOrd="0" destOrd="0" presId="urn:microsoft.com/office/officeart/2005/8/layout/list1"/>
    <dgm:cxn modelId="{244F6762-F15B-46EB-829E-402D05CA2A31}" type="presParOf" srcId="{B9BA8ED6-77CC-4144-9392-9D6937B85229}" destId="{2AE3CD3F-AFE1-41BF-AC22-C8F4309B5D0D}" srcOrd="1" destOrd="0" presId="urn:microsoft.com/office/officeart/2005/8/layout/list1"/>
    <dgm:cxn modelId="{7014EB49-0804-4E6D-B6D8-40E845FBA5CC}" type="presParOf" srcId="{7872B133-BC15-42DC-8928-77947E77056D}" destId="{DE61FA1F-1189-4E66-A57B-9B58C53D64CD}" srcOrd="5" destOrd="0" presId="urn:microsoft.com/office/officeart/2005/8/layout/list1"/>
    <dgm:cxn modelId="{265A6719-2A4D-4810-A2AD-3C6047C14B86}" type="presParOf" srcId="{7872B133-BC15-42DC-8928-77947E77056D}" destId="{B4BE981E-8950-44E7-AB8A-53BEA74AF85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A9E87AC-994A-4D75-B62B-FEED7B31AF0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EACD697-7CF4-49CE-9CE5-5D4B72103478}">
      <dgm:prSet/>
      <dgm:spPr/>
      <dgm:t>
        <a:bodyPr/>
        <a:lstStyle/>
        <a:p>
          <a:r>
            <a:rPr kumimoji="1" lang="ja-JP"/>
            <a:t>コンパレータ</a:t>
          </a:r>
          <a:endParaRPr lang="en-US"/>
        </a:p>
      </dgm:t>
    </dgm:pt>
    <dgm:pt modelId="{FF2B325E-5ED2-4159-B609-E4E8B94CFBCA}" type="parTrans" cxnId="{0387FAFE-150A-4B5E-A064-42AD960EEF6E}">
      <dgm:prSet/>
      <dgm:spPr/>
      <dgm:t>
        <a:bodyPr/>
        <a:lstStyle/>
        <a:p>
          <a:endParaRPr lang="en-US"/>
        </a:p>
      </dgm:t>
    </dgm:pt>
    <dgm:pt modelId="{C83FFB73-F1C2-4B20-A983-70F9AF18458D}" type="sibTrans" cxnId="{0387FAFE-150A-4B5E-A064-42AD960EEF6E}">
      <dgm:prSet/>
      <dgm:spPr/>
      <dgm:t>
        <a:bodyPr/>
        <a:lstStyle/>
        <a:p>
          <a:endParaRPr lang="en-US"/>
        </a:p>
      </dgm:t>
    </dgm:pt>
    <dgm:pt modelId="{ABBBF932-3CC9-4827-87D0-A591DD493868}">
      <dgm:prSet/>
      <dgm:spPr/>
      <dgm:t>
        <a:bodyPr/>
        <a:lstStyle/>
        <a:p>
          <a:r>
            <a:rPr kumimoji="1" lang="ja-JP"/>
            <a:t>全ビットに対応する電圧でのオフセットとノイズ</a:t>
          </a:r>
          <a:endParaRPr lang="en-US"/>
        </a:p>
      </dgm:t>
    </dgm:pt>
    <dgm:pt modelId="{7A10396E-D832-4841-8D35-31383F880A38}" type="parTrans" cxnId="{F96F3C12-AA25-424A-9D95-3B4387246F6A}">
      <dgm:prSet/>
      <dgm:spPr/>
      <dgm:t>
        <a:bodyPr/>
        <a:lstStyle/>
        <a:p>
          <a:endParaRPr lang="en-US"/>
        </a:p>
      </dgm:t>
    </dgm:pt>
    <dgm:pt modelId="{DD6C7E69-02E4-4E8D-8997-D6B4DB48DFED}" type="sibTrans" cxnId="{F96F3C12-AA25-424A-9D95-3B4387246F6A}">
      <dgm:prSet/>
      <dgm:spPr/>
      <dgm:t>
        <a:bodyPr/>
        <a:lstStyle/>
        <a:p>
          <a:endParaRPr lang="en-US"/>
        </a:p>
      </dgm:t>
    </dgm:pt>
    <dgm:pt modelId="{2DF53347-3F69-4F73-A5DE-10A0A43D70AF}">
      <dgm:prSet/>
      <dgm:spPr/>
      <dgm:t>
        <a:bodyPr/>
        <a:lstStyle/>
        <a:p>
          <a:r>
            <a:rPr kumimoji="1" lang="ja-JP"/>
            <a:t>スルーレート</a:t>
          </a:r>
          <a:endParaRPr lang="en-US"/>
        </a:p>
      </dgm:t>
    </dgm:pt>
    <dgm:pt modelId="{25F1F9AF-8B0B-47A1-917F-565B718FD5D6}" type="parTrans" cxnId="{59E4C152-27DE-4324-A5B6-988D99F4F28F}">
      <dgm:prSet/>
      <dgm:spPr/>
      <dgm:t>
        <a:bodyPr/>
        <a:lstStyle/>
        <a:p>
          <a:endParaRPr lang="en-US"/>
        </a:p>
      </dgm:t>
    </dgm:pt>
    <dgm:pt modelId="{50971454-E060-4E96-988B-C169C4D91C87}" type="sibTrans" cxnId="{59E4C152-27DE-4324-A5B6-988D99F4F28F}">
      <dgm:prSet/>
      <dgm:spPr/>
      <dgm:t>
        <a:bodyPr/>
        <a:lstStyle/>
        <a:p>
          <a:endParaRPr lang="en-US"/>
        </a:p>
      </dgm:t>
    </dgm:pt>
    <dgm:pt modelId="{C2689378-5636-4585-9D80-9723FA80105C}">
      <dgm:prSet/>
      <dgm:spPr/>
      <dgm:t>
        <a:bodyPr/>
        <a:lstStyle/>
        <a:p>
          <a:r>
            <a:rPr kumimoji="1" lang="ja-JP"/>
            <a:t>トランスミッションゲート</a:t>
          </a:r>
          <a:endParaRPr lang="en-US"/>
        </a:p>
      </dgm:t>
    </dgm:pt>
    <dgm:pt modelId="{88B117FD-21CE-4ADD-A610-A53309C518DD}" type="parTrans" cxnId="{30A2A941-A01D-48C8-833C-142EBA1A5707}">
      <dgm:prSet/>
      <dgm:spPr/>
      <dgm:t>
        <a:bodyPr/>
        <a:lstStyle/>
        <a:p>
          <a:endParaRPr lang="en-US"/>
        </a:p>
      </dgm:t>
    </dgm:pt>
    <dgm:pt modelId="{9CD9041A-D085-4401-8AC0-C56684743DBC}" type="sibTrans" cxnId="{30A2A941-A01D-48C8-833C-142EBA1A5707}">
      <dgm:prSet/>
      <dgm:spPr/>
      <dgm:t>
        <a:bodyPr/>
        <a:lstStyle/>
        <a:p>
          <a:endParaRPr lang="en-US"/>
        </a:p>
      </dgm:t>
    </dgm:pt>
    <dgm:pt modelId="{73B5D23D-5133-4A34-924E-4EBB8F4BFC4B}">
      <dgm:prSet/>
      <dgm:spPr/>
      <dgm:t>
        <a:bodyPr/>
        <a:lstStyle/>
        <a:p>
          <a:r>
            <a:rPr kumimoji="1" lang="ja-JP"/>
            <a:t>スルーレート</a:t>
          </a:r>
          <a:endParaRPr lang="en-US"/>
        </a:p>
      </dgm:t>
    </dgm:pt>
    <dgm:pt modelId="{2928072F-C74F-4F65-8B35-8E9A56308DFF}" type="parTrans" cxnId="{5EED9C34-8340-4D92-B0CD-BEE21071388E}">
      <dgm:prSet/>
      <dgm:spPr/>
      <dgm:t>
        <a:bodyPr/>
        <a:lstStyle/>
        <a:p>
          <a:endParaRPr lang="en-US"/>
        </a:p>
      </dgm:t>
    </dgm:pt>
    <dgm:pt modelId="{85DFC6C8-679D-4C2C-B36E-CF18EB9327FD}" type="sibTrans" cxnId="{5EED9C34-8340-4D92-B0CD-BEE21071388E}">
      <dgm:prSet/>
      <dgm:spPr/>
      <dgm:t>
        <a:bodyPr/>
        <a:lstStyle/>
        <a:p>
          <a:endParaRPr lang="en-US"/>
        </a:p>
      </dgm:t>
    </dgm:pt>
    <dgm:pt modelId="{E7DE0EC2-EA1D-4171-99CE-CDF08148D1D6}">
      <dgm:prSet/>
      <dgm:spPr/>
      <dgm:t>
        <a:bodyPr/>
        <a:lstStyle/>
        <a:p>
          <a:r>
            <a:rPr kumimoji="1" lang="en-US" dirty="0"/>
            <a:t>CDAC</a:t>
          </a:r>
          <a:endParaRPr lang="en-US" dirty="0"/>
        </a:p>
      </dgm:t>
    </dgm:pt>
    <dgm:pt modelId="{8DCBE824-C402-4861-8881-F897519A6860}" type="parTrans" cxnId="{2BC88854-2DA3-443D-927C-A57319974D34}">
      <dgm:prSet/>
      <dgm:spPr/>
      <dgm:t>
        <a:bodyPr/>
        <a:lstStyle/>
        <a:p>
          <a:endParaRPr lang="en-US"/>
        </a:p>
      </dgm:t>
    </dgm:pt>
    <dgm:pt modelId="{23E49093-41B4-42F8-A4E8-4C39B7213AF5}" type="sibTrans" cxnId="{2BC88854-2DA3-443D-927C-A57319974D34}">
      <dgm:prSet/>
      <dgm:spPr/>
      <dgm:t>
        <a:bodyPr/>
        <a:lstStyle/>
        <a:p>
          <a:endParaRPr lang="en-US"/>
        </a:p>
      </dgm:t>
    </dgm:pt>
    <dgm:pt modelId="{702A1D62-2C6A-49E0-8C12-0A23E5CA99CA}">
      <dgm:prSet/>
      <dgm:spPr/>
      <dgm:t>
        <a:bodyPr/>
        <a:lstStyle/>
        <a:p>
          <a:r>
            <a:rPr kumimoji="1" lang="ja-JP" altLang="en-US" dirty="0"/>
            <a:t>雑音</a:t>
          </a:r>
          <a:endParaRPr lang="en-US" dirty="0"/>
        </a:p>
      </dgm:t>
    </dgm:pt>
    <dgm:pt modelId="{EF911165-A9B4-4D8F-A45D-219E21E0EB3E}" type="parTrans" cxnId="{8ED497C6-5EE2-46BB-B291-69AF86B66499}">
      <dgm:prSet/>
      <dgm:spPr/>
      <dgm:t>
        <a:bodyPr/>
        <a:lstStyle/>
        <a:p>
          <a:endParaRPr lang="en-US"/>
        </a:p>
      </dgm:t>
    </dgm:pt>
    <dgm:pt modelId="{66502357-19E6-46BC-8E51-261D9B27E48C}" type="sibTrans" cxnId="{8ED497C6-5EE2-46BB-B291-69AF86B66499}">
      <dgm:prSet/>
      <dgm:spPr/>
      <dgm:t>
        <a:bodyPr/>
        <a:lstStyle/>
        <a:p>
          <a:endParaRPr lang="en-US"/>
        </a:p>
      </dgm:t>
    </dgm:pt>
    <dgm:pt modelId="{4A03A00F-1362-4F3F-BB36-1039D63C6ACD}">
      <dgm:prSet/>
      <dgm:spPr/>
      <dgm:t>
        <a:bodyPr/>
        <a:lstStyle/>
        <a:p>
          <a:r>
            <a:rPr lang="ja-JP" altLang="en-US" dirty="0"/>
            <a:t>電力効率は考慮しない</a:t>
          </a:r>
          <a:endParaRPr lang="en-US" dirty="0"/>
        </a:p>
      </dgm:t>
    </dgm:pt>
    <dgm:pt modelId="{62943F89-93E8-423B-8861-E7C1806AECDC}" type="parTrans" cxnId="{BB4C8A27-0765-4BD8-A2D3-B076B7CBD46B}">
      <dgm:prSet/>
      <dgm:spPr/>
      <dgm:t>
        <a:bodyPr/>
        <a:lstStyle/>
        <a:p>
          <a:endParaRPr kumimoji="1" lang="ja-JP" altLang="en-US"/>
        </a:p>
      </dgm:t>
    </dgm:pt>
    <dgm:pt modelId="{202F4C36-654E-4237-A804-6328B13FAFCA}" type="sibTrans" cxnId="{BB4C8A27-0765-4BD8-A2D3-B076B7CBD46B}">
      <dgm:prSet/>
      <dgm:spPr/>
      <dgm:t>
        <a:bodyPr/>
        <a:lstStyle/>
        <a:p>
          <a:endParaRPr kumimoji="1" lang="ja-JP" altLang="en-US"/>
        </a:p>
      </dgm:t>
    </dgm:pt>
    <dgm:pt modelId="{A607B7DA-5D9A-413D-A650-FFE233EDD3A4}">
      <dgm:prSet/>
      <dgm:spPr/>
      <dgm:t>
        <a:bodyPr/>
        <a:lstStyle/>
        <a:p>
          <a:r>
            <a:rPr lang="ja-JP" altLang="en-US" dirty="0"/>
            <a:t>許容誤差</a:t>
          </a:r>
          <a:endParaRPr lang="en-US" dirty="0"/>
        </a:p>
      </dgm:t>
    </dgm:pt>
    <dgm:pt modelId="{369BA507-3207-4614-A369-517F9CC9E337}" type="parTrans" cxnId="{F1F510B1-75D9-48AE-946C-9A827D8EF5AD}">
      <dgm:prSet/>
      <dgm:spPr/>
      <dgm:t>
        <a:bodyPr/>
        <a:lstStyle/>
        <a:p>
          <a:endParaRPr kumimoji="1" lang="ja-JP" altLang="en-US"/>
        </a:p>
      </dgm:t>
    </dgm:pt>
    <dgm:pt modelId="{02F3D615-E86B-4768-9948-536B28010AFA}" type="sibTrans" cxnId="{F1F510B1-75D9-48AE-946C-9A827D8EF5AD}">
      <dgm:prSet/>
      <dgm:spPr/>
      <dgm:t>
        <a:bodyPr/>
        <a:lstStyle/>
        <a:p>
          <a:endParaRPr kumimoji="1" lang="ja-JP" altLang="en-US"/>
        </a:p>
      </dgm:t>
    </dgm:pt>
    <dgm:pt modelId="{CC515FE7-B8A9-4AB4-8EE1-9538543EC6BB}" type="pres">
      <dgm:prSet presAssocID="{3A9E87AC-994A-4D75-B62B-FEED7B31AF03}" presName="linear" presStyleCnt="0">
        <dgm:presLayoutVars>
          <dgm:dir/>
          <dgm:animLvl val="lvl"/>
          <dgm:resizeHandles val="exact"/>
        </dgm:presLayoutVars>
      </dgm:prSet>
      <dgm:spPr/>
    </dgm:pt>
    <dgm:pt modelId="{E6E4C13C-4E75-4BB5-A299-30DD83970F40}" type="pres">
      <dgm:prSet presAssocID="{9EACD697-7CF4-49CE-9CE5-5D4B72103478}" presName="parentLin" presStyleCnt="0"/>
      <dgm:spPr/>
    </dgm:pt>
    <dgm:pt modelId="{53EC4FBF-F4E3-4406-8571-FF8708AB830E}" type="pres">
      <dgm:prSet presAssocID="{9EACD697-7CF4-49CE-9CE5-5D4B72103478}" presName="parentLeftMargin" presStyleLbl="node1" presStyleIdx="0" presStyleCnt="3"/>
      <dgm:spPr/>
    </dgm:pt>
    <dgm:pt modelId="{22484675-5214-46B3-A367-D752981AD8F5}" type="pres">
      <dgm:prSet presAssocID="{9EACD697-7CF4-49CE-9CE5-5D4B72103478}" presName="parentText" presStyleLbl="node1" presStyleIdx="0" presStyleCnt="3">
        <dgm:presLayoutVars>
          <dgm:chMax val="0"/>
          <dgm:bulletEnabled val="1"/>
        </dgm:presLayoutVars>
      </dgm:prSet>
      <dgm:spPr/>
    </dgm:pt>
    <dgm:pt modelId="{50977341-F844-4084-A1CE-D6A5074D981B}" type="pres">
      <dgm:prSet presAssocID="{9EACD697-7CF4-49CE-9CE5-5D4B72103478}" presName="negativeSpace" presStyleCnt="0"/>
      <dgm:spPr/>
    </dgm:pt>
    <dgm:pt modelId="{D55F0E34-E15D-47BA-A414-C771E5BAE4AE}" type="pres">
      <dgm:prSet presAssocID="{9EACD697-7CF4-49CE-9CE5-5D4B72103478}" presName="childText" presStyleLbl="conFgAcc1" presStyleIdx="0" presStyleCnt="3">
        <dgm:presLayoutVars>
          <dgm:bulletEnabled val="1"/>
        </dgm:presLayoutVars>
      </dgm:prSet>
      <dgm:spPr/>
    </dgm:pt>
    <dgm:pt modelId="{A89FE314-463B-494C-A84C-1DF5D8522C10}" type="pres">
      <dgm:prSet presAssocID="{C83FFB73-F1C2-4B20-A983-70F9AF18458D}" presName="spaceBetweenRectangles" presStyleCnt="0"/>
      <dgm:spPr/>
    </dgm:pt>
    <dgm:pt modelId="{895C0C71-3B26-4936-B4C5-0D735D14EFD0}" type="pres">
      <dgm:prSet presAssocID="{C2689378-5636-4585-9D80-9723FA80105C}" presName="parentLin" presStyleCnt="0"/>
      <dgm:spPr/>
    </dgm:pt>
    <dgm:pt modelId="{91FF798B-0B3F-4B5A-A819-52F471DAFA19}" type="pres">
      <dgm:prSet presAssocID="{C2689378-5636-4585-9D80-9723FA80105C}" presName="parentLeftMargin" presStyleLbl="node1" presStyleIdx="0" presStyleCnt="3"/>
      <dgm:spPr/>
    </dgm:pt>
    <dgm:pt modelId="{8A4E724D-5696-468D-94B6-617FF23AAA93}" type="pres">
      <dgm:prSet presAssocID="{C2689378-5636-4585-9D80-9723FA80105C}" presName="parentText" presStyleLbl="node1" presStyleIdx="1" presStyleCnt="3">
        <dgm:presLayoutVars>
          <dgm:chMax val="0"/>
          <dgm:bulletEnabled val="1"/>
        </dgm:presLayoutVars>
      </dgm:prSet>
      <dgm:spPr/>
    </dgm:pt>
    <dgm:pt modelId="{D776E874-058D-4482-9A5C-39837AE4E4F1}" type="pres">
      <dgm:prSet presAssocID="{C2689378-5636-4585-9D80-9723FA80105C}" presName="negativeSpace" presStyleCnt="0"/>
      <dgm:spPr/>
    </dgm:pt>
    <dgm:pt modelId="{BED2EA9E-E240-4E8C-9578-E27CAEBE6A82}" type="pres">
      <dgm:prSet presAssocID="{C2689378-5636-4585-9D80-9723FA80105C}" presName="childText" presStyleLbl="conFgAcc1" presStyleIdx="1" presStyleCnt="3">
        <dgm:presLayoutVars>
          <dgm:bulletEnabled val="1"/>
        </dgm:presLayoutVars>
      </dgm:prSet>
      <dgm:spPr/>
    </dgm:pt>
    <dgm:pt modelId="{7873ECFF-7A36-4CA7-BF7B-14AF03A97509}" type="pres">
      <dgm:prSet presAssocID="{9CD9041A-D085-4401-8AC0-C56684743DBC}" presName="spaceBetweenRectangles" presStyleCnt="0"/>
      <dgm:spPr/>
    </dgm:pt>
    <dgm:pt modelId="{F9A94B0D-617E-4FCD-AD4B-76868EFFD8E4}" type="pres">
      <dgm:prSet presAssocID="{E7DE0EC2-EA1D-4171-99CE-CDF08148D1D6}" presName="parentLin" presStyleCnt="0"/>
      <dgm:spPr/>
    </dgm:pt>
    <dgm:pt modelId="{8B3AF900-D97D-4A30-9F42-D53463971DAE}" type="pres">
      <dgm:prSet presAssocID="{E7DE0EC2-EA1D-4171-99CE-CDF08148D1D6}" presName="parentLeftMargin" presStyleLbl="node1" presStyleIdx="1" presStyleCnt="3"/>
      <dgm:spPr/>
    </dgm:pt>
    <dgm:pt modelId="{503ED2C1-EC02-44E0-953C-2A7F65854CF5}" type="pres">
      <dgm:prSet presAssocID="{E7DE0EC2-EA1D-4171-99CE-CDF08148D1D6}" presName="parentText" presStyleLbl="node1" presStyleIdx="2" presStyleCnt="3">
        <dgm:presLayoutVars>
          <dgm:chMax val="0"/>
          <dgm:bulletEnabled val="1"/>
        </dgm:presLayoutVars>
      </dgm:prSet>
      <dgm:spPr/>
    </dgm:pt>
    <dgm:pt modelId="{646DF7FE-9A17-4B0E-9D54-87C76FA1A98C}" type="pres">
      <dgm:prSet presAssocID="{E7DE0EC2-EA1D-4171-99CE-CDF08148D1D6}" presName="negativeSpace" presStyleCnt="0"/>
      <dgm:spPr/>
    </dgm:pt>
    <dgm:pt modelId="{E51DAB35-C000-45D3-8F97-E183FE7D5B0C}" type="pres">
      <dgm:prSet presAssocID="{E7DE0EC2-EA1D-4171-99CE-CDF08148D1D6}" presName="childText" presStyleLbl="conFgAcc1" presStyleIdx="2" presStyleCnt="3">
        <dgm:presLayoutVars>
          <dgm:bulletEnabled val="1"/>
        </dgm:presLayoutVars>
      </dgm:prSet>
      <dgm:spPr/>
    </dgm:pt>
  </dgm:ptLst>
  <dgm:cxnLst>
    <dgm:cxn modelId="{695F790C-2E1C-407C-89CB-CD784E0BEAE1}" type="presOf" srcId="{C2689378-5636-4585-9D80-9723FA80105C}" destId="{91FF798B-0B3F-4B5A-A819-52F471DAFA19}" srcOrd="0" destOrd="0" presId="urn:microsoft.com/office/officeart/2005/8/layout/list1"/>
    <dgm:cxn modelId="{06A04A10-6C4B-4919-BBDF-15F0BADB4E68}" type="presOf" srcId="{A607B7DA-5D9A-413D-A650-FFE233EDD3A4}" destId="{E51DAB35-C000-45D3-8F97-E183FE7D5B0C}" srcOrd="0" destOrd="1" presId="urn:microsoft.com/office/officeart/2005/8/layout/list1"/>
    <dgm:cxn modelId="{F96F3C12-AA25-424A-9D95-3B4387246F6A}" srcId="{9EACD697-7CF4-49CE-9CE5-5D4B72103478}" destId="{ABBBF932-3CC9-4827-87D0-A591DD493868}" srcOrd="0" destOrd="0" parTransId="{7A10396E-D832-4841-8D35-31383F880A38}" sibTransId="{DD6C7E69-02E4-4E8D-8997-D6B4DB48DFED}"/>
    <dgm:cxn modelId="{760A7D1A-6CC5-422E-9EF9-365A6775D126}" type="presOf" srcId="{ABBBF932-3CC9-4827-87D0-A591DD493868}" destId="{D55F0E34-E15D-47BA-A414-C771E5BAE4AE}" srcOrd="0" destOrd="0" presId="urn:microsoft.com/office/officeart/2005/8/layout/list1"/>
    <dgm:cxn modelId="{66350226-89EA-41BA-BF97-46EA471767B5}" type="presOf" srcId="{702A1D62-2C6A-49E0-8C12-0A23E5CA99CA}" destId="{E51DAB35-C000-45D3-8F97-E183FE7D5B0C}" srcOrd="0" destOrd="0" presId="urn:microsoft.com/office/officeart/2005/8/layout/list1"/>
    <dgm:cxn modelId="{BB4C8A27-0765-4BD8-A2D3-B076B7CBD46B}" srcId="{E7DE0EC2-EA1D-4171-99CE-CDF08148D1D6}" destId="{4A03A00F-1362-4F3F-BB36-1039D63C6ACD}" srcOrd="2" destOrd="0" parTransId="{62943F89-93E8-423B-8861-E7C1806AECDC}" sibTransId="{202F4C36-654E-4237-A804-6328B13FAFCA}"/>
    <dgm:cxn modelId="{5EED9C34-8340-4D92-B0CD-BEE21071388E}" srcId="{C2689378-5636-4585-9D80-9723FA80105C}" destId="{73B5D23D-5133-4A34-924E-4EBB8F4BFC4B}" srcOrd="0" destOrd="0" parTransId="{2928072F-C74F-4F65-8B35-8E9A56308DFF}" sibTransId="{85DFC6C8-679D-4C2C-B36E-CF18EB9327FD}"/>
    <dgm:cxn modelId="{30A2A941-A01D-48C8-833C-142EBA1A5707}" srcId="{3A9E87AC-994A-4D75-B62B-FEED7B31AF03}" destId="{C2689378-5636-4585-9D80-9723FA80105C}" srcOrd="1" destOrd="0" parTransId="{88B117FD-21CE-4ADD-A610-A53309C518DD}" sibTransId="{9CD9041A-D085-4401-8AC0-C56684743DBC}"/>
    <dgm:cxn modelId="{91AEE342-9BE0-42DC-AE58-F8D13F93BD2E}" type="presOf" srcId="{9EACD697-7CF4-49CE-9CE5-5D4B72103478}" destId="{22484675-5214-46B3-A367-D752981AD8F5}" srcOrd="1" destOrd="0" presId="urn:microsoft.com/office/officeart/2005/8/layout/list1"/>
    <dgm:cxn modelId="{06372E46-799D-4E76-9E97-6DF8353BB74C}" type="presOf" srcId="{3A9E87AC-994A-4D75-B62B-FEED7B31AF03}" destId="{CC515FE7-B8A9-4AB4-8EE1-9538543EC6BB}" srcOrd="0" destOrd="0" presId="urn:microsoft.com/office/officeart/2005/8/layout/list1"/>
    <dgm:cxn modelId="{379EED6F-BDCC-4B7C-9812-EE89EC06F28B}" type="presOf" srcId="{9EACD697-7CF4-49CE-9CE5-5D4B72103478}" destId="{53EC4FBF-F4E3-4406-8571-FF8708AB830E}" srcOrd="0" destOrd="0" presId="urn:microsoft.com/office/officeart/2005/8/layout/list1"/>
    <dgm:cxn modelId="{59E4C152-27DE-4324-A5B6-988D99F4F28F}" srcId="{9EACD697-7CF4-49CE-9CE5-5D4B72103478}" destId="{2DF53347-3F69-4F73-A5DE-10A0A43D70AF}" srcOrd="1" destOrd="0" parTransId="{25F1F9AF-8B0B-47A1-917F-565B718FD5D6}" sibTransId="{50971454-E060-4E96-988B-C169C4D91C87}"/>
    <dgm:cxn modelId="{2BC88854-2DA3-443D-927C-A57319974D34}" srcId="{3A9E87AC-994A-4D75-B62B-FEED7B31AF03}" destId="{E7DE0EC2-EA1D-4171-99CE-CDF08148D1D6}" srcOrd="2" destOrd="0" parTransId="{8DCBE824-C402-4861-8881-F897519A6860}" sibTransId="{23E49093-41B4-42F8-A4E8-4C39B7213AF5}"/>
    <dgm:cxn modelId="{AF12F685-FF7A-4DFF-A94A-037E99E82AB9}" type="presOf" srcId="{4A03A00F-1362-4F3F-BB36-1039D63C6ACD}" destId="{E51DAB35-C000-45D3-8F97-E183FE7D5B0C}" srcOrd="0" destOrd="2" presId="urn:microsoft.com/office/officeart/2005/8/layout/list1"/>
    <dgm:cxn modelId="{EF0E2797-D443-4E4D-9BE3-2B1B9A9CB4E7}" type="presOf" srcId="{73B5D23D-5133-4A34-924E-4EBB8F4BFC4B}" destId="{BED2EA9E-E240-4E8C-9578-E27CAEBE6A82}" srcOrd="0" destOrd="0" presId="urn:microsoft.com/office/officeart/2005/8/layout/list1"/>
    <dgm:cxn modelId="{7310B19F-0A28-48E2-8860-CC3AAD06363E}" type="presOf" srcId="{E7DE0EC2-EA1D-4171-99CE-CDF08148D1D6}" destId="{503ED2C1-EC02-44E0-953C-2A7F65854CF5}" srcOrd="1" destOrd="0" presId="urn:microsoft.com/office/officeart/2005/8/layout/list1"/>
    <dgm:cxn modelId="{F1F510B1-75D9-48AE-946C-9A827D8EF5AD}" srcId="{E7DE0EC2-EA1D-4171-99CE-CDF08148D1D6}" destId="{A607B7DA-5D9A-413D-A650-FFE233EDD3A4}" srcOrd="1" destOrd="0" parTransId="{369BA507-3207-4614-A369-517F9CC9E337}" sibTransId="{02F3D615-E86B-4768-9948-536B28010AFA}"/>
    <dgm:cxn modelId="{ED3ACDB2-4D7F-43E9-9446-10CBDF4045C8}" type="presOf" srcId="{2DF53347-3F69-4F73-A5DE-10A0A43D70AF}" destId="{D55F0E34-E15D-47BA-A414-C771E5BAE4AE}" srcOrd="0" destOrd="1" presId="urn:microsoft.com/office/officeart/2005/8/layout/list1"/>
    <dgm:cxn modelId="{8ED497C6-5EE2-46BB-B291-69AF86B66499}" srcId="{E7DE0EC2-EA1D-4171-99CE-CDF08148D1D6}" destId="{702A1D62-2C6A-49E0-8C12-0A23E5CA99CA}" srcOrd="0" destOrd="0" parTransId="{EF911165-A9B4-4D8F-A45D-219E21E0EB3E}" sibTransId="{66502357-19E6-46BC-8E51-261D9B27E48C}"/>
    <dgm:cxn modelId="{FC245FE6-E678-4C2F-A6FF-BEBC1C2EABB5}" type="presOf" srcId="{C2689378-5636-4585-9D80-9723FA80105C}" destId="{8A4E724D-5696-468D-94B6-617FF23AAA93}" srcOrd="1" destOrd="0" presId="urn:microsoft.com/office/officeart/2005/8/layout/list1"/>
    <dgm:cxn modelId="{CD650EE7-259B-4DAB-85EF-82D20B069776}" type="presOf" srcId="{E7DE0EC2-EA1D-4171-99CE-CDF08148D1D6}" destId="{8B3AF900-D97D-4A30-9F42-D53463971DAE}" srcOrd="0" destOrd="0" presId="urn:microsoft.com/office/officeart/2005/8/layout/list1"/>
    <dgm:cxn modelId="{0387FAFE-150A-4B5E-A064-42AD960EEF6E}" srcId="{3A9E87AC-994A-4D75-B62B-FEED7B31AF03}" destId="{9EACD697-7CF4-49CE-9CE5-5D4B72103478}" srcOrd="0" destOrd="0" parTransId="{FF2B325E-5ED2-4159-B609-E4E8B94CFBCA}" sibTransId="{C83FFB73-F1C2-4B20-A983-70F9AF18458D}"/>
    <dgm:cxn modelId="{3D10FD92-862D-4E37-A6FF-9F6B4B3EDC51}" type="presParOf" srcId="{CC515FE7-B8A9-4AB4-8EE1-9538543EC6BB}" destId="{E6E4C13C-4E75-4BB5-A299-30DD83970F40}" srcOrd="0" destOrd="0" presId="urn:microsoft.com/office/officeart/2005/8/layout/list1"/>
    <dgm:cxn modelId="{CE637F01-C776-4AFC-9ACF-9D27A092F5FB}" type="presParOf" srcId="{E6E4C13C-4E75-4BB5-A299-30DD83970F40}" destId="{53EC4FBF-F4E3-4406-8571-FF8708AB830E}" srcOrd="0" destOrd="0" presId="urn:microsoft.com/office/officeart/2005/8/layout/list1"/>
    <dgm:cxn modelId="{1F714518-C501-4F02-A5C3-09D7D3A06CA4}" type="presParOf" srcId="{E6E4C13C-4E75-4BB5-A299-30DD83970F40}" destId="{22484675-5214-46B3-A367-D752981AD8F5}" srcOrd="1" destOrd="0" presId="urn:microsoft.com/office/officeart/2005/8/layout/list1"/>
    <dgm:cxn modelId="{B2BE4109-EDED-4845-A9FE-B582AE250D29}" type="presParOf" srcId="{CC515FE7-B8A9-4AB4-8EE1-9538543EC6BB}" destId="{50977341-F844-4084-A1CE-D6A5074D981B}" srcOrd="1" destOrd="0" presId="urn:microsoft.com/office/officeart/2005/8/layout/list1"/>
    <dgm:cxn modelId="{B6CF0E68-6DF4-4AC4-8C05-410D413A9149}" type="presParOf" srcId="{CC515FE7-B8A9-4AB4-8EE1-9538543EC6BB}" destId="{D55F0E34-E15D-47BA-A414-C771E5BAE4AE}" srcOrd="2" destOrd="0" presId="urn:microsoft.com/office/officeart/2005/8/layout/list1"/>
    <dgm:cxn modelId="{C529DE91-1905-461C-9C9C-8E676001538E}" type="presParOf" srcId="{CC515FE7-B8A9-4AB4-8EE1-9538543EC6BB}" destId="{A89FE314-463B-494C-A84C-1DF5D8522C10}" srcOrd="3" destOrd="0" presId="urn:microsoft.com/office/officeart/2005/8/layout/list1"/>
    <dgm:cxn modelId="{195CD277-CCCF-497E-A155-A3259B1997A8}" type="presParOf" srcId="{CC515FE7-B8A9-4AB4-8EE1-9538543EC6BB}" destId="{895C0C71-3B26-4936-B4C5-0D735D14EFD0}" srcOrd="4" destOrd="0" presId="urn:microsoft.com/office/officeart/2005/8/layout/list1"/>
    <dgm:cxn modelId="{B4A70B9C-BFE8-4441-89A3-5A39E6B0A58B}" type="presParOf" srcId="{895C0C71-3B26-4936-B4C5-0D735D14EFD0}" destId="{91FF798B-0B3F-4B5A-A819-52F471DAFA19}" srcOrd="0" destOrd="0" presId="urn:microsoft.com/office/officeart/2005/8/layout/list1"/>
    <dgm:cxn modelId="{10E5A8D7-DB55-4F45-88A0-A8884E80B326}" type="presParOf" srcId="{895C0C71-3B26-4936-B4C5-0D735D14EFD0}" destId="{8A4E724D-5696-468D-94B6-617FF23AAA93}" srcOrd="1" destOrd="0" presId="urn:microsoft.com/office/officeart/2005/8/layout/list1"/>
    <dgm:cxn modelId="{EACC62BF-A71A-49B7-99FE-BC00921F5C37}" type="presParOf" srcId="{CC515FE7-B8A9-4AB4-8EE1-9538543EC6BB}" destId="{D776E874-058D-4482-9A5C-39837AE4E4F1}" srcOrd="5" destOrd="0" presId="urn:microsoft.com/office/officeart/2005/8/layout/list1"/>
    <dgm:cxn modelId="{047355C0-57FD-4F20-B690-8368A07FC625}" type="presParOf" srcId="{CC515FE7-B8A9-4AB4-8EE1-9538543EC6BB}" destId="{BED2EA9E-E240-4E8C-9578-E27CAEBE6A82}" srcOrd="6" destOrd="0" presId="urn:microsoft.com/office/officeart/2005/8/layout/list1"/>
    <dgm:cxn modelId="{7FB45708-AC91-438B-B153-755ADD3E3094}" type="presParOf" srcId="{CC515FE7-B8A9-4AB4-8EE1-9538543EC6BB}" destId="{7873ECFF-7A36-4CA7-BF7B-14AF03A97509}" srcOrd="7" destOrd="0" presId="urn:microsoft.com/office/officeart/2005/8/layout/list1"/>
    <dgm:cxn modelId="{D79930A5-EF72-4090-B551-11B57802CEEE}" type="presParOf" srcId="{CC515FE7-B8A9-4AB4-8EE1-9538543EC6BB}" destId="{F9A94B0D-617E-4FCD-AD4B-76868EFFD8E4}" srcOrd="8" destOrd="0" presId="urn:microsoft.com/office/officeart/2005/8/layout/list1"/>
    <dgm:cxn modelId="{D8354E2B-EC49-4683-A48F-55FA1642B70E}" type="presParOf" srcId="{F9A94B0D-617E-4FCD-AD4B-76868EFFD8E4}" destId="{8B3AF900-D97D-4A30-9F42-D53463971DAE}" srcOrd="0" destOrd="0" presId="urn:microsoft.com/office/officeart/2005/8/layout/list1"/>
    <dgm:cxn modelId="{722C72CC-F08A-44AB-B616-B8BDBF6604A0}" type="presParOf" srcId="{F9A94B0D-617E-4FCD-AD4B-76868EFFD8E4}" destId="{503ED2C1-EC02-44E0-953C-2A7F65854CF5}" srcOrd="1" destOrd="0" presId="urn:microsoft.com/office/officeart/2005/8/layout/list1"/>
    <dgm:cxn modelId="{AAF3582E-2CE3-4F74-99C9-89E7604BA454}" type="presParOf" srcId="{CC515FE7-B8A9-4AB4-8EE1-9538543EC6BB}" destId="{646DF7FE-9A17-4B0E-9D54-87C76FA1A98C}" srcOrd="9" destOrd="0" presId="urn:microsoft.com/office/officeart/2005/8/layout/list1"/>
    <dgm:cxn modelId="{DE15901D-216C-401F-9022-9FBB9C3BD2ED}" type="presParOf" srcId="{CC515FE7-B8A9-4AB4-8EE1-9538543EC6BB}" destId="{E51DAB35-C000-45D3-8F97-E183FE7D5B0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3456E95-86A5-4F01-BB88-7C4F8A4EABB2}"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AA23921B-EB35-45B9-A2A0-16DC028AAA49}">
      <dgm:prSet/>
      <dgm:spPr/>
      <dgm:t>
        <a:bodyPr/>
        <a:lstStyle/>
        <a:p>
          <a:r>
            <a:rPr kumimoji="1" lang="en-US"/>
            <a:t>format="@name @@CLK @@COMP_CLK @@COMP_OUT @@DIGITAL_OUT[0] @@DIGITAL_OUT[1] @@DIGITAL_OUT[2] @@DIGITAL_OUT[3] @@DIGITAL_OUT[4] @@DIGITAL_OUT[5] @@EOC @@SC @@SDAC[0] @@SDAC[1] @@SDAC[2] @@SDAC[3] @@SDAC[4] @@SDAC[5] @@SDAC[6] @@VGND @@VPWR @@XRST @prefix“</a:t>
          </a:r>
          <a:endParaRPr lang="en-US"/>
        </a:p>
      </dgm:t>
    </dgm:pt>
    <dgm:pt modelId="{843EF0DB-F9E4-4BB9-8FAA-F2C9015E91FD}" type="parTrans" cxnId="{D205F621-724E-4869-A985-8A607A519980}">
      <dgm:prSet/>
      <dgm:spPr/>
      <dgm:t>
        <a:bodyPr/>
        <a:lstStyle/>
        <a:p>
          <a:endParaRPr lang="en-US"/>
        </a:p>
      </dgm:t>
    </dgm:pt>
    <dgm:pt modelId="{55E8616A-5BF8-4345-8716-85DC913B9871}" type="sibTrans" cxnId="{D205F621-724E-4869-A985-8A607A519980}">
      <dgm:prSet/>
      <dgm:spPr/>
      <dgm:t>
        <a:bodyPr/>
        <a:lstStyle/>
        <a:p>
          <a:endParaRPr lang="en-US"/>
        </a:p>
      </dgm:t>
    </dgm:pt>
    <dgm:pt modelId="{DDA57E68-29A3-47F7-AF68-250F44637333}">
      <dgm:prSet/>
      <dgm:spPr/>
      <dgm:t>
        <a:bodyPr/>
        <a:lstStyle/>
        <a:p>
          <a:r>
            <a:rPr kumimoji="1" lang="en-US" dirty="0"/>
            <a:t>.</a:t>
          </a:r>
          <a:r>
            <a:rPr kumimoji="1" lang="en-US" dirty="0" err="1"/>
            <a:t>subckt</a:t>
          </a:r>
          <a:r>
            <a:rPr kumimoji="1" lang="en-US" dirty="0"/>
            <a:t> SAR_LOGIC CLK COMP_CLK COMP_OUT DIGITAL_OUT[0] DIGITAL_OUT[1] DIGITAL_OUT[2]</a:t>
          </a:r>
          <a:r>
            <a:rPr kumimoji="1" lang="ja-JP" dirty="0"/>
            <a:t>　</a:t>
          </a:r>
          <a:r>
            <a:rPr kumimoji="1" lang="en-US" dirty="0"/>
            <a:t>DIGITAL_OUT[3] DIGITAL_OUT[4] DIGITAL_OUT[5] EOC SC SDAC[0] SDAC[1] SDAC[2] SDAC[3] SDAC[4] SDAC[5] SDAC[6] VGND VPWR XRST</a:t>
          </a:r>
          <a:endParaRPr lang="en-US" dirty="0"/>
        </a:p>
      </dgm:t>
    </dgm:pt>
    <dgm:pt modelId="{1A46BD8D-99E4-4A94-931E-CCA4D00B175D}" type="parTrans" cxnId="{298203FA-C5DE-47B2-B0D4-71A7D6C8E2C4}">
      <dgm:prSet/>
      <dgm:spPr/>
      <dgm:t>
        <a:bodyPr/>
        <a:lstStyle/>
        <a:p>
          <a:endParaRPr lang="en-US"/>
        </a:p>
      </dgm:t>
    </dgm:pt>
    <dgm:pt modelId="{D32666D5-6F75-4278-B11C-99C37127A7E3}" type="sibTrans" cxnId="{298203FA-C5DE-47B2-B0D4-71A7D6C8E2C4}">
      <dgm:prSet/>
      <dgm:spPr/>
      <dgm:t>
        <a:bodyPr/>
        <a:lstStyle/>
        <a:p>
          <a:endParaRPr lang="en-US"/>
        </a:p>
      </dgm:t>
    </dgm:pt>
    <dgm:pt modelId="{14F96E11-4678-4099-A5A4-9BE8D6989C6C}" type="pres">
      <dgm:prSet presAssocID="{23456E95-86A5-4F01-BB88-7C4F8A4EABB2}" presName="hierChild1" presStyleCnt="0">
        <dgm:presLayoutVars>
          <dgm:chPref val="1"/>
          <dgm:dir/>
          <dgm:animOne val="branch"/>
          <dgm:animLvl val="lvl"/>
          <dgm:resizeHandles/>
        </dgm:presLayoutVars>
      </dgm:prSet>
      <dgm:spPr/>
    </dgm:pt>
    <dgm:pt modelId="{D1896490-7BAF-40F3-A85E-390850EBE2A3}" type="pres">
      <dgm:prSet presAssocID="{AA23921B-EB35-45B9-A2A0-16DC028AAA49}" presName="hierRoot1" presStyleCnt="0"/>
      <dgm:spPr/>
    </dgm:pt>
    <dgm:pt modelId="{3C84819C-C922-4E1C-B384-8B5AD5C7F1BD}" type="pres">
      <dgm:prSet presAssocID="{AA23921B-EB35-45B9-A2A0-16DC028AAA49}" presName="composite" presStyleCnt="0"/>
      <dgm:spPr/>
    </dgm:pt>
    <dgm:pt modelId="{D471E57D-28AD-44C5-B75C-1978CB084D61}" type="pres">
      <dgm:prSet presAssocID="{AA23921B-EB35-45B9-A2A0-16DC028AAA49}" presName="background" presStyleLbl="node0" presStyleIdx="0" presStyleCnt="2"/>
      <dgm:spPr/>
    </dgm:pt>
    <dgm:pt modelId="{8A7886FC-E2BA-4F81-9EAD-E7A471064CB1}" type="pres">
      <dgm:prSet presAssocID="{AA23921B-EB35-45B9-A2A0-16DC028AAA49}" presName="text" presStyleLbl="fgAcc0" presStyleIdx="0" presStyleCnt="2">
        <dgm:presLayoutVars>
          <dgm:chPref val="3"/>
        </dgm:presLayoutVars>
      </dgm:prSet>
      <dgm:spPr/>
    </dgm:pt>
    <dgm:pt modelId="{6034AD1A-021C-4A18-BBBB-22065A702A98}" type="pres">
      <dgm:prSet presAssocID="{AA23921B-EB35-45B9-A2A0-16DC028AAA49}" presName="hierChild2" presStyleCnt="0"/>
      <dgm:spPr/>
    </dgm:pt>
    <dgm:pt modelId="{9F5AB2C1-A139-46F3-8B5C-C07C1A77F9EA}" type="pres">
      <dgm:prSet presAssocID="{DDA57E68-29A3-47F7-AF68-250F44637333}" presName="hierRoot1" presStyleCnt="0"/>
      <dgm:spPr/>
    </dgm:pt>
    <dgm:pt modelId="{9D1B56A9-E17E-4D1B-8E73-FDD34EC64551}" type="pres">
      <dgm:prSet presAssocID="{DDA57E68-29A3-47F7-AF68-250F44637333}" presName="composite" presStyleCnt="0"/>
      <dgm:spPr/>
    </dgm:pt>
    <dgm:pt modelId="{03CEF431-EA52-486A-82AC-82D1E9EDD5AC}" type="pres">
      <dgm:prSet presAssocID="{DDA57E68-29A3-47F7-AF68-250F44637333}" presName="background" presStyleLbl="node0" presStyleIdx="1" presStyleCnt="2"/>
      <dgm:spPr/>
    </dgm:pt>
    <dgm:pt modelId="{F93977A0-45BD-4C94-993E-40FEC5B48FE2}" type="pres">
      <dgm:prSet presAssocID="{DDA57E68-29A3-47F7-AF68-250F44637333}" presName="text" presStyleLbl="fgAcc0" presStyleIdx="1" presStyleCnt="2">
        <dgm:presLayoutVars>
          <dgm:chPref val="3"/>
        </dgm:presLayoutVars>
      </dgm:prSet>
      <dgm:spPr/>
    </dgm:pt>
    <dgm:pt modelId="{75FB874C-3C69-4838-AE6E-C9C0543ACF1D}" type="pres">
      <dgm:prSet presAssocID="{DDA57E68-29A3-47F7-AF68-250F44637333}" presName="hierChild2" presStyleCnt="0"/>
      <dgm:spPr/>
    </dgm:pt>
  </dgm:ptLst>
  <dgm:cxnLst>
    <dgm:cxn modelId="{D205F621-724E-4869-A985-8A607A519980}" srcId="{23456E95-86A5-4F01-BB88-7C4F8A4EABB2}" destId="{AA23921B-EB35-45B9-A2A0-16DC028AAA49}" srcOrd="0" destOrd="0" parTransId="{843EF0DB-F9E4-4BB9-8FAA-F2C9015E91FD}" sibTransId="{55E8616A-5BF8-4345-8716-85DC913B9871}"/>
    <dgm:cxn modelId="{8C1CC726-3930-46EB-9B7D-E449340C36FD}" type="presOf" srcId="{23456E95-86A5-4F01-BB88-7C4F8A4EABB2}" destId="{14F96E11-4678-4099-A5A4-9BE8D6989C6C}" srcOrd="0" destOrd="0" presId="urn:microsoft.com/office/officeart/2005/8/layout/hierarchy1"/>
    <dgm:cxn modelId="{8E836E3A-2C6E-4915-AEE6-42CA0466D0FC}" type="presOf" srcId="{DDA57E68-29A3-47F7-AF68-250F44637333}" destId="{F93977A0-45BD-4C94-993E-40FEC5B48FE2}" srcOrd="0" destOrd="0" presId="urn:microsoft.com/office/officeart/2005/8/layout/hierarchy1"/>
    <dgm:cxn modelId="{E3D4EA7A-D3D5-434C-8DC1-79705AFE7B67}" type="presOf" srcId="{AA23921B-EB35-45B9-A2A0-16DC028AAA49}" destId="{8A7886FC-E2BA-4F81-9EAD-E7A471064CB1}" srcOrd="0" destOrd="0" presId="urn:microsoft.com/office/officeart/2005/8/layout/hierarchy1"/>
    <dgm:cxn modelId="{298203FA-C5DE-47B2-B0D4-71A7D6C8E2C4}" srcId="{23456E95-86A5-4F01-BB88-7C4F8A4EABB2}" destId="{DDA57E68-29A3-47F7-AF68-250F44637333}" srcOrd="1" destOrd="0" parTransId="{1A46BD8D-99E4-4A94-931E-CCA4D00B175D}" sibTransId="{D32666D5-6F75-4278-B11C-99C37127A7E3}"/>
    <dgm:cxn modelId="{038A999B-E471-4912-B521-ACE55EA1F6CE}" type="presParOf" srcId="{14F96E11-4678-4099-A5A4-9BE8D6989C6C}" destId="{D1896490-7BAF-40F3-A85E-390850EBE2A3}" srcOrd="0" destOrd="0" presId="urn:microsoft.com/office/officeart/2005/8/layout/hierarchy1"/>
    <dgm:cxn modelId="{020152B8-545E-46A2-8B49-B1B7BAFF8B19}" type="presParOf" srcId="{D1896490-7BAF-40F3-A85E-390850EBE2A3}" destId="{3C84819C-C922-4E1C-B384-8B5AD5C7F1BD}" srcOrd="0" destOrd="0" presId="urn:microsoft.com/office/officeart/2005/8/layout/hierarchy1"/>
    <dgm:cxn modelId="{061BDBE8-62DE-41BC-AC9C-77A8A17CF0A9}" type="presParOf" srcId="{3C84819C-C922-4E1C-B384-8B5AD5C7F1BD}" destId="{D471E57D-28AD-44C5-B75C-1978CB084D61}" srcOrd="0" destOrd="0" presId="urn:microsoft.com/office/officeart/2005/8/layout/hierarchy1"/>
    <dgm:cxn modelId="{3EEBAF53-1115-433E-A98C-188537786AF8}" type="presParOf" srcId="{3C84819C-C922-4E1C-B384-8B5AD5C7F1BD}" destId="{8A7886FC-E2BA-4F81-9EAD-E7A471064CB1}" srcOrd="1" destOrd="0" presId="urn:microsoft.com/office/officeart/2005/8/layout/hierarchy1"/>
    <dgm:cxn modelId="{34245113-8EE9-4460-832C-C1D3E9665B49}" type="presParOf" srcId="{D1896490-7BAF-40F3-A85E-390850EBE2A3}" destId="{6034AD1A-021C-4A18-BBBB-22065A702A98}" srcOrd="1" destOrd="0" presId="urn:microsoft.com/office/officeart/2005/8/layout/hierarchy1"/>
    <dgm:cxn modelId="{A88E16B7-6A75-4567-AEB1-81F334C37EC4}" type="presParOf" srcId="{14F96E11-4678-4099-A5A4-9BE8D6989C6C}" destId="{9F5AB2C1-A139-46F3-8B5C-C07C1A77F9EA}" srcOrd="1" destOrd="0" presId="urn:microsoft.com/office/officeart/2005/8/layout/hierarchy1"/>
    <dgm:cxn modelId="{E58DFC38-1BC8-408A-9812-1CEE619392C6}" type="presParOf" srcId="{9F5AB2C1-A139-46F3-8B5C-C07C1A77F9EA}" destId="{9D1B56A9-E17E-4D1B-8E73-FDD34EC64551}" srcOrd="0" destOrd="0" presId="urn:microsoft.com/office/officeart/2005/8/layout/hierarchy1"/>
    <dgm:cxn modelId="{6C9E9571-7A2B-4118-B2C9-6507A3B2976D}" type="presParOf" srcId="{9D1B56A9-E17E-4D1B-8E73-FDD34EC64551}" destId="{03CEF431-EA52-486A-82AC-82D1E9EDD5AC}" srcOrd="0" destOrd="0" presId="urn:microsoft.com/office/officeart/2005/8/layout/hierarchy1"/>
    <dgm:cxn modelId="{DC26DB79-CD5A-4584-A368-6F521BC5A711}" type="presParOf" srcId="{9D1B56A9-E17E-4D1B-8E73-FDD34EC64551}" destId="{F93977A0-45BD-4C94-993E-40FEC5B48FE2}" srcOrd="1" destOrd="0" presId="urn:microsoft.com/office/officeart/2005/8/layout/hierarchy1"/>
    <dgm:cxn modelId="{BC9C38F8-A380-4D1B-A620-C97D92F24014}" type="presParOf" srcId="{9F5AB2C1-A139-46F3-8B5C-C07C1A77F9EA}" destId="{75FB874C-3C69-4838-AE6E-C9C0543ACF1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19AE3B-B30D-454A-B923-E0E8EB22AFB5}">
      <dsp:nvSpPr>
        <dsp:cNvPr id="0" name=""/>
        <dsp:cNvSpPr/>
      </dsp:nvSpPr>
      <dsp:spPr>
        <a:xfrm>
          <a:off x="53" y="7657"/>
          <a:ext cx="5106412" cy="9504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134112" rIns="234696" bIns="134112" numCol="1" spcCol="1270" anchor="ctr" anchorCtr="0">
          <a:noAutofit/>
        </a:bodyPr>
        <a:lstStyle/>
        <a:p>
          <a:pPr marL="0" lvl="0" indent="0" algn="ctr" defTabSz="1466850">
            <a:lnSpc>
              <a:spcPct val="90000"/>
            </a:lnSpc>
            <a:spcBef>
              <a:spcPct val="0"/>
            </a:spcBef>
            <a:spcAft>
              <a:spcPct val="35000"/>
            </a:spcAft>
            <a:buNone/>
          </a:pPr>
          <a:r>
            <a:rPr kumimoji="1" lang="ja-JP" sz="3300" kern="1200"/>
            <a:t>シャトル</a:t>
          </a:r>
          <a:endParaRPr lang="en-US" sz="3300" kern="1200"/>
        </a:p>
      </dsp:txBody>
      <dsp:txXfrm>
        <a:off x="53" y="7657"/>
        <a:ext cx="5106412" cy="950400"/>
      </dsp:txXfrm>
    </dsp:sp>
    <dsp:sp modelId="{8649A027-F7B9-4151-969E-4930742C2DF3}">
      <dsp:nvSpPr>
        <dsp:cNvPr id="0" name=""/>
        <dsp:cNvSpPr/>
      </dsp:nvSpPr>
      <dsp:spPr>
        <a:xfrm>
          <a:off x="53" y="958057"/>
          <a:ext cx="5106412" cy="322709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022" tIns="176022" rIns="234696" bIns="264033" numCol="1" spcCol="1270" anchor="t" anchorCtr="0">
          <a:noAutofit/>
        </a:bodyPr>
        <a:lstStyle/>
        <a:p>
          <a:pPr marL="285750" lvl="1" indent="-285750" algn="l" defTabSz="1466850">
            <a:lnSpc>
              <a:spcPct val="90000"/>
            </a:lnSpc>
            <a:spcBef>
              <a:spcPct val="0"/>
            </a:spcBef>
            <a:spcAft>
              <a:spcPct val="15000"/>
            </a:spcAft>
            <a:buChar char="•"/>
          </a:pPr>
          <a:r>
            <a:rPr kumimoji="1" lang="en-US" sz="3300" kern="1200"/>
            <a:t>TinyTapeout</a:t>
          </a:r>
          <a:r>
            <a:rPr kumimoji="1" lang="ja-JP" sz="3300" kern="1200"/>
            <a:t>の</a:t>
          </a:r>
          <a:r>
            <a:rPr kumimoji="1" lang="en-US" sz="3300" kern="1200"/>
            <a:t>Sky130</a:t>
          </a:r>
          <a:r>
            <a:rPr kumimoji="1" lang="ja-JP" sz="3300" kern="1200"/>
            <a:t>のアナログ回路</a:t>
          </a:r>
          <a:endParaRPr lang="en-US" sz="3300" kern="1200"/>
        </a:p>
      </dsp:txBody>
      <dsp:txXfrm>
        <a:off x="53" y="958057"/>
        <a:ext cx="5106412" cy="3227090"/>
      </dsp:txXfrm>
    </dsp:sp>
    <dsp:sp modelId="{4B585283-4965-4C34-AD62-9EFCB658EF71}">
      <dsp:nvSpPr>
        <dsp:cNvPr id="0" name=""/>
        <dsp:cNvSpPr/>
      </dsp:nvSpPr>
      <dsp:spPr>
        <a:xfrm>
          <a:off x="5821363" y="7657"/>
          <a:ext cx="5106412" cy="9504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134112" rIns="234696" bIns="134112" numCol="1" spcCol="1270" anchor="ctr" anchorCtr="0">
          <a:noAutofit/>
        </a:bodyPr>
        <a:lstStyle/>
        <a:p>
          <a:pPr marL="0" lvl="0" indent="0" algn="ctr" defTabSz="1466850">
            <a:lnSpc>
              <a:spcPct val="90000"/>
            </a:lnSpc>
            <a:spcBef>
              <a:spcPct val="0"/>
            </a:spcBef>
            <a:spcAft>
              <a:spcPct val="35000"/>
            </a:spcAft>
            <a:buNone/>
          </a:pPr>
          <a:r>
            <a:rPr kumimoji="1" lang="en-US" sz="3300" kern="1200"/>
            <a:t>SAR-ADC</a:t>
          </a:r>
          <a:r>
            <a:rPr kumimoji="1" lang="ja-JP" sz="3300" kern="1200"/>
            <a:t>スペック</a:t>
          </a:r>
          <a:endParaRPr lang="en-US" sz="3300" kern="1200"/>
        </a:p>
      </dsp:txBody>
      <dsp:txXfrm>
        <a:off x="5821363" y="7657"/>
        <a:ext cx="5106412" cy="950400"/>
      </dsp:txXfrm>
    </dsp:sp>
    <dsp:sp modelId="{B595714A-D6AE-43EE-963A-D1C10835AE8A}">
      <dsp:nvSpPr>
        <dsp:cNvPr id="0" name=""/>
        <dsp:cNvSpPr/>
      </dsp:nvSpPr>
      <dsp:spPr>
        <a:xfrm>
          <a:off x="5821363" y="958057"/>
          <a:ext cx="5106412" cy="322709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022" tIns="176022" rIns="234696" bIns="264033" numCol="1" spcCol="1270" anchor="t" anchorCtr="0">
          <a:noAutofit/>
        </a:bodyPr>
        <a:lstStyle/>
        <a:p>
          <a:pPr marL="285750" lvl="1" indent="-285750" algn="l" defTabSz="1466850">
            <a:lnSpc>
              <a:spcPct val="90000"/>
            </a:lnSpc>
            <a:spcBef>
              <a:spcPct val="0"/>
            </a:spcBef>
            <a:spcAft>
              <a:spcPct val="15000"/>
            </a:spcAft>
            <a:buChar char="•"/>
          </a:pPr>
          <a:r>
            <a:rPr kumimoji="1" lang="ja-JP" sz="3300" kern="1200" dirty="0"/>
            <a:t>ビット数：</a:t>
          </a:r>
          <a:r>
            <a:rPr kumimoji="1" lang="en-US" sz="3300" kern="1200" dirty="0"/>
            <a:t>6bit</a:t>
          </a:r>
          <a:endParaRPr lang="en-US" sz="3300" kern="1200" dirty="0"/>
        </a:p>
        <a:p>
          <a:pPr marL="285750" lvl="1" indent="-285750" algn="l" defTabSz="1466850">
            <a:lnSpc>
              <a:spcPct val="90000"/>
            </a:lnSpc>
            <a:spcBef>
              <a:spcPct val="0"/>
            </a:spcBef>
            <a:spcAft>
              <a:spcPct val="15000"/>
            </a:spcAft>
            <a:buChar char="•"/>
          </a:pPr>
          <a:r>
            <a:rPr kumimoji="1" lang="ja-JP" sz="3300" kern="1200"/>
            <a:t>クロック：</a:t>
          </a:r>
          <a:r>
            <a:rPr kumimoji="1" lang="en-US" sz="3300" kern="1200"/>
            <a:t>1.2MHz</a:t>
          </a:r>
          <a:endParaRPr lang="en-US" sz="3300" kern="1200"/>
        </a:p>
        <a:p>
          <a:pPr marL="285750" lvl="1" indent="-285750" algn="l" defTabSz="1466850">
            <a:lnSpc>
              <a:spcPct val="90000"/>
            </a:lnSpc>
            <a:spcBef>
              <a:spcPct val="0"/>
            </a:spcBef>
            <a:spcAft>
              <a:spcPct val="15000"/>
            </a:spcAft>
            <a:buChar char="•"/>
          </a:pPr>
          <a:r>
            <a:rPr kumimoji="1" lang="ja-JP" sz="3300" kern="1200" dirty="0"/>
            <a:t>リファレンス電圧：</a:t>
          </a:r>
          <a:r>
            <a:rPr kumimoji="1" lang="en-US" sz="3300" kern="1200" dirty="0"/>
            <a:t>1.8V</a:t>
          </a:r>
          <a:r>
            <a:rPr kumimoji="1" lang="ja-JP" sz="3300" kern="1200" dirty="0"/>
            <a:t>～</a:t>
          </a:r>
          <a:r>
            <a:rPr kumimoji="1" lang="en-US" sz="3300" kern="1200" dirty="0"/>
            <a:t>5.0V</a:t>
          </a:r>
          <a:r>
            <a:rPr kumimoji="1" lang="ja-JP" sz="3300" kern="1200" dirty="0"/>
            <a:t>（可変）</a:t>
          </a:r>
          <a:endParaRPr lang="en-US" sz="3300" kern="1200" dirty="0"/>
        </a:p>
      </dsp:txBody>
      <dsp:txXfrm>
        <a:off x="5821363" y="958057"/>
        <a:ext cx="5106412" cy="32270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E8542-E6C8-45BB-9D7F-189EA0DC085D}">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4202D8-EED6-445E-A3CC-22FBD228B76D}">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dirty="0"/>
            <a:t>単位容量：</a:t>
          </a:r>
          <a:r>
            <a:rPr kumimoji="1" lang="en-US" sz="2000" kern="1200" dirty="0"/>
            <a:t>100fF</a:t>
          </a:r>
          <a:endParaRPr lang="en-US" sz="2000" kern="1200" dirty="0"/>
        </a:p>
      </dsp:txBody>
      <dsp:txXfrm>
        <a:off x="378614" y="886531"/>
        <a:ext cx="2810360" cy="1744948"/>
      </dsp:txXfrm>
    </dsp:sp>
    <dsp:sp modelId="{19E94CC8-D065-498F-9BAC-35F6EC19976F}">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43E38E-1EFD-470C-B235-E71FA0679518}">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a:t>クロック：</a:t>
          </a:r>
          <a:r>
            <a:rPr kumimoji="1" lang="en-US" sz="2000" kern="1200"/>
            <a:t>1.2MHz</a:t>
          </a:r>
          <a:endParaRPr lang="en-US" sz="2000" kern="1200"/>
        </a:p>
      </dsp:txBody>
      <dsp:txXfrm>
        <a:off x="3946203" y="886531"/>
        <a:ext cx="2810360" cy="1744948"/>
      </dsp:txXfrm>
    </dsp:sp>
    <dsp:sp modelId="{27A09155-C1B4-4A5E-883D-53CAA0B6376F}">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BE70C8-69C1-4787-A611-64609BE349A8}">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dirty="0"/>
            <a:t>ロジック部電圧：</a:t>
          </a:r>
          <a:r>
            <a:rPr kumimoji="1" lang="en-US" sz="2000" kern="1200" dirty="0"/>
            <a:t>1.8V</a:t>
          </a:r>
        </a:p>
        <a:p>
          <a:pPr marL="0" lvl="0" indent="0" algn="ctr" defTabSz="889000">
            <a:lnSpc>
              <a:spcPct val="90000"/>
            </a:lnSpc>
            <a:spcBef>
              <a:spcPct val="0"/>
            </a:spcBef>
            <a:spcAft>
              <a:spcPct val="35000"/>
            </a:spcAft>
            <a:buNone/>
          </a:pPr>
          <a:r>
            <a:rPr kumimoji="1" lang="en-US" sz="2000" kern="1200" dirty="0"/>
            <a:t> </a:t>
          </a:r>
          <a:r>
            <a:rPr kumimoji="1" lang="ja-JP" altLang="en-US" sz="2000" kern="1200" dirty="0"/>
            <a:t>アナログ部電圧：</a:t>
          </a:r>
          <a:r>
            <a:rPr kumimoji="1" lang="en-US" sz="2000" kern="1200" dirty="0"/>
            <a:t>5.0V</a:t>
          </a:r>
          <a:endParaRPr lang="en-US" sz="2000" kern="1200" dirty="0"/>
        </a:p>
      </dsp:txBody>
      <dsp:txXfrm>
        <a:off x="7513791" y="886531"/>
        <a:ext cx="2810360" cy="1744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E8542-E6C8-45BB-9D7F-189EA0DC085D}">
      <dsp:nvSpPr>
        <dsp:cNvPr id="0" name=""/>
        <dsp:cNvSpPr/>
      </dsp:nvSpPr>
      <dsp:spPr>
        <a:xfrm>
          <a:off x="3040" y="801093"/>
          <a:ext cx="2170958" cy="137855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4202D8-EED6-445E-A3CC-22FBD228B76D}">
      <dsp:nvSpPr>
        <dsp:cNvPr id="0" name=""/>
        <dsp:cNvSpPr/>
      </dsp:nvSpPr>
      <dsp:spPr>
        <a:xfrm>
          <a:off x="244258" y="1030249"/>
          <a:ext cx="2170958" cy="1378558"/>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altLang="en-US" sz="1800" kern="1200" dirty="0"/>
            <a:t>可変</a:t>
          </a:r>
          <a:r>
            <a:rPr lang="en-US" altLang="ja-JP" sz="1800" kern="1200" dirty="0"/>
            <a:t>Ref</a:t>
          </a:r>
          <a:r>
            <a:rPr lang="ja-JP" altLang="en-US" sz="1800" kern="1200" dirty="0"/>
            <a:t>電圧：</a:t>
          </a:r>
          <a:r>
            <a:rPr lang="en-US" altLang="ja-JP" sz="1800" kern="1200" dirty="0"/>
            <a:t>1.8V-5.0V</a:t>
          </a:r>
          <a:endParaRPr lang="en-US" sz="1800" kern="1200" dirty="0"/>
        </a:p>
      </dsp:txBody>
      <dsp:txXfrm>
        <a:off x="284635" y="1070626"/>
        <a:ext cx="2090204" cy="1297804"/>
      </dsp:txXfrm>
    </dsp:sp>
    <dsp:sp modelId="{5ADEB6C3-7FEA-4031-8AD2-EF94FB90C874}">
      <dsp:nvSpPr>
        <dsp:cNvPr id="0" name=""/>
        <dsp:cNvSpPr/>
      </dsp:nvSpPr>
      <dsp:spPr>
        <a:xfrm>
          <a:off x="2656434" y="801093"/>
          <a:ext cx="2170958" cy="137855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DEE762-A5CE-4372-8178-9E9FE68386A0}">
      <dsp:nvSpPr>
        <dsp:cNvPr id="0" name=""/>
        <dsp:cNvSpPr/>
      </dsp:nvSpPr>
      <dsp:spPr>
        <a:xfrm>
          <a:off x="2897652" y="1030249"/>
          <a:ext cx="2170958" cy="1378558"/>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ja-JP" sz="1800" kern="1200"/>
            <a:t>Rail-to-Rail</a:t>
          </a:r>
          <a:r>
            <a:rPr lang="ja-JP" altLang="en-US" sz="1800" kern="1200"/>
            <a:t>動作：</a:t>
          </a:r>
          <a:endParaRPr lang="en-US" altLang="ja-JP" sz="1800" kern="1200"/>
        </a:p>
        <a:p>
          <a:pPr marL="0" lvl="0" indent="0" algn="ctr" defTabSz="800100">
            <a:lnSpc>
              <a:spcPct val="90000"/>
            </a:lnSpc>
            <a:spcBef>
              <a:spcPct val="0"/>
            </a:spcBef>
            <a:spcAft>
              <a:spcPct val="35000"/>
            </a:spcAft>
            <a:buNone/>
          </a:pPr>
          <a:r>
            <a:rPr lang="en-US" sz="1800" kern="1200"/>
            <a:t>0-5V</a:t>
          </a:r>
          <a:endParaRPr lang="en-US" sz="1800" kern="1200" dirty="0"/>
        </a:p>
      </dsp:txBody>
      <dsp:txXfrm>
        <a:off x="2938029" y="1070626"/>
        <a:ext cx="2090204" cy="1297804"/>
      </dsp:txXfrm>
    </dsp:sp>
    <dsp:sp modelId="{19E94CC8-D065-498F-9BAC-35F6EC19976F}">
      <dsp:nvSpPr>
        <dsp:cNvPr id="0" name=""/>
        <dsp:cNvSpPr/>
      </dsp:nvSpPr>
      <dsp:spPr>
        <a:xfrm>
          <a:off x="5309828" y="801093"/>
          <a:ext cx="2170958" cy="137855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43E38E-1EFD-470C-B235-E71FA0679518}">
      <dsp:nvSpPr>
        <dsp:cNvPr id="0" name=""/>
        <dsp:cNvSpPr/>
      </dsp:nvSpPr>
      <dsp:spPr>
        <a:xfrm>
          <a:off x="5551046" y="1030249"/>
          <a:ext cx="2170958" cy="1378558"/>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t>ビット数</a:t>
          </a:r>
          <a:r>
            <a:rPr kumimoji="1" lang="ja-JP" sz="1800" kern="1200" dirty="0"/>
            <a:t>：</a:t>
          </a:r>
          <a:r>
            <a:rPr kumimoji="1" lang="en-US" altLang="ja-JP" sz="1800" kern="1200" dirty="0"/>
            <a:t>6bit</a:t>
          </a:r>
          <a:endParaRPr lang="en-US" sz="1800" kern="1200" dirty="0"/>
        </a:p>
      </dsp:txBody>
      <dsp:txXfrm>
        <a:off x="5591423" y="1070626"/>
        <a:ext cx="2090204" cy="1297804"/>
      </dsp:txXfrm>
    </dsp:sp>
    <dsp:sp modelId="{27A09155-C1B4-4A5E-883D-53CAA0B6376F}">
      <dsp:nvSpPr>
        <dsp:cNvPr id="0" name=""/>
        <dsp:cNvSpPr/>
      </dsp:nvSpPr>
      <dsp:spPr>
        <a:xfrm>
          <a:off x="7963222" y="801093"/>
          <a:ext cx="2170958" cy="137855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BE70C8-69C1-4787-A611-64609BE349A8}">
      <dsp:nvSpPr>
        <dsp:cNvPr id="0" name=""/>
        <dsp:cNvSpPr/>
      </dsp:nvSpPr>
      <dsp:spPr>
        <a:xfrm>
          <a:off x="8204440" y="1030249"/>
          <a:ext cx="2170958" cy="1378558"/>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sz="1800" kern="1200" dirty="0"/>
            <a:t>クロック：</a:t>
          </a:r>
          <a:r>
            <a:rPr kumimoji="1" lang="en-US" sz="1800" kern="1200" dirty="0"/>
            <a:t>1.2MHz</a:t>
          </a:r>
          <a:endParaRPr lang="en-US" sz="1800" kern="1200" dirty="0"/>
        </a:p>
      </dsp:txBody>
      <dsp:txXfrm>
        <a:off x="8244817" y="1070626"/>
        <a:ext cx="2090204" cy="12978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233501-A536-4074-8937-C88C448487DA}">
      <dsp:nvSpPr>
        <dsp:cNvPr id="0" name=""/>
        <dsp:cNvSpPr/>
      </dsp:nvSpPr>
      <dsp:spPr>
        <a:xfrm>
          <a:off x="0" y="374235"/>
          <a:ext cx="10143668" cy="1200937"/>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7261" tIns="520700" rIns="787261" bIns="177800" numCol="1" spcCol="1270" anchor="t" anchorCtr="0">
          <a:noAutofit/>
        </a:bodyPr>
        <a:lstStyle/>
        <a:p>
          <a:pPr marL="228600" lvl="1" indent="-228600" algn="l" defTabSz="1111250">
            <a:lnSpc>
              <a:spcPct val="90000"/>
            </a:lnSpc>
            <a:spcBef>
              <a:spcPct val="0"/>
            </a:spcBef>
            <a:spcAft>
              <a:spcPct val="15000"/>
            </a:spcAft>
            <a:buChar char="•"/>
          </a:pPr>
          <a:r>
            <a:rPr kumimoji="1" lang="en-US" sz="2500" kern="1200"/>
            <a:t>27</a:t>
          </a:r>
          <a:r>
            <a:rPr kumimoji="1" lang="ja-JP" sz="2500" kern="1200"/>
            <a:t>度</a:t>
          </a:r>
          <a:endParaRPr lang="en-US" sz="2500" kern="1200"/>
        </a:p>
      </dsp:txBody>
      <dsp:txXfrm>
        <a:off x="0" y="374235"/>
        <a:ext cx="10143668" cy="1200937"/>
      </dsp:txXfrm>
    </dsp:sp>
    <dsp:sp modelId="{61321CBC-6036-4DA3-A026-0D74E60FF64A}">
      <dsp:nvSpPr>
        <dsp:cNvPr id="0" name=""/>
        <dsp:cNvSpPr/>
      </dsp:nvSpPr>
      <dsp:spPr>
        <a:xfrm>
          <a:off x="507183" y="5235"/>
          <a:ext cx="7100567" cy="7380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8385" tIns="0" rIns="268385" bIns="0" numCol="1" spcCol="1270" anchor="ctr" anchorCtr="0">
          <a:noAutofit/>
        </a:bodyPr>
        <a:lstStyle/>
        <a:p>
          <a:pPr marL="0" lvl="0" indent="0" algn="l" defTabSz="1111250">
            <a:lnSpc>
              <a:spcPct val="90000"/>
            </a:lnSpc>
            <a:spcBef>
              <a:spcPct val="0"/>
            </a:spcBef>
            <a:spcAft>
              <a:spcPct val="35000"/>
            </a:spcAft>
            <a:buNone/>
          </a:pPr>
          <a:r>
            <a:rPr kumimoji="1" lang="ja-JP" sz="2500" kern="1200"/>
            <a:t>温度</a:t>
          </a:r>
          <a:r>
            <a:rPr kumimoji="1" lang="en-US" sz="2500" kern="1200"/>
            <a:t>=temp</a:t>
          </a:r>
          <a:endParaRPr lang="en-US" sz="2500" kern="1200"/>
        </a:p>
      </dsp:txBody>
      <dsp:txXfrm>
        <a:off x="543209" y="41261"/>
        <a:ext cx="7028515" cy="665948"/>
      </dsp:txXfrm>
    </dsp:sp>
    <dsp:sp modelId="{B4BE981E-8950-44E7-AB8A-53BEA74AF851}">
      <dsp:nvSpPr>
        <dsp:cNvPr id="0" name=""/>
        <dsp:cNvSpPr/>
      </dsp:nvSpPr>
      <dsp:spPr>
        <a:xfrm>
          <a:off x="0" y="2079172"/>
          <a:ext cx="10143668" cy="1200937"/>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7261" tIns="520700" rIns="787261" bIns="177800" numCol="1" spcCol="1270" anchor="t" anchorCtr="0">
          <a:noAutofit/>
        </a:bodyPr>
        <a:lstStyle/>
        <a:p>
          <a:pPr marL="228600" lvl="1" indent="-228600" algn="l" defTabSz="1111250">
            <a:lnSpc>
              <a:spcPct val="90000"/>
            </a:lnSpc>
            <a:spcBef>
              <a:spcPct val="0"/>
            </a:spcBef>
            <a:spcAft>
              <a:spcPct val="15000"/>
            </a:spcAft>
            <a:buChar char="•"/>
          </a:pPr>
          <a:r>
            <a:rPr kumimoji="1" lang="en-US" sz="2500" kern="1200"/>
            <a:t>ff, tt, ss</a:t>
          </a:r>
          <a:endParaRPr lang="en-US" sz="2500" kern="1200"/>
        </a:p>
      </dsp:txBody>
      <dsp:txXfrm>
        <a:off x="0" y="2079172"/>
        <a:ext cx="10143668" cy="1200937"/>
      </dsp:txXfrm>
    </dsp:sp>
    <dsp:sp modelId="{2AE3CD3F-AFE1-41BF-AC22-C8F4309B5D0D}">
      <dsp:nvSpPr>
        <dsp:cNvPr id="0" name=""/>
        <dsp:cNvSpPr/>
      </dsp:nvSpPr>
      <dsp:spPr>
        <a:xfrm>
          <a:off x="507183" y="1710172"/>
          <a:ext cx="7100567" cy="7380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8385" tIns="0" rIns="268385" bIns="0" numCol="1" spcCol="1270" anchor="ctr" anchorCtr="0">
          <a:noAutofit/>
        </a:bodyPr>
        <a:lstStyle/>
        <a:p>
          <a:pPr marL="0" lvl="0" indent="0" algn="l" defTabSz="1111250">
            <a:lnSpc>
              <a:spcPct val="90000"/>
            </a:lnSpc>
            <a:spcBef>
              <a:spcPct val="0"/>
            </a:spcBef>
            <a:spcAft>
              <a:spcPct val="35000"/>
            </a:spcAft>
            <a:buNone/>
          </a:pPr>
          <a:r>
            <a:rPr kumimoji="1" lang="ja-JP" sz="2500" kern="1200"/>
            <a:t>コーナー</a:t>
          </a:r>
          <a:r>
            <a:rPr kumimoji="1" lang="ja-JP" altLang="en-US" sz="2500" kern="1200"/>
            <a:t>モデル</a:t>
          </a:r>
          <a:endParaRPr lang="en-US" sz="2500" kern="1200"/>
        </a:p>
      </dsp:txBody>
      <dsp:txXfrm>
        <a:off x="543209" y="1746198"/>
        <a:ext cx="7028515" cy="6659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5F0E34-E15D-47BA-A414-C771E5BAE4AE}">
      <dsp:nvSpPr>
        <dsp:cNvPr id="0" name=""/>
        <dsp:cNvSpPr/>
      </dsp:nvSpPr>
      <dsp:spPr>
        <a:xfrm>
          <a:off x="0" y="275682"/>
          <a:ext cx="10515600" cy="99225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kumimoji="1" lang="ja-JP" sz="1400" kern="1200"/>
            <a:t>全ビットに対応する電圧でのオフセットとノイズ</a:t>
          </a:r>
          <a:endParaRPr lang="en-US" sz="1400" kern="1200"/>
        </a:p>
        <a:p>
          <a:pPr marL="114300" lvl="1" indent="-114300" algn="l" defTabSz="622300">
            <a:lnSpc>
              <a:spcPct val="90000"/>
            </a:lnSpc>
            <a:spcBef>
              <a:spcPct val="0"/>
            </a:spcBef>
            <a:spcAft>
              <a:spcPct val="15000"/>
            </a:spcAft>
            <a:buChar char="•"/>
          </a:pPr>
          <a:r>
            <a:rPr kumimoji="1" lang="ja-JP" sz="1400" kern="1200"/>
            <a:t>スルーレート</a:t>
          </a:r>
          <a:endParaRPr lang="en-US" sz="1400" kern="1200"/>
        </a:p>
      </dsp:txBody>
      <dsp:txXfrm>
        <a:off x="0" y="275682"/>
        <a:ext cx="10515600" cy="992250"/>
      </dsp:txXfrm>
    </dsp:sp>
    <dsp:sp modelId="{22484675-5214-46B3-A367-D752981AD8F5}">
      <dsp:nvSpPr>
        <dsp:cNvPr id="0" name=""/>
        <dsp:cNvSpPr/>
      </dsp:nvSpPr>
      <dsp:spPr>
        <a:xfrm>
          <a:off x="525780" y="69042"/>
          <a:ext cx="7360920" cy="413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kumimoji="1" lang="ja-JP" sz="1400" kern="1200"/>
            <a:t>コンパレータ</a:t>
          </a:r>
          <a:endParaRPr lang="en-US" sz="1400" kern="1200"/>
        </a:p>
      </dsp:txBody>
      <dsp:txXfrm>
        <a:off x="545955" y="89217"/>
        <a:ext cx="7320570" cy="372930"/>
      </dsp:txXfrm>
    </dsp:sp>
    <dsp:sp modelId="{BED2EA9E-E240-4E8C-9578-E27CAEBE6A82}">
      <dsp:nvSpPr>
        <dsp:cNvPr id="0" name=""/>
        <dsp:cNvSpPr/>
      </dsp:nvSpPr>
      <dsp:spPr>
        <a:xfrm>
          <a:off x="0" y="1550172"/>
          <a:ext cx="10515600" cy="6725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kumimoji="1" lang="ja-JP" sz="1400" kern="1200"/>
            <a:t>スルーレート</a:t>
          </a:r>
          <a:endParaRPr lang="en-US" sz="1400" kern="1200"/>
        </a:p>
      </dsp:txBody>
      <dsp:txXfrm>
        <a:off x="0" y="1550172"/>
        <a:ext cx="10515600" cy="672525"/>
      </dsp:txXfrm>
    </dsp:sp>
    <dsp:sp modelId="{8A4E724D-5696-468D-94B6-617FF23AAA93}">
      <dsp:nvSpPr>
        <dsp:cNvPr id="0" name=""/>
        <dsp:cNvSpPr/>
      </dsp:nvSpPr>
      <dsp:spPr>
        <a:xfrm>
          <a:off x="525780" y="1343532"/>
          <a:ext cx="7360920" cy="413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kumimoji="1" lang="ja-JP" sz="1400" kern="1200"/>
            <a:t>トランスミッションゲート</a:t>
          </a:r>
          <a:endParaRPr lang="en-US" sz="1400" kern="1200"/>
        </a:p>
      </dsp:txBody>
      <dsp:txXfrm>
        <a:off x="545955" y="1363707"/>
        <a:ext cx="7320570" cy="372930"/>
      </dsp:txXfrm>
    </dsp:sp>
    <dsp:sp modelId="{E51DAB35-C000-45D3-8F97-E183FE7D5B0C}">
      <dsp:nvSpPr>
        <dsp:cNvPr id="0" name=""/>
        <dsp:cNvSpPr/>
      </dsp:nvSpPr>
      <dsp:spPr>
        <a:xfrm>
          <a:off x="0" y="2504938"/>
          <a:ext cx="10515600" cy="130095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kern="1200" dirty="0"/>
            <a:t>雑音</a:t>
          </a:r>
          <a:endParaRPr lang="en-US" sz="1400" kern="1200" dirty="0"/>
        </a:p>
        <a:p>
          <a:pPr marL="114300" lvl="1" indent="-114300" algn="l" defTabSz="622300">
            <a:lnSpc>
              <a:spcPct val="90000"/>
            </a:lnSpc>
            <a:spcBef>
              <a:spcPct val="0"/>
            </a:spcBef>
            <a:spcAft>
              <a:spcPct val="15000"/>
            </a:spcAft>
            <a:buChar char="•"/>
          </a:pPr>
          <a:r>
            <a:rPr lang="ja-JP" altLang="en-US" sz="1400" kern="1200" dirty="0"/>
            <a:t>許容誤差</a:t>
          </a:r>
          <a:endParaRPr lang="en-US" sz="1400" kern="1200" dirty="0"/>
        </a:p>
        <a:p>
          <a:pPr marL="114300" lvl="1" indent="-114300" algn="l" defTabSz="622300">
            <a:lnSpc>
              <a:spcPct val="90000"/>
            </a:lnSpc>
            <a:spcBef>
              <a:spcPct val="0"/>
            </a:spcBef>
            <a:spcAft>
              <a:spcPct val="15000"/>
            </a:spcAft>
            <a:buChar char="•"/>
          </a:pPr>
          <a:r>
            <a:rPr lang="ja-JP" altLang="en-US" sz="1400" kern="1200" dirty="0"/>
            <a:t>電力効率は考慮しない</a:t>
          </a:r>
          <a:endParaRPr lang="en-US" sz="1400" kern="1200" dirty="0"/>
        </a:p>
      </dsp:txBody>
      <dsp:txXfrm>
        <a:off x="0" y="2504938"/>
        <a:ext cx="10515600" cy="1300950"/>
      </dsp:txXfrm>
    </dsp:sp>
    <dsp:sp modelId="{503ED2C1-EC02-44E0-953C-2A7F65854CF5}">
      <dsp:nvSpPr>
        <dsp:cNvPr id="0" name=""/>
        <dsp:cNvSpPr/>
      </dsp:nvSpPr>
      <dsp:spPr>
        <a:xfrm>
          <a:off x="525780" y="2298298"/>
          <a:ext cx="7360920" cy="413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kumimoji="1" lang="en-US" sz="1400" kern="1200" dirty="0"/>
            <a:t>CDAC</a:t>
          </a:r>
          <a:endParaRPr lang="en-US" sz="1400" kern="1200" dirty="0"/>
        </a:p>
      </dsp:txBody>
      <dsp:txXfrm>
        <a:off x="545955" y="2318473"/>
        <a:ext cx="7320570" cy="3729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71E57D-28AD-44C5-B75C-1978CB084D61}">
      <dsp:nvSpPr>
        <dsp:cNvPr id="0" name=""/>
        <dsp:cNvSpPr/>
      </dsp:nvSpPr>
      <dsp:spPr>
        <a:xfrm>
          <a:off x="1710325" y="947"/>
          <a:ext cx="3040692" cy="193083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7886FC-E2BA-4F81-9EAD-E7A471064CB1}">
      <dsp:nvSpPr>
        <dsp:cNvPr id="0" name=""/>
        <dsp:cNvSpPr/>
      </dsp:nvSpPr>
      <dsp:spPr>
        <a:xfrm>
          <a:off x="2048180" y="321909"/>
          <a:ext cx="3040692" cy="193083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kumimoji="1" lang="en-US" sz="1000" kern="1200"/>
            <a:t>format="@name @@CLK @@COMP_CLK @@COMP_OUT @@DIGITAL_OUT[0] @@DIGITAL_OUT[1] @@DIGITAL_OUT[2] @@DIGITAL_OUT[3] @@DIGITAL_OUT[4] @@DIGITAL_OUT[5] @@EOC @@SC @@SDAC[0] @@SDAC[1] @@SDAC[2] @@SDAC[3] @@SDAC[4] @@SDAC[5] @@SDAC[6] @@VGND @@VPWR @@XRST @prefix“</a:t>
          </a:r>
          <a:endParaRPr lang="en-US" sz="1000" kern="1200"/>
        </a:p>
      </dsp:txBody>
      <dsp:txXfrm>
        <a:off x="2104732" y="378461"/>
        <a:ext cx="2927588" cy="1817735"/>
      </dsp:txXfrm>
    </dsp:sp>
    <dsp:sp modelId="{03CEF431-EA52-486A-82AC-82D1E9EDD5AC}">
      <dsp:nvSpPr>
        <dsp:cNvPr id="0" name=""/>
        <dsp:cNvSpPr/>
      </dsp:nvSpPr>
      <dsp:spPr>
        <a:xfrm>
          <a:off x="5426727" y="947"/>
          <a:ext cx="3040692" cy="193083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3977A0-45BD-4C94-993E-40FEC5B48FE2}">
      <dsp:nvSpPr>
        <dsp:cNvPr id="0" name=""/>
        <dsp:cNvSpPr/>
      </dsp:nvSpPr>
      <dsp:spPr>
        <a:xfrm>
          <a:off x="5764582" y="321909"/>
          <a:ext cx="3040692" cy="193083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kumimoji="1" lang="en-US" sz="1000" kern="1200" dirty="0"/>
            <a:t>.</a:t>
          </a:r>
          <a:r>
            <a:rPr kumimoji="1" lang="en-US" sz="1000" kern="1200" dirty="0" err="1"/>
            <a:t>subckt</a:t>
          </a:r>
          <a:r>
            <a:rPr kumimoji="1" lang="en-US" sz="1000" kern="1200" dirty="0"/>
            <a:t> SAR_LOGIC CLK COMP_CLK COMP_OUT DIGITAL_OUT[0] DIGITAL_OUT[1] DIGITAL_OUT[2]</a:t>
          </a:r>
          <a:r>
            <a:rPr kumimoji="1" lang="ja-JP" sz="1000" kern="1200" dirty="0"/>
            <a:t>　</a:t>
          </a:r>
          <a:r>
            <a:rPr kumimoji="1" lang="en-US" sz="1000" kern="1200" dirty="0"/>
            <a:t>DIGITAL_OUT[3] DIGITAL_OUT[4] DIGITAL_OUT[5] EOC SC SDAC[0] SDAC[1] SDAC[2] SDAC[3] SDAC[4] SDAC[5] SDAC[6] VGND VPWR XRST</a:t>
          </a:r>
          <a:endParaRPr lang="en-US" sz="1000" kern="1200" dirty="0"/>
        </a:p>
      </dsp:txBody>
      <dsp:txXfrm>
        <a:off x="5821134" y="378461"/>
        <a:ext cx="2927588" cy="181773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121326-0080-475F-B3A7-C8B8FA1FF850}" type="datetimeFigureOut">
              <a:rPr kumimoji="1" lang="ja-JP" altLang="en-US" smtClean="0"/>
              <a:t>2026/7/11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622CD-9DB7-4903-8997-52FC5A06B5C7}" type="slidenum">
              <a:rPr kumimoji="1" lang="ja-JP" altLang="en-US" smtClean="0"/>
              <a:t>‹#›</a:t>
            </a:fld>
            <a:endParaRPr kumimoji="1" lang="ja-JP" altLang="en-US"/>
          </a:p>
        </p:txBody>
      </p:sp>
    </p:spTree>
    <p:extLst>
      <p:ext uri="{BB962C8B-B14F-4D97-AF65-F5344CB8AC3E}">
        <p14:creationId xmlns:p14="http://schemas.microsoft.com/office/powerpoint/2010/main" val="21054670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97</a:t>
            </a:fld>
            <a:endParaRPr kumimoji="1" lang="ja-JP" altLang="en-US"/>
          </a:p>
        </p:txBody>
      </p:sp>
    </p:spTree>
    <p:extLst>
      <p:ext uri="{BB962C8B-B14F-4D97-AF65-F5344CB8AC3E}">
        <p14:creationId xmlns:p14="http://schemas.microsoft.com/office/powerpoint/2010/main" val="1373365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24706-E9E2-8243-E393-9D2A11A32C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1EB761-6EE0-CE65-B096-3BD75449620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EA2739-D9F1-17DE-4B3A-A0964DFE50D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66B6A9-8829-AF9E-9900-61FE6D8ACB43}"/>
              </a:ext>
            </a:extLst>
          </p:cNvPr>
          <p:cNvSpPr>
            <a:spLocks noGrp="1"/>
          </p:cNvSpPr>
          <p:nvPr>
            <p:ph type="sldNum" sz="quarter" idx="5"/>
          </p:nvPr>
        </p:nvSpPr>
        <p:spPr/>
        <p:txBody>
          <a:bodyPr/>
          <a:lstStyle/>
          <a:p>
            <a:fld id="{E4636702-3D9D-4952-9CC2-483F2286A737}" type="slidenum">
              <a:rPr kumimoji="1" lang="ja-JP" altLang="en-US" smtClean="0"/>
              <a:t>102</a:t>
            </a:fld>
            <a:endParaRPr kumimoji="1" lang="ja-JP" altLang="en-US"/>
          </a:p>
        </p:txBody>
      </p:sp>
    </p:spTree>
    <p:extLst>
      <p:ext uri="{BB962C8B-B14F-4D97-AF65-F5344CB8AC3E}">
        <p14:creationId xmlns:p14="http://schemas.microsoft.com/office/powerpoint/2010/main" val="3128404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93F5D-5A8F-FDB8-2312-7C365AD8B8E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3FEFC5D-E911-2492-EBF4-7C560C935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4002356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FAF400-16E7-E995-08C1-2C0218762E4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3EBF62-8C7A-7C59-44A8-8823C46B98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213306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a:xfrm>
            <a:off x="838200" y="6356350"/>
            <a:ext cx="2743200" cy="365125"/>
          </a:xfrm>
          <a:prstGeom prst="rect">
            <a:avLst/>
          </a:prstGeom>
        </p:spPr>
        <p:txBody>
          <a:bodyPr rtlCol="0"/>
          <a:lstStyle/>
          <a:p>
            <a:pPr rtl="0"/>
            <a:fld id="{884BB682-BA63-4ECD-A8A0-C601AA3E7964}" type="datetime1">
              <a:rPr lang="ja-JP" altLang="en-US" noProof="0" smtClean="0"/>
              <a:t>2026/7/11</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a:xfrm>
            <a:off x="8610600" y="6356350"/>
            <a:ext cx="2743200" cy="365125"/>
          </a:xfrm>
          <a:prstGeom prst="rect">
            <a:avLst/>
          </a:prstGeom>
        </p:spPr>
        <p:txBody>
          <a:bodyPr rtlCol="0"/>
          <a:lstStyle/>
          <a:p>
            <a:pPr rtl="0"/>
            <a:fld id="{9860EDB8-5305-433F-BE41-D7A86D811DB3}" type="slidenum">
              <a:rPr lang="en-US" altLang="ja-JP" noProof="0" smtClean="0"/>
              <a:pPr rtl="0"/>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Tree>
    <p:extLst>
      <p:ext uri="{BB962C8B-B14F-4D97-AF65-F5344CB8AC3E}">
        <p14:creationId xmlns:p14="http://schemas.microsoft.com/office/powerpoint/2010/main" val="357701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a:xfrm>
            <a:off x="838200" y="6356350"/>
            <a:ext cx="2743200" cy="365125"/>
          </a:xfrm>
          <a:prstGeom prst="rect">
            <a:avLst/>
          </a:prstGeom>
        </p:spPr>
        <p:txBody>
          <a:bodyPr rtlCol="0"/>
          <a:lstStyle/>
          <a:p>
            <a:pPr rtl="0"/>
            <a:fld id="{884BB682-BA63-4ECD-A8A0-C601AA3E7964}" type="datetime1">
              <a:rPr lang="ja-JP" altLang="en-US" noProof="0" smtClean="0"/>
              <a:t>2026/7/11</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a:xfrm>
            <a:off x="8610600" y="6356350"/>
            <a:ext cx="2743200" cy="365125"/>
          </a:xfrm>
          <a:prstGeom prst="rect">
            <a:avLst/>
          </a:prstGeom>
        </p:spPr>
        <p:txBody>
          <a:bodyPr rtlCol="0"/>
          <a:lstStyle/>
          <a:p>
            <a:pPr rtl="0"/>
            <a:fld id="{9860EDB8-5305-433F-BE41-D7A86D811DB3}" type="slidenum">
              <a:rPr lang="en-US" altLang="ja-JP" noProof="0" smtClean="0"/>
              <a:pPr rtl="0"/>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Tree>
    <p:extLst>
      <p:ext uri="{BB962C8B-B14F-4D97-AF65-F5344CB8AC3E}">
        <p14:creationId xmlns:p14="http://schemas.microsoft.com/office/powerpoint/2010/main" val="2815233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a:xfrm>
            <a:off x="838200" y="6356350"/>
            <a:ext cx="2743200" cy="365125"/>
          </a:xfrm>
          <a:prstGeom prst="rect">
            <a:avLst/>
          </a:prstGeom>
        </p:spPr>
        <p:txBody>
          <a:bodyPr rtlCol="0"/>
          <a:lstStyle/>
          <a:p>
            <a:pPr rtl="0"/>
            <a:fld id="{884BB682-BA63-4ECD-A8A0-C601AA3E7964}" type="datetime1">
              <a:rPr lang="ja-JP" altLang="en-US" noProof="0" smtClean="0"/>
              <a:t>2026/7/11</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a:xfrm>
            <a:off x="8610600" y="6356350"/>
            <a:ext cx="2743200" cy="365125"/>
          </a:xfrm>
          <a:prstGeom prst="rect">
            <a:avLst/>
          </a:prstGeom>
        </p:spPr>
        <p:txBody>
          <a:bodyPr rtlCol="0"/>
          <a:lstStyle/>
          <a:p>
            <a:pPr rtl="0"/>
            <a:fld id="{9860EDB8-5305-433F-BE41-D7A86D811DB3}" type="slidenum">
              <a:rPr lang="en-US" altLang="ja-JP" noProof="0" smtClean="0"/>
              <a:pPr rtl="0"/>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Tree>
    <p:extLst>
      <p:ext uri="{BB962C8B-B14F-4D97-AF65-F5344CB8AC3E}">
        <p14:creationId xmlns:p14="http://schemas.microsoft.com/office/powerpoint/2010/main" val="275317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0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a:xfrm>
            <a:off x="838200" y="6356350"/>
            <a:ext cx="2743200" cy="365125"/>
          </a:xfrm>
          <a:prstGeom prst="rect">
            <a:avLst/>
          </a:prstGeom>
        </p:spPr>
        <p:txBody>
          <a:bodyPr rtlCol="0"/>
          <a:lstStyle/>
          <a:p>
            <a:pPr rtl="0"/>
            <a:fld id="{884BB682-BA63-4ECD-A8A0-C601AA3E7964}" type="datetime1">
              <a:rPr lang="ja-JP" altLang="en-US" noProof="0" smtClean="0"/>
              <a:t>2026/7/11</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a:xfrm>
            <a:off x="8610600" y="6356350"/>
            <a:ext cx="2743200" cy="365125"/>
          </a:xfrm>
          <a:prstGeom prst="rect">
            <a:avLst/>
          </a:prstGeom>
        </p:spPr>
        <p:txBody>
          <a:bodyPr rtlCol="0"/>
          <a:lstStyle/>
          <a:p>
            <a:pPr rtl="0"/>
            <a:fld id="{9860EDB8-5305-433F-BE41-D7A86D811DB3}" type="slidenum">
              <a:rPr lang="en-US" altLang="ja-JP" noProof="0" smtClean="0"/>
              <a:pPr rtl="0"/>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Tree>
    <p:extLst>
      <p:ext uri="{BB962C8B-B14F-4D97-AF65-F5344CB8AC3E}">
        <p14:creationId xmlns:p14="http://schemas.microsoft.com/office/powerpoint/2010/main" val="3444504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a:xfrm>
            <a:off x="838200" y="6356350"/>
            <a:ext cx="2743200" cy="365125"/>
          </a:xfrm>
          <a:prstGeom prst="rect">
            <a:avLst/>
          </a:prstGeom>
        </p:spPr>
        <p:txBody>
          <a:bodyPr rtlCol="0"/>
          <a:lstStyle/>
          <a:p>
            <a:pPr rtl="0"/>
            <a:fld id="{884BB682-BA63-4ECD-A8A0-C601AA3E7964}" type="datetime1">
              <a:rPr lang="ja-JP" altLang="en-US" noProof="0" smtClean="0"/>
              <a:t>2026/7/11</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a:xfrm>
            <a:off x="8610600" y="6356350"/>
            <a:ext cx="2743200" cy="365125"/>
          </a:xfrm>
          <a:prstGeom prst="rect">
            <a:avLst/>
          </a:prstGeom>
        </p:spPr>
        <p:txBody>
          <a:bodyPr rtlCol="0"/>
          <a:lstStyle/>
          <a:p>
            <a:pPr rtl="0"/>
            <a:fld id="{9860EDB8-5305-433F-BE41-D7A86D811DB3}" type="slidenum">
              <a:rPr lang="en-US" altLang="ja-JP" noProof="0" smtClean="0"/>
              <a:pPr rtl="0"/>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Tree>
    <p:extLst>
      <p:ext uri="{BB962C8B-B14F-4D97-AF65-F5344CB8AC3E}">
        <p14:creationId xmlns:p14="http://schemas.microsoft.com/office/powerpoint/2010/main" val="368846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E3104D9-8B30-271E-216D-1EE578F41C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D8251DA-8D21-09F0-F57E-00A5B3B6FC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88760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2" r:id="rId4"/>
    <p:sldLayoutId id="2147483668" r:id="rId5"/>
    <p:sldLayoutId id="2147483669" r:id="rId6"/>
    <p:sldLayoutId id="2147483670" r:id="rId7"/>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shi-kai.or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librelane.readthedocs.io/en/stable/installation/nix_installation/installation_linux.html"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github.com/ishi-kai/librelane-sar-logic"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hyperlink" Target="https://github.com/3zki/lsi1_analog1/"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61.png"/><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hyperlink" Target="https://github.com/3zki/lsi1_analog1/"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10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79.png"/></Relationships>
</file>

<file path=ppt/slides/_rels/slide11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5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2 進数の数字が表示された CPU と青写真">
            <a:extLst>
              <a:ext uri="{FF2B5EF4-FFF2-40B4-BE49-F238E27FC236}">
                <a16:creationId xmlns:a16="http://schemas.microsoft.com/office/drawing/2014/main" id="{273EEEF4-5448-6621-ACCF-9FC5FC7106A0}"/>
              </a:ext>
            </a:extLst>
          </p:cNvPr>
          <p:cNvPicPr>
            <a:picLocks noChangeAspect="1"/>
          </p:cNvPicPr>
          <p:nvPr/>
        </p:nvPicPr>
        <p:blipFill rotWithShape="1">
          <a:blip r:embed="rId2">
            <a:alphaModFix amt="50000"/>
          </a:blip>
          <a:srcRect l="25"/>
          <a:stretch/>
        </p:blipFill>
        <p:spPr>
          <a:xfrm>
            <a:off x="20" y="10"/>
            <a:ext cx="12188930" cy="6857990"/>
          </a:xfrm>
          <a:prstGeom prst="rect">
            <a:avLst/>
          </a:prstGeom>
        </p:spPr>
      </p:pic>
      <p:sp>
        <p:nvSpPr>
          <p:cNvPr id="2" name="タイトル 1">
            <a:extLst>
              <a:ext uri="{FF2B5EF4-FFF2-40B4-BE49-F238E27FC236}">
                <a16:creationId xmlns:a16="http://schemas.microsoft.com/office/drawing/2014/main" id="{F985B9EF-5891-44BD-296C-D3F4FB4314FA}"/>
              </a:ext>
            </a:extLst>
          </p:cNvPr>
          <p:cNvSpPr>
            <a:spLocks noGrp="1"/>
          </p:cNvSpPr>
          <p:nvPr>
            <p:ph type="ctrTitle"/>
          </p:nvPr>
        </p:nvSpPr>
        <p:spPr>
          <a:xfrm>
            <a:off x="461394" y="1122363"/>
            <a:ext cx="11442583" cy="2489952"/>
          </a:xfrm>
        </p:spPr>
        <p:txBody>
          <a:bodyPr>
            <a:noAutofit/>
          </a:bodyPr>
          <a:lstStyle/>
          <a:p>
            <a:r>
              <a:rPr kumimoji="1" lang="en-US" altLang="ja-JP" sz="8000">
                <a:solidFill>
                  <a:schemeClr val="bg1"/>
                </a:solidFill>
              </a:rPr>
              <a:t>SAR-ADC</a:t>
            </a:r>
            <a:r>
              <a:rPr kumimoji="1" lang="ja-JP" altLang="en-US" sz="8000">
                <a:solidFill>
                  <a:schemeClr val="bg1"/>
                </a:solidFill>
              </a:rPr>
              <a:t>（</a:t>
            </a:r>
            <a:r>
              <a:rPr kumimoji="1" lang="en-US" altLang="ja-JP" sz="8000">
                <a:solidFill>
                  <a:schemeClr val="bg1"/>
                </a:solidFill>
              </a:rPr>
              <a:t>SKY130</a:t>
            </a:r>
            <a:r>
              <a:rPr kumimoji="1" lang="ja-JP" altLang="en-US" sz="8000">
                <a:solidFill>
                  <a:schemeClr val="bg1"/>
                </a:solidFill>
              </a:rPr>
              <a:t>）</a:t>
            </a:r>
          </a:p>
        </p:txBody>
      </p:sp>
      <p:sp>
        <p:nvSpPr>
          <p:cNvPr id="3" name="字幕 2">
            <a:extLst>
              <a:ext uri="{FF2B5EF4-FFF2-40B4-BE49-F238E27FC236}">
                <a16:creationId xmlns:a16="http://schemas.microsoft.com/office/drawing/2014/main" id="{65EA143C-6BCF-C6CB-42E7-691F52B0855A}"/>
              </a:ext>
            </a:extLst>
          </p:cNvPr>
          <p:cNvSpPr>
            <a:spLocks noGrp="1"/>
          </p:cNvSpPr>
          <p:nvPr>
            <p:ph type="subTitle" idx="1"/>
          </p:nvPr>
        </p:nvSpPr>
        <p:spPr>
          <a:xfrm>
            <a:off x="1527048" y="4599432"/>
            <a:ext cx="9144000" cy="1959248"/>
          </a:xfrm>
        </p:spPr>
        <p:txBody>
          <a:bodyPr>
            <a:normAutofit/>
          </a:bodyPr>
          <a:lstStyle/>
          <a:p>
            <a:r>
              <a:rPr lang="en-US" altLang="zh-TW">
                <a:solidFill>
                  <a:schemeClr val="bg1"/>
                </a:solidFill>
              </a:rPr>
              <a:t>ISHI</a:t>
            </a:r>
            <a:r>
              <a:rPr lang="zh-TW" altLang="en-US">
                <a:solidFill>
                  <a:schemeClr val="bg1"/>
                </a:solidFill>
              </a:rPr>
              <a:t>会</a:t>
            </a:r>
            <a:endParaRPr lang="en-US" altLang="zh-TW">
              <a:solidFill>
                <a:schemeClr val="bg1"/>
              </a:solidFill>
            </a:endParaRPr>
          </a:p>
          <a:p>
            <a:r>
              <a:rPr lang="en-US" altLang="zh-TW">
                <a:solidFill>
                  <a:schemeClr val="bg1"/>
                </a:solidFill>
                <a:hlinkClick r:id="rId3"/>
              </a:rPr>
              <a:t>https://ishi-kai.org/</a:t>
            </a:r>
            <a:endParaRPr lang="en-US" altLang="zh-TW">
              <a:solidFill>
                <a:schemeClr val="bg1"/>
              </a:solidFill>
            </a:endParaRPr>
          </a:p>
          <a:p>
            <a:r>
              <a:rPr lang="en-US" altLang="zh-TW">
                <a:solidFill>
                  <a:schemeClr val="bg1"/>
                </a:solidFill>
              </a:rPr>
              <a:t>Mail: </a:t>
            </a:r>
            <a:r>
              <a:rPr lang="en-US" altLang="zh-TW" err="1">
                <a:solidFill>
                  <a:schemeClr val="bg1"/>
                </a:solidFill>
              </a:rPr>
              <a:t>info@ishi-kai.org</a:t>
            </a:r>
            <a:endParaRPr lang="en-US" altLang="zh-TW">
              <a:solidFill>
                <a:schemeClr val="bg1"/>
              </a:solidFill>
            </a:endParaRPr>
          </a:p>
        </p:txBody>
      </p:sp>
      <p:sp>
        <p:nvSpPr>
          <p:cNvPr id="6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766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15ECA580-74A5-9451-09E1-E974274DA5B1}"/>
              </a:ext>
            </a:extLst>
          </p:cNvPr>
          <p:cNvSpPr>
            <a:spLocks noGrp="1"/>
          </p:cNvSpPr>
          <p:nvPr>
            <p:ph type="title"/>
          </p:nvPr>
        </p:nvSpPr>
        <p:spPr>
          <a:xfrm>
            <a:off x="1371597" y="348865"/>
            <a:ext cx="10044023" cy="877729"/>
          </a:xfrm>
        </p:spPr>
        <p:txBody>
          <a:bodyPr anchor="ctr">
            <a:normAutofit/>
          </a:bodyPr>
          <a:lstStyle/>
          <a:p>
            <a:r>
              <a:rPr kumimoji="1" lang="ja-JP" altLang="en-US" sz="4000" dirty="0">
                <a:solidFill>
                  <a:srgbClr val="FFFFFF"/>
                </a:solidFill>
              </a:rPr>
              <a:t>今回のターゲットスペック</a:t>
            </a:r>
          </a:p>
        </p:txBody>
      </p:sp>
      <p:graphicFrame>
        <p:nvGraphicFramePr>
          <p:cNvPr id="5" name="コンテンツ プレースホルダー 2">
            <a:extLst>
              <a:ext uri="{FF2B5EF4-FFF2-40B4-BE49-F238E27FC236}">
                <a16:creationId xmlns:a16="http://schemas.microsoft.com/office/drawing/2014/main" id="{2AEE3297-7F1D-2BE4-C61F-7C09428C0EBC}"/>
              </a:ext>
            </a:extLst>
          </p:cNvPr>
          <p:cNvGraphicFramePr>
            <a:graphicFrameLocks noGrp="1"/>
          </p:cNvGraphicFramePr>
          <p:nvPr>
            <p:ph idx="1"/>
            <p:extLst>
              <p:ext uri="{D42A27DB-BD31-4B8C-83A1-F6EECF244321}">
                <p14:modId xmlns:p14="http://schemas.microsoft.com/office/powerpoint/2010/main" val="420122785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9082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52BF6C-0EBB-7844-595F-E0C32014051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0B1BDF-4CE4-0497-8338-FFF1E4ABD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A782A64-CCF9-D2A1-7A8A-466B6233B868}"/>
              </a:ext>
            </a:extLst>
          </p:cNvPr>
          <p:cNvSpPr>
            <a:spLocks noGrp="1"/>
          </p:cNvSpPr>
          <p:nvPr>
            <p:ph type="title"/>
          </p:nvPr>
        </p:nvSpPr>
        <p:spPr>
          <a:xfrm>
            <a:off x="645065" y="1463040"/>
            <a:ext cx="4161920" cy="2690949"/>
          </a:xfrm>
        </p:spPr>
        <p:txBody>
          <a:bodyPr anchor="t">
            <a:normAutofit/>
          </a:bodyPr>
          <a:lstStyle/>
          <a:p>
            <a:r>
              <a:rPr lang="ja-JP" altLang="en-US" sz="4800"/>
              <a:t>もくじ：</a:t>
            </a:r>
            <a:br>
              <a:rPr lang="en-US" altLang="ja-JP" sz="4800"/>
            </a:br>
            <a:r>
              <a:rPr lang="en-US" altLang="ja-JP" sz="4800"/>
              <a:t>CDAC</a:t>
            </a:r>
            <a:r>
              <a:rPr lang="ja-JP" altLang="en-US" sz="4800"/>
              <a:t>編</a:t>
            </a:r>
            <a:br>
              <a:rPr lang="en-US" altLang="ja-JP" sz="4800"/>
            </a:br>
            <a:endParaRPr kumimoji="1" lang="ja-JP" altLang="en-US" sz="4800"/>
          </a:p>
        </p:txBody>
      </p:sp>
      <p:grpSp>
        <p:nvGrpSpPr>
          <p:cNvPr id="10" name="Group 9">
            <a:extLst>
              <a:ext uri="{FF2B5EF4-FFF2-40B4-BE49-F238E27FC236}">
                <a16:creationId xmlns:a16="http://schemas.microsoft.com/office/drawing/2014/main" id="{0434FCBD-A6D1-287C-6502-52DB40375F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6C84CEF8-B4E0-F3AF-D1C5-2FF073AC3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13C9BAB-D51F-0111-A745-97B8A644DF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0A92DD4E-7FAE-C579-BDCF-149DAEFDC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8509D82-E91B-6CBF-2AD5-A9628DC8A540}"/>
              </a:ext>
            </a:extLst>
          </p:cNvPr>
          <p:cNvSpPr>
            <a:spLocks noGrp="1"/>
          </p:cNvSpPr>
          <p:nvPr>
            <p:ph idx="1"/>
          </p:nvPr>
        </p:nvSpPr>
        <p:spPr>
          <a:xfrm>
            <a:off x="5656218" y="1463039"/>
            <a:ext cx="6197068" cy="4300447"/>
          </a:xfrm>
        </p:spPr>
        <p:txBody>
          <a:bodyPr anchor="t">
            <a:normAutofit/>
          </a:bodyPr>
          <a:lstStyle/>
          <a:p>
            <a:r>
              <a:rPr lang="en-US" altLang="ja-JP"/>
              <a:t>CDAC</a:t>
            </a:r>
          </a:p>
          <a:p>
            <a:r>
              <a:rPr lang="en-US" altLang="ja-JP"/>
              <a:t>BGR</a:t>
            </a:r>
          </a:p>
          <a:p>
            <a:r>
              <a:rPr lang="ja-JP" altLang="en-US"/>
              <a:t>トランスミッションゲート</a:t>
            </a:r>
            <a:endParaRPr lang="en-US" altLang="ja-JP"/>
          </a:p>
          <a:p>
            <a:endParaRPr lang="en-US" altLang="ja-JP"/>
          </a:p>
          <a:p>
            <a:endParaRPr lang="en-US" altLang="ja-JP"/>
          </a:p>
          <a:p>
            <a:endParaRPr lang="en-US" altLang="ja-JP"/>
          </a:p>
        </p:txBody>
      </p:sp>
    </p:spTree>
    <p:extLst>
      <p:ext uri="{BB962C8B-B14F-4D97-AF65-F5344CB8AC3E}">
        <p14:creationId xmlns:p14="http://schemas.microsoft.com/office/powerpoint/2010/main" val="887827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A39996-46E8-337C-EA67-750E60FCA5E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1C4B34-85CD-B8C7-3FD9-EC8EEA18B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C3BB164-9789-3143-6352-4E63DC31E10B}"/>
              </a:ext>
            </a:extLst>
          </p:cNvPr>
          <p:cNvSpPr>
            <a:spLocks noGrp="1"/>
          </p:cNvSpPr>
          <p:nvPr>
            <p:ph type="title"/>
          </p:nvPr>
        </p:nvSpPr>
        <p:spPr>
          <a:xfrm>
            <a:off x="645065" y="1463040"/>
            <a:ext cx="4161920" cy="2690949"/>
          </a:xfrm>
        </p:spPr>
        <p:txBody>
          <a:bodyPr anchor="t">
            <a:normAutofit/>
          </a:bodyPr>
          <a:lstStyle/>
          <a:p>
            <a:r>
              <a:rPr lang="ja-JP" altLang="en-US" sz="4800"/>
              <a:t>もくじ：</a:t>
            </a:r>
            <a:br>
              <a:rPr lang="en-US" altLang="ja-JP" sz="4800"/>
            </a:br>
            <a:r>
              <a:rPr lang="ja-JP" altLang="en-US" sz="4800"/>
              <a:t>ロジック編</a:t>
            </a:r>
            <a:br>
              <a:rPr lang="en-US" altLang="ja-JP" sz="4800"/>
            </a:br>
            <a:endParaRPr kumimoji="1" lang="ja-JP" altLang="en-US" sz="4800"/>
          </a:p>
        </p:txBody>
      </p:sp>
      <p:grpSp>
        <p:nvGrpSpPr>
          <p:cNvPr id="10" name="Group 9">
            <a:extLst>
              <a:ext uri="{FF2B5EF4-FFF2-40B4-BE49-F238E27FC236}">
                <a16:creationId xmlns:a16="http://schemas.microsoft.com/office/drawing/2014/main" id="{734237AB-0217-3ED9-D966-0650208438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CF9CD4EB-D2AB-76A2-2587-7D7126C41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E3F20C85-D2FB-0A76-521F-B4EFD4E0A4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BA3D5E9E-E884-88C9-C7D3-77B24BCC58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9C1D48A-91B7-3118-CD56-040BA7822C83}"/>
              </a:ext>
            </a:extLst>
          </p:cNvPr>
          <p:cNvSpPr>
            <a:spLocks noGrp="1"/>
          </p:cNvSpPr>
          <p:nvPr>
            <p:ph idx="1"/>
          </p:nvPr>
        </p:nvSpPr>
        <p:spPr>
          <a:xfrm>
            <a:off x="5656218" y="1463039"/>
            <a:ext cx="6197068" cy="4300447"/>
          </a:xfrm>
        </p:spPr>
        <p:txBody>
          <a:bodyPr anchor="t">
            <a:normAutofit/>
          </a:bodyPr>
          <a:lstStyle/>
          <a:p>
            <a:r>
              <a:rPr lang="ja-JP" altLang="en-US" dirty="0"/>
              <a:t>制御器</a:t>
            </a:r>
            <a:endParaRPr lang="en-US" altLang="ja-JP" dirty="0"/>
          </a:p>
          <a:p>
            <a:pPr lvl="1"/>
            <a:r>
              <a:rPr lang="ja-JP" altLang="en-US" dirty="0"/>
              <a:t>ビルド環境構築</a:t>
            </a:r>
            <a:endParaRPr lang="en-US" altLang="ja-JP" dirty="0"/>
          </a:p>
          <a:p>
            <a:pPr lvl="1"/>
            <a:r>
              <a:rPr lang="en-US" altLang="ja-JP" dirty="0"/>
              <a:t>spice</a:t>
            </a:r>
            <a:r>
              <a:rPr lang="ja-JP" altLang="en-US" dirty="0"/>
              <a:t>ファイル</a:t>
            </a:r>
            <a:endParaRPr lang="en-US" altLang="ja-JP" dirty="0"/>
          </a:p>
          <a:p>
            <a:endParaRPr lang="en-US" altLang="ja-JP" dirty="0"/>
          </a:p>
          <a:p>
            <a:endParaRPr lang="en-US" altLang="ja-JP" dirty="0"/>
          </a:p>
        </p:txBody>
      </p:sp>
    </p:spTree>
    <p:extLst>
      <p:ext uri="{BB962C8B-B14F-4D97-AF65-F5344CB8AC3E}">
        <p14:creationId xmlns:p14="http://schemas.microsoft.com/office/powerpoint/2010/main" val="1403951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48C19C7-F7F2-77FE-BD4A-9F0B2F8C6BF9}"/>
              </a:ext>
            </a:extLst>
          </p:cNvPr>
          <p:cNvSpPr>
            <a:spLocks noGrp="1"/>
          </p:cNvSpPr>
          <p:nvPr>
            <p:ph type="title"/>
          </p:nvPr>
        </p:nvSpPr>
        <p:spPr>
          <a:xfrm>
            <a:off x="645065" y="1463040"/>
            <a:ext cx="4161920" cy="2690949"/>
          </a:xfrm>
        </p:spPr>
        <p:txBody>
          <a:bodyPr anchor="t">
            <a:normAutofit/>
          </a:bodyPr>
          <a:lstStyle/>
          <a:p>
            <a:r>
              <a:rPr lang="ja-JP" altLang="en-US" sz="4800"/>
              <a:t>もくじ：</a:t>
            </a:r>
            <a:br>
              <a:rPr lang="en-US" altLang="ja-JP" sz="4800"/>
            </a:br>
            <a:r>
              <a:rPr lang="ja-JP" altLang="en-US" sz="4800"/>
              <a:t>比較器編</a:t>
            </a:r>
            <a:br>
              <a:rPr lang="en-US" altLang="ja-JP" sz="4800"/>
            </a:br>
            <a:endParaRPr kumimoji="1" lang="ja-JP" altLang="en-US"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A89638F-D16C-498F-A321-DFA1B5ECD8EE}"/>
              </a:ext>
            </a:extLst>
          </p:cNvPr>
          <p:cNvSpPr>
            <a:spLocks noGrp="1"/>
          </p:cNvSpPr>
          <p:nvPr>
            <p:ph idx="1"/>
          </p:nvPr>
        </p:nvSpPr>
        <p:spPr>
          <a:xfrm>
            <a:off x="5656218" y="1463039"/>
            <a:ext cx="6197068" cy="4300447"/>
          </a:xfrm>
        </p:spPr>
        <p:txBody>
          <a:bodyPr anchor="t">
            <a:normAutofit/>
          </a:bodyPr>
          <a:lstStyle/>
          <a:p>
            <a:r>
              <a:rPr lang="ja-JP" altLang="en-US" dirty="0"/>
              <a:t>ラッチ回路</a:t>
            </a:r>
            <a:endParaRPr lang="en-US" altLang="ja-JP" dirty="0"/>
          </a:p>
          <a:p>
            <a:r>
              <a:rPr lang="ja-JP" altLang="en-US" dirty="0"/>
              <a:t>比較器（コンパレータ）</a:t>
            </a:r>
            <a:endParaRPr lang="en-US" altLang="ja-JP" dirty="0"/>
          </a:p>
          <a:p>
            <a:pPr lvl="1"/>
            <a:r>
              <a:rPr lang="ja-JP" altLang="en-US" dirty="0"/>
              <a:t>クロックドコンパレータ（デジタル）</a:t>
            </a:r>
            <a:endParaRPr lang="en-US" altLang="ja-JP" dirty="0"/>
          </a:p>
          <a:p>
            <a:pPr lvl="2"/>
            <a:r>
              <a:rPr lang="en-US" altLang="ja-JP" dirty="0"/>
              <a:t>Rail-to-Rail</a:t>
            </a:r>
            <a:r>
              <a:rPr lang="ja-JP" altLang="en-US" dirty="0"/>
              <a:t>クロックドコンパレータ</a:t>
            </a:r>
            <a:endParaRPr lang="en-US" altLang="ja-JP" dirty="0"/>
          </a:p>
          <a:p>
            <a:pPr lvl="1"/>
            <a:r>
              <a:rPr lang="en-US" altLang="ja-JP" dirty="0"/>
              <a:t>OPAMP</a:t>
            </a:r>
            <a:r>
              <a:rPr lang="ja-JP" altLang="en-US" dirty="0"/>
              <a:t>型コンパレータ（アナログ）</a:t>
            </a:r>
            <a:endParaRPr lang="en-US" altLang="ja-JP" dirty="0"/>
          </a:p>
          <a:p>
            <a:pPr lvl="1"/>
            <a:endParaRPr lang="en-US" altLang="ja-JP" dirty="0"/>
          </a:p>
          <a:p>
            <a:endParaRPr lang="en-US" altLang="ja-JP" dirty="0"/>
          </a:p>
          <a:p>
            <a:endParaRPr lang="en-US" altLang="ja-JP" dirty="0"/>
          </a:p>
        </p:txBody>
      </p:sp>
    </p:spTree>
    <p:extLst>
      <p:ext uri="{BB962C8B-B14F-4D97-AF65-F5344CB8AC3E}">
        <p14:creationId xmlns:p14="http://schemas.microsoft.com/office/powerpoint/2010/main" val="3110502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B548E8-EEAB-3134-E104-FEEB242DFDC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C26F4B-FAA2-C093-B866-FB5B834D61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77F7C98-B22F-007C-2726-012896A5D794}"/>
              </a:ext>
            </a:extLst>
          </p:cNvPr>
          <p:cNvSpPr>
            <a:spLocks noGrp="1"/>
          </p:cNvSpPr>
          <p:nvPr>
            <p:ph type="title"/>
          </p:nvPr>
        </p:nvSpPr>
        <p:spPr>
          <a:xfrm>
            <a:off x="645065" y="1463040"/>
            <a:ext cx="4161920" cy="2690949"/>
          </a:xfrm>
        </p:spPr>
        <p:txBody>
          <a:bodyPr anchor="t">
            <a:normAutofit/>
          </a:bodyPr>
          <a:lstStyle/>
          <a:p>
            <a:r>
              <a:rPr lang="ja-JP" altLang="en-US" sz="4800"/>
              <a:t>もくじ：</a:t>
            </a:r>
            <a:br>
              <a:rPr lang="en-US" altLang="ja-JP" sz="4800"/>
            </a:br>
            <a:r>
              <a:rPr lang="ja-JP" altLang="en-US" sz="3200"/>
              <a:t>シミュレーション編</a:t>
            </a:r>
            <a:br>
              <a:rPr lang="en-US" altLang="ja-JP" sz="4800"/>
            </a:br>
            <a:endParaRPr kumimoji="1" lang="ja-JP" altLang="en-US" sz="4800"/>
          </a:p>
        </p:txBody>
      </p:sp>
      <p:grpSp>
        <p:nvGrpSpPr>
          <p:cNvPr id="10" name="Group 9">
            <a:extLst>
              <a:ext uri="{FF2B5EF4-FFF2-40B4-BE49-F238E27FC236}">
                <a16:creationId xmlns:a16="http://schemas.microsoft.com/office/drawing/2014/main" id="{B70A337C-1725-91A5-BF63-7501E78752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6A829A0-0ACE-D5AC-9E62-B908ABF58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37A0219-D3FD-2D59-DB4B-68DCBA7152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C70398D6-C00D-925C-A34E-AE6DF5CF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293EDA1-5030-9B82-3E0D-2FD60631F25E}"/>
              </a:ext>
            </a:extLst>
          </p:cNvPr>
          <p:cNvSpPr>
            <a:spLocks noGrp="1"/>
          </p:cNvSpPr>
          <p:nvPr>
            <p:ph idx="1"/>
          </p:nvPr>
        </p:nvSpPr>
        <p:spPr>
          <a:xfrm>
            <a:off x="5656218" y="1463039"/>
            <a:ext cx="6197068" cy="4677234"/>
          </a:xfrm>
        </p:spPr>
        <p:txBody>
          <a:bodyPr anchor="t">
            <a:normAutofit lnSpcReduction="10000"/>
          </a:bodyPr>
          <a:lstStyle/>
          <a:p>
            <a:r>
              <a:rPr lang="ja-JP" altLang="en-US" dirty="0"/>
              <a:t>シミュレーションモデル</a:t>
            </a:r>
            <a:endParaRPr lang="en-US" altLang="ja-JP" dirty="0"/>
          </a:p>
          <a:p>
            <a:pPr lvl="1"/>
            <a:r>
              <a:rPr lang="ja-JP" altLang="en-US" dirty="0"/>
              <a:t>コーナーモデルシミュレーション</a:t>
            </a:r>
            <a:endParaRPr lang="en-US" altLang="ja-JP" dirty="0"/>
          </a:p>
          <a:p>
            <a:pPr lvl="1"/>
            <a:r>
              <a:rPr lang="ja-JP" altLang="en-US" dirty="0"/>
              <a:t>モンテカルロシミュレーション</a:t>
            </a:r>
            <a:endParaRPr lang="en-US" altLang="ja-JP" dirty="0"/>
          </a:p>
          <a:p>
            <a:r>
              <a:rPr lang="en-US" altLang="ja-JP" dirty="0"/>
              <a:t>SAR-ADC</a:t>
            </a:r>
            <a:r>
              <a:rPr lang="ja-JP" altLang="en-US" dirty="0"/>
              <a:t>のシミュレーション</a:t>
            </a:r>
            <a:endParaRPr lang="en-US" altLang="ja-JP" dirty="0"/>
          </a:p>
          <a:p>
            <a:pPr lvl="1"/>
            <a:r>
              <a:rPr lang="ja-JP" altLang="en-US" dirty="0"/>
              <a:t>オフセットとノイズ</a:t>
            </a:r>
            <a:endParaRPr lang="en-US" altLang="ja-JP" dirty="0"/>
          </a:p>
          <a:p>
            <a:pPr lvl="1"/>
            <a:r>
              <a:rPr lang="ja-JP" altLang="en-US" dirty="0"/>
              <a:t>スルーレート</a:t>
            </a:r>
            <a:endParaRPr lang="en-US" altLang="ja-JP" dirty="0"/>
          </a:p>
          <a:p>
            <a:pPr lvl="1"/>
            <a:r>
              <a:rPr lang="ja-JP" altLang="en-US" dirty="0"/>
              <a:t>ばらつき</a:t>
            </a:r>
            <a:endParaRPr lang="en-US" altLang="ja-JP" dirty="0"/>
          </a:p>
          <a:p>
            <a:pPr lvl="1"/>
            <a:r>
              <a:rPr lang="ja-JP" altLang="en-US" dirty="0"/>
              <a:t>全統合シミュレーション</a:t>
            </a:r>
            <a:endParaRPr lang="en-US" altLang="ja-JP" dirty="0"/>
          </a:p>
          <a:p>
            <a:r>
              <a:rPr lang="en-US" altLang="ja-JP" dirty="0"/>
              <a:t>AI</a:t>
            </a:r>
          </a:p>
          <a:p>
            <a:pPr lvl="1"/>
            <a:r>
              <a:rPr lang="ja-JP" altLang="en-US" dirty="0"/>
              <a:t>シミュレーション</a:t>
            </a:r>
            <a:endParaRPr lang="en-US" altLang="ja-JP" dirty="0"/>
          </a:p>
          <a:p>
            <a:pPr lvl="1"/>
            <a:r>
              <a:rPr lang="ja-JP" altLang="en-US" dirty="0"/>
              <a:t>回路図</a:t>
            </a:r>
            <a:endParaRPr lang="en-US" altLang="ja-JP" dirty="0"/>
          </a:p>
          <a:p>
            <a:pPr lvl="1"/>
            <a:r>
              <a:rPr lang="ja-JP" altLang="en-US" dirty="0"/>
              <a:t>レイアウト</a:t>
            </a:r>
            <a:endParaRPr lang="en-US" altLang="ja-JP" dirty="0"/>
          </a:p>
        </p:txBody>
      </p:sp>
    </p:spTree>
    <p:extLst>
      <p:ext uri="{BB962C8B-B14F-4D97-AF65-F5344CB8AC3E}">
        <p14:creationId xmlns:p14="http://schemas.microsoft.com/office/powerpoint/2010/main" val="766550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D671F9-0AA1-555A-FF25-4C8193CB3789}"/>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D7C2376-FFC9-4131-3258-2EB9654291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0E5B06-249F-9770-AA15-D905C45324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344F001D-8103-0FA5-6825-DA90F5CFDA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F57595F-BBCC-0E16-5B38-D871CB57A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BE166000-DDA4-758C-F094-E719D73ED7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9A1AF3E-8AFC-2919-92C1-FB84A8739E20}"/>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ja-JP" altLang="en-US" sz="6600" dirty="0"/>
              <a:t>スペック</a:t>
            </a:r>
            <a:r>
              <a:rPr kumimoji="1" lang="ja-JP" altLang="en-US" sz="6600" kern="1200" dirty="0">
                <a:solidFill>
                  <a:schemeClr val="tx1"/>
                </a:solidFill>
                <a:latin typeface="+mj-lt"/>
                <a:ea typeface="+mj-ea"/>
                <a:cs typeface="+mj-cs"/>
              </a:rPr>
              <a:t>編</a:t>
            </a:r>
          </a:p>
        </p:txBody>
      </p:sp>
    </p:spTree>
    <p:extLst>
      <p:ext uri="{BB962C8B-B14F-4D97-AF65-F5344CB8AC3E}">
        <p14:creationId xmlns:p14="http://schemas.microsoft.com/office/powerpoint/2010/main" val="353957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F0F20A-F490-CB44-3F5E-E6ABF1CA8EE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E0E6EC1-42F3-AA0F-AF1D-BAADF1F0E7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12A360A-0B89-996B-8042-18852B3634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CA356E23-4071-58DD-05E0-4EC8351AC4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281D923-3BBA-AF13-0ECD-F57B29369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5351645-3566-91F5-4149-C984466A3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B4E96A8-E0F8-1B11-7B26-848EF2B29271}"/>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en-US" altLang="ja-JP" sz="6600" kern="1200">
                <a:solidFill>
                  <a:schemeClr val="tx1"/>
                </a:solidFill>
                <a:latin typeface="+mj-lt"/>
                <a:ea typeface="+mj-ea"/>
                <a:cs typeface="+mj-cs"/>
              </a:rPr>
              <a:t>CDAC</a:t>
            </a:r>
            <a:r>
              <a:rPr kumimoji="1" lang="ja-JP" altLang="en-US" sz="6600" kern="1200">
                <a:solidFill>
                  <a:schemeClr val="tx1"/>
                </a:solidFill>
                <a:latin typeface="+mj-lt"/>
                <a:ea typeface="+mj-ea"/>
                <a:cs typeface="+mj-cs"/>
              </a:rPr>
              <a:t>編</a:t>
            </a:r>
          </a:p>
        </p:txBody>
      </p:sp>
    </p:spTree>
    <p:extLst>
      <p:ext uri="{BB962C8B-B14F-4D97-AF65-F5344CB8AC3E}">
        <p14:creationId xmlns:p14="http://schemas.microsoft.com/office/powerpoint/2010/main" val="312520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B9E211BA-6131-D7D7-C872-ACCB75E4A8BD}"/>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ACFB6208-690A-82C5-1A0D-E3678AB5B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57F1818-05E5-BEE7-54AF-F8CC5B39543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419CE02E-6ADE-B82C-D8FF-5A959AF380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30D9DB5C-B479-9E21-4FC0-EE86497ADB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3D179526-6AED-1F8A-DF5A-3A01DC0CE0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F2261B5-4DD4-393E-4054-5BBD9B623B1D}"/>
              </a:ext>
            </a:extLst>
          </p:cNvPr>
          <p:cNvSpPr>
            <a:spLocks noGrp="1"/>
          </p:cNvSpPr>
          <p:nvPr>
            <p:ph type="title"/>
          </p:nvPr>
        </p:nvSpPr>
        <p:spPr>
          <a:xfrm>
            <a:off x="1524000" y="2776538"/>
            <a:ext cx="9144000" cy="1381188"/>
          </a:xfrm>
        </p:spPr>
        <p:txBody>
          <a:bodyPr vert="horz" lIns="91440" tIns="45720" rIns="91440" bIns="45720" rtlCol="0" anchor="ctr">
            <a:normAutofit fontScale="90000"/>
          </a:bodyPr>
          <a:lstStyle/>
          <a:p>
            <a:pPr algn="ctr"/>
            <a:r>
              <a:rPr lang="en" altLang="ja-JP" sz="4000">
                <a:solidFill>
                  <a:schemeClr val="bg1"/>
                </a:solidFill>
              </a:rPr>
              <a:t>CDAC</a:t>
            </a:r>
            <a:br>
              <a:rPr lang="en" altLang="ja-JP" sz="4000">
                <a:solidFill>
                  <a:schemeClr val="bg1"/>
                </a:solidFill>
              </a:rPr>
            </a:br>
            <a:r>
              <a:rPr lang="ja-JP" altLang="en" sz="4000">
                <a:solidFill>
                  <a:schemeClr val="bg1"/>
                </a:solidFill>
              </a:rPr>
              <a:t>（</a:t>
            </a:r>
            <a:r>
              <a:rPr lang="en" altLang="ja-JP" sz="4000">
                <a:solidFill>
                  <a:schemeClr val="bg1"/>
                </a:solidFill>
              </a:rPr>
              <a:t>Capacitive Digital-to-Analog Converter</a:t>
            </a:r>
            <a:r>
              <a:rPr lang="ja-JP" altLang="en" sz="4000">
                <a:solidFill>
                  <a:schemeClr val="bg1"/>
                </a:solidFill>
              </a:rPr>
              <a:t>）</a:t>
            </a:r>
            <a:endParaRPr kumimoji="1" lang="ja-JP" altLang="en-US" sz="4000" kern="1200">
              <a:solidFill>
                <a:schemeClr val="bg1"/>
              </a:solidFill>
              <a:latin typeface="+mj-lt"/>
              <a:ea typeface="+mj-ea"/>
              <a:cs typeface="+mj-cs"/>
            </a:endParaRPr>
          </a:p>
        </p:txBody>
      </p:sp>
      <p:sp>
        <p:nvSpPr>
          <p:cNvPr id="3" name="テキスト ボックス 2">
            <a:extLst>
              <a:ext uri="{FF2B5EF4-FFF2-40B4-BE49-F238E27FC236}">
                <a16:creationId xmlns:a16="http://schemas.microsoft.com/office/drawing/2014/main" id="{8B5F44DD-8C0E-B87D-D10B-DDCA6DFAF0EC}"/>
              </a:ext>
            </a:extLst>
          </p:cNvPr>
          <p:cNvSpPr txBox="1"/>
          <p:nvPr/>
        </p:nvSpPr>
        <p:spPr>
          <a:xfrm>
            <a:off x="1703540" y="4382029"/>
            <a:ext cx="9857983" cy="646331"/>
          </a:xfrm>
          <a:prstGeom prst="rect">
            <a:avLst/>
          </a:prstGeom>
          <a:noFill/>
        </p:spPr>
        <p:txBody>
          <a:bodyPr wrap="square" rtlCol="0">
            <a:spAutoFit/>
          </a:bodyPr>
          <a:lstStyle/>
          <a:p>
            <a:r>
              <a:rPr lang="ja-JP" altLang="en-US"/>
              <a:t>宮原氏の資料ベースに解説します</a:t>
            </a:r>
            <a:endParaRPr lang="en-US" altLang="ja-JP"/>
          </a:p>
          <a:p>
            <a:r>
              <a:rPr lang="en-US" altLang="ja-JP"/>
              <a:t>https://openit.kek.jp/training/2020/daq/text/analog-digital-miyahara-200729-v1.pdf</a:t>
            </a:r>
          </a:p>
        </p:txBody>
      </p:sp>
    </p:spTree>
    <p:extLst>
      <p:ext uri="{BB962C8B-B14F-4D97-AF65-F5344CB8AC3E}">
        <p14:creationId xmlns:p14="http://schemas.microsoft.com/office/powerpoint/2010/main" val="3089054403"/>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2111B97A-2FB0-4625-8C2E-CDCB1AF68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49" name="Straight Connector 48">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Rectangle 51">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D41809D-A40F-6F13-62DB-ED2E88CC6A79}"/>
              </a:ext>
            </a:extLst>
          </p:cNvPr>
          <p:cNvSpPr>
            <a:spLocks noGrp="1"/>
          </p:cNvSpPr>
          <p:nvPr>
            <p:ph type="title"/>
          </p:nvPr>
        </p:nvSpPr>
        <p:spPr>
          <a:xfrm>
            <a:off x="1060232" y="3801738"/>
            <a:ext cx="10071536" cy="929750"/>
          </a:xfrm>
        </p:spPr>
        <p:txBody>
          <a:bodyPr vert="horz" lIns="91440" tIns="45720" rIns="91440" bIns="45720" rtlCol="0" anchor="b">
            <a:normAutofit/>
          </a:bodyPr>
          <a:lstStyle/>
          <a:p>
            <a:pPr algn="ctr"/>
            <a:r>
              <a:rPr kumimoji="1" lang="en-US" altLang="ja-JP" sz="5200"/>
              <a:t>CDAC</a:t>
            </a:r>
            <a:r>
              <a:rPr kumimoji="1" lang="ja-JP" altLang="en-US" sz="5200"/>
              <a:t>とは？</a:t>
            </a:r>
          </a:p>
        </p:txBody>
      </p:sp>
      <p:sp>
        <p:nvSpPr>
          <p:cNvPr id="3" name="コンテンツ プレースホルダー 2">
            <a:extLst>
              <a:ext uri="{FF2B5EF4-FFF2-40B4-BE49-F238E27FC236}">
                <a16:creationId xmlns:a16="http://schemas.microsoft.com/office/drawing/2014/main" id="{FB64D1DD-C556-6130-60C3-25524E235563}"/>
              </a:ext>
            </a:extLst>
          </p:cNvPr>
          <p:cNvSpPr>
            <a:spLocks noGrp="1"/>
          </p:cNvSpPr>
          <p:nvPr>
            <p:ph idx="1"/>
          </p:nvPr>
        </p:nvSpPr>
        <p:spPr>
          <a:xfrm>
            <a:off x="596464" y="4861899"/>
            <a:ext cx="10833536" cy="670219"/>
          </a:xfrm>
        </p:spPr>
        <p:txBody>
          <a:bodyPr vert="horz" lIns="91440" tIns="45720" rIns="91440" bIns="45720" rtlCol="0" anchor="t">
            <a:noAutofit/>
          </a:bodyPr>
          <a:lstStyle/>
          <a:p>
            <a:pPr marL="0" indent="0" algn="ctr">
              <a:buNone/>
            </a:pPr>
            <a:r>
              <a:rPr lang="ja-JP" altLang="en-US" sz="1600"/>
              <a:t>バイナリ重み付け（</a:t>
            </a:r>
            <a:r>
              <a:rPr lang="en-US" altLang="ja-JP" sz="1600"/>
              <a:t>2</a:t>
            </a:r>
            <a:r>
              <a:rPr lang="ja-JP" altLang="en-US" sz="1600"/>
              <a:t>倍）された容量アレイと、それらを「基準電圧（</a:t>
            </a:r>
            <a:r>
              <a:rPr lang="en-US" altLang="ja-JP" sz="1600" err="1"/>
              <a:t>Vref</a:t>
            </a:r>
            <a:r>
              <a:rPr lang="ja-JP" altLang="en-US" sz="1600"/>
              <a:t>）」「</a:t>
            </a:r>
            <a:r>
              <a:rPr lang="en-US" altLang="ja-JP" sz="1600"/>
              <a:t>GND</a:t>
            </a:r>
            <a:r>
              <a:rPr lang="ja-JP" altLang="en-US" sz="1600"/>
              <a:t>」「入力電圧（</a:t>
            </a:r>
            <a:r>
              <a:rPr lang="en-US" altLang="ja-JP" sz="1600"/>
              <a:t>Vin</a:t>
            </a:r>
            <a:r>
              <a:rPr lang="ja-JP" altLang="en-US" sz="1600"/>
              <a:t>）」の</a:t>
            </a:r>
            <a:endParaRPr lang="en-US" altLang="ja-JP" sz="1600"/>
          </a:p>
          <a:p>
            <a:pPr marL="0" indent="0" algn="ctr">
              <a:buNone/>
            </a:pPr>
            <a:r>
              <a:rPr lang="ja-JP" altLang="en-US" sz="1600"/>
              <a:t>いずれかに接続するスイッチ群で構成されます。</a:t>
            </a:r>
          </a:p>
        </p:txBody>
      </p:sp>
      <p:pic>
        <p:nvPicPr>
          <p:cNvPr id="4" name="コンテンツ プレースホルダー 4">
            <a:extLst>
              <a:ext uri="{FF2B5EF4-FFF2-40B4-BE49-F238E27FC236}">
                <a16:creationId xmlns:a16="http://schemas.microsoft.com/office/drawing/2014/main" id="{BDA21463-9246-28B5-6966-D0ADCFC59F35}"/>
              </a:ext>
            </a:extLst>
          </p:cNvPr>
          <p:cNvPicPr>
            <a:picLocks noChangeAspect="1"/>
          </p:cNvPicPr>
          <p:nvPr/>
        </p:nvPicPr>
        <p:blipFill>
          <a:blip r:embed="rId2"/>
          <a:srcRect t="12980"/>
          <a:stretch>
            <a:fillRect/>
          </a:stretch>
        </p:blipFill>
        <p:spPr>
          <a:xfrm>
            <a:off x="761999" y="494709"/>
            <a:ext cx="5118257" cy="3307028"/>
          </a:xfrm>
          <a:prstGeom prst="rect">
            <a:avLst/>
          </a:prstGeom>
        </p:spPr>
      </p:pic>
      <p:pic>
        <p:nvPicPr>
          <p:cNvPr id="5" name="図 4">
            <a:extLst>
              <a:ext uri="{FF2B5EF4-FFF2-40B4-BE49-F238E27FC236}">
                <a16:creationId xmlns:a16="http://schemas.microsoft.com/office/drawing/2014/main" id="{4B1F8EB5-170B-0B4B-46D5-A91298615352}"/>
              </a:ext>
            </a:extLst>
          </p:cNvPr>
          <p:cNvPicPr>
            <a:picLocks noChangeAspect="1"/>
          </p:cNvPicPr>
          <p:nvPr/>
        </p:nvPicPr>
        <p:blipFill>
          <a:blip r:embed="rId3"/>
          <a:stretch>
            <a:fillRect/>
          </a:stretch>
        </p:blipFill>
        <p:spPr>
          <a:xfrm>
            <a:off x="6108809" y="1741891"/>
            <a:ext cx="5486727" cy="2030087"/>
          </a:xfrm>
          <a:prstGeom prst="rect">
            <a:avLst/>
          </a:prstGeom>
        </p:spPr>
      </p:pic>
      <p:pic>
        <p:nvPicPr>
          <p:cNvPr id="6" name="図 5">
            <a:extLst>
              <a:ext uri="{FF2B5EF4-FFF2-40B4-BE49-F238E27FC236}">
                <a16:creationId xmlns:a16="http://schemas.microsoft.com/office/drawing/2014/main" id="{19BAE29E-48F7-5939-47AF-6F99E0DB65C9}"/>
              </a:ext>
            </a:extLst>
          </p:cNvPr>
          <p:cNvPicPr>
            <a:picLocks noChangeAspect="1"/>
          </p:cNvPicPr>
          <p:nvPr/>
        </p:nvPicPr>
        <p:blipFill>
          <a:blip r:embed="rId4"/>
          <a:stretch>
            <a:fillRect/>
          </a:stretch>
        </p:blipFill>
        <p:spPr>
          <a:xfrm>
            <a:off x="6108809" y="372852"/>
            <a:ext cx="5407252" cy="1514030"/>
          </a:xfrm>
          <a:prstGeom prst="rect">
            <a:avLst/>
          </a:prstGeom>
        </p:spPr>
      </p:pic>
    </p:spTree>
    <p:extLst>
      <p:ext uri="{BB962C8B-B14F-4D97-AF65-F5344CB8AC3E}">
        <p14:creationId xmlns:p14="http://schemas.microsoft.com/office/powerpoint/2010/main" val="176571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E76AC48-2348-EB41-CF3A-A03983C25C77}"/>
              </a:ext>
            </a:extLst>
          </p:cNvPr>
          <p:cNvSpPr>
            <a:spLocks noGrp="1"/>
          </p:cNvSpPr>
          <p:nvPr>
            <p:ph type="title"/>
          </p:nvPr>
        </p:nvSpPr>
        <p:spPr>
          <a:xfrm>
            <a:off x="645065" y="1463040"/>
            <a:ext cx="3796306" cy="2690949"/>
          </a:xfrm>
        </p:spPr>
        <p:txBody>
          <a:bodyPr anchor="t">
            <a:normAutofit/>
          </a:bodyPr>
          <a:lstStyle/>
          <a:p>
            <a:r>
              <a:rPr kumimoji="1" lang="ja-JP" altLang="en-US" sz="4800"/>
              <a:t>簡単な</a:t>
            </a:r>
            <a:br>
              <a:rPr kumimoji="1" lang="en-US" altLang="ja-JP" sz="4800"/>
            </a:br>
            <a:r>
              <a:rPr kumimoji="1" lang="ja-JP" altLang="en-US" sz="4800"/>
              <a:t>動作手順</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コンテンツ プレースホルダー 2">
            <a:extLst>
              <a:ext uri="{FF2B5EF4-FFF2-40B4-BE49-F238E27FC236}">
                <a16:creationId xmlns:a16="http://schemas.microsoft.com/office/drawing/2014/main" id="{93753FC9-C698-7FBE-65AC-CC2871F47EBE}"/>
              </a:ext>
            </a:extLst>
          </p:cNvPr>
          <p:cNvSpPr>
            <a:spLocks noGrp="1"/>
          </p:cNvSpPr>
          <p:nvPr>
            <p:ph idx="1"/>
          </p:nvPr>
        </p:nvSpPr>
        <p:spPr>
          <a:xfrm>
            <a:off x="5656218" y="1463039"/>
            <a:ext cx="5542387" cy="4300447"/>
          </a:xfrm>
        </p:spPr>
        <p:txBody>
          <a:bodyPr anchor="t">
            <a:normAutofit/>
          </a:bodyPr>
          <a:lstStyle/>
          <a:p>
            <a:r>
              <a:rPr lang="ja-JP" altLang="en-US" sz="1700"/>
              <a:t>サンプリング・フェーズ</a:t>
            </a:r>
            <a:endParaRPr lang="en-US" altLang="ja-JP" sz="1700"/>
          </a:p>
          <a:p>
            <a:pPr lvl="1"/>
            <a:r>
              <a:rPr lang="ja-JP" altLang="en-US" sz="1700"/>
              <a:t>すべての容量を入力電圧 </a:t>
            </a:r>
            <a:r>
              <a:rPr lang="en" altLang="ja-JP" sz="1700"/>
              <a:t>Vin </a:t>
            </a:r>
            <a:r>
              <a:rPr lang="ja-JP" altLang="en-US" sz="1700"/>
              <a:t>に接続し、電荷を蓄えます。</a:t>
            </a:r>
          </a:p>
          <a:p>
            <a:r>
              <a:rPr lang="ja-JP" altLang="en-US" sz="1700"/>
              <a:t>ホールド（保持）・フェーズ</a:t>
            </a:r>
            <a:endParaRPr lang="en-US" altLang="ja-JP" sz="1700"/>
          </a:p>
          <a:p>
            <a:pPr lvl="1"/>
            <a:r>
              <a:rPr lang="ja-JP" altLang="en-US" sz="1700"/>
              <a:t>入力スイッチを切り離し、電荷を閉じ込めます。このとき、容量アレイの下部プレートの接続を変更することで、上部プレートの電位が変化します。</a:t>
            </a:r>
          </a:p>
          <a:p>
            <a:r>
              <a:rPr lang="ja-JP" altLang="en-US" sz="1700"/>
              <a:t>比較・逐次変換フェーズ</a:t>
            </a:r>
            <a:endParaRPr lang="en-US" altLang="ja-JP" sz="1700"/>
          </a:p>
          <a:p>
            <a:pPr lvl="1"/>
            <a:r>
              <a:rPr lang="en" altLang="ja-JP" sz="1700"/>
              <a:t>SAR</a:t>
            </a:r>
            <a:r>
              <a:rPr lang="ja-JP" altLang="en-US" sz="1700"/>
              <a:t>ロジックが</a:t>
            </a:r>
            <a:r>
              <a:rPr lang="en" altLang="ja-JP" sz="1700"/>
              <a:t>MSB</a:t>
            </a:r>
            <a:r>
              <a:rPr lang="ja-JP" altLang="en" sz="1700"/>
              <a:t>（</a:t>
            </a:r>
            <a:r>
              <a:rPr lang="ja-JP" altLang="en-US" sz="1700"/>
              <a:t>最上位ビット）から順にスイッチを操作します。特定の容量を </a:t>
            </a:r>
            <a:r>
              <a:rPr lang="en" altLang="ja-JP" sz="1700"/>
              <a:t>Vref </a:t>
            </a:r>
            <a:r>
              <a:rPr lang="ja-JP" altLang="en-US" sz="1700"/>
              <a:t>に接続すると、容量分圧によって比較器への入力電圧が上昇</a:t>
            </a:r>
            <a:r>
              <a:rPr lang="en-US" altLang="ja-JP" sz="1700"/>
              <a:t>/</a:t>
            </a:r>
            <a:r>
              <a:rPr lang="ja-JP" altLang="en-US" sz="1700"/>
              <a:t>下降します。比較器の結果を見て、そのビットを「</a:t>
            </a:r>
            <a:r>
              <a:rPr lang="en-US" altLang="ja-JP" sz="1700"/>
              <a:t>1</a:t>
            </a:r>
            <a:r>
              <a:rPr lang="ja-JP" altLang="en-US" sz="1700"/>
              <a:t>（接続維持）」にするか「</a:t>
            </a:r>
            <a:r>
              <a:rPr lang="en-US" altLang="ja-JP" sz="1700"/>
              <a:t>0</a:t>
            </a:r>
            <a:r>
              <a:rPr lang="ja-JP" altLang="en-US" sz="1700"/>
              <a:t>（</a:t>
            </a:r>
            <a:r>
              <a:rPr lang="en" altLang="ja-JP" sz="1700"/>
              <a:t>GND</a:t>
            </a:r>
            <a:r>
              <a:rPr lang="ja-JP" altLang="en-US" sz="1700"/>
              <a:t>に戻す）」にするかを決定します。</a:t>
            </a:r>
          </a:p>
          <a:p>
            <a:endParaRPr kumimoji="1" lang="ja-JP" altLang="en-US" sz="1700"/>
          </a:p>
        </p:txBody>
      </p:sp>
      <p:pic>
        <p:nvPicPr>
          <p:cNvPr id="4" name="図 3">
            <a:extLst>
              <a:ext uri="{FF2B5EF4-FFF2-40B4-BE49-F238E27FC236}">
                <a16:creationId xmlns:a16="http://schemas.microsoft.com/office/drawing/2014/main" id="{DAA359C8-E1B4-6A58-20C4-617F24052DC0}"/>
              </a:ext>
            </a:extLst>
          </p:cNvPr>
          <p:cNvPicPr>
            <a:picLocks noChangeAspect="1"/>
          </p:cNvPicPr>
          <p:nvPr/>
        </p:nvPicPr>
        <p:blipFill>
          <a:blip r:embed="rId2"/>
          <a:stretch>
            <a:fillRect/>
          </a:stretch>
        </p:blipFill>
        <p:spPr>
          <a:xfrm>
            <a:off x="410785" y="2712655"/>
            <a:ext cx="4572917" cy="1686909"/>
          </a:xfrm>
          <a:prstGeom prst="rect">
            <a:avLst/>
          </a:prstGeom>
        </p:spPr>
      </p:pic>
    </p:spTree>
    <p:extLst>
      <p:ext uri="{BB962C8B-B14F-4D97-AF65-F5344CB8AC3E}">
        <p14:creationId xmlns:p14="http://schemas.microsoft.com/office/powerpoint/2010/main" val="4073808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99B5C3D-5745-5859-D970-A83E94E70A04}"/>
              </a:ext>
            </a:extLst>
          </p:cNvPr>
          <p:cNvSpPr>
            <a:spLocks noGrp="1"/>
          </p:cNvSpPr>
          <p:nvPr>
            <p:ph type="title"/>
          </p:nvPr>
        </p:nvSpPr>
        <p:spPr>
          <a:xfrm>
            <a:off x="1289303" y="-426752"/>
            <a:ext cx="9849751" cy="1349671"/>
          </a:xfrm>
        </p:spPr>
        <p:txBody>
          <a:bodyPr anchor="b">
            <a:normAutofit/>
          </a:bodyPr>
          <a:lstStyle/>
          <a:p>
            <a:r>
              <a:rPr lang="ja-JP" altLang="en-US" sz="4600"/>
              <a:t>１，サンプリングフェーズ</a:t>
            </a:r>
            <a:endParaRPr kumimoji="1" lang="ja-JP" altLang="en-US" sz="4600"/>
          </a:p>
        </p:txBody>
      </p:sp>
      <p:pic>
        <p:nvPicPr>
          <p:cNvPr id="4" name="コンテンツ プレースホルダー 4">
            <a:extLst>
              <a:ext uri="{FF2B5EF4-FFF2-40B4-BE49-F238E27FC236}">
                <a16:creationId xmlns:a16="http://schemas.microsoft.com/office/drawing/2014/main" id="{EF7B0769-8C58-AE05-7F40-1F6714B21642}"/>
              </a:ext>
            </a:extLst>
          </p:cNvPr>
          <p:cNvPicPr>
            <a:picLocks noChangeAspect="1"/>
          </p:cNvPicPr>
          <p:nvPr/>
        </p:nvPicPr>
        <p:blipFill>
          <a:blip r:embed="rId2"/>
          <a:srcRect l="50000" t="12980"/>
          <a:stretch>
            <a:fillRect/>
          </a:stretch>
        </p:blipFill>
        <p:spPr>
          <a:xfrm>
            <a:off x="8194399" y="1221816"/>
            <a:ext cx="3998937" cy="5162355"/>
          </a:xfrm>
          <a:prstGeom prst="rect">
            <a:avLst/>
          </a:prstGeom>
        </p:spPr>
      </p:pic>
      <p:pic>
        <p:nvPicPr>
          <p:cNvPr id="6" name="図 5">
            <a:extLst>
              <a:ext uri="{FF2B5EF4-FFF2-40B4-BE49-F238E27FC236}">
                <a16:creationId xmlns:a16="http://schemas.microsoft.com/office/drawing/2014/main" id="{69C46C1E-CDB9-3749-F0E4-3EA86409BCC4}"/>
              </a:ext>
            </a:extLst>
          </p:cNvPr>
          <p:cNvPicPr>
            <a:picLocks noChangeAspect="1"/>
          </p:cNvPicPr>
          <p:nvPr/>
        </p:nvPicPr>
        <p:blipFill>
          <a:blip r:embed="rId3"/>
          <a:stretch>
            <a:fillRect/>
          </a:stretch>
        </p:blipFill>
        <p:spPr>
          <a:xfrm>
            <a:off x="825579" y="3613480"/>
            <a:ext cx="7509416" cy="2770158"/>
          </a:xfrm>
          <a:prstGeom prst="rect">
            <a:avLst/>
          </a:prstGeom>
        </p:spPr>
      </p:pic>
      <p:sp>
        <p:nvSpPr>
          <p:cNvPr id="3" name="コンテンツ プレースホルダー 2">
            <a:extLst>
              <a:ext uri="{FF2B5EF4-FFF2-40B4-BE49-F238E27FC236}">
                <a16:creationId xmlns:a16="http://schemas.microsoft.com/office/drawing/2014/main" id="{915C38C9-E6ED-FFA2-78EC-A73EB3190C53}"/>
              </a:ext>
            </a:extLst>
          </p:cNvPr>
          <p:cNvSpPr>
            <a:spLocks noGrp="1"/>
          </p:cNvSpPr>
          <p:nvPr>
            <p:ph idx="1"/>
          </p:nvPr>
        </p:nvSpPr>
        <p:spPr>
          <a:xfrm>
            <a:off x="853120" y="1106748"/>
            <a:ext cx="7814891" cy="2137772"/>
          </a:xfrm>
        </p:spPr>
        <p:txBody>
          <a:bodyPr anchor="t">
            <a:normAutofit/>
          </a:bodyPr>
          <a:lstStyle/>
          <a:p>
            <a:r>
              <a:rPr lang="en-US" altLang="ja-JP" sz="2000"/>
              <a:t>Vx</a:t>
            </a:r>
            <a:r>
              <a:rPr lang="ja-JP" altLang="en-US" sz="2000"/>
              <a:t>側のスイッチ </a:t>
            </a:r>
            <a:r>
              <a:rPr lang="en-US" altLang="ja-JP" sz="2000"/>
              <a:t>Sc </a:t>
            </a:r>
            <a:r>
              <a:rPr lang="ja-JP" altLang="en-US" sz="2000"/>
              <a:t>を</a:t>
            </a:r>
            <a:r>
              <a:rPr lang="en-US" altLang="ja-JP" sz="2000"/>
              <a:t>GND</a:t>
            </a:r>
            <a:r>
              <a:rPr lang="ja-JP" altLang="en-US" sz="2000"/>
              <a:t>に落とし、ボトムプレート側のスイッチ（</a:t>
            </a:r>
            <a:r>
              <a:rPr lang="en-US" altLang="ja-JP" sz="2000"/>
              <a:t>S5〜Sd</a:t>
            </a:r>
            <a:r>
              <a:rPr lang="ja-JP" altLang="en-US" sz="2000"/>
              <a:t>）をすべて入力 </a:t>
            </a:r>
            <a:r>
              <a:rPr lang="en-US" altLang="ja-JP" sz="2000"/>
              <a:t>Vin </a:t>
            </a:r>
            <a:r>
              <a:rPr lang="ja-JP" altLang="en-US" sz="2000"/>
              <a:t>に接続する</a:t>
            </a:r>
            <a:endParaRPr lang="en-US" altLang="ja-JP" sz="2000"/>
          </a:p>
          <a:p>
            <a:pPr lvl="1"/>
            <a:r>
              <a:rPr lang="ja-JP" altLang="en-US" sz="1600"/>
              <a:t>アレイ全体（合計容量 </a:t>
            </a:r>
            <a:r>
              <a:rPr lang="en-US" altLang="ja-JP" sz="1600"/>
              <a:t>C</a:t>
            </a:r>
            <a:r>
              <a:rPr lang="ja-JP" altLang="en-US" sz="1600"/>
              <a:t>）に</a:t>
            </a:r>
            <a:r>
              <a:rPr lang="en-US" altLang="ja-JP" sz="1600"/>
              <a:t>Qs = C</a:t>
            </a:r>
            <a:r>
              <a:rPr lang="ja-JP" altLang="en-US" sz="1600"/>
              <a:t>・</a:t>
            </a:r>
            <a:r>
              <a:rPr lang="en-US" altLang="ja-JP" sz="1600"/>
              <a:t>Vin </a:t>
            </a:r>
            <a:r>
              <a:rPr lang="ja-JP" altLang="en-US" sz="1600"/>
              <a:t>の電荷が充電（サンプリング）される</a:t>
            </a:r>
            <a:endParaRPr lang="en-US" altLang="ja-JP" sz="1600"/>
          </a:p>
          <a:p>
            <a:pPr lvl="2"/>
            <a:r>
              <a:rPr lang="ja-JP" altLang="en-US" sz="1600"/>
              <a:t>青い領域</a:t>
            </a:r>
          </a:p>
        </p:txBody>
      </p:sp>
      <p:sp>
        <p:nvSpPr>
          <p:cNvPr id="7" name="四角形: 角を丸くする 6">
            <a:extLst>
              <a:ext uri="{FF2B5EF4-FFF2-40B4-BE49-F238E27FC236}">
                <a16:creationId xmlns:a16="http://schemas.microsoft.com/office/drawing/2014/main" id="{29F5987A-CFF6-1A56-E60E-AED30938FA5A}"/>
              </a:ext>
            </a:extLst>
          </p:cNvPr>
          <p:cNvSpPr/>
          <p:nvPr/>
        </p:nvSpPr>
        <p:spPr>
          <a:xfrm>
            <a:off x="8921490" y="1748401"/>
            <a:ext cx="1540701" cy="471490"/>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7E807E84-B1AC-E632-E5B7-7701FC265BC8}"/>
              </a:ext>
            </a:extLst>
          </p:cNvPr>
          <p:cNvSpPr/>
          <p:nvPr/>
        </p:nvSpPr>
        <p:spPr>
          <a:xfrm>
            <a:off x="4838137" y="3903170"/>
            <a:ext cx="447847" cy="1135087"/>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B4906A76-9607-1D90-784E-B14FE8EDB23D}"/>
              </a:ext>
            </a:extLst>
          </p:cNvPr>
          <p:cNvSpPr/>
          <p:nvPr/>
        </p:nvSpPr>
        <p:spPr>
          <a:xfrm>
            <a:off x="989556" y="5235879"/>
            <a:ext cx="5750635" cy="964221"/>
          </a:xfrm>
          <a:prstGeom prst="roundRect">
            <a:avLst/>
          </a:prstGeom>
          <a:solidFill>
            <a:schemeClr val="accent5">
              <a:lumMod val="60000"/>
              <a:lumOff val="4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23" name="四角形: 角を丸くする 22">
            <a:extLst>
              <a:ext uri="{FF2B5EF4-FFF2-40B4-BE49-F238E27FC236}">
                <a16:creationId xmlns:a16="http://schemas.microsoft.com/office/drawing/2014/main" id="{CC955847-DBDB-1E59-2C31-B6ACC70262C7}"/>
              </a:ext>
            </a:extLst>
          </p:cNvPr>
          <p:cNvSpPr/>
          <p:nvPr/>
        </p:nvSpPr>
        <p:spPr>
          <a:xfrm>
            <a:off x="895223" y="3903170"/>
            <a:ext cx="3941577" cy="1135087"/>
          </a:xfrm>
          <a:prstGeom prst="roundRect">
            <a:avLst/>
          </a:prstGeom>
          <a:solidFill>
            <a:srgbClr val="00FFFF">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356157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77054B0-F9C9-EB3D-3C97-63494DFFC8B7}"/>
              </a:ext>
            </a:extLst>
          </p:cNvPr>
          <p:cNvSpPr>
            <a:spLocks noGrp="1"/>
          </p:cNvSpPr>
          <p:nvPr>
            <p:ph type="title"/>
          </p:nvPr>
        </p:nvSpPr>
        <p:spPr>
          <a:xfrm>
            <a:off x="1289303" y="-426752"/>
            <a:ext cx="10576969" cy="1349671"/>
          </a:xfrm>
        </p:spPr>
        <p:txBody>
          <a:bodyPr anchor="b">
            <a:normAutofit/>
          </a:bodyPr>
          <a:lstStyle/>
          <a:p>
            <a:r>
              <a:rPr lang="ja-JP" altLang="en-US" sz="4200"/>
              <a:t>２，</a:t>
            </a:r>
            <a:r>
              <a:rPr lang="en-US" altLang="ja-JP" sz="4200"/>
              <a:t>MSB</a:t>
            </a:r>
            <a:r>
              <a:rPr lang="ja-JP" altLang="en-US" sz="4200"/>
              <a:t>の判定準備（テスト電圧の印加）</a:t>
            </a:r>
            <a:endParaRPr kumimoji="1" lang="ja-JP" altLang="en-US" sz="4200"/>
          </a:p>
        </p:txBody>
      </p:sp>
      <p:pic>
        <p:nvPicPr>
          <p:cNvPr id="4" name="コンテンツ プレースホルダー 4">
            <a:extLst>
              <a:ext uri="{FF2B5EF4-FFF2-40B4-BE49-F238E27FC236}">
                <a16:creationId xmlns:a16="http://schemas.microsoft.com/office/drawing/2014/main" id="{1BEF4014-83B8-CDD5-602A-F581D7CFDC5A}"/>
              </a:ext>
            </a:extLst>
          </p:cNvPr>
          <p:cNvPicPr>
            <a:picLocks noChangeAspect="1"/>
          </p:cNvPicPr>
          <p:nvPr/>
        </p:nvPicPr>
        <p:blipFill>
          <a:blip r:embed="rId2"/>
          <a:srcRect l="50000" t="12980"/>
          <a:stretch>
            <a:fillRect/>
          </a:stretch>
        </p:blipFill>
        <p:spPr>
          <a:xfrm>
            <a:off x="8194399" y="1221816"/>
            <a:ext cx="3998937" cy="5162355"/>
          </a:xfrm>
          <a:prstGeom prst="rect">
            <a:avLst/>
          </a:prstGeom>
        </p:spPr>
      </p:pic>
      <p:sp>
        <p:nvSpPr>
          <p:cNvPr id="5" name="四角形: 角を丸くする 4">
            <a:extLst>
              <a:ext uri="{FF2B5EF4-FFF2-40B4-BE49-F238E27FC236}">
                <a16:creationId xmlns:a16="http://schemas.microsoft.com/office/drawing/2014/main" id="{439FD0D5-028F-0A6E-552B-3EBA6E89ABE7}"/>
              </a:ext>
            </a:extLst>
          </p:cNvPr>
          <p:cNvSpPr/>
          <p:nvPr/>
        </p:nvSpPr>
        <p:spPr>
          <a:xfrm>
            <a:off x="8921490" y="2299545"/>
            <a:ext cx="1540701" cy="471490"/>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9836A06D-B2E7-DE3F-A380-94D58E66B946}"/>
              </a:ext>
            </a:extLst>
          </p:cNvPr>
          <p:cNvPicPr>
            <a:picLocks noChangeAspect="1"/>
          </p:cNvPicPr>
          <p:nvPr/>
        </p:nvPicPr>
        <p:blipFill>
          <a:blip r:embed="rId3"/>
          <a:stretch>
            <a:fillRect/>
          </a:stretch>
        </p:blipFill>
        <p:spPr>
          <a:xfrm>
            <a:off x="657855" y="3672663"/>
            <a:ext cx="7567690" cy="2738099"/>
          </a:xfrm>
          <a:prstGeom prst="rect">
            <a:avLst/>
          </a:prstGeom>
        </p:spPr>
      </p:pic>
      <p:sp>
        <p:nvSpPr>
          <p:cNvPr id="6" name="四角形: 角を丸くする 5">
            <a:extLst>
              <a:ext uri="{FF2B5EF4-FFF2-40B4-BE49-F238E27FC236}">
                <a16:creationId xmlns:a16="http://schemas.microsoft.com/office/drawing/2014/main" id="{3D65DD13-622D-626E-2A5F-05D5527B3AE8}"/>
              </a:ext>
            </a:extLst>
          </p:cNvPr>
          <p:cNvSpPr/>
          <p:nvPr/>
        </p:nvSpPr>
        <p:spPr>
          <a:xfrm>
            <a:off x="4838137" y="3903170"/>
            <a:ext cx="447847" cy="1135087"/>
          </a:xfrm>
          <a:prstGeom prst="roundRect">
            <a:avLst/>
          </a:prstGeom>
          <a:solidFill>
            <a:srgbClr val="AFB2F5">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B49D90B6-6093-355B-AAB0-AEFB3E3C4CFB}"/>
              </a:ext>
            </a:extLst>
          </p:cNvPr>
          <p:cNvSpPr>
            <a:spLocks noGrp="1"/>
          </p:cNvSpPr>
          <p:nvPr>
            <p:ph idx="1"/>
          </p:nvPr>
        </p:nvSpPr>
        <p:spPr>
          <a:xfrm>
            <a:off x="895223" y="951805"/>
            <a:ext cx="8136393" cy="2773914"/>
          </a:xfrm>
        </p:spPr>
        <p:txBody>
          <a:bodyPr anchor="t">
            <a:normAutofit/>
          </a:bodyPr>
          <a:lstStyle/>
          <a:p>
            <a:r>
              <a:rPr lang="en-US" altLang="ja-JP" sz="1900"/>
              <a:t>Sc </a:t>
            </a:r>
            <a:r>
              <a:rPr lang="ja-JP" altLang="en-US" sz="1900"/>
              <a:t>を開いて</a:t>
            </a:r>
            <a:r>
              <a:rPr lang="en-US" altLang="ja-JP" sz="1900"/>
              <a:t>Vx</a:t>
            </a:r>
            <a:r>
              <a:rPr lang="ja-JP" altLang="en-US" sz="1900"/>
              <a:t>ノードをフローティング（ハイインピーダンス）にする</a:t>
            </a:r>
            <a:endParaRPr lang="en-US" altLang="ja-JP" sz="1900"/>
          </a:p>
          <a:p>
            <a:r>
              <a:rPr lang="ja-JP" altLang="en-US" sz="1900"/>
              <a:t>すべてのボトムプレートを一旦</a:t>
            </a:r>
            <a:r>
              <a:rPr lang="en-US" altLang="ja-JP" sz="1900"/>
              <a:t>GND</a:t>
            </a:r>
            <a:r>
              <a:rPr lang="ja-JP" altLang="en-US" sz="1900"/>
              <a:t>に落とす</a:t>
            </a:r>
            <a:endParaRPr lang="en-US" altLang="ja-JP" sz="1900"/>
          </a:p>
          <a:p>
            <a:pPr lvl="1"/>
            <a:r>
              <a:rPr lang="ja-JP" altLang="en-US" sz="1500"/>
              <a:t>これにより </a:t>
            </a:r>
            <a:r>
              <a:rPr lang="en-US" altLang="ja-JP" sz="1500"/>
              <a:t>Vx </a:t>
            </a:r>
            <a:r>
              <a:rPr lang="ja-JP" altLang="en-US" sz="1500"/>
              <a:t>は </a:t>
            </a:r>
            <a:r>
              <a:rPr lang="en-US" altLang="ja-JP" sz="1500">
                <a:solidFill>
                  <a:srgbClr val="FF0000"/>
                </a:solidFill>
              </a:rPr>
              <a:t>–Vin(</a:t>
            </a:r>
            <a:r>
              <a:rPr lang="ja-JP" altLang="en-US" sz="1500">
                <a:solidFill>
                  <a:srgbClr val="FF0000"/>
                </a:solidFill>
              </a:rPr>
              <a:t>ーに注意</a:t>
            </a:r>
            <a:r>
              <a:rPr lang="en-US" altLang="ja-JP" sz="1500">
                <a:solidFill>
                  <a:srgbClr val="FF0000"/>
                </a:solidFill>
              </a:rPr>
              <a:t>)</a:t>
            </a:r>
            <a:r>
              <a:rPr lang="ja-JP" altLang="en-US" sz="1500"/>
              <a:t>にレベルシフトする（ホールド状態）</a:t>
            </a:r>
            <a:endParaRPr lang="ja-JP" altLang="en-US" sz="1100"/>
          </a:p>
          <a:p>
            <a:r>
              <a:rPr lang="en-US" altLang="ja-JP" sz="1900"/>
              <a:t>MSB</a:t>
            </a:r>
            <a:r>
              <a:rPr lang="ja-JP" altLang="en-US" sz="1900"/>
              <a:t>に対応する最大のキャパシタ（</a:t>
            </a:r>
            <a:r>
              <a:rPr lang="en-US" altLang="ja-JP" sz="1900"/>
              <a:t>C/2</a:t>
            </a:r>
            <a:r>
              <a:rPr lang="ja-JP" altLang="en-US" sz="1900"/>
              <a:t>）のスイッチ </a:t>
            </a:r>
            <a:r>
              <a:rPr lang="en-US" altLang="ja-JP" sz="1900"/>
              <a:t>S5 </a:t>
            </a:r>
            <a:r>
              <a:rPr lang="ja-JP" altLang="en-US" sz="1900"/>
              <a:t>だけを </a:t>
            </a:r>
            <a:r>
              <a:rPr lang="en-US" altLang="ja-JP" sz="1900" err="1"/>
              <a:t>Vref</a:t>
            </a:r>
            <a:r>
              <a:rPr lang="en-US" altLang="ja-JP" sz="1900"/>
              <a:t> </a:t>
            </a:r>
            <a:r>
              <a:rPr lang="ja-JP" altLang="en-US" sz="1900"/>
              <a:t>に接続する</a:t>
            </a:r>
            <a:endParaRPr lang="en-US" altLang="ja-JP" sz="1900"/>
          </a:p>
          <a:p>
            <a:pPr lvl="1"/>
            <a:r>
              <a:rPr lang="ja-JP" altLang="en-US" sz="1500"/>
              <a:t>フローチャートの </a:t>
            </a:r>
            <a:r>
              <a:rPr lang="en-US" altLang="ja-JP" sz="1500" err="1"/>
              <a:t>Vdac</a:t>
            </a:r>
            <a:r>
              <a:rPr lang="en-US" altLang="ja-JP" sz="1500"/>
              <a:t> = </a:t>
            </a:r>
            <a:r>
              <a:rPr lang="en-US" altLang="ja-JP" sz="1500" err="1"/>
              <a:t>Vref</a:t>
            </a:r>
            <a:r>
              <a:rPr lang="en-US" altLang="ja-JP" sz="1500"/>
              <a:t> / 2 </a:t>
            </a:r>
            <a:r>
              <a:rPr lang="ja-JP" altLang="en-US" sz="1500"/>
              <a:t>をセットする動作相当</a:t>
            </a:r>
            <a:endParaRPr lang="en-US" altLang="ja-JP" sz="1500"/>
          </a:p>
          <a:p>
            <a:pPr lvl="1"/>
            <a:r>
              <a:rPr lang="en-US" altLang="ja-JP" sz="1500"/>
              <a:t>Vx = -(Vin - 1/2 </a:t>
            </a:r>
            <a:r>
              <a:rPr lang="en-US" altLang="ja-JP" sz="1500" err="1"/>
              <a:t>Vref</a:t>
            </a:r>
            <a:r>
              <a:rPr lang="en-US" altLang="ja-JP" sz="1500"/>
              <a:t>) </a:t>
            </a:r>
            <a:r>
              <a:rPr lang="ja-JP" altLang="en-US" sz="1500"/>
              <a:t>になる</a:t>
            </a:r>
            <a:endParaRPr kumimoji="1" lang="ja-JP" altLang="en-US" sz="1500"/>
          </a:p>
        </p:txBody>
      </p:sp>
      <p:sp>
        <p:nvSpPr>
          <p:cNvPr id="17" name="四角形: 角を丸くする 16">
            <a:extLst>
              <a:ext uri="{FF2B5EF4-FFF2-40B4-BE49-F238E27FC236}">
                <a16:creationId xmlns:a16="http://schemas.microsoft.com/office/drawing/2014/main" id="{D1D2A6FA-86F9-1F91-4853-7333C4696F32}"/>
              </a:ext>
            </a:extLst>
          </p:cNvPr>
          <p:cNvSpPr/>
          <p:nvPr/>
        </p:nvSpPr>
        <p:spPr>
          <a:xfrm>
            <a:off x="895223" y="3903170"/>
            <a:ext cx="3941577" cy="1135087"/>
          </a:xfrm>
          <a:prstGeom prst="roundRect">
            <a:avLst/>
          </a:prstGeom>
          <a:solidFill>
            <a:srgbClr val="00FFFF">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24" name="図 23">
            <a:extLst>
              <a:ext uri="{FF2B5EF4-FFF2-40B4-BE49-F238E27FC236}">
                <a16:creationId xmlns:a16="http://schemas.microsoft.com/office/drawing/2014/main" id="{75E4DD6F-87B6-D218-288E-45ECADFA1BC4}"/>
              </a:ext>
            </a:extLst>
          </p:cNvPr>
          <p:cNvPicPr>
            <a:picLocks noChangeAspect="1"/>
          </p:cNvPicPr>
          <p:nvPr/>
        </p:nvPicPr>
        <p:blipFill>
          <a:blip r:embed="rId4"/>
          <a:stretch>
            <a:fillRect/>
          </a:stretch>
        </p:blipFill>
        <p:spPr>
          <a:xfrm>
            <a:off x="4146017" y="5299890"/>
            <a:ext cx="483374" cy="401097"/>
          </a:xfrm>
          <a:prstGeom prst="rect">
            <a:avLst/>
          </a:prstGeom>
        </p:spPr>
      </p:pic>
      <p:sp>
        <p:nvSpPr>
          <p:cNvPr id="16" name="四角形: 角を丸くする 15">
            <a:extLst>
              <a:ext uri="{FF2B5EF4-FFF2-40B4-BE49-F238E27FC236}">
                <a16:creationId xmlns:a16="http://schemas.microsoft.com/office/drawing/2014/main" id="{6496E2E5-D0E5-B639-0073-DA28CE7D89F4}"/>
              </a:ext>
            </a:extLst>
          </p:cNvPr>
          <p:cNvSpPr/>
          <p:nvPr/>
        </p:nvSpPr>
        <p:spPr>
          <a:xfrm>
            <a:off x="748062" y="5029383"/>
            <a:ext cx="4088738" cy="996077"/>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25" name="図 24">
            <a:extLst>
              <a:ext uri="{FF2B5EF4-FFF2-40B4-BE49-F238E27FC236}">
                <a16:creationId xmlns:a16="http://schemas.microsoft.com/office/drawing/2014/main" id="{461DF341-844D-F95C-EFD4-97CB65B4774A}"/>
              </a:ext>
            </a:extLst>
          </p:cNvPr>
          <p:cNvPicPr>
            <a:picLocks noChangeAspect="1"/>
          </p:cNvPicPr>
          <p:nvPr/>
        </p:nvPicPr>
        <p:blipFill>
          <a:blip r:embed="rId5"/>
          <a:srcRect l="49330"/>
          <a:stretch>
            <a:fillRect/>
          </a:stretch>
        </p:blipFill>
        <p:spPr>
          <a:xfrm>
            <a:off x="6232223" y="2881126"/>
            <a:ext cx="2332516" cy="1288932"/>
          </a:xfrm>
          <a:prstGeom prst="rect">
            <a:avLst/>
          </a:prstGeom>
        </p:spPr>
      </p:pic>
    </p:spTree>
    <p:extLst>
      <p:ext uri="{BB962C8B-B14F-4D97-AF65-F5344CB8AC3E}">
        <p14:creationId xmlns:p14="http://schemas.microsoft.com/office/powerpoint/2010/main" val="3913610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B26F4FE-63F0-A55A-6B2D-787969A943BB}"/>
              </a:ext>
            </a:extLst>
          </p:cNvPr>
          <p:cNvSpPr>
            <a:spLocks noGrp="1"/>
          </p:cNvSpPr>
          <p:nvPr>
            <p:ph type="title"/>
          </p:nvPr>
        </p:nvSpPr>
        <p:spPr>
          <a:xfrm>
            <a:off x="1289304" y="-426752"/>
            <a:ext cx="9849751" cy="1349671"/>
          </a:xfrm>
        </p:spPr>
        <p:txBody>
          <a:bodyPr anchor="b">
            <a:normAutofit/>
          </a:bodyPr>
          <a:lstStyle/>
          <a:p>
            <a:r>
              <a:rPr lang="ja-JP" altLang="en-US" sz="4200"/>
              <a:t>３，コンパレータによる比較判定</a:t>
            </a:r>
            <a:endParaRPr kumimoji="1" lang="ja-JP" altLang="en-US" sz="4200"/>
          </a:p>
        </p:txBody>
      </p:sp>
      <p:pic>
        <p:nvPicPr>
          <p:cNvPr id="4" name="コンテンツ プレースホルダー 4">
            <a:extLst>
              <a:ext uri="{FF2B5EF4-FFF2-40B4-BE49-F238E27FC236}">
                <a16:creationId xmlns:a16="http://schemas.microsoft.com/office/drawing/2014/main" id="{3BDC6B5A-667F-F941-9C90-E3E02A40FED3}"/>
              </a:ext>
            </a:extLst>
          </p:cNvPr>
          <p:cNvPicPr>
            <a:picLocks noChangeAspect="1"/>
          </p:cNvPicPr>
          <p:nvPr/>
        </p:nvPicPr>
        <p:blipFill>
          <a:blip r:embed="rId2"/>
          <a:srcRect l="50000" t="12980"/>
          <a:stretch>
            <a:fillRect/>
          </a:stretch>
        </p:blipFill>
        <p:spPr>
          <a:xfrm>
            <a:off x="8194399" y="1221816"/>
            <a:ext cx="3998937" cy="5162355"/>
          </a:xfrm>
          <a:prstGeom prst="rect">
            <a:avLst/>
          </a:prstGeom>
        </p:spPr>
      </p:pic>
      <p:sp>
        <p:nvSpPr>
          <p:cNvPr id="5" name="四角形: 角を丸くする 4">
            <a:extLst>
              <a:ext uri="{FF2B5EF4-FFF2-40B4-BE49-F238E27FC236}">
                <a16:creationId xmlns:a16="http://schemas.microsoft.com/office/drawing/2014/main" id="{DF1377D3-BDEB-2C5D-E1A8-50E9FC523B73}"/>
              </a:ext>
            </a:extLst>
          </p:cNvPr>
          <p:cNvSpPr/>
          <p:nvPr/>
        </p:nvSpPr>
        <p:spPr>
          <a:xfrm>
            <a:off x="8921490" y="3128226"/>
            <a:ext cx="1540701" cy="657961"/>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BBBD2091-B199-C7E2-1CB4-EFF540A50F1A}"/>
              </a:ext>
            </a:extLst>
          </p:cNvPr>
          <p:cNvPicPr>
            <a:picLocks noChangeAspect="1"/>
          </p:cNvPicPr>
          <p:nvPr/>
        </p:nvPicPr>
        <p:blipFill>
          <a:blip r:embed="rId3"/>
          <a:stretch>
            <a:fillRect/>
          </a:stretch>
        </p:blipFill>
        <p:spPr>
          <a:xfrm>
            <a:off x="657855" y="3672663"/>
            <a:ext cx="7567690" cy="2738099"/>
          </a:xfrm>
          <a:prstGeom prst="rect">
            <a:avLst/>
          </a:prstGeom>
        </p:spPr>
      </p:pic>
      <p:sp>
        <p:nvSpPr>
          <p:cNvPr id="7" name="四角形: 角を丸くする 6">
            <a:extLst>
              <a:ext uri="{FF2B5EF4-FFF2-40B4-BE49-F238E27FC236}">
                <a16:creationId xmlns:a16="http://schemas.microsoft.com/office/drawing/2014/main" id="{A3125985-77CF-A2F8-ACFB-9D2B1002B331}"/>
              </a:ext>
            </a:extLst>
          </p:cNvPr>
          <p:cNvSpPr/>
          <p:nvPr/>
        </p:nvSpPr>
        <p:spPr>
          <a:xfrm>
            <a:off x="4838137" y="3903170"/>
            <a:ext cx="447847" cy="1135087"/>
          </a:xfrm>
          <a:prstGeom prst="roundRect">
            <a:avLst/>
          </a:prstGeom>
          <a:solidFill>
            <a:srgbClr val="AFB2F5">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A5D42D6B-1EE8-43B2-C1B5-9B2CDBE4B2F0}"/>
              </a:ext>
            </a:extLst>
          </p:cNvPr>
          <p:cNvSpPr/>
          <p:nvPr/>
        </p:nvSpPr>
        <p:spPr>
          <a:xfrm>
            <a:off x="4299675" y="6037546"/>
            <a:ext cx="2440515" cy="344218"/>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EF2F33CD-02BF-DC1B-4CBA-6674405F4EFA}"/>
              </a:ext>
            </a:extLst>
          </p:cNvPr>
          <p:cNvSpPr/>
          <p:nvPr/>
        </p:nvSpPr>
        <p:spPr>
          <a:xfrm>
            <a:off x="4299676" y="3903170"/>
            <a:ext cx="429012" cy="2134375"/>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282F0912-861C-2F0D-1F9E-8F79662C995D}"/>
              </a:ext>
            </a:extLst>
          </p:cNvPr>
          <p:cNvSpPr/>
          <p:nvPr/>
        </p:nvSpPr>
        <p:spPr>
          <a:xfrm>
            <a:off x="748063" y="5029383"/>
            <a:ext cx="3442164" cy="996077"/>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1F56CAF0-A238-B775-2CC6-AD3F3D99873E}"/>
              </a:ext>
            </a:extLst>
          </p:cNvPr>
          <p:cNvSpPr/>
          <p:nvPr/>
        </p:nvSpPr>
        <p:spPr>
          <a:xfrm>
            <a:off x="895223" y="3903170"/>
            <a:ext cx="3941577" cy="1135087"/>
          </a:xfrm>
          <a:prstGeom prst="roundRect">
            <a:avLst/>
          </a:prstGeom>
          <a:solidFill>
            <a:srgbClr val="00FFFF">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A2EF8615-D1C4-A64E-917E-4D8AAF9A82AE}"/>
              </a:ext>
            </a:extLst>
          </p:cNvPr>
          <p:cNvSpPr>
            <a:spLocks noGrp="1"/>
          </p:cNvSpPr>
          <p:nvPr>
            <p:ph idx="1"/>
          </p:nvPr>
        </p:nvSpPr>
        <p:spPr>
          <a:xfrm>
            <a:off x="853120" y="983607"/>
            <a:ext cx="7951953" cy="3032168"/>
          </a:xfrm>
        </p:spPr>
        <p:txBody>
          <a:bodyPr anchor="t">
            <a:normAutofit/>
          </a:bodyPr>
          <a:lstStyle/>
          <a:p>
            <a:r>
              <a:rPr lang="ja-JP" altLang="en-US" sz="1800"/>
              <a:t>コンパレータが「</a:t>
            </a:r>
            <a:r>
              <a:rPr lang="en-US" altLang="ja-JP" sz="1800"/>
              <a:t>Vin</a:t>
            </a:r>
            <a:r>
              <a:rPr lang="ja-JP" altLang="en-US" sz="1800"/>
              <a:t>」と「</a:t>
            </a:r>
            <a:r>
              <a:rPr lang="en-US" altLang="ja-JP" sz="1800" err="1"/>
              <a:t>Vdac</a:t>
            </a:r>
            <a:r>
              <a:rPr lang="ja-JP" altLang="en-US" sz="1800"/>
              <a:t>」という</a:t>
            </a:r>
            <a:r>
              <a:rPr lang="en-US" altLang="ja-JP" sz="1800"/>
              <a:t>2</a:t>
            </a:r>
            <a:r>
              <a:rPr lang="ja-JP" altLang="en-US" sz="1800"/>
              <a:t>つの正の電圧を比較する</a:t>
            </a:r>
            <a:endParaRPr lang="en-US" altLang="ja-JP" sz="1800"/>
          </a:p>
          <a:p>
            <a:pPr lvl="1"/>
            <a:r>
              <a:rPr lang="ja-JP" altLang="en-US" sz="1800"/>
              <a:t>前段のステップで既に引き算（</a:t>
            </a:r>
            <a:r>
              <a:rPr lang="en-US" altLang="ja-JP" sz="1800"/>
              <a:t>Vin - 1/2 </a:t>
            </a:r>
            <a:r>
              <a:rPr lang="en-US" altLang="ja-JP" sz="1800" err="1"/>
              <a:t>Vref</a:t>
            </a:r>
            <a:r>
              <a:rPr lang="ja-JP" altLang="en-US" sz="1800"/>
              <a:t>）は実行済み</a:t>
            </a:r>
            <a:endParaRPr lang="en-US" altLang="ja-JP" sz="1800"/>
          </a:p>
          <a:p>
            <a:pPr lvl="1"/>
            <a:endParaRPr lang="ja-JP" altLang="en-US" sz="1300"/>
          </a:p>
          <a:p>
            <a:pPr lvl="2"/>
            <a:r>
              <a:rPr lang="en-US" altLang="ja-JP"/>
              <a:t>Vx &lt; 0V</a:t>
            </a:r>
            <a:r>
              <a:rPr lang="ja-JP" altLang="en-US"/>
              <a:t>（</a:t>
            </a:r>
            <a:r>
              <a:rPr lang="en-US" altLang="ja-JP"/>
              <a:t>GND</a:t>
            </a:r>
            <a:r>
              <a:rPr lang="ja-JP" altLang="en-US"/>
              <a:t>）の場合 ＝ </a:t>
            </a:r>
            <a:r>
              <a:rPr lang="en-US" altLang="ja-JP"/>
              <a:t>Vin &gt; 1/2 </a:t>
            </a:r>
            <a:r>
              <a:rPr lang="en-US" altLang="ja-JP" err="1"/>
              <a:t>Vref</a:t>
            </a:r>
            <a:endParaRPr lang="en-US" altLang="ja-JP"/>
          </a:p>
          <a:p>
            <a:pPr lvl="3"/>
            <a:r>
              <a:rPr lang="ja-JP" altLang="en-US" sz="1600"/>
              <a:t>コンパレータ出力 </a:t>
            </a:r>
            <a:r>
              <a:rPr lang="en-US" altLang="ja-JP" sz="1600"/>
              <a:t>Q </a:t>
            </a:r>
            <a:r>
              <a:rPr lang="ja-JP" altLang="en-US" sz="1600"/>
              <a:t>は「</a:t>
            </a:r>
            <a:r>
              <a:rPr lang="en-US" altLang="ja-JP" sz="1600"/>
              <a:t>1</a:t>
            </a:r>
            <a:r>
              <a:rPr lang="ja-JP" altLang="en-US" sz="1600"/>
              <a:t>（</a:t>
            </a:r>
            <a:r>
              <a:rPr lang="en-US" altLang="ja-JP" sz="1600"/>
              <a:t>Yes</a:t>
            </a:r>
            <a:r>
              <a:rPr lang="ja-JP" altLang="en-US" sz="1600"/>
              <a:t>）」</a:t>
            </a:r>
          </a:p>
          <a:p>
            <a:pPr lvl="2"/>
            <a:r>
              <a:rPr lang="en-US" altLang="ja-JP"/>
              <a:t>Vx &gt; 0V</a:t>
            </a:r>
            <a:r>
              <a:rPr lang="ja-JP" altLang="en-US"/>
              <a:t>（</a:t>
            </a:r>
            <a:r>
              <a:rPr lang="en-US" altLang="ja-JP"/>
              <a:t>GND</a:t>
            </a:r>
            <a:r>
              <a:rPr lang="ja-JP" altLang="en-US"/>
              <a:t>）の場合 ＝ </a:t>
            </a:r>
            <a:r>
              <a:rPr lang="en-US" altLang="ja-JP"/>
              <a:t>Vin &lt; 1/2 </a:t>
            </a:r>
            <a:r>
              <a:rPr lang="en-US" altLang="ja-JP" err="1"/>
              <a:t>Vref</a:t>
            </a:r>
            <a:endParaRPr lang="en-US" altLang="ja-JP"/>
          </a:p>
          <a:p>
            <a:pPr lvl="3"/>
            <a:r>
              <a:rPr lang="ja-JP" altLang="en-US" sz="1600"/>
              <a:t>コンパレータ出力 </a:t>
            </a:r>
            <a:r>
              <a:rPr lang="en-US" altLang="ja-JP" sz="1600"/>
              <a:t>Q </a:t>
            </a:r>
            <a:r>
              <a:rPr lang="ja-JP" altLang="en-US" sz="1600"/>
              <a:t>は「</a:t>
            </a:r>
            <a:r>
              <a:rPr lang="en-US" altLang="ja-JP" sz="1600"/>
              <a:t>0</a:t>
            </a:r>
            <a:r>
              <a:rPr lang="ja-JP" altLang="en-US" sz="1600"/>
              <a:t>（</a:t>
            </a:r>
            <a:r>
              <a:rPr lang="en-US" altLang="ja-JP" sz="1600"/>
              <a:t>No</a:t>
            </a:r>
            <a:r>
              <a:rPr lang="ja-JP" altLang="en-US" sz="1600"/>
              <a:t>）」</a:t>
            </a:r>
          </a:p>
        </p:txBody>
      </p:sp>
      <p:pic>
        <p:nvPicPr>
          <p:cNvPr id="18" name="コンテンツ プレースホルダー 4">
            <a:extLst>
              <a:ext uri="{FF2B5EF4-FFF2-40B4-BE49-F238E27FC236}">
                <a16:creationId xmlns:a16="http://schemas.microsoft.com/office/drawing/2014/main" id="{550A8EFC-0D30-81A9-6327-8F24C750DEC1}"/>
              </a:ext>
            </a:extLst>
          </p:cNvPr>
          <p:cNvPicPr>
            <a:picLocks noChangeAspect="1"/>
          </p:cNvPicPr>
          <p:nvPr/>
        </p:nvPicPr>
        <p:blipFill>
          <a:blip r:embed="rId2"/>
          <a:srcRect t="12980" r="53207" b="51506"/>
          <a:stretch>
            <a:fillRect/>
          </a:stretch>
        </p:blipFill>
        <p:spPr>
          <a:xfrm>
            <a:off x="6120329" y="2904313"/>
            <a:ext cx="2394980" cy="1349671"/>
          </a:xfrm>
          <a:prstGeom prst="rect">
            <a:avLst/>
          </a:prstGeom>
        </p:spPr>
      </p:pic>
    </p:spTree>
    <p:extLst>
      <p:ext uri="{BB962C8B-B14F-4D97-AF65-F5344CB8AC3E}">
        <p14:creationId xmlns:p14="http://schemas.microsoft.com/office/powerpoint/2010/main" val="1369426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501F628-E4DC-12E5-76C5-B826584CF036}"/>
              </a:ext>
            </a:extLst>
          </p:cNvPr>
          <p:cNvSpPr>
            <a:spLocks noGrp="1"/>
          </p:cNvSpPr>
          <p:nvPr>
            <p:ph type="title"/>
          </p:nvPr>
        </p:nvSpPr>
        <p:spPr>
          <a:xfrm>
            <a:off x="1289304" y="-443016"/>
            <a:ext cx="10329509" cy="1349671"/>
          </a:xfrm>
        </p:spPr>
        <p:txBody>
          <a:bodyPr anchor="b">
            <a:normAutofit/>
          </a:bodyPr>
          <a:lstStyle/>
          <a:p>
            <a:r>
              <a:rPr lang="ja-JP" altLang="en-US"/>
              <a:t>４，保持と次のビットへの移行</a:t>
            </a:r>
            <a:endParaRPr kumimoji="1" lang="ja-JP" altLang="en-US"/>
          </a:p>
        </p:txBody>
      </p:sp>
      <p:pic>
        <p:nvPicPr>
          <p:cNvPr id="4" name="コンテンツ プレースホルダー 4">
            <a:extLst>
              <a:ext uri="{FF2B5EF4-FFF2-40B4-BE49-F238E27FC236}">
                <a16:creationId xmlns:a16="http://schemas.microsoft.com/office/drawing/2014/main" id="{26907A89-FF0B-603D-67BD-BD74B92180A9}"/>
              </a:ext>
            </a:extLst>
          </p:cNvPr>
          <p:cNvPicPr>
            <a:picLocks noChangeAspect="1"/>
          </p:cNvPicPr>
          <p:nvPr/>
        </p:nvPicPr>
        <p:blipFill>
          <a:blip r:embed="rId2"/>
          <a:srcRect l="50000" t="12980"/>
          <a:stretch>
            <a:fillRect/>
          </a:stretch>
        </p:blipFill>
        <p:spPr>
          <a:xfrm>
            <a:off x="8194399" y="1221816"/>
            <a:ext cx="3998937" cy="5162355"/>
          </a:xfrm>
          <a:prstGeom prst="rect">
            <a:avLst/>
          </a:prstGeom>
        </p:spPr>
      </p:pic>
      <p:sp>
        <p:nvSpPr>
          <p:cNvPr id="5" name="四角形: 角を丸くする 4">
            <a:extLst>
              <a:ext uri="{FF2B5EF4-FFF2-40B4-BE49-F238E27FC236}">
                <a16:creationId xmlns:a16="http://schemas.microsoft.com/office/drawing/2014/main" id="{948CCD67-4C53-84E2-E651-DD09869260B7}"/>
              </a:ext>
            </a:extLst>
          </p:cNvPr>
          <p:cNvSpPr/>
          <p:nvPr/>
        </p:nvSpPr>
        <p:spPr>
          <a:xfrm>
            <a:off x="8921490" y="3886200"/>
            <a:ext cx="3349295" cy="600467"/>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9D238EEC-B835-F240-5D65-400978EDE4FD}"/>
              </a:ext>
            </a:extLst>
          </p:cNvPr>
          <p:cNvPicPr>
            <a:picLocks noChangeAspect="1"/>
          </p:cNvPicPr>
          <p:nvPr/>
        </p:nvPicPr>
        <p:blipFill>
          <a:blip r:embed="rId3"/>
          <a:stretch>
            <a:fillRect/>
          </a:stretch>
        </p:blipFill>
        <p:spPr>
          <a:xfrm>
            <a:off x="657855" y="3672663"/>
            <a:ext cx="7567690" cy="2738099"/>
          </a:xfrm>
          <a:prstGeom prst="rect">
            <a:avLst/>
          </a:prstGeom>
        </p:spPr>
      </p:pic>
      <p:sp>
        <p:nvSpPr>
          <p:cNvPr id="7" name="四角形: 角を丸くする 6">
            <a:extLst>
              <a:ext uri="{FF2B5EF4-FFF2-40B4-BE49-F238E27FC236}">
                <a16:creationId xmlns:a16="http://schemas.microsoft.com/office/drawing/2014/main" id="{94571E63-E49F-98E7-A17A-55F0B4D89B0D}"/>
              </a:ext>
            </a:extLst>
          </p:cNvPr>
          <p:cNvSpPr/>
          <p:nvPr/>
        </p:nvSpPr>
        <p:spPr>
          <a:xfrm>
            <a:off x="4838137" y="3903170"/>
            <a:ext cx="447847" cy="1135087"/>
          </a:xfrm>
          <a:prstGeom prst="roundRect">
            <a:avLst/>
          </a:prstGeom>
          <a:solidFill>
            <a:srgbClr val="AFB2F5">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8C54BFB9-C84A-B37A-ABDE-75A24E5F2B4A}"/>
              </a:ext>
            </a:extLst>
          </p:cNvPr>
          <p:cNvSpPr/>
          <p:nvPr/>
        </p:nvSpPr>
        <p:spPr>
          <a:xfrm>
            <a:off x="3584857" y="6037546"/>
            <a:ext cx="3155333" cy="344218"/>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B4C324E5-34BD-6632-BA8C-ECFE7FAD8D66}"/>
              </a:ext>
            </a:extLst>
          </p:cNvPr>
          <p:cNvSpPr/>
          <p:nvPr/>
        </p:nvSpPr>
        <p:spPr>
          <a:xfrm>
            <a:off x="748063" y="5029383"/>
            <a:ext cx="2758467" cy="996077"/>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57E2DFCE-4658-50E3-6BBC-53FF086AC94A}"/>
              </a:ext>
            </a:extLst>
          </p:cNvPr>
          <p:cNvSpPr/>
          <p:nvPr/>
        </p:nvSpPr>
        <p:spPr>
          <a:xfrm>
            <a:off x="895223" y="3903170"/>
            <a:ext cx="3941577" cy="1135087"/>
          </a:xfrm>
          <a:prstGeom prst="roundRect">
            <a:avLst/>
          </a:prstGeom>
          <a:solidFill>
            <a:srgbClr val="00FFFF">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19" name="図 18">
            <a:extLst>
              <a:ext uri="{FF2B5EF4-FFF2-40B4-BE49-F238E27FC236}">
                <a16:creationId xmlns:a16="http://schemas.microsoft.com/office/drawing/2014/main" id="{2E06F355-7B93-57E9-73BD-867F8ED8E114}"/>
              </a:ext>
            </a:extLst>
          </p:cNvPr>
          <p:cNvPicPr>
            <a:picLocks noChangeAspect="1"/>
          </p:cNvPicPr>
          <p:nvPr/>
        </p:nvPicPr>
        <p:blipFill>
          <a:blip r:embed="rId4"/>
          <a:stretch>
            <a:fillRect/>
          </a:stretch>
        </p:blipFill>
        <p:spPr>
          <a:xfrm>
            <a:off x="3653159" y="5296344"/>
            <a:ext cx="389021" cy="399536"/>
          </a:xfrm>
          <a:prstGeom prst="rect">
            <a:avLst/>
          </a:prstGeom>
        </p:spPr>
      </p:pic>
      <p:sp>
        <p:nvSpPr>
          <p:cNvPr id="13" name="四角形: 角を丸くする 12">
            <a:extLst>
              <a:ext uri="{FF2B5EF4-FFF2-40B4-BE49-F238E27FC236}">
                <a16:creationId xmlns:a16="http://schemas.microsoft.com/office/drawing/2014/main" id="{6EA9C7CF-4480-2BF7-50F1-205AD3344418}"/>
              </a:ext>
            </a:extLst>
          </p:cNvPr>
          <p:cNvSpPr/>
          <p:nvPr/>
        </p:nvSpPr>
        <p:spPr>
          <a:xfrm>
            <a:off x="3584857" y="3903170"/>
            <a:ext cx="1143831" cy="2134375"/>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5094A0B7-D1B4-ACA7-0114-52BA208445CF}"/>
              </a:ext>
            </a:extLst>
          </p:cNvPr>
          <p:cNvSpPr>
            <a:spLocks noGrp="1"/>
          </p:cNvSpPr>
          <p:nvPr>
            <p:ph idx="1"/>
          </p:nvPr>
        </p:nvSpPr>
        <p:spPr>
          <a:xfrm>
            <a:off x="853121" y="995244"/>
            <a:ext cx="7693200" cy="3032168"/>
          </a:xfrm>
        </p:spPr>
        <p:txBody>
          <a:bodyPr anchor="t">
            <a:normAutofit/>
          </a:bodyPr>
          <a:lstStyle/>
          <a:p>
            <a:r>
              <a:rPr lang="ja-JP" altLang="en-US" sz="1800"/>
              <a:t>判定が終わると、</a:t>
            </a:r>
            <a:r>
              <a:rPr lang="en-US" altLang="ja-JP" sz="1800"/>
              <a:t>SAR</a:t>
            </a:r>
            <a:r>
              <a:rPr lang="ja-JP" altLang="en-US" sz="1800"/>
              <a:t>ロジック（レジスタ）がその結果を記憶し、スイッチの状態を以下のように制御します。</a:t>
            </a:r>
          </a:p>
          <a:p>
            <a:pPr lvl="1"/>
            <a:r>
              <a:rPr lang="en-US" altLang="ja-JP" sz="1600"/>
              <a:t>Yes (Q=1) </a:t>
            </a:r>
            <a:r>
              <a:rPr lang="ja-JP" altLang="en-US" sz="1600"/>
              <a:t>の場合</a:t>
            </a:r>
            <a:endParaRPr lang="en-US" altLang="ja-JP" sz="1600"/>
          </a:p>
          <a:p>
            <a:pPr lvl="2"/>
            <a:r>
              <a:rPr lang="en-US" altLang="ja-JP" sz="1050"/>
              <a:t>MSB</a:t>
            </a:r>
            <a:r>
              <a:rPr lang="ja-JP" altLang="en-US" sz="1050"/>
              <a:t>のスイッチ </a:t>
            </a:r>
            <a:r>
              <a:rPr lang="en-US" altLang="ja-JP" sz="1050"/>
              <a:t>S5 </a:t>
            </a:r>
            <a:r>
              <a:rPr lang="ja-JP" altLang="en-US" sz="1050"/>
              <a:t>は </a:t>
            </a:r>
            <a:r>
              <a:rPr lang="en-US" altLang="ja-JP" sz="1050"/>
              <a:t>V_REF </a:t>
            </a:r>
            <a:r>
              <a:rPr lang="ja-JP" altLang="en-US" sz="1050"/>
              <a:t>に繋いだまま（固定）にする。（これが </a:t>
            </a:r>
            <a:r>
              <a:rPr lang="en-US" altLang="ja-JP" sz="1050"/>
              <a:t>Ni = 1 </a:t>
            </a:r>
            <a:r>
              <a:rPr lang="ja-JP" altLang="en-US" sz="1050"/>
              <a:t>の状態）</a:t>
            </a:r>
          </a:p>
          <a:p>
            <a:pPr lvl="1"/>
            <a:r>
              <a:rPr lang="en-US" altLang="ja-JP" sz="1600"/>
              <a:t>No (Q=0) </a:t>
            </a:r>
            <a:r>
              <a:rPr lang="ja-JP" altLang="en-US" sz="1600"/>
              <a:t>の場合</a:t>
            </a:r>
            <a:r>
              <a:rPr lang="en-US" altLang="ja-JP" sz="1600"/>
              <a:t>:</a:t>
            </a:r>
          </a:p>
          <a:p>
            <a:pPr lvl="2"/>
            <a:r>
              <a:rPr lang="en-US" altLang="ja-JP" sz="1050"/>
              <a:t>MSB</a:t>
            </a:r>
            <a:r>
              <a:rPr lang="ja-JP" altLang="en-US" sz="1050"/>
              <a:t>のスイッチ </a:t>
            </a:r>
            <a:r>
              <a:rPr lang="en-US" altLang="ja-JP" sz="1050"/>
              <a:t>S5 </a:t>
            </a:r>
            <a:r>
              <a:rPr lang="ja-JP" altLang="en-US" sz="1050"/>
              <a:t>を </a:t>
            </a:r>
            <a:r>
              <a:rPr lang="en-US" altLang="ja-JP" sz="1050"/>
              <a:t>GND </a:t>
            </a:r>
            <a:r>
              <a:rPr lang="ja-JP" altLang="en-US" sz="1050"/>
              <a:t>に接続する。（これが </a:t>
            </a:r>
            <a:r>
              <a:rPr lang="en-US" altLang="ja-JP" sz="1050"/>
              <a:t>Ni = 0 </a:t>
            </a:r>
            <a:r>
              <a:rPr lang="ja-JP" altLang="en-US" sz="1050"/>
              <a:t>の状態）</a:t>
            </a:r>
            <a:endParaRPr lang="ja-JP" altLang="en-US" sz="2800"/>
          </a:p>
          <a:p>
            <a:r>
              <a:rPr lang="en-US" altLang="ja-JP" sz="1800" err="1"/>
              <a:t>i</a:t>
            </a:r>
            <a:r>
              <a:rPr lang="en-US" altLang="ja-JP" sz="1800"/>
              <a:t> = </a:t>
            </a:r>
            <a:r>
              <a:rPr lang="en-US" altLang="ja-JP" sz="1800" err="1"/>
              <a:t>i</a:t>
            </a:r>
            <a:r>
              <a:rPr lang="en-US" altLang="ja-JP" sz="1800"/>
              <a:t> - 1 </a:t>
            </a:r>
            <a:r>
              <a:rPr lang="ja-JP" altLang="en-US" sz="1800"/>
              <a:t>に進み、次のビット（</a:t>
            </a:r>
            <a:r>
              <a:rPr lang="en-US" altLang="ja-JP" sz="1800"/>
              <a:t>S4: </a:t>
            </a:r>
            <a:r>
              <a:rPr lang="ja-JP" altLang="en-US" sz="1800"/>
              <a:t>容量 </a:t>
            </a:r>
            <a:r>
              <a:rPr lang="en-US" altLang="ja-JP" sz="1800"/>
              <a:t>C/4</a:t>
            </a:r>
            <a:r>
              <a:rPr lang="ja-JP" altLang="en-US" sz="1800"/>
              <a:t>）のスイッチを</a:t>
            </a:r>
            <a:r>
              <a:rPr lang="en-US" altLang="ja-JP" sz="1800" err="1"/>
              <a:t>Vref</a:t>
            </a:r>
            <a:r>
              <a:rPr lang="en-US" altLang="ja-JP" sz="1800"/>
              <a:t> </a:t>
            </a:r>
            <a:r>
              <a:rPr lang="ja-JP" altLang="en-US" sz="1800"/>
              <a:t>に接続する</a:t>
            </a:r>
            <a:endParaRPr lang="en-US" altLang="ja-JP" sz="1800"/>
          </a:p>
          <a:p>
            <a:pPr lvl="1"/>
            <a:r>
              <a:rPr lang="en-US" altLang="ja-JP" sz="1600"/>
              <a:t>Vx </a:t>
            </a:r>
            <a:r>
              <a:rPr lang="ja-JP" altLang="en-US" sz="1600"/>
              <a:t>の電位は、直前の結果に応じて「</a:t>
            </a:r>
            <a:r>
              <a:rPr lang="en-US" altLang="ja-JP" sz="1600"/>
              <a:t>1 /2 </a:t>
            </a:r>
            <a:r>
              <a:rPr lang="en-US" altLang="ja-JP" sz="1600" err="1"/>
              <a:t>Vref</a:t>
            </a:r>
            <a:r>
              <a:rPr lang="en-US" altLang="ja-JP" sz="1600"/>
              <a:t> + 1/4 </a:t>
            </a:r>
            <a:r>
              <a:rPr lang="en-US" altLang="ja-JP" sz="1600" err="1"/>
              <a:t>Vref</a:t>
            </a:r>
            <a:r>
              <a:rPr lang="ja-JP" altLang="en-US" sz="1600"/>
              <a:t>」または「</a:t>
            </a:r>
            <a:r>
              <a:rPr lang="en-US" altLang="ja-JP" sz="1600"/>
              <a:t>0 + 1/4 </a:t>
            </a:r>
            <a:r>
              <a:rPr lang="en-US" altLang="ja-JP" sz="1600" err="1"/>
              <a:t>Vref</a:t>
            </a:r>
            <a:r>
              <a:rPr lang="ja-JP" altLang="en-US" sz="1600"/>
              <a:t>」をテストする状態へ遷移する</a:t>
            </a:r>
            <a:endParaRPr kumimoji="1" lang="ja-JP" altLang="en-US" sz="1600"/>
          </a:p>
        </p:txBody>
      </p:sp>
    </p:spTree>
    <p:extLst>
      <p:ext uri="{BB962C8B-B14F-4D97-AF65-F5344CB8AC3E}">
        <p14:creationId xmlns:p14="http://schemas.microsoft.com/office/powerpoint/2010/main" val="119135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80BAE8-0C65-F047-CCCF-89C1A3F961C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B27C9D-61F9-6542-FDD4-DE25264066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3FCC6EB-672B-4E3E-CF49-E6E53DE8D1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FAA3F5D3-E527-EBB8-C3B1-0F4FE2DB1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48F1265-BC0D-7688-2F42-6EDA9309DE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41BB43DE-416E-F927-7454-C0051DAE6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92FBF08-ACDA-FE8C-7038-A1BFC7578843}"/>
              </a:ext>
            </a:extLst>
          </p:cNvPr>
          <p:cNvSpPr>
            <a:spLocks noGrp="1"/>
          </p:cNvSpPr>
          <p:nvPr>
            <p:ph type="title"/>
          </p:nvPr>
        </p:nvSpPr>
        <p:spPr>
          <a:xfrm>
            <a:off x="1289304" y="-443016"/>
            <a:ext cx="10329509" cy="1349671"/>
          </a:xfrm>
        </p:spPr>
        <p:txBody>
          <a:bodyPr anchor="b">
            <a:normAutofit/>
          </a:bodyPr>
          <a:lstStyle/>
          <a:p>
            <a:r>
              <a:rPr lang="ja-JP" altLang="en-US" sz="4000"/>
              <a:t>４ー１，保持と次のビットへの移行</a:t>
            </a:r>
            <a:endParaRPr kumimoji="1" lang="ja-JP" altLang="en-US" sz="4200"/>
          </a:p>
        </p:txBody>
      </p:sp>
      <p:pic>
        <p:nvPicPr>
          <p:cNvPr id="4" name="コンテンツ プレースホルダー 4">
            <a:extLst>
              <a:ext uri="{FF2B5EF4-FFF2-40B4-BE49-F238E27FC236}">
                <a16:creationId xmlns:a16="http://schemas.microsoft.com/office/drawing/2014/main" id="{07A418B8-6EA9-1A7D-572F-F911E96C9A05}"/>
              </a:ext>
            </a:extLst>
          </p:cNvPr>
          <p:cNvPicPr>
            <a:picLocks noChangeAspect="1"/>
          </p:cNvPicPr>
          <p:nvPr/>
        </p:nvPicPr>
        <p:blipFill>
          <a:blip r:embed="rId2"/>
          <a:srcRect l="50000" t="12980"/>
          <a:stretch>
            <a:fillRect/>
          </a:stretch>
        </p:blipFill>
        <p:spPr>
          <a:xfrm>
            <a:off x="8194399" y="1221816"/>
            <a:ext cx="3998937" cy="5162355"/>
          </a:xfrm>
          <a:prstGeom prst="rect">
            <a:avLst/>
          </a:prstGeom>
        </p:spPr>
      </p:pic>
      <p:sp>
        <p:nvSpPr>
          <p:cNvPr id="5" name="四角形: 角を丸くする 4">
            <a:extLst>
              <a:ext uri="{FF2B5EF4-FFF2-40B4-BE49-F238E27FC236}">
                <a16:creationId xmlns:a16="http://schemas.microsoft.com/office/drawing/2014/main" id="{3F8E3686-282C-6465-CDC6-3658743A0852}"/>
              </a:ext>
            </a:extLst>
          </p:cNvPr>
          <p:cNvSpPr/>
          <p:nvPr/>
        </p:nvSpPr>
        <p:spPr>
          <a:xfrm>
            <a:off x="8921490" y="3886200"/>
            <a:ext cx="3349295" cy="600467"/>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C07F9846-FCFA-0E5E-E776-BCA22FBB29FB}"/>
              </a:ext>
            </a:extLst>
          </p:cNvPr>
          <p:cNvPicPr>
            <a:picLocks noChangeAspect="1"/>
          </p:cNvPicPr>
          <p:nvPr/>
        </p:nvPicPr>
        <p:blipFill>
          <a:blip r:embed="rId3"/>
          <a:stretch>
            <a:fillRect/>
          </a:stretch>
        </p:blipFill>
        <p:spPr>
          <a:xfrm>
            <a:off x="657855" y="3672663"/>
            <a:ext cx="7567690" cy="2738099"/>
          </a:xfrm>
          <a:prstGeom prst="rect">
            <a:avLst/>
          </a:prstGeom>
        </p:spPr>
      </p:pic>
      <p:sp>
        <p:nvSpPr>
          <p:cNvPr id="7" name="四角形: 角を丸くする 6">
            <a:extLst>
              <a:ext uri="{FF2B5EF4-FFF2-40B4-BE49-F238E27FC236}">
                <a16:creationId xmlns:a16="http://schemas.microsoft.com/office/drawing/2014/main" id="{0BCAEF1A-1F94-1932-2E9D-298F89283C42}"/>
              </a:ext>
            </a:extLst>
          </p:cNvPr>
          <p:cNvSpPr/>
          <p:nvPr/>
        </p:nvSpPr>
        <p:spPr>
          <a:xfrm>
            <a:off x="4838137" y="3903170"/>
            <a:ext cx="447847" cy="1135087"/>
          </a:xfrm>
          <a:prstGeom prst="roundRect">
            <a:avLst/>
          </a:prstGeom>
          <a:solidFill>
            <a:srgbClr val="AFB2F5">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5FC2CE8-24DD-D64C-43F1-7A50BE1F227E}"/>
              </a:ext>
            </a:extLst>
          </p:cNvPr>
          <p:cNvSpPr/>
          <p:nvPr/>
        </p:nvSpPr>
        <p:spPr>
          <a:xfrm>
            <a:off x="3029269" y="6037546"/>
            <a:ext cx="3710921" cy="344218"/>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71E27D03-F468-8670-96FF-3392F93B6333}"/>
              </a:ext>
            </a:extLst>
          </p:cNvPr>
          <p:cNvSpPr/>
          <p:nvPr/>
        </p:nvSpPr>
        <p:spPr>
          <a:xfrm>
            <a:off x="748064" y="5029383"/>
            <a:ext cx="2218588" cy="996077"/>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2E7D7A0E-8E8C-49DC-0E94-BF8C6379C4C9}"/>
              </a:ext>
            </a:extLst>
          </p:cNvPr>
          <p:cNvSpPr/>
          <p:nvPr/>
        </p:nvSpPr>
        <p:spPr>
          <a:xfrm>
            <a:off x="895223" y="3903170"/>
            <a:ext cx="3941577" cy="1135087"/>
          </a:xfrm>
          <a:prstGeom prst="roundRect">
            <a:avLst/>
          </a:prstGeom>
          <a:solidFill>
            <a:srgbClr val="00FFFF">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19" name="図 18">
            <a:extLst>
              <a:ext uri="{FF2B5EF4-FFF2-40B4-BE49-F238E27FC236}">
                <a16:creationId xmlns:a16="http://schemas.microsoft.com/office/drawing/2014/main" id="{9D85D728-5E2E-4320-1379-35BCC60A05DB}"/>
              </a:ext>
            </a:extLst>
          </p:cNvPr>
          <p:cNvPicPr>
            <a:picLocks noChangeAspect="1"/>
          </p:cNvPicPr>
          <p:nvPr/>
        </p:nvPicPr>
        <p:blipFill>
          <a:blip r:embed="rId4"/>
          <a:stretch>
            <a:fillRect/>
          </a:stretch>
        </p:blipFill>
        <p:spPr>
          <a:xfrm>
            <a:off x="3653159" y="5296344"/>
            <a:ext cx="389021" cy="399536"/>
          </a:xfrm>
          <a:prstGeom prst="rect">
            <a:avLst/>
          </a:prstGeom>
        </p:spPr>
      </p:pic>
      <p:pic>
        <p:nvPicPr>
          <p:cNvPr id="18" name="図 17">
            <a:extLst>
              <a:ext uri="{FF2B5EF4-FFF2-40B4-BE49-F238E27FC236}">
                <a16:creationId xmlns:a16="http://schemas.microsoft.com/office/drawing/2014/main" id="{A8B4E5E3-C839-6393-3AE3-D4B94ECD2F0B}"/>
              </a:ext>
            </a:extLst>
          </p:cNvPr>
          <p:cNvPicPr>
            <a:picLocks noChangeAspect="1"/>
          </p:cNvPicPr>
          <p:nvPr/>
        </p:nvPicPr>
        <p:blipFill>
          <a:blip r:embed="rId4"/>
          <a:stretch>
            <a:fillRect/>
          </a:stretch>
        </p:blipFill>
        <p:spPr>
          <a:xfrm>
            <a:off x="3090390" y="5285274"/>
            <a:ext cx="389021" cy="399536"/>
          </a:xfrm>
          <a:prstGeom prst="rect">
            <a:avLst/>
          </a:prstGeom>
        </p:spPr>
      </p:pic>
      <p:sp>
        <p:nvSpPr>
          <p:cNvPr id="13" name="四角形: 角を丸くする 12">
            <a:extLst>
              <a:ext uri="{FF2B5EF4-FFF2-40B4-BE49-F238E27FC236}">
                <a16:creationId xmlns:a16="http://schemas.microsoft.com/office/drawing/2014/main" id="{242CF005-5690-195F-4D66-1B3C55DC74F7}"/>
              </a:ext>
            </a:extLst>
          </p:cNvPr>
          <p:cNvSpPr/>
          <p:nvPr/>
        </p:nvSpPr>
        <p:spPr>
          <a:xfrm>
            <a:off x="2966653" y="3903170"/>
            <a:ext cx="1762036" cy="2134375"/>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22" name="コンテンツ プレースホルダー 2">
            <a:extLst>
              <a:ext uri="{FF2B5EF4-FFF2-40B4-BE49-F238E27FC236}">
                <a16:creationId xmlns:a16="http://schemas.microsoft.com/office/drawing/2014/main" id="{A1703DE6-D0D6-1476-BEF6-0ACC6F31C01F}"/>
              </a:ext>
            </a:extLst>
          </p:cNvPr>
          <p:cNvSpPr>
            <a:spLocks noGrp="1"/>
          </p:cNvSpPr>
          <p:nvPr>
            <p:ph idx="1"/>
          </p:nvPr>
        </p:nvSpPr>
        <p:spPr>
          <a:xfrm>
            <a:off x="853121" y="995244"/>
            <a:ext cx="7693200" cy="3032168"/>
          </a:xfrm>
        </p:spPr>
        <p:txBody>
          <a:bodyPr anchor="t">
            <a:normAutofit/>
          </a:bodyPr>
          <a:lstStyle/>
          <a:p>
            <a:r>
              <a:rPr lang="ja-JP" altLang="en-US"/>
              <a:t>例：</a:t>
            </a:r>
            <a:r>
              <a:rPr lang="en-US" altLang="ja-JP"/>
              <a:t>Vx: S5&gt;GND, S4&gt;GND</a:t>
            </a:r>
            <a:r>
              <a:rPr lang="ja-JP" altLang="en-US"/>
              <a:t>だった場合 </a:t>
            </a:r>
            <a:endParaRPr lang="ja-JP" altLang="en-US" sz="4000"/>
          </a:p>
          <a:p>
            <a:pPr lvl="1"/>
            <a:r>
              <a:rPr lang="ja-JP" altLang="en-US" sz="2000"/>
              <a:t>次のビット（</a:t>
            </a:r>
            <a:r>
              <a:rPr lang="en-US" altLang="ja-JP" sz="2000"/>
              <a:t>S3: </a:t>
            </a:r>
            <a:r>
              <a:rPr lang="ja-JP" altLang="en-US" sz="2000"/>
              <a:t>容量 </a:t>
            </a:r>
            <a:r>
              <a:rPr lang="en-US" altLang="ja-JP" sz="2000"/>
              <a:t>C/8</a:t>
            </a:r>
            <a:r>
              <a:rPr lang="ja-JP" altLang="en-US" sz="2000"/>
              <a:t>）のスイッチを</a:t>
            </a:r>
            <a:r>
              <a:rPr lang="en-US" altLang="ja-JP" sz="2000" err="1"/>
              <a:t>Vref</a:t>
            </a:r>
            <a:r>
              <a:rPr lang="en-US" altLang="ja-JP" sz="2000"/>
              <a:t> </a:t>
            </a:r>
            <a:r>
              <a:rPr lang="ja-JP" altLang="en-US" sz="2000"/>
              <a:t>に接続する</a:t>
            </a:r>
            <a:endParaRPr lang="en-US" altLang="ja-JP" sz="2000"/>
          </a:p>
          <a:p>
            <a:pPr lvl="1"/>
            <a:r>
              <a:rPr lang="en-US" altLang="ja-JP"/>
              <a:t>Vx </a:t>
            </a:r>
            <a:r>
              <a:rPr lang="ja-JP" altLang="en-US"/>
              <a:t>の電位は</a:t>
            </a:r>
            <a:endParaRPr lang="en-US" altLang="ja-JP"/>
          </a:p>
          <a:p>
            <a:pPr lvl="2"/>
            <a:r>
              <a:rPr lang="ja-JP" altLang="en-US" sz="1800"/>
              <a:t>「</a:t>
            </a:r>
            <a:r>
              <a:rPr lang="en-US" altLang="ja-JP" sz="1800"/>
              <a:t>1 /2 </a:t>
            </a:r>
            <a:r>
              <a:rPr lang="en-US" altLang="ja-JP" sz="1800" err="1"/>
              <a:t>Vref</a:t>
            </a:r>
            <a:r>
              <a:rPr lang="en-US" altLang="ja-JP" sz="1800"/>
              <a:t> + 1/4 </a:t>
            </a:r>
            <a:r>
              <a:rPr lang="en-US" altLang="ja-JP" sz="1800" err="1"/>
              <a:t>Vref</a:t>
            </a:r>
            <a:r>
              <a:rPr lang="ja-JP" altLang="en-US" sz="1800"/>
              <a:t> </a:t>
            </a:r>
            <a:r>
              <a:rPr lang="en-US" altLang="ja-JP" sz="1800"/>
              <a:t> + 1/8 </a:t>
            </a:r>
            <a:r>
              <a:rPr lang="en-US" altLang="ja-JP" sz="1800" err="1"/>
              <a:t>Vref</a:t>
            </a:r>
            <a:r>
              <a:rPr lang="ja-JP" altLang="en-US" sz="1800"/>
              <a:t> 」</a:t>
            </a:r>
            <a:endParaRPr lang="en-US" altLang="ja-JP" sz="1800"/>
          </a:p>
          <a:p>
            <a:pPr lvl="1"/>
            <a:r>
              <a:rPr lang="en-US" altLang="ja-JP" sz="2200"/>
              <a:t>MSB</a:t>
            </a:r>
          </a:p>
          <a:p>
            <a:pPr lvl="2"/>
            <a:r>
              <a:rPr lang="en-US" altLang="ja-JP" sz="1800"/>
              <a:t>111xxx</a:t>
            </a:r>
            <a:endParaRPr lang="ja-JP" altLang="en-US" sz="1800"/>
          </a:p>
        </p:txBody>
      </p:sp>
    </p:spTree>
    <p:extLst>
      <p:ext uri="{BB962C8B-B14F-4D97-AF65-F5344CB8AC3E}">
        <p14:creationId xmlns:p14="http://schemas.microsoft.com/office/powerpoint/2010/main" val="288336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FF7253-E6AC-B9E0-D701-CF4DC607518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9897EE-0338-80D6-F117-D62C10F3B8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155888A-CC29-0FB1-A95B-068C82935A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00A96BE8-78EA-9CA9-2A4E-8F9502DBA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37484BB-A775-7B35-5A8F-9AF272AAA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F5133E4-F580-1104-AE1E-5BFF515F2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0C61EA3-2536-9030-5991-8CA2ABBEEB86}"/>
              </a:ext>
            </a:extLst>
          </p:cNvPr>
          <p:cNvSpPr>
            <a:spLocks noGrp="1"/>
          </p:cNvSpPr>
          <p:nvPr>
            <p:ph type="title"/>
          </p:nvPr>
        </p:nvSpPr>
        <p:spPr>
          <a:xfrm>
            <a:off x="1289304" y="-443016"/>
            <a:ext cx="10329509" cy="1349671"/>
          </a:xfrm>
        </p:spPr>
        <p:txBody>
          <a:bodyPr anchor="b">
            <a:normAutofit/>
          </a:bodyPr>
          <a:lstStyle/>
          <a:p>
            <a:r>
              <a:rPr lang="ja-JP" altLang="en-US" sz="4000"/>
              <a:t>４ー２，保持と次のビットへの移行</a:t>
            </a:r>
            <a:endParaRPr kumimoji="1" lang="ja-JP" altLang="en-US" sz="4200"/>
          </a:p>
        </p:txBody>
      </p:sp>
      <p:pic>
        <p:nvPicPr>
          <p:cNvPr id="4" name="コンテンツ プレースホルダー 4">
            <a:extLst>
              <a:ext uri="{FF2B5EF4-FFF2-40B4-BE49-F238E27FC236}">
                <a16:creationId xmlns:a16="http://schemas.microsoft.com/office/drawing/2014/main" id="{8C633AEC-AEA9-EE72-9F09-73CEED2C93DC}"/>
              </a:ext>
            </a:extLst>
          </p:cNvPr>
          <p:cNvPicPr>
            <a:picLocks noChangeAspect="1"/>
          </p:cNvPicPr>
          <p:nvPr/>
        </p:nvPicPr>
        <p:blipFill>
          <a:blip r:embed="rId2"/>
          <a:srcRect l="50000" t="12980"/>
          <a:stretch>
            <a:fillRect/>
          </a:stretch>
        </p:blipFill>
        <p:spPr>
          <a:xfrm>
            <a:off x="8194399" y="1221816"/>
            <a:ext cx="3998937" cy="5162355"/>
          </a:xfrm>
          <a:prstGeom prst="rect">
            <a:avLst/>
          </a:prstGeom>
        </p:spPr>
      </p:pic>
      <p:sp>
        <p:nvSpPr>
          <p:cNvPr id="5" name="四角形: 角を丸くする 4">
            <a:extLst>
              <a:ext uri="{FF2B5EF4-FFF2-40B4-BE49-F238E27FC236}">
                <a16:creationId xmlns:a16="http://schemas.microsoft.com/office/drawing/2014/main" id="{2BBA7FC5-19D2-B8BB-B24B-986A59AC1FC2}"/>
              </a:ext>
            </a:extLst>
          </p:cNvPr>
          <p:cNvSpPr/>
          <p:nvPr/>
        </p:nvSpPr>
        <p:spPr>
          <a:xfrm>
            <a:off x="8921490" y="3886200"/>
            <a:ext cx="3349295" cy="600467"/>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B07F58FD-4690-54D2-588A-5F2EFBBA3AE7}"/>
              </a:ext>
            </a:extLst>
          </p:cNvPr>
          <p:cNvPicPr>
            <a:picLocks noChangeAspect="1"/>
          </p:cNvPicPr>
          <p:nvPr/>
        </p:nvPicPr>
        <p:blipFill>
          <a:blip r:embed="rId3"/>
          <a:stretch>
            <a:fillRect/>
          </a:stretch>
        </p:blipFill>
        <p:spPr>
          <a:xfrm>
            <a:off x="657855" y="3672663"/>
            <a:ext cx="7567690" cy="2738099"/>
          </a:xfrm>
          <a:prstGeom prst="rect">
            <a:avLst/>
          </a:prstGeom>
        </p:spPr>
      </p:pic>
      <p:sp>
        <p:nvSpPr>
          <p:cNvPr id="7" name="四角形: 角を丸くする 6">
            <a:extLst>
              <a:ext uri="{FF2B5EF4-FFF2-40B4-BE49-F238E27FC236}">
                <a16:creationId xmlns:a16="http://schemas.microsoft.com/office/drawing/2014/main" id="{E32751A2-3485-CC04-2321-A7E153635E09}"/>
              </a:ext>
            </a:extLst>
          </p:cNvPr>
          <p:cNvSpPr/>
          <p:nvPr/>
        </p:nvSpPr>
        <p:spPr>
          <a:xfrm>
            <a:off x="4838137" y="3903170"/>
            <a:ext cx="447847" cy="1135087"/>
          </a:xfrm>
          <a:prstGeom prst="roundRect">
            <a:avLst/>
          </a:prstGeom>
          <a:solidFill>
            <a:srgbClr val="AFB2F5">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C94D297E-424C-1901-F9C3-1AB2A57374DC}"/>
              </a:ext>
            </a:extLst>
          </p:cNvPr>
          <p:cNvSpPr/>
          <p:nvPr/>
        </p:nvSpPr>
        <p:spPr>
          <a:xfrm>
            <a:off x="3005423" y="6037546"/>
            <a:ext cx="3734768" cy="344218"/>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82C672DD-2333-C8E2-7D25-DF99F1A678F9}"/>
              </a:ext>
            </a:extLst>
          </p:cNvPr>
          <p:cNvSpPr/>
          <p:nvPr/>
        </p:nvSpPr>
        <p:spPr>
          <a:xfrm>
            <a:off x="748063" y="5029383"/>
            <a:ext cx="2097305" cy="996077"/>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B9244A4F-6AB3-DF3A-9567-EFC3A23B5221}"/>
              </a:ext>
            </a:extLst>
          </p:cNvPr>
          <p:cNvSpPr/>
          <p:nvPr/>
        </p:nvSpPr>
        <p:spPr>
          <a:xfrm>
            <a:off x="895223" y="3903170"/>
            <a:ext cx="3941577" cy="1135087"/>
          </a:xfrm>
          <a:prstGeom prst="roundRect">
            <a:avLst/>
          </a:prstGeom>
          <a:solidFill>
            <a:srgbClr val="00FFFF">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03A047EF-F4AC-3F8B-94A2-32A893D5C4F5}"/>
              </a:ext>
            </a:extLst>
          </p:cNvPr>
          <p:cNvSpPr/>
          <p:nvPr/>
        </p:nvSpPr>
        <p:spPr>
          <a:xfrm>
            <a:off x="4181317" y="3903170"/>
            <a:ext cx="547371" cy="2134375"/>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19" name="図 18">
            <a:extLst>
              <a:ext uri="{FF2B5EF4-FFF2-40B4-BE49-F238E27FC236}">
                <a16:creationId xmlns:a16="http://schemas.microsoft.com/office/drawing/2014/main" id="{81E88AC9-0516-5EC1-C453-97D119EA6996}"/>
              </a:ext>
            </a:extLst>
          </p:cNvPr>
          <p:cNvPicPr>
            <a:picLocks noChangeAspect="1"/>
          </p:cNvPicPr>
          <p:nvPr/>
        </p:nvPicPr>
        <p:blipFill>
          <a:blip r:embed="rId4"/>
          <a:stretch>
            <a:fillRect/>
          </a:stretch>
        </p:blipFill>
        <p:spPr>
          <a:xfrm>
            <a:off x="3096351" y="5291236"/>
            <a:ext cx="389021" cy="399536"/>
          </a:xfrm>
          <a:prstGeom prst="rect">
            <a:avLst/>
          </a:prstGeom>
        </p:spPr>
      </p:pic>
      <p:sp>
        <p:nvSpPr>
          <p:cNvPr id="20" name="四角形: 角を丸くする 19">
            <a:extLst>
              <a:ext uri="{FF2B5EF4-FFF2-40B4-BE49-F238E27FC236}">
                <a16:creationId xmlns:a16="http://schemas.microsoft.com/office/drawing/2014/main" id="{C33AE0D6-60E1-EF8D-EA51-C55E9D8439B8}"/>
              </a:ext>
            </a:extLst>
          </p:cNvPr>
          <p:cNvSpPr/>
          <p:nvPr/>
        </p:nvSpPr>
        <p:spPr>
          <a:xfrm>
            <a:off x="3006759" y="3907432"/>
            <a:ext cx="576762" cy="2134375"/>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CDEDB7ED-1480-6588-BA07-A14849520E15}"/>
              </a:ext>
            </a:extLst>
          </p:cNvPr>
          <p:cNvSpPr/>
          <p:nvPr/>
        </p:nvSpPr>
        <p:spPr>
          <a:xfrm>
            <a:off x="3615408" y="3895039"/>
            <a:ext cx="547371" cy="2134375"/>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24" name="コンテンツ プレースホルダー 2">
            <a:extLst>
              <a:ext uri="{FF2B5EF4-FFF2-40B4-BE49-F238E27FC236}">
                <a16:creationId xmlns:a16="http://schemas.microsoft.com/office/drawing/2014/main" id="{A576C261-6E20-DBB1-D659-154AC8D1BE44}"/>
              </a:ext>
            </a:extLst>
          </p:cNvPr>
          <p:cNvSpPr>
            <a:spLocks noGrp="1"/>
          </p:cNvSpPr>
          <p:nvPr>
            <p:ph idx="1"/>
          </p:nvPr>
        </p:nvSpPr>
        <p:spPr>
          <a:xfrm>
            <a:off x="853121" y="995244"/>
            <a:ext cx="7693200" cy="3032168"/>
          </a:xfrm>
        </p:spPr>
        <p:txBody>
          <a:bodyPr anchor="t">
            <a:normAutofit/>
          </a:bodyPr>
          <a:lstStyle/>
          <a:p>
            <a:r>
              <a:rPr lang="ja-JP" altLang="en-US"/>
              <a:t>例：</a:t>
            </a:r>
            <a:r>
              <a:rPr lang="en-US" altLang="ja-JP"/>
              <a:t>Vx: S5&gt;GND, S4&lt;GND</a:t>
            </a:r>
            <a:r>
              <a:rPr lang="ja-JP" altLang="en-US"/>
              <a:t>だった場合 </a:t>
            </a:r>
            <a:endParaRPr lang="ja-JP" altLang="en-US" sz="4000"/>
          </a:p>
          <a:p>
            <a:pPr lvl="1"/>
            <a:r>
              <a:rPr lang="ja-JP" altLang="en-US" sz="2000"/>
              <a:t>次のビット（</a:t>
            </a:r>
            <a:r>
              <a:rPr lang="en-US" altLang="ja-JP" sz="2000"/>
              <a:t>S3: </a:t>
            </a:r>
            <a:r>
              <a:rPr lang="ja-JP" altLang="en-US" sz="2000"/>
              <a:t>容量 </a:t>
            </a:r>
            <a:r>
              <a:rPr lang="en-US" altLang="ja-JP" sz="2000"/>
              <a:t>C/8</a:t>
            </a:r>
            <a:r>
              <a:rPr lang="ja-JP" altLang="en-US" sz="2000"/>
              <a:t>）のスイッチを</a:t>
            </a:r>
            <a:r>
              <a:rPr lang="en-US" altLang="ja-JP" sz="2000" err="1"/>
              <a:t>Vref</a:t>
            </a:r>
            <a:r>
              <a:rPr lang="en-US" altLang="ja-JP" sz="2000"/>
              <a:t> </a:t>
            </a:r>
            <a:r>
              <a:rPr lang="ja-JP" altLang="en-US" sz="2000"/>
              <a:t>に接続する</a:t>
            </a:r>
            <a:endParaRPr lang="en-US" altLang="ja-JP" sz="2000"/>
          </a:p>
          <a:p>
            <a:pPr lvl="1"/>
            <a:r>
              <a:rPr lang="en-US" altLang="ja-JP"/>
              <a:t>Vx </a:t>
            </a:r>
            <a:r>
              <a:rPr lang="ja-JP" altLang="en-US"/>
              <a:t>の電位は</a:t>
            </a:r>
            <a:endParaRPr lang="en-US" altLang="ja-JP"/>
          </a:p>
          <a:p>
            <a:pPr lvl="2"/>
            <a:r>
              <a:rPr lang="ja-JP" altLang="en-US" sz="1800"/>
              <a:t>「</a:t>
            </a:r>
            <a:r>
              <a:rPr lang="en-US" altLang="ja-JP" sz="1800"/>
              <a:t>1 /2 </a:t>
            </a:r>
            <a:r>
              <a:rPr lang="en-US" altLang="ja-JP" sz="1800" err="1"/>
              <a:t>Vref</a:t>
            </a:r>
            <a:r>
              <a:rPr lang="en-US" altLang="ja-JP" sz="1800"/>
              <a:t> + 0</a:t>
            </a:r>
            <a:r>
              <a:rPr lang="ja-JP" altLang="en-US" sz="1800"/>
              <a:t> </a:t>
            </a:r>
            <a:r>
              <a:rPr lang="en-US" altLang="ja-JP" sz="1800"/>
              <a:t> + 1/8 </a:t>
            </a:r>
            <a:r>
              <a:rPr lang="en-US" altLang="ja-JP" sz="1800" err="1"/>
              <a:t>Vref</a:t>
            </a:r>
            <a:r>
              <a:rPr lang="ja-JP" altLang="en-US" sz="1800"/>
              <a:t> 」</a:t>
            </a:r>
            <a:endParaRPr lang="en-US" altLang="ja-JP" sz="1800"/>
          </a:p>
          <a:p>
            <a:pPr lvl="1"/>
            <a:r>
              <a:rPr kumimoji="1" lang="en-US" altLang="ja-JP" sz="2200"/>
              <a:t>MSB</a:t>
            </a:r>
          </a:p>
          <a:p>
            <a:pPr lvl="2"/>
            <a:r>
              <a:rPr kumimoji="1" lang="en-US" altLang="ja-JP" sz="1800"/>
              <a:t>101xxx</a:t>
            </a:r>
            <a:endParaRPr kumimoji="1" lang="ja-JP" altLang="en-US" sz="1800"/>
          </a:p>
        </p:txBody>
      </p:sp>
    </p:spTree>
    <p:extLst>
      <p:ext uri="{BB962C8B-B14F-4D97-AF65-F5344CB8AC3E}">
        <p14:creationId xmlns:p14="http://schemas.microsoft.com/office/powerpoint/2010/main" val="1175107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5FFF750-C772-0861-6D7B-721FC76356FC}"/>
              </a:ext>
            </a:extLst>
          </p:cNvPr>
          <p:cNvSpPr>
            <a:spLocks noGrp="1"/>
          </p:cNvSpPr>
          <p:nvPr>
            <p:ph type="title"/>
          </p:nvPr>
        </p:nvSpPr>
        <p:spPr>
          <a:xfrm>
            <a:off x="1289303" y="-426752"/>
            <a:ext cx="9849751" cy="1349671"/>
          </a:xfrm>
        </p:spPr>
        <p:txBody>
          <a:bodyPr anchor="b">
            <a:normAutofit/>
          </a:bodyPr>
          <a:lstStyle/>
          <a:p>
            <a:r>
              <a:rPr lang="ja-JP" altLang="en-US" sz="5000"/>
              <a:t>５，変換終了までループ</a:t>
            </a:r>
            <a:endParaRPr kumimoji="1" lang="ja-JP" altLang="en-US" sz="5000"/>
          </a:p>
        </p:txBody>
      </p:sp>
      <p:pic>
        <p:nvPicPr>
          <p:cNvPr id="4" name="コンテンツ プレースホルダー 4">
            <a:extLst>
              <a:ext uri="{FF2B5EF4-FFF2-40B4-BE49-F238E27FC236}">
                <a16:creationId xmlns:a16="http://schemas.microsoft.com/office/drawing/2014/main" id="{3E2BC904-984E-CFD9-4CAB-662D3C165EF7}"/>
              </a:ext>
            </a:extLst>
          </p:cNvPr>
          <p:cNvPicPr>
            <a:picLocks noChangeAspect="1"/>
          </p:cNvPicPr>
          <p:nvPr/>
        </p:nvPicPr>
        <p:blipFill>
          <a:blip r:embed="rId2"/>
          <a:srcRect l="50000" t="12980"/>
          <a:stretch>
            <a:fillRect/>
          </a:stretch>
        </p:blipFill>
        <p:spPr>
          <a:xfrm>
            <a:off x="8194399" y="1221816"/>
            <a:ext cx="3998937" cy="5162355"/>
          </a:xfrm>
          <a:prstGeom prst="rect">
            <a:avLst/>
          </a:prstGeom>
        </p:spPr>
      </p:pic>
      <p:sp>
        <p:nvSpPr>
          <p:cNvPr id="5" name="四角形: 角を丸くする 4">
            <a:extLst>
              <a:ext uri="{FF2B5EF4-FFF2-40B4-BE49-F238E27FC236}">
                <a16:creationId xmlns:a16="http://schemas.microsoft.com/office/drawing/2014/main" id="{FA4B7A4F-F709-6A6A-1765-300373285FAB}"/>
              </a:ext>
            </a:extLst>
          </p:cNvPr>
          <p:cNvSpPr/>
          <p:nvPr/>
        </p:nvSpPr>
        <p:spPr>
          <a:xfrm>
            <a:off x="8921490" y="5100638"/>
            <a:ext cx="1540701" cy="1234071"/>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07ADD80C-080B-4280-CF33-66709D5B1D5F}"/>
              </a:ext>
            </a:extLst>
          </p:cNvPr>
          <p:cNvPicPr>
            <a:picLocks noChangeAspect="1"/>
          </p:cNvPicPr>
          <p:nvPr/>
        </p:nvPicPr>
        <p:blipFill>
          <a:blip r:embed="rId3"/>
          <a:stretch>
            <a:fillRect/>
          </a:stretch>
        </p:blipFill>
        <p:spPr>
          <a:xfrm>
            <a:off x="657855" y="3672663"/>
            <a:ext cx="7567690" cy="2738099"/>
          </a:xfrm>
          <a:prstGeom prst="rect">
            <a:avLst/>
          </a:prstGeom>
        </p:spPr>
      </p:pic>
      <p:sp>
        <p:nvSpPr>
          <p:cNvPr id="7" name="四角形: 角を丸くする 6">
            <a:extLst>
              <a:ext uri="{FF2B5EF4-FFF2-40B4-BE49-F238E27FC236}">
                <a16:creationId xmlns:a16="http://schemas.microsoft.com/office/drawing/2014/main" id="{4923E4C8-5B79-EE12-8375-17160113452F}"/>
              </a:ext>
            </a:extLst>
          </p:cNvPr>
          <p:cNvSpPr/>
          <p:nvPr/>
        </p:nvSpPr>
        <p:spPr>
          <a:xfrm>
            <a:off x="4838137" y="3903170"/>
            <a:ext cx="447847" cy="1135087"/>
          </a:xfrm>
          <a:prstGeom prst="roundRect">
            <a:avLst/>
          </a:prstGeom>
          <a:solidFill>
            <a:srgbClr val="AFB2F5">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6A9E50CD-DDAE-3079-647C-D3DAAAD18CA6}"/>
              </a:ext>
            </a:extLst>
          </p:cNvPr>
          <p:cNvSpPr/>
          <p:nvPr/>
        </p:nvSpPr>
        <p:spPr>
          <a:xfrm>
            <a:off x="1289303" y="6037546"/>
            <a:ext cx="5450888" cy="344218"/>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DE95CC0C-4E01-8AFF-A896-187032E77FB1}"/>
              </a:ext>
            </a:extLst>
          </p:cNvPr>
          <p:cNvSpPr/>
          <p:nvPr/>
        </p:nvSpPr>
        <p:spPr>
          <a:xfrm>
            <a:off x="895223" y="3903170"/>
            <a:ext cx="3941577" cy="1135087"/>
          </a:xfrm>
          <a:prstGeom prst="roundRect">
            <a:avLst/>
          </a:prstGeom>
          <a:solidFill>
            <a:srgbClr val="00FFFF">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7037B4FE-A0A2-D854-6F1F-E9F7C0EF0528}"/>
              </a:ext>
            </a:extLst>
          </p:cNvPr>
          <p:cNvSpPr/>
          <p:nvPr/>
        </p:nvSpPr>
        <p:spPr>
          <a:xfrm>
            <a:off x="4181317" y="3903170"/>
            <a:ext cx="547371" cy="2134375"/>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1D0675F8-BCF4-D5BE-2593-56362BB4D532}"/>
              </a:ext>
            </a:extLst>
          </p:cNvPr>
          <p:cNvPicPr>
            <a:picLocks noChangeAspect="1"/>
          </p:cNvPicPr>
          <p:nvPr/>
        </p:nvPicPr>
        <p:blipFill>
          <a:blip r:embed="rId4"/>
          <a:stretch>
            <a:fillRect/>
          </a:stretch>
        </p:blipFill>
        <p:spPr>
          <a:xfrm>
            <a:off x="3096351" y="5291236"/>
            <a:ext cx="389021" cy="399536"/>
          </a:xfrm>
          <a:prstGeom prst="rect">
            <a:avLst/>
          </a:prstGeom>
        </p:spPr>
      </p:pic>
      <p:sp>
        <p:nvSpPr>
          <p:cNvPr id="19" name="四角形: 角を丸くする 18">
            <a:extLst>
              <a:ext uri="{FF2B5EF4-FFF2-40B4-BE49-F238E27FC236}">
                <a16:creationId xmlns:a16="http://schemas.microsoft.com/office/drawing/2014/main" id="{8BDE37F3-DDAB-881A-88A8-ECE2E8790A30}"/>
              </a:ext>
            </a:extLst>
          </p:cNvPr>
          <p:cNvSpPr/>
          <p:nvPr/>
        </p:nvSpPr>
        <p:spPr>
          <a:xfrm>
            <a:off x="3610300" y="3895039"/>
            <a:ext cx="547371" cy="2134375"/>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853E1157-1CBD-64CB-CEAC-B071EA224459}"/>
              </a:ext>
            </a:extLst>
          </p:cNvPr>
          <p:cNvPicPr>
            <a:picLocks noChangeAspect="1"/>
          </p:cNvPicPr>
          <p:nvPr/>
        </p:nvPicPr>
        <p:blipFill>
          <a:blip r:embed="rId4"/>
          <a:stretch>
            <a:fillRect/>
          </a:stretch>
        </p:blipFill>
        <p:spPr>
          <a:xfrm>
            <a:off x="1962877" y="5281866"/>
            <a:ext cx="389021" cy="399536"/>
          </a:xfrm>
          <a:prstGeom prst="rect">
            <a:avLst/>
          </a:prstGeom>
        </p:spPr>
      </p:pic>
      <p:sp>
        <p:nvSpPr>
          <p:cNvPr id="18" name="四角形: 角を丸くする 17">
            <a:extLst>
              <a:ext uri="{FF2B5EF4-FFF2-40B4-BE49-F238E27FC236}">
                <a16:creationId xmlns:a16="http://schemas.microsoft.com/office/drawing/2014/main" id="{FBB07F73-50AF-8D0A-7EBF-8D886997BDCB}"/>
              </a:ext>
            </a:extLst>
          </p:cNvPr>
          <p:cNvSpPr/>
          <p:nvPr/>
        </p:nvSpPr>
        <p:spPr>
          <a:xfrm>
            <a:off x="3006759" y="3907432"/>
            <a:ext cx="576762" cy="2134375"/>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pic>
        <p:nvPicPr>
          <p:cNvPr id="22" name="コンテンツ プレースホルダー 4">
            <a:extLst>
              <a:ext uri="{FF2B5EF4-FFF2-40B4-BE49-F238E27FC236}">
                <a16:creationId xmlns:a16="http://schemas.microsoft.com/office/drawing/2014/main" id="{59505508-5119-A6E2-6D8D-CA94F1567C67}"/>
              </a:ext>
            </a:extLst>
          </p:cNvPr>
          <p:cNvPicPr>
            <a:picLocks noChangeAspect="1"/>
          </p:cNvPicPr>
          <p:nvPr/>
        </p:nvPicPr>
        <p:blipFill>
          <a:blip r:embed="rId2"/>
          <a:srcRect t="57178" r="52382"/>
          <a:stretch>
            <a:fillRect/>
          </a:stretch>
        </p:blipFill>
        <p:spPr>
          <a:xfrm>
            <a:off x="5645519" y="3963285"/>
            <a:ext cx="2669618" cy="1780759"/>
          </a:xfrm>
          <a:prstGeom prst="rect">
            <a:avLst/>
          </a:prstGeom>
        </p:spPr>
      </p:pic>
      <p:sp>
        <p:nvSpPr>
          <p:cNvPr id="23" name="四角形: 角を丸くする 22">
            <a:extLst>
              <a:ext uri="{FF2B5EF4-FFF2-40B4-BE49-F238E27FC236}">
                <a16:creationId xmlns:a16="http://schemas.microsoft.com/office/drawing/2014/main" id="{5E0B9CC4-140A-C601-8378-CB5E88C4CB31}"/>
              </a:ext>
            </a:extLst>
          </p:cNvPr>
          <p:cNvSpPr/>
          <p:nvPr/>
        </p:nvSpPr>
        <p:spPr>
          <a:xfrm>
            <a:off x="2472596" y="3914165"/>
            <a:ext cx="547371" cy="2134375"/>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A5E51945-3849-F4EB-254D-8E84CC93BA25}"/>
              </a:ext>
            </a:extLst>
          </p:cNvPr>
          <p:cNvSpPr/>
          <p:nvPr/>
        </p:nvSpPr>
        <p:spPr>
          <a:xfrm>
            <a:off x="1345726" y="3895039"/>
            <a:ext cx="547371" cy="2134375"/>
          </a:xfrm>
          <a:prstGeom prst="roundRect">
            <a:avLst/>
          </a:prstGeom>
          <a:solidFill>
            <a:schemeClr val="bg2">
              <a:lumMod val="50000"/>
              <a:alpha val="49804"/>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E49D4A87-9C68-51AA-96D5-51C7BEAD1312}"/>
              </a:ext>
            </a:extLst>
          </p:cNvPr>
          <p:cNvSpPr/>
          <p:nvPr/>
        </p:nvSpPr>
        <p:spPr>
          <a:xfrm>
            <a:off x="1909041" y="3903170"/>
            <a:ext cx="576762" cy="2134375"/>
          </a:xfrm>
          <a:prstGeom prst="roundRect">
            <a:avLst/>
          </a:prstGeom>
          <a:solidFill>
            <a:srgbClr val="33CC33">
              <a:alpha val="49804"/>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09B6C797-E745-F49C-66BB-B03F0CFAFC31}"/>
              </a:ext>
            </a:extLst>
          </p:cNvPr>
          <p:cNvSpPr>
            <a:spLocks noGrp="1"/>
          </p:cNvSpPr>
          <p:nvPr>
            <p:ph idx="1"/>
          </p:nvPr>
        </p:nvSpPr>
        <p:spPr>
          <a:xfrm>
            <a:off x="895223" y="905483"/>
            <a:ext cx="7766505" cy="3522939"/>
          </a:xfrm>
        </p:spPr>
        <p:txBody>
          <a:bodyPr anchor="t">
            <a:normAutofit/>
          </a:bodyPr>
          <a:lstStyle/>
          <a:p>
            <a:r>
              <a:rPr lang="ja-JP" altLang="en-US" sz="2000"/>
              <a:t>上記 </a:t>
            </a:r>
            <a:r>
              <a:rPr lang="en-US" altLang="ja-JP" sz="2000"/>
              <a:t>2〜4 </a:t>
            </a:r>
            <a:r>
              <a:rPr lang="ja-JP" altLang="en-US" sz="2000"/>
              <a:t>の操作を、次に大きいキャパシタ（</a:t>
            </a:r>
            <a:r>
              <a:rPr lang="en-US" altLang="ja-JP" sz="2000"/>
              <a:t>S4</a:t>
            </a:r>
            <a:r>
              <a:rPr lang="ja-JP" altLang="en-US" sz="2000"/>
              <a:t>→</a:t>
            </a:r>
            <a:r>
              <a:rPr lang="en-US" altLang="ja-JP" sz="2000"/>
              <a:t>S3</a:t>
            </a:r>
            <a:r>
              <a:rPr lang="ja-JP" altLang="en-US" sz="2000"/>
              <a:t>→</a:t>
            </a:r>
            <a:r>
              <a:rPr lang="en-US" altLang="ja-JP" sz="2000"/>
              <a:t>S2</a:t>
            </a:r>
            <a:r>
              <a:rPr lang="ja-JP" altLang="en-US" sz="2000"/>
              <a:t>→</a:t>
            </a:r>
            <a:r>
              <a:rPr lang="en-US" altLang="ja-JP" sz="2000"/>
              <a:t>S1</a:t>
            </a:r>
            <a:r>
              <a:rPr lang="ja-JP" altLang="en-US" sz="2000"/>
              <a:t>→</a:t>
            </a:r>
            <a:r>
              <a:rPr lang="en-US" altLang="ja-JP" sz="2000"/>
              <a:t>S0</a:t>
            </a:r>
            <a:r>
              <a:rPr lang="ja-JP" altLang="en-US" sz="2000"/>
              <a:t>）へと順番に繰り返す</a:t>
            </a:r>
          </a:p>
          <a:p>
            <a:pPr lvl="1"/>
            <a:r>
              <a:rPr lang="ja-JP" altLang="en-US" sz="1600"/>
              <a:t>グラフの青い線（</a:t>
            </a:r>
            <a:r>
              <a:rPr lang="en-US" altLang="ja-JP" sz="1600" err="1"/>
              <a:t>Vdac</a:t>
            </a:r>
            <a:r>
              <a:rPr lang="ja-JP" altLang="en-US" sz="1600"/>
              <a:t>）が示しているように、バイナリサーチによって </a:t>
            </a:r>
            <a:r>
              <a:rPr lang="en-US" altLang="ja-JP" sz="1600"/>
              <a:t>Vx </a:t>
            </a:r>
            <a:r>
              <a:rPr lang="ja-JP" altLang="en-US" sz="1600"/>
              <a:t>が最終的に </a:t>
            </a:r>
            <a:r>
              <a:rPr lang="en-US" altLang="ja-JP" sz="1600"/>
              <a:t>0V </a:t>
            </a:r>
            <a:r>
              <a:rPr lang="ja-JP" altLang="en-US" sz="1600"/>
              <a:t>に限りなく近づくように（つまり内部の等価</a:t>
            </a:r>
            <a:r>
              <a:rPr lang="en-US" altLang="ja-JP" sz="1600"/>
              <a:t>DAC</a:t>
            </a:r>
            <a:r>
              <a:rPr lang="ja-JP" altLang="en-US" sz="1600"/>
              <a:t>電圧が </a:t>
            </a:r>
            <a:r>
              <a:rPr lang="en-US" altLang="ja-JP" sz="1600"/>
              <a:t>Vin </a:t>
            </a:r>
            <a:r>
              <a:rPr lang="ja-JP" altLang="en-US" sz="1600"/>
              <a:t>に追従するように）スイッチがパタパタと切り替わっていくことになる</a:t>
            </a:r>
            <a:endParaRPr lang="en-US" altLang="ja-JP" sz="1600"/>
          </a:p>
          <a:p>
            <a:r>
              <a:rPr lang="ja-JP" altLang="en-US" sz="2000"/>
              <a:t>全ビットの判定が終わったときに </a:t>
            </a:r>
            <a:r>
              <a:rPr lang="en-US" altLang="ja-JP" sz="2000" err="1"/>
              <a:t>Vref</a:t>
            </a:r>
            <a:r>
              <a:rPr lang="en-US" altLang="ja-JP" sz="2000"/>
              <a:t> </a:t>
            </a:r>
            <a:r>
              <a:rPr lang="ja-JP" altLang="en-US" sz="2000"/>
              <a:t>側に残っているスイッチの配列が、そのままデジタル出力コードとなる</a:t>
            </a:r>
          </a:p>
          <a:p>
            <a:pPr lvl="1"/>
            <a:r>
              <a:rPr lang="ja-JP" altLang="en-US" sz="1800"/>
              <a:t>下記の例の場合</a:t>
            </a:r>
            <a:endParaRPr lang="en-US" altLang="ja-JP" sz="1800"/>
          </a:p>
          <a:p>
            <a:pPr lvl="2"/>
            <a:r>
              <a:rPr lang="en-US" altLang="ja-JP" sz="1800"/>
              <a:t>101010</a:t>
            </a:r>
            <a:endParaRPr lang="ja-JP" altLang="en-US" sz="1800"/>
          </a:p>
        </p:txBody>
      </p:sp>
    </p:spTree>
    <p:extLst>
      <p:ext uri="{BB962C8B-B14F-4D97-AF65-F5344CB8AC3E}">
        <p14:creationId xmlns:p14="http://schemas.microsoft.com/office/powerpoint/2010/main" val="188578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A773A80-CA7C-20E8-CD7D-C9D0F585F238}"/>
              </a:ext>
            </a:extLst>
          </p:cNvPr>
          <p:cNvSpPr>
            <a:spLocks noGrp="1"/>
          </p:cNvSpPr>
          <p:nvPr>
            <p:ph type="title"/>
          </p:nvPr>
        </p:nvSpPr>
        <p:spPr>
          <a:xfrm>
            <a:off x="793662" y="386930"/>
            <a:ext cx="10066122" cy="1298448"/>
          </a:xfrm>
        </p:spPr>
        <p:txBody>
          <a:bodyPr anchor="b">
            <a:normAutofit/>
          </a:bodyPr>
          <a:lstStyle/>
          <a:p>
            <a:r>
              <a:rPr kumimoji="1" lang="ja-JP" altLang="en-US" sz="4800"/>
              <a:t>６，</a:t>
            </a:r>
            <a:r>
              <a:rPr kumimoji="1" lang="en-US" altLang="ja-JP" sz="4800"/>
              <a:t>Sd</a:t>
            </a:r>
            <a:r>
              <a:rPr kumimoji="1" lang="ja-JP" altLang="en-US" sz="4800"/>
              <a:t>はダミー</a:t>
            </a:r>
          </a:p>
        </p:txBody>
      </p:sp>
      <p:sp>
        <p:nvSpPr>
          <p:cNvPr id="29" name="Rectangle 2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68EB137-0E83-D527-3322-C372577400D8}"/>
              </a:ext>
            </a:extLst>
          </p:cNvPr>
          <p:cNvSpPr>
            <a:spLocks noGrp="1"/>
          </p:cNvSpPr>
          <p:nvPr>
            <p:ph idx="1"/>
          </p:nvPr>
        </p:nvSpPr>
        <p:spPr>
          <a:xfrm>
            <a:off x="793660" y="2599509"/>
            <a:ext cx="7188289" cy="3639450"/>
          </a:xfrm>
        </p:spPr>
        <p:txBody>
          <a:bodyPr anchor="ctr">
            <a:normAutofit/>
          </a:bodyPr>
          <a:lstStyle/>
          <a:p>
            <a:r>
              <a:rPr lang="ja-JP" altLang="en-US" sz="2000"/>
              <a:t>全容量を「きれいに </a:t>
            </a:r>
            <a:r>
              <a:rPr lang="en-US" altLang="ja-JP" sz="2000"/>
              <a:t>2</a:t>
            </a:r>
            <a:r>
              <a:rPr lang="ja-JP" altLang="en-US" sz="2000"/>
              <a:t>の</a:t>
            </a:r>
            <a:r>
              <a:rPr lang="en-US" altLang="ja-JP" sz="2000"/>
              <a:t>n</a:t>
            </a:r>
            <a:r>
              <a:rPr lang="ja-JP" altLang="en-US" sz="2000"/>
              <a:t>乗」にするための役割バイナリ重み付けのキャパシタアレイ（</a:t>
            </a:r>
            <a:r>
              <a:rPr lang="en-US" altLang="ja-JP" sz="2000"/>
              <a:t>C/2, C/4, </a:t>
            </a:r>
            <a:r>
              <a:rPr lang="ja-JP" altLang="en-US" sz="2000"/>
              <a:t>・・・</a:t>
            </a:r>
            <a:r>
              <a:rPr lang="en-US" altLang="ja-JP" sz="2000"/>
              <a:t>, C/64</a:t>
            </a:r>
            <a:r>
              <a:rPr lang="ja-JP" altLang="en-US" sz="2000"/>
              <a:t>）をすべて足し合わせると、右図のようになる</a:t>
            </a:r>
            <a:endParaRPr lang="en-US" altLang="ja-JP" sz="2000"/>
          </a:p>
          <a:p>
            <a:r>
              <a:rPr lang="en-US" altLang="ja-JP" sz="2000"/>
              <a:t>Sd</a:t>
            </a:r>
            <a:r>
              <a:rPr lang="ja-JP" altLang="en-US" sz="2000"/>
              <a:t>の容量（</a:t>
            </a:r>
            <a:r>
              <a:rPr lang="en-US" altLang="ja-JP" sz="2000"/>
              <a:t>C/64</a:t>
            </a:r>
            <a:r>
              <a:rPr lang="ja-JP" altLang="en-US" sz="2000"/>
              <a:t>）を足すことで、全容量 </a:t>
            </a:r>
            <a:r>
              <a:rPr lang="en-US" altLang="ja-JP" sz="2000"/>
              <a:t>C </a:t>
            </a:r>
            <a:r>
              <a:rPr lang="ja-JP" altLang="en-US" sz="2000"/>
              <a:t>がちょうど </a:t>
            </a:r>
            <a:r>
              <a:rPr lang="en-US" altLang="ja-JP" sz="2000"/>
              <a:t>1.0C</a:t>
            </a:r>
            <a:r>
              <a:rPr lang="ja-JP" altLang="en-US" sz="2000"/>
              <a:t>（すなわち、</a:t>
            </a:r>
            <a:r>
              <a:rPr lang="en-US" altLang="ja-JP" sz="2000"/>
              <a:t>64 x </a:t>
            </a:r>
            <a:r>
              <a:rPr lang="ja-JP" altLang="en-US" sz="2000"/>
              <a:t>最小容量の</a:t>
            </a:r>
            <a:r>
              <a:rPr lang="en-US" altLang="ja-JP" sz="2000"/>
              <a:t>C</a:t>
            </a:r>
            <a:r>
              <a:rPr lang="ja-JP" altLang="en-US" sz="2000"/>
              <a:t>＝</a:t>
            </a:r>
            <a:r>
              <a:rPr lang="en-US" altLang="ja-JP" sz="2000"/>
              <a:t>C/64</a:t>
            </a:r>
            <a:r>
              <a:rPr lang="ja-JP" altLang="en-US" sz="2000"/>
              <a:t>）となる</a:t>
            </a:r>
          </a:p>
        </p:txBody>
      </p:sp>
      <p:pic>
        <p:nvPicPr>
          <p:cNvPr id="5" name="図 4">
            <a:extLst>
              <a:ext uri="{FF2B5EF4-FFF2-40B4-BE49-F238E27FC236}">
                <a16:creationId xmlns:a16="http://schemas.microsoft.com/office/drawing/2014/main" id="{5E9596AE-9409-C086-1587-E8019D572117}"/>
              </a:ext>
            </a:extLst>
          </p:cNvPr>
          <p:cNvPicPr>
            <a:picLocks noChangeAspect="1"/>
          </p:cNvPicPr>
          <p:nvPr/>
        </p:nvPicPr>
        <p:blipFill>
          <a:blip r:embed="rId2"/>
          <a:stretch>
            <a:fillRect/>
          </a:stretch>
        </p:blipFill>
        <p:spPr>
          <a:xfrm>
            <a:off x="8210551" y="3460270"/>
            <a:ext cx="3083912" cy="1626575"/>
          </a:xfrm>
          <a:prstGeom prst="rect">
            <a:avLst/>
          </a:prstGeom>
        </p:spPr>
      </p:pic>
      <p:sp>
        <p:nvSpPr>
          <p:cNvPr id="33" name="Rectangle 3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6058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44B1E1-394C-4767-4696-E814DE7EDA5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CBA43C5-9D72-CAFB-C6CF-49028B92B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3FFC77B5-B2BF-71EF-5200-5DE0329FE9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2" name="Rectangle 11">
              <a:extLst>
                <a:ext uri="{FF2B5EF4-FFF2-40B4-BE49-F238E27FC236}">
                  <a16:creationId xmlns:a16="http://schemas.microsoft.com/office/drawing/2014/main" id="{80BBD424-77C6-3090-7583-744386CC9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F21690-1829-E5E8-226A-9EBEA49F7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A7F42081-2E11-DDAB-96D5-77D6DA949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FC863D8-D95B-6736-FA94-C74EF237F938}"/>
              </a:ext>
            </a:extLst>
          </p:cNvPr>
          <p:cNvSpPr>
            <a:spLocks noGrp="1"/>
          </p:cNvSpPr>
          <p:nvPr>
            <p:ph type="title"/>
          </p:nvPr>
        </p:nvSpPr>
        <p:spPr>
          <a:xfrm>
            <a:off x="1282963" y="1238080"/>
            <a:ext cx="9849751" cy="1349671"/>
          </a:xfrm>
        </p:spPr>
        <p:txBody>
          <a:bodyPr anchor="b">
            <a:normAutofit/>
          </a:bodyPr>
          <a:lstStyle/>
          <a:p>
            <a:r>
              <a:rPr kumimoji="1" lang="ja-JP" altLang="en-US" sz="5400"/>
              <a:t>設計方針</a:t>
            </a:r>
          </a:p>
        </p:txBody>
      </p:sp>
      <p:sp>
        <p:nvSpPr>
          <p:cNvPr id="3" name="コンテンツ プレースホルダー 2">
            <a:extLst>
              <a:ext uri="{FF2B5EF4-FFF2-40B4-BE49-F238E27FC236}">
                <a16:creationId xmlns:a16="http://schemas.microsoft.com/office/drawing/2014/main" id="{20D7AD66-AD8D-0485-801C-5589871EB9CB}"/>
              </a:ext>
            </a:extLst>
          </p:cNvPr>
          <p:cNvSpPr>
            <a:spLocks noGrp="1"/>
          </p:cNvSpPr>
          <p:nvPr>
            <p:ph idx="1"/>
          </p:nvPr>
        </p:nvSpPr>
        <p:spPr>
          <a:xfrm>
            <a:off x="1282963" y="2587751"/>
            <a:ext cx="10143668" cy="3474846"/>
          </a:xfrm>
        </p:spPr>
        <p:txBody>
          <a:bodyPr anchor="ctr">
            <a:normAutofit/>
          </a:bodyPr>
          <a:lstStyle/>
          <a:p>
            <a:r>
              <a:rPr lang="ja-JP" altLang="en-US" sz="2400"/>
              <a:t>下記の与えられた条件内で最大容量とする</a:t>
            </a:r>
            <a:endParaRPr lang="en-US" altLang="ja-JP" sz="2400"/>
          </a:p>
          <a:p>
            <a:pPr lvl="1"/>
            <a:r>
              <a:rPr lang="en-US" altLang="ja-JP" sz="2000"/>
              <a:t>MIM,MOM</a:t>
            </a:r>
            <a:r>
              <a:rPr lang="ja-JP" altLang="en-US" sz="2000"/>
              <a:t>の選択</a:t>
            </a:r>
            <a:endParaRPr lang="en-US" altLang="ja-JP" sz="2000"/>
          </a:p>
          <a:p>
            <a:pPr lvl="2"/>
            <a:r>
              <a:rPr lang="ja-JP" altLang="en-US" sz="1600"/>
              <a:t>ばらつきを減らすか、容量を優先するかで適切な方を選択すること</a:t>
            </a:r>
            <a:endParaRPr lang="en-US" altLang="ja-JP" sz="1600"/>
          </a:p>
          <a:p>
            <a:pPr lvl="1"/>
            <a:r>
              <a:rPr lang="ja-JP" altLang="en-US" sz="2000"/>
              <a:t>動作クロック</a:t>
            </a:r>
            <a:endParaRPr lang="en-US" altLang="ja-JP" sz="2000"/>
          </a:p>
          <a:p>
            <a:pPr lvl="2"/>
            <a:r>
              <a:rPr lang="ja-JP" altLang="en-US" sz="1600"/>
              <a:t>容量が増えると時定数が増加するためクロックが遅くなる</a:t>
            </a:r>
            <a:endParaRPr lang="en-US" altLang="ja-JP" sz="1600"/>
          </a:p>
          <a:p>
            <a:pPr lvl="1"/>
            <a:r>
              <a:rPr lang="ja-JP" altLang="en-US" sz="2000"/>
              <a:t>面積</a:t>
            </a:r>
            <a:endParaRPr lang="en-US" altLang="ja-JP" sz="2000"/>
          </a:p>
          <a:p>
            <a:pPr lvl="2"/>
            <a:r>
              <a:rPr lang="ja-JP" altLang="en-US" sz="1600"/>
              <a:t>容量が増えると面積が大きくなる</a:t>
            </a:r>
            <a:endParaRPr lang="en-US" altLang="ja-JP" sz="1600"/>
          </a:p>
          <a:p>
            <a:pPr lvl="1"/>
            <a:r>
              <a:rPr lang="ja-JP" altLang="en-US" sz="2000"/>
              <a:t>消費電力</a:t>
            </a:r>
            <a:endParaRPr lang="en-US" altLang="ja-JP" sz="2000"/>
          </a:p>
          <a:p>
            <a:pPr lvl="2"/>
            <a:r>
              <a:rPr lang="ja-JP" altLang="en-US" sz="1600"/>
              <a:t>容量が増えると電荷が増えるため消費電力が増える</a:t>
            </a:r>
          </a:p>
        </p:txBody>
      </p:sp>
    </p:spTree>
    <p:extLst>
      <p:ext uri="{BB962C8B-B14F-4D97-AF65-F5344CB8AC3E}">
        <p14:creationId xmlns:p14="http://schemas.microsoft.com/office/powerpoint/2010/main" val="1404914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40CF66C-BFE5-9973-29CC-86F3DE5B3C2A}"/>
              </a:ext>
            </a:extLst>
          </p:cNvPr>
          <p:cNvSpPr>
            <a:spLocks noGrp="1"/>
          </p:cNvSpPr>
          <p:nvPr>
            <p:ph type="title"/>
          </p:nvPr>
        </p:nvSpPr>
        <p:spPr>
          <a:xfrm>
            <a:off x="589560" y="856180"/>
            <a:ext cx="4560584" cy="1128068"/>
          </a:xfrm>
        </p:spPr>
        <p:txBody>
          <a:bodyPr anchor="ctr">
            <a:normAutofit/>
          </a:bodyPr>
          <a:lstStyle/>
          <a:p>
            <a:r>
              <a:rPr kumimoji="1" lang="ja-JP" altLang="en-US" sz="3700"/>
              <a:t>性能指標：</a:t>
            </a:r>
            <a:r>
              <a:rPr kumimoji="1" lang="en-US" altLang="ja-JP" sz="3700"/>
              <a:t>DNL,INL</a:t>
            </a:r>
            <a:endParaRPr kumimoji="1" lang="ja-JP" altLang="en-US" sz="3700"/>
          </a:p>
        </p:txBody>
      </p:sp>
      <p:grpSp>
        <p:nvGrpSpPr>
          <p:cNvPr id="37" name="Group 2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8" name="Rectangle 2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2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コンテンツ プレースホルダー 6">
            <a:extLst>
              <a:ext uri="{FF2B5EF4-FFF2-40B4-BE49-F238E27FC236}">
                <a16:creationId xmlns:a16="http://schemas.microsoft.com/office/drawing/2014/main" id="{A115E220-7344-4E6D-6407-F3ADD1680C71}"/>
              </a:ext>
            </a:extLst>
          </p:cNvPr>
          <p:cNvSpPr>
            <a:spLocks noGrp="1"/>
          </p:cNvSpPr>
          <p:nvPr>
            <p:ph idx="1"/>
          </p:nvPr>
        </p:nvSpPr>
        <p:spPr>
          <a:xfrm>
            <a:off x="590719" y="2330505"/>
            <a:ext cx="4559425" cy="3979585"/>
          </a:xfrm>
        </p:spPr>
        <p:txBody>
          <a:bodyPr anchor="ctr">
            <a:normAutofit/>
          </a:bodyPr>
          <a:lstStyle/>
          <a:p>
            <a:r>
              <a:rPr lang="en-US" altLang="ja-JP" sz="2000"/>
              <a:t>DNL</a:t>
            </a:r>
            <a:r>
              <a:rPr lang="ja-JP" altLang="en-US" sz="2000"/>
              <a:t>（</a:t>
            </a:r>
            <a:r>
              <a:rPr lang="en-US" altLang="ja-JP" sz="2000"/>
              <a:t>Differential non linearity</a:t>
            </a:r>
            <a:r>
              <a:rPr lang="ja-JP" altLang="en-US" sz="2000"/>
              <a:t>）</a:t>
            </a:r>
            <a:endParaRPr lang="en-US" altLang="ja-JP" sz="2000"/>
          </a:p>
          <a:p>
            <a:pPr lvl="1"/>
            <a:r>
              <a:rPr lang="ja-JP" altLang="en-US" sz="1800"/>
              <a:t>１ステップ毎の誤差量</a:t>
            </a:r>
          </a:p>
          <a:p>
            <a:r>
              <a:rPr lang="en-US" altLang="ja-JP" sz="2000"/>
              <a:t>INL(Integral non linearity)</a:t>
            </a:r>
          </a:p>
          <a:p>
            <a:pPr lvl="1"/>
            <a:r>
              <a:rPr lang="ja-JP" altLang="en-US" sz="1800"/>
              <a:t>理想の入出力直線に対する実際の入出力特性の誤差量</a:t>
            </a:r>
          </a:p>
          <a:p>
            <a:endParaRPr lang="ja-JP" altLang="en-US" sz="2000"/>
          </a:p>
        </p:txBody>
      </p:sp>
      <p:sp>
        <p:nvSpPr>
          <p:cNvPr id="33" name="Rectangle 3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図 8">
            <a:extLst>
              <a:ext uri="{FF2B5EF4-FFF2-40B4-BE49-F238E27FC236}">
                <a16:creationId xmlns:a16="http://schemas.microsoft.com/office/drawing/2014/main" id="{F8E9AF65-9AAF-4927-1592-BA34E78C891D}"/>
              </a:ext>
            </a:extLst>
          </p:cNvPr>
          <p:cNvPicPr>
            <a:picLocks noChangeAspect="1"/>
          </p:cNvPicPr>
          <p:nvPr/>
        </p:nvPicPr>
        <p:blipFill>
          <a:blip r:embed="rId2"/>
          <a:srcRect l="4912" t="13940" r="8449"/>
          <a:stretch>
            <a:fillRect/>
          </a:stretch>
        </p:blipFill>
        <p:spPr>
          <a:xfrm>
            <a:off x="5737813" y="1638300"/>
            <a:ext cx="5906846" cy="3816349"/>
          </a:xfrm>
          <a:prstGeom prst="rect">
            <a:avLst/>
          </a:prstGeom>
        </p:spPr>
      </p:pic>
    </p:spTree>
    <p:extLst>
      <p:ext uri="{BB962C8B-B14F-4D97-AF65-F5344CB8AC3E}">
        <p14:creationId xmlns:p14="http://schemas.microsoft.com/office/powerpoint/2010/main" val="147329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BBB9BE6-20DE-A750-A58C-C0DF1806C481}"/>
              </a:ext>
            </a:extLst>
          </p:cNvPr>
          <p:cNvSpPr>
            <a:spLocks noGrp="1"/>
          </p:cNvSpPr>
          <p:nvPr>
            <p:ph type="title"/>
          </p:nvPr>
        </p:nvSpPr>
        <p:spPr>
          <a:xfrm>
            <a:off x="1043631" y="873940"/>
            <a:ext cx="4928291" cy="1035781"/>
          </a:xfrm>
        </p:spPr>
        <p:txBody>
          <a:bodyPr anchor="ctr">
            <a:normAutofit/>
          </a:bodyPr>
          <a:lstStyle/>
          <a:p>
            <a:r>
              <a:rPr kumimoji="1" lang="ja-JP" altLang="en-US" sz="3600"/>
              <a:t>性能指標：電力効率</a:t>
            </a:r>
          </a:p>
        </p:txBody>
      </p:sp>
      <p:sp>
        <p:nvSpPr>
          <p:cNvPr id="21" name="Rectangle 20">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B33E2578-6896-C842-BC5C-05ECA0462049}"/>
              </a:ext>
            </a:extLst>
          </p:cNvPr>
          <p:cNvPicPr>
            <a:picLocks noChangeAspect="1"/>
          </p:cNvPicPr>
          <p:nvPr/>
        </p:nvPicPr>
        <p:blipFill>
          <a:blip r:embed="rId2"/>
          <a:stretch>
            <a:fillRect/>
          </a:stretch>
        </p:blipFill>
        <p:spPr>
          <a:xfrm>
            <a:off x="7332959" y="841905"/>
            <a:ext cx="3322119" cy="2317178"/>
          </a:xfrm>
          <a:prstGeom prst="rect">
            <a:avLst/>
          </a:prstGeom>
        </p:spPr>
      </p:pic>
      <p:sp>
        <p:nvSpPr>
          <p:cNvPr id="23" name="Rectangle 22">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E97D1B3B-3B87-47C9-E7BA-DE0DFD625966}"/>
              </a:ext>
            </a:extLst>
          </p:cNvPr>
          <p:cNvPicPr>
            <a:picLocks noChangeAspect="1"/>
          </p:cNvPicPr>
          <p:nvPr/>
        </p:nvPicPr>
        <p:blipFill>
          <a:blip r:embed="rId3"/>
          <a:stretch>
            <a:fillRect/>
          </a:stretch>
        </p:blipFill>
        <p:spPr>
          <a:xfrm>
            <a:off x="6841066" y="3979538"/>
            <a:ext cx="4305905" cy="1765420"/>
          </a:xfrm>
          <a:prstGeom prst="rect">
            <a:avLst/>
          </a:prstGeom>
        </p:spPr>
      </p:pic>
      <p:cxnSp>
        <p:nvCxnSpPr>
          <p:cNvPr id="25" name="Straight Connector 2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CC4A1853-15BB-03FC-840E-7AE61A9A4986}"/>
              </a:ext>
            </a:extLst>
          </p:cNvPr>
          <p:cNvPicPr>
            <a:picLocks noChangeAspect="1"/>
          </p:cNvPicPr>
          <p:nvPr/>
        </p:nvPicPr>
        <p:blipFill>
          <a:blip r:embed="rId4"/>
          <a:stretch>
            <a:fillRect/>
          </a:stretch>
        </p:blipFill>
        <p:spPr>
          <a:xfrm>
            <a:off x="492545" y="2369824"/>
            <a:ext cx="5935044" cy="3702570"/>
          </a:xfrm>
          <a:prstGeom prst="rect">
            <a:avLst/>
          </a:prstGeom>
        </p:spPr>
      </p:pic>
    </p:spTree>
    <p:extLst>
      <p:ext uri="{BB962C8B-B14F-4D97-AF65-F5344CB8AC3E}">
        <p14:creationId xmlns:p14="http://schemas.microsoft.com/office/powerpoint/2010/main" val="545449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39B3911-482F-F202-B4CF-AF6C601F6E0E}"/>
              </a:ext>
            </a:extLst>
          </p:cNvPr>
          <p:cNvSpPr>
            <a:spLocks noGrp="1"/>
          </p:cNvSpPr>
          <p:nvPr>
            <p:ph type="title"/>
          </p:nvPr>
        </p:nvSpPr>
        <p:spPr>
          <a:xfrm>
            <a:off x="1371599" y="294538"/>
            <a:ext cx="9895951" cy="1033669"/>
          </a:xfrm>
        </p:spPr>
        <p:txBody>
          <a:bodyPr>
            <a:normAutofit/>
          </a:bodyPr>
          <a:lstStyle/>
          <a:p>
            <a:r>
              <a:rPr kumimoji="1" lang="ja-JP" altLang="en-US" sz="4000">
                <a:solidFill>
                  <a:srgbClr val="FFFFFF"/>
                </a:solidFill>
              </a:rPr>
              <a:t>サンプルでは・・・</a:t>
            </a:r>
          </a:p>
        </p:txBody>
      </p:sp>
      <p:sp>
        <p:nvSpPr>
          <p:cNvPr id="3" name="コンテンツ プレースホルダー 2">
            <a:extLst>
              <a:ext uri="{FF2B5EF4-FFF2-40B4-BE49-F238E27FC236}">
                <a16:creationId xmlns:a16="http://schemas.microsoft.com/office/drawing/2014/main" id="{5EA0F5FE-AB58-3776-9094-21B1F0C7243C}"/>
              </a:ext>
            </a:extLst>
          </p:cNvPr>
          <p:cNvSpPr>
            <a:spLocks noGrp="1"/>
          </p:cNvSpPr>
          <p:nvPr>
            <p:ph idx="1"/>
          </p:nvPr>
        </p:nvSpPr>
        <p:spPr>
          <a:xfrm>
            <a:off x="235973" y="1622745"/>
            <a:ext cx="9724031" cy="2282555"/>
          </a:xfrm>
        </p:spPr>
        <p:txBody>
          <a:bodyPr anchor="ctr">
            <a:normAutofit lnSpcReduction="10000"/>
          </a:bodyPr>
          <a:lstStyle/>
          <a:p>
            <a:r>
              <a:rPr lang="ja-JP" altLang="en-US" sz="2000" dirty="0"/>
              <a:t>サンプル：コンパレータの比較用に</a:t>
            </a:r>
            <a:r>
              <a:rPr lang="en-US" altLang="ja-JP" sz="2000" dirty="0"/>
              <a:t>Vin</a:t>
            </a:r>
            <a:r>
              <a:rPr lang="ja-JP" altLang="en-US" sz="2000" dirty="0"/>
              <a:t>を入力</a:t>
            </a:r>
            <a:endParaRPr lang="en-US" altLang="ja-JP" sz="2000" dirty="0"/>
          </a:p>
          <a:p>
            <a:pPr lvl="1"/>
            <a:r>
              <a:rPr lang="ja-JP" altLang="en-US" sz="2000" dirty="0"/>
              <a:t>メリット：シンプル</a:t>
            </a:r>
            <a:endParaRPr lang="en-US" altLang="ja-JP" sz="2000" dirty="0"/>
          </a:p>
          <a:p>
            <a:pPr lvl="2"/>
            <a:r>
              <a:rPr lang="en-US" altLang="ja-JP" dirty="0" err="1"/>
              <a:t>Vref,Vin</a:t>
            </a:r>
            <a:r>
              <a:rPr lang="ja-JP" altLang="en-US" dirty="0"/>
              <a:t>切り替え用のトランスミッションゲートがいらない</a:t>
            </a:r>
            <a:endParaRPr lang="en-US" altLang="ja-JP" dirty="0"/>
          </a:p>
          <a:p>
            <a:pPr lvl="2"/>
            <a:r>
              <a:rPr lang="en-US" altLang="ja-JP" dirty="0"/>
              <a:t>CDAC</a:t>
            </a:r>
            <a:r>
              <a:rPr lang="ja-JP" altLang="en-US"/>
              <a:t>の一括切り替えがない</a:t>
            </a:r>
            <a:endParaRPr lang="en-US" altLang="ja-JP" dirty="0"/>
          </a:p>
          <a:p>
            <a:r>
              <a:rPr kumimoji="1" lang="ja-JP" altLang="en-US" sz="2000" dirty="0"/>
              <a:t>本解説：コンパレータの比較用に</a:t>
            </a:r>
            <a:r>
              <a:rPr kumimoji="1" lang="en-US" altLang="ja-JP" sz="2000" dirty="0"/>
              <a:t>GND(VSS)</a:t>
            </a:r>
            <a:r>
              <a:rPr kumimoji="1" lang="ja-JP" altLang="en-US" sz="2000" dirty="0"/>
              <a:t>を入力</a:t>
            </a:r>
            <a:endParaRPr kumimoji="1" lang="en-US" altLang="ja-JP" sz="2000" dirty="0"/>
          </a:p>
          <a:p>
            <a:pPr lvl="1"/>
            <a:r>
              <a:rPr lang="ja-JP" altLang="en-US" sz="2000" dirty="0"/>
              <a:t>メリット：</a:t>
            </a:r>
            <a:r>
              <a:rPr lang="en-US" altLang="ja-JP" sz="2000" dirty="0"/>
              <a:t>Vin</a:t>
            </a:r>
            <a:r>
              <a:rPr lang="ja-JP" altLang="en-US" sz="2000" dirty="0"/>
              <a:t>のゆれに強い</a:t>
            </a:r>
            <a:endParaRPr lang="en-US" altLang="ja-JP" sz="2000" dirty="0"/>
          </a:p>
          <a:p>
            <a:pPr lvl="2"/>
            <a:r>
              <a:rPr lang="ja-JP" altLang="en-US" dirty="0"/>
              <a:t>最初の充電でしか</a:t>
            </a:r>
            <a:r>
              <a:rPr lang="en-US" altLang="ja-JP" dirty="0"/>
              <a:t>Vin</a:t>
            </a:r>
            <a:r>
              <a:rPr lang="ja-JP" altLang="en-US" dirty="0"/>
              <a:t>を利用しない</a:t>
            </a:r>
            <a:endParaRPr lang="en-US" altLang="ja-JP" dirty="0"/>
          </a:p>
        </p:txBody>
      </p:sp>
      <p:pic>
        <p:nvPicPr>
          <p:cNvPr id="4" name="図 3">
            <a:extLst>
              <a:ext uri="{FF2B5EF4-FFF2-40B4-BE49-F238E27FC236}">
                <a16:creationId xmlns:a16="http://schemas.microsoft.com/office/drawing/2014/main" id="{820FC27D-35DF-B83D-39A2-085788A015A6}"/>
              </a:ext>
            </a:extLst>
          </p:cNvPr>
          <p:cNvPicPr>
            <a:picLocks noChangeAspect="1"/>
          </p:cNvPicPr>
          <p:nvPr/>
        </p:nvPicPr>
        <p:blipFill>
          <a:blip r:embed="rId2"/>
          <a:stretch>
            <a:fillRect/>
          </a:stretch>
        </p:blipFill>
        <p:spPr>
          <a:xfrm>
            <a:off x="235973" y="4714704"/>
            <a:ext cx="5486727" cy="2030087"/>
          </a:xfrm>
          <a:prstGeom prst="rect">
            <a:avLst/>
          </a:prstGeom>
        </p:spPr>
      </p:pic>
      <p:pic>
        <p:nvPicPr>
          <p:cNvPr id="5" name="コンテンツ プレースホルダー 4">
            <a:extLst>
              <a:ext uri="{FF2B5EF4-FFF2-40B4-BE49-F238E27FC236}">
                <a16:creationId xmlns:a16="http://schemas.microsoft.com/office/drawing/2014/main" id="{18BEE193-3C8F-3055-EC8D-8142A52F5762}"/>
              </a:ext>
            </a:extLst>
          </p:cNvPr>
          <p:cNvPicPr>
            <a:picLocks noChangeAspect="1"/>
          </p:cNvPicPr>
          <p:nvPr/>
        </p:nvPicPr>
        <p:blipFill>
          <a:blip r:embed="rId3">
            <a:extLst>
              <a:ext uri="{28A0092B-C50C-407E-A947-70E740481C1C}">
                <a14:useLocalDpi xmlns:a14="http://schemas.microsoft.com/office/drawing/2010/main" val="0"/>
              </a:ext>
            </a:extLst>
          </a:blip>
          <a:srcRect t="32357" r="39821" b="15684"/>
          <a:stretch>
            <a:fillRect/>
          </a:stretch>
        </p:blipFill>
        <p:spPr>
          <a:xfrm>
            <a:off x="5466137" y="3228482"/>
            <a:ext cx="6725859" cy="3629519"/>
          </a:xfrm>
          <a:prstGeom prst="rect">
            <a:avLst/>
          </a:prstGeom>
        </p:spPr>
      </p:pic>
      <p:sp>
        <p:nvSpPr>
          <p:cNvPr id="6" name="吹き出し: 角を丸めた四角形 5">
            <a:extLst>
              <a:ext uri="{FF2B5EF4-FFF2-40B4-BE49-F238E27FC236}">
                <a16:creationId xmlns:a16="http://schemas.microsoft.com/office/drawing/2014/main" id="{D618C605-F7F1-FAFF-3131-908504C3CA55}"/>
              </a:ext>
            </a:extLst>
          </p:cNvPr>
          <p:cNvSpPr/>
          <p:nvPr/>
        </p:nvSpPr>
        <p:spPr>
          <a:xfrm>
            <a:off x="1560795" y="4293394"/>
            <a:ext cx="1671638" cy="578644"/>
          </a:xfrm>
          <a:prstGeom prst="wedgeRoundRectCallout">
            <a:avLst>
              <a:gd name="adj1" fmla="val 65064"/>
              <a:gd name="adj2" fmla="val 305093"/>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dirty="0"/>
              <a:t>これが必要</a:t>
            </a:r>
          </a:p>
        </p:txBody>
      </p:sp>
      <p:sp>
        <p:nvSpPr>
          <p:cNvPr id="7" name="吹き出し: 角を丸めた四角形 6">
            <a:extLst>
              <a:ext uri="{FF2B5EF4-FFF2-40B4-BE49-F238E27FC236}">
                <a16:creationId xmlns:a16="http://schemas.microsoft.com/office/drawing/2014/main" id="{3216187B-2FB7-FAFF-F264-06D8CAEDD972}"/>
              </a:ext>
            </a:extLst>
          </p:cNvPr>
          <p:cNvSpPr/>
          <p:nvPr/>
        </p:nvSpPr>
        <p:spPr>
          <a:xfrm>
            <a:off x="4886881" y="4081463"/>
            <a:ext cx="1671638" cy="578644"/>
          </a:xfrm>
          <a:prstGeom prst="wedgeRoundRectCallout">
            <a:avLst>
              <a:gd name="adj1" fmla="val -112714"/>
              <a:gd name="adj2" fmla="val 198920"/>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a:t>これが必要</a:t>
            </a:r>
          </a:p>
        </p:txBody>
      </p:sp>
      <p:sp>
        <p:nvSpPr>
          <p:cNvPr id="9" name="吹き出し: 角を丸めた四角形 8">
            <a:extLst>
              <a:ext uri="{FF2B5EF4-FFF2-40B4-BE49-F238E27FC236}">
                <a16:creationId xmlns:a16="http://schemas.microsoft.com/office/drawing/2014/main" id="{F618548F-3C97-A86E-6B51-372CFC0D5FDA}"/>
              </a:ext>
            </a:extLst>
          </p:cNvPr>
          <p:cNvSpPr/>
          <p:nvPr/>
        </p:nvSpPr>
        <p:spPr>
          <a:xfrm>
            <a:off x="4879737" y="3814763"/>
            <a:ext cx="1671638" cy="857128"/>
          </a:xfrm>
          <a:prstGeom prst="wedgeRoundRectCallout">
            <a:avLst>
              <a:gd name="adj1" fmla="val 77457"/>
              <a:gd name="adj2" fmla="val 37192"/>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dirty="0" err="1"/>
              <a:t>GND,Vin</a:t>
            </a:r>
            <a:r>
              <a:rPr kumimoji="1" lang="ja-JP" altLang="en-US" dirty="0"/>
              <a:t>が</a:t>
            </a:r>
            <a:endParaRPr kumimoji="1" lang="en-US" altLang="ja-JP" dirty="0"/>
          </a:p>
          <a:p>
            <a:pPr algn="ctr"/>
            <a:r>
              <a:rPr kumimoji="1" lang="ja-JP" altLang="en-US" dirty="0"/>
              <a:t>違う</a:t>
            </a:r>
          </a:p>
        </p:txBody>
      </p:sp>
      <p:sp>
        <p:nvSpPr>
          <p:cNvPr id="11" name="正方形/長方形 10">
            <a:extLst>
              <a:ext uri="{FF2B5EF4-FFF2-40B4-BE49-F238E27FC236}">
                <a16:creationId xmlns:a16="http://schemas.microsoft.com/office/drawing/2014/main" id="{8F689979-98FF-3CBD-C4CE-87B2227457B0}"/>
              </a:ext>
            </a:extLst>
          </p:cNvPr>
          <p:cNvSpPr/>
          <p:nvPr/>
        </p:nvSpPr>
        <p:spPr>
          <a:xfrm>
            <a:off x="8472196" y="503976"/>
            <a:ext cx="3467158" cy="6064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ファイル名：</a:t>
            </a:r>
            <a:r>
              <a:rPr kumimoji="1" lang="en-US" altLang="ja-JP" dirty="0" err="1"/>
              <a:t>sar_dac.sch</a:t>
            </a:r>
            <a:endParaRPr kumimoji="1" lang="ja-JP" altLang="en-US" dirty="0"/>
          </a:p>
        </p:txBody>
      </p:sp>
    </p:spTree>
    <p:extLst>
      <p:ext uri="{BB962C8B-B14F-4D97-AF65-F5344CB8AC3E}">
        <p14:creationId xmlns:p14="http://schemas.microsoft.com/office/powerpoint/2010/main" val="1864527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BE3E7C9-092F-BC12-D1B8-753394F87AA4}"/>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99AFA987-E9A0-5411-8E88-9FA7993FC5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CEFA023-DB62-7742-99A2-7242F4CA810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9FF30DA4-A319-FD9F-31CE-8D3EB0C7850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8DDDAE68-62D5-80C6-7CF8-E9146D9AAE9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6F8474A-AEB0-B446-B6F0-3655FF734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D973E09-D281-0A6E-19FD-988BFDBB0659}"/>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en-US" altLang="ja-JP" sz="4000" kern="1200">
                <a:solidFill>
                  <a:schemeClr val="bg1"/>
                </a:solidFill>
                <a:latin typeface="+mj-lt"/>
                <a:ea typeface="+mj-ea"/>
                <a:cs typeface="+mj-cs"/>
              </a:rPr>
              <a:t>BGR</a:t>
            </a:r>
            <a:br>
              <a:rPr kumimoji="1" lang="en-US" altLang="ja-JP" sz="4000" kern="1200">
                <a:solidFill>
                  <a:schemeClr val="bg1"/>
                </a:solidFill>
                <a:latin typeface="+mj-lt"/>
                <a:ea typeface="+mj-ea"/>
                <a:cs typeface="+mj-cs"/>
              </a:rPr>
            </a:br>
            <a:r>
              <a:rPr kumimoji="1" lang="ja-JP" altLang="en-US" sz="4000" kern="1200">
                <a:solidFill>
                  <a:schemeClr val="bg1"/>
                </a:solidFill>
                <a:latin typeface="+mj-lt"/>
                <a:ea typeface="+mj-ea"/>
                <a:cs typeface="+mj-cs"/>
              </a:rPr>
              <a:t>（</a:t>
            </a:r>
            <a:r>
              <a:rPr lang="en-US" altLang="ja-JP" sz="4000">
                <a:solidFill>
                  <a:schemeClr val="bg1"/>
                </a:solidFill>
              </a:rPr>
              <a:t>Band-Gap Reference</a:t>
            </a:r>
            <a:r>
              <a:rPr lang="ja-JP" altLang="en-US" sz="4000">
                <a:solidFill>
                  <a:schemeClr val="bg1"/>
                </a:solidFill>
              </a:rPr>
              <a:t>）</a:t>
            </a:r>
            <a:endParaRPr kumimoji="1" lang="ja-JP" altLang="en-US" sz="4000" kern="1200">
              <a:solidFill>
                <a:schemeClr val="bg1"/>
              </a:solidFill>
              <a:latin typeface="+mj-lt"/>
              <a:ea typeface="+mj-ea"/>
              <a:cs typeface="+mj-cs"/>
            </a:endParaRPr>
          </a:p>
        </p:txBody>
      </p:sp>
    </p:spTree>
    <p:extLst>
      <p:ext uri="{BB962C8B-B14F-4D97-AF65-F5344CB8AC3E}">
        <p14:creationId xmlns:p14="http://schemas.microsoft.com/office/powerpoint/2010/main" val="1860336742"/>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13">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15">
            <a:extLst>
              <a:ext uri="{FF2B5EF4-FFF2-40B4-BE49-F238E27FC236}">
                <a16:creationId xmlns:a16="http://schemas.microsoft.com/office/drawing/2014/main" id="{BE149CDF-5DAC-4860-A285-9492CF209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17">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1" name="Rectangle 19">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21">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タイトル 1">
            <a:extLst>
              <a:ext uri="{FF2B5EF4-FFF2-40B4-BE49-F238E27FC236}">
                <a16:creationId xmlns:a16="http://schemas.microsoft.com/office/drawing/2014/main" id="{533BD09E-0947-A4A0-792E-FD5B8CE15592}"/>
              </a:ext>
            </a:extLst>
          </p:cNvPr>
          <p:cNvSpPr>
            <a:spLocks noGrp="1"/>
          </p:cNvSpPr>
          <p:nvPr>
            <p:ph type="title"/>
          </p:nvPr>
        </p:nvSpPr>
        <p:spPr>
          <a:xfrm>
            <a:off x="1191966" y="905011"/>
            <a:ext cx="3629555" cy="1889135"/>
          </a:xfrm>
        </p:spPr>
        <p:txBody>
          <a:bodyPr anchor="b">
            <a:normAutofit/>
          </a:bodyPr>
          <a:lstStyle/>
          <a:p>
            <a:r>
              <a:rPr kumimoji="1" lang="ja-JP" altLang="en-US" sz="4800"/>
              <a:t>解説</a:t>
            </a:r>
          </a:p>
        </p:txBody>
      </p:sp>
      <p:sp>
        <p:nvSpPr>
          <p:cNvPr id="7" name="コンテンツ プレースホルダー 6">
            <a:extLst>
              <a:ext uri="{FF2B5EF4-FFF2-40B4-BE49-F238E27FC236}">
                <a16:creationId xmlns:a16="http://schemas.microsoft.com/office/drawing/2014/main" id="{818892BD-DDC1-D5E5-73C5-A9B88D162BFE}"/>
              </a:ext>
            </a:extLst>
          </p:cNvPr>
          <p:cNvSpPr>
            <a:spLocks noGrp="1"/>
          </p:cNvSpPr>
          <p:nvPr>
            <p:ph idx="1"/>
          </p:nvPr>
        </p:nvSpPr>
        <p:spPr>
          <a:xfrm>
            <a:off x="1191966" y="2965592"/>
            <a:ext cx="3881075" cy="2987397"/>
          </a:xfrm>
        </p:spPr>
        <p:txBody>
          <a:bodyPr>
            <a:normAutofit/>
          </a:bodyPr>
          <a:lstStyle/>
          <a:p>
            <a:r>
              <a:rPr lang="en-US" altLang="ja-JP" sz="1800"/>
              <a:t>Open</a:t>
            </a:r>
            <a:r>
              <a:rPr lang="ja-JP" altLang="en-US" sz="1800"/>
              <a:t> </a:t>
            </a:r>
            <a:r>
              <a:rPr lang="en-US" altLang="ja-JP" sz="1800"/>
              <a:t>Source</a:t>
            </a:r>
            <a:r>
              <a:rPr lang="ja-JP" altLang="en-US" sz="1800"/>
              <a:t> </a:t>
            </a:r>
            <a:r>
              <a:rPr lang="en-US" altLang="ja-JP" sz="1800"/>
              <a:t>Silicon</a:t>
            </a:r>
            <a:r>
              <a:rPr lang="ja-JP" altLang="en-US" sz="1800"/>
              <a:t> </a:t>
            </a:r>
            <a:r>
              <a:rPr lang="en-US" altLang="ja-JP" sz="1800"/>
              <a:t>Magazine</a:t>
            </a:r>
            <a:r>
              <a:rPr lang="ja-JP" altLang="en-US" sz="1800"/>
              <a:t> </a:t>
            </a:r>
            <a:r>
              <a:rPr lang="en-US" altLang="ja-JP" sz="1800"/>
              <a:t>Vol.2</a:t>
            </a:r>
            <a:r>
              <a:rPr lang="ja-JP" altLang="en-US" sz="1800"/>
              <a:t>を参照のこと</a:t>
            </a:r>
            <a:endParaRPr lang="en-US" altLang="ja-JP" sz="1800"/>
          </a:p>
          <a:p>
            <a:pPr lvl="1"/>
            <a:r>
              <a:rPr lang="en-US" altLang="ja-JP" sz="1800"/>
              <a:t>BGR</a:t>
            </a:r>
            <a:r>
              <a:rPr lang="ja-JP" altLang="en-US" sz="1800"/>
              <a:t>回路</a:t>
            </a:r>
            <a:endParaRPr lang="en-US" altLang="ja-JP" sz="1800"/>
          </a:p>
          <a:p>
            <a:pPr lvl="2"/>
            <a:r>
              <a:rPr lang="ja-JP" altLang="en-US" sz="1600"/>
              <a:t>コンパレータ動作の基準用</a:t>
            </a:r>
            <a:endParaRPr lang="en-US" altLang="ja-JP" sz="1600"/>
          </a:p>
          <a:p>
            <a:pPr lvl="1"/>
            <a:r>
              <a:rPr lang="ja-JP" altLang="en-US" sz="1800"/>
              <a:t>スタートアップ回路</a:t>
            </a:r>
            <a:endParaRPr lang="en-US" altLang="ja-JP" sz="1800"/>
          </a:p>
          <a:p>
            <a:pPr lvl="2"/>
            <a:r>
              <a:rPr lang="ja-JP" altLang="en-US" sz="1800"/>
              <a:t>ゼロ点防止</a:t>
            </a:r>
            <a:endParaRPr lang="en-US" altLang="ja-JP" sz="1800"/>
          </a:p>
          <a:p>
            <a:pPr lvl="1"/>
            <a:endParaRPr lang="en-US" altLang="ja-JP" sz="1800"/>
          </a:p>
          <a:p>
            <a:pPr lvl="1"/>
            <a:endParaRPr lang="ja-JP" altLang="en-US" sz="1800"/>
          </a:p>
        </p:txBody>
      </p:sp>
      <p:pic>
        <p:nvPicPr>
          <p:cNvPr id="9" name="図 8">
            <a:extLst>
              <a:ext uri="{FF2B5EF4-FFF2-40B4-BE49-F238E27FC236}">
                <a16:creationId xmlns:a16="http://schemas.microsoft.com/office/drawing/2014/main" id="{50D8D6D1-CBC2-C899-6CB6-A2616DE2AB0B}"/>
              </a:ext>
            </a:extLst>
          </p:cNvPr>
          <p:cNvPicPr>
            <a:picLocks noChangeAspect="1"/>
          </p:cNvPicPr>
          <p:nvPr/>
        </p:nvPicPr>
        <p:blipFill>
          <a:blip r:embed="rId3"/>
          <a:srcRect r="22725" b="1"/>
          <a:stretch>
            <a:fillRect/>
          </a:stretch>
        </p:blipFill>
        <p:spPr>
          <a:xfrm>
            <a:off x="5359151" y="895610"/>
            <a:ext cx="6107166" cy="5058020"/>
          </a:xfrm>
          <a:prstGeom prst="rect">
            <a:avLst/>
          </a:prstGeom>
        </p:spPr>
      </p:pic>
    </p:spTree>
    <p:extLst>
      <p:ext uri="{BB962C8B-B14F-4D97-AF65-F5344CB8AC3E}">
        <p14:creationId xmlns:p14="http://schemas.microsoft.com/office/powerpoint/2010/main" val="2925768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5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EA94C21-37C4-F0DB-8417-2CD1E2882342}"/>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kumimoji="1" lang="en-US" altLang="ja-JP" sz="4000" kern="1200">
                <a:latin typeface="+mj-lt"/>
                <a:ea typeface="+mj-ea"/>
                <a:cs typeface="+mj-cs"/>
              </a:rPr>
              <a:t>BGR</a:t>
            </a:r>
          </a:p>
        </p:txBody>
      </p:sp>
      <p:grpSp>
        <p:nvGrpSpPr>
          <p:cNvPr id="67" name="Group 5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58" name="Rectangle 5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5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 name="Rectangle 6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36">
            <a:extLst>
              <a:ext uri="{FF2B5EF4-FFF2-40B4-BE49-F238E27FC236}">
                <a16:creationId xmlns:a16="http://schemas.microsoft.com/office/drawing/2014/main" id="{9C747195-8D52-1982-2F65-1BF7A7D03D0F}"/>
              </a:ext>
            </a:extLst>
          </p:cNvPr>
          <p:cNvSpPr>
            <a:spLocks noGrp="1"/>
          </p:cNvSpPr>
          <p:nvPr>
            <p:ph idx="1"/>
          </p:nvPr>
        </p:nvSpPr>
        <p:spPr>
          <a:xfrm>
            <a:off x="590719" y="2330505"/>
            <a:ext cx="4559425" cy="3979585"/>
          </a:xfrm>
        </p:spPr>
        <p:txBody>
          <a:bodyPr anchor="ctr">
            <a:normAutofit/>
          </a:bodyPr>
          <a:lstStyle/>
          <a:p>
            <a:r>
              <a:rPr lang="ja-JP" altLang="en-US" sz="2000"/>
              <a:t>記事を参照してください！</a:t>
            </a:r>
            <a:endParaRPr lang="en-US" sz="2000"/>
          </a:p>
        </p:txBody>
      </p:sp>
      <p:sp>
        <p:nvSpPr>
          <p:cNvPr id="70" name="Rectangle 6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図 15">
            <a:extLst>
              <a:ext uri="{FF2B5EF4-FFF2-40B4-BE49-F238E27FC236}">
                <a16:creationId xmlns:a16="http://schemas.microsoft.com/office/drawing/2014/main" id="{BA756148-CDC3-3FA9-B9C0-4DF313838441}"/>
              </a:ext>
            </a:extLst>
          </p:cNvPr>
          <p:cNvPicPr>
            <a:picLocks noChangeAspect="1"/>
          </p:cNvPicPr>
          <p:nvPr/>
        </p:nvPicPr>
        <p:blipFill>
          <a:blip r:embed="rId2"/>
          <a:stretch>
            <a:fillRect/>
          </a:stretch>
        </p:blipFill>
        <p:spPr>
          <a:xfrm>
            <a:off x="6723967" y="575443"/>
            <a:ext cx="4396562" cy="5734647"/>
          </a:xfrm>
          <a:prstGeom prst="rect">
            <a:avLst/>
          </a:prstGeom>
        </p:spPr>
      </p:pic>
    </p:spTree>
    <p:extLst>
      <p:ext uri="{BB962C8B-B14F-4D97-AF65-F5344CB8AC3E}">
        <p14:creationId xmlns:p14="http://schemas.microsoft.com/office/powerpoint/2010/main" val="3500492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A46E1E1-9217-528C-221C-2E4941D5390C}"/>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C35A1F21-39E8-A881-5154-25951DD01D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97FAFF6-7F36-3EE0-CD02-96C8879FD1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60862097-ECC9-1B28-EC05-2D68B17E782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53DB235-33B3-11AC-376D-9AA44CF168D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4C9063DD-0EA3-A8F0-03F6-29491665C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84547DC9-A7B2-931A-4ABC-0D90E482C0FC}"/>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トランスミッションゲート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624608221"/>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5" name="Rectangle 410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A9BA5E5-0826-1BD9-F9C2-A8123844E66B}"/>
              </a:ext>
            </a:extLst>
          </p:cNvPr>
          <p:cNvSpPr>
            <a:spLocks noGrp="1"/>
          </p:cNvSpPr>
          <p:nvPr>
            <p:ph type="title"/>
          </p:nvPr>
        </p:nvSpPr>
        <p:spPr>
          <a:xfrm>
            <a:off x="793662" y="386930"/>
            <a:ext cx="10066122" cy="1298448"/>
          </a:xfrm>
        </p:spPr>
        <p:txBody>
          <a:bodyPr anchor="b">
            <a:normAutofit/>
          </a:bodyPr>
          <a:lstStyle/>
          <a:p>
            <a:r>
              <a:rPr kumimoji="1" lang="ja-JP" altLang="en-US" sz="4800"/>
              <a:t>トランスミッションゲート</a:t>
            </a:r>
          </a:p>
        </p:txBody>
      </p:sp>
      <p:sp>
        <p:nvSpPr>
          <p:cNvPr id="4116" name="Rectangle 410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7" name="Rectangle 410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8" name="Content Placeholder 4101">
            <a:extLst>
              <a:ext uri="{FF2B5EF4-FFF2-40B4-BE49-F238E27FC236}">
                <a16:creationId xmlns:a16="http://schemas.microsoft.com/office/drawing/2014/main" id="{D493EE92-4850-8DEE-3208-7FEABFFFE545}"/>
              </a:ext>
            </a:extLst>
          </p:cNvPr>
          <p:cNvSpPr>
            <a:spLocks noGrp="1"/>
          </p:cNvSpPr>
          <p:nvPr>
            <p:ph idx="1"/>
          </p:nvPr>
        </p:nvSpPr>
        <p:spPr>
          <a:xfrm>
            <a:off x="793661" y="2599509"/>
            <a:ext cx="4530898" cy="766913"/>
          </a:xfrm>
        </p:spPr>
        <p:txBody>
          <a:bodyPr anchor="ctr">
            <a:normAutofit/>
          </a:bodyPr>
          <a:lstStyle/>
          <a:p>
            <a:r>
              <a:rPr lang="ja-JP" altLang="en-US" sz="2000"/>
              <a:t>アナログ用のスイッチ</a:t>
            </a:r>
            <a:endParaRPr lang="en-US" sz="2000"/>
          </a:p>
        </p:txBody>
      </p:sp>
      <p:pic>
        <p:nvPicPr>
          <p:cNvPr id="4098" name="Picture 2" descr="undefined">
            <a:extLst>
              <a:ext uri="{FF2B5EF4-FFF2-40B4-BE49-F238E27FC236}">
                <a16:creationId xmlns:a16="http://schemas.microsoft.com/office/drawing/2014/main" id="{F9C543D2-0B8C-4EFB-D123-59EDE0E182B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62559" y="2484255"/>
            <a:ext cx="4048222" cy="3714244"/>
          </a:xfrm>
          <a:prstGeom prst="rect">
            <a:avLst/>
          </a:prstGeom>
          <a:noFill/>
          <a:extLst>
            <a:ext uri="{909E8E84-426E-40DD-AFC4-6F175D3DCCD1}">
              <a14:hiddenFill xmlns:a14="http://schemas.microsoft.com/office/drawing/2010/main">
                <a:solidFill>
                  <a:srgbClr val="FFFFFF"/>
                </a:solidFill>
              </a14:hiddenFill>
            </a:ext>
          </a:extLst>
        </p:spPr>
      </p:pic>
      <p:sp>
        <p:nvSpPr>
          <p:cNvPr id="4119" name="Rectangle 411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コンテンツ プレースホルダー 3">
            <a:extLst>
              <a:ext uri="{FF2B5EF4-FFF2-40B4-BE49-F238E27FC236}">
                <a16:creationId xmlns:a16="http://schemas.microsoft.com/office/drawing/2014/main" id="{277776BE-EDB7-1906-4438-BF363C54310D}"/>
              </a:ext>
            </a:extLst>
          </p:cNvPr>
          <p:cNvGraphicFramePr>
            <a:graphicFrameLocks/>
          </p:cNvGraphicFramePr>
          <p:nvPr>
            <p:extLst>
              <p:ext uri="{D42A27DB-BD31-4B8C-83A1-F6EECF244321}">
                <p14:modId xmlns:p14="http://schemas.microsoft.com/office/powerpoint/2010/main" val="1468645607"/>
              </p:ext>
            </p:extLst>
          </p:nvPr>
        </p:nvGraphicFramePr>
        <p:xfrm>
          <a:off x="629214" y="4076909"/>
          <a:ext cx="5341646" cy="2048930"/>
        </p:xfrm>
        <a:graphic>
          <a:graphicData uri="http://schemas.openxmlformats.org/drawingml/2006/table">
            <a:tbl>
              <a:tblPr>
                <a:tableStyleId>{00A15C55-8517-42AA-B614-E9B94910E393}</a:tableStyleId>
              </a:tblPr>
              <a:tblGrid>
                <a:gridCol w="1475740">
                  <a:extLst>
                    <a:ext uri="{9D8B030D-6E8A-4147-A177-3AD203B41FA5}">
                      <a16:colId xmlns:a16="http://schemas.microsoft.com/office/drawing/2014/main" val="962073469"/>
                    </a:ext>
                  </a:extLst>
                </a:gridCol>
                <a:gridCol w="1050290">
                  <a:extLst>
                    <a:ext uri="{9D8B030D-6E8A-4147-A177-3AD203B41FA5}">
                      <a16:colId xmlns:a16="http://schemas.microsoft.com/office/drawing/2014/main" val="2593076283"/>
                    </a:ext>
                  </a:extLst>
                </a:gridCol>
                <a:gridCol w="1055053">
                  <a:extLst>
                    <a:ext uri="{9D8B030D-6E8A-4147-A177-3AD203B41FA5}">
                      <a16:colId xmlns:a16="http://schemas.microsoft.com/office/drawing/2014/main" val="597615135"/>
                    </a:ext>
                  </a:extLst>
                </a:gridCol>
                <a:gridCol w="1760563">
                  <a:extLst>
                    <a:ext uri="{9D8B030D-6E8A-4147-A177-3AD203B41FA5}">
                      <a16:colId xmlns:a16="http://schemas.microsoft.com/office/drawing/2014/main" val="2013347952"/>
                    </a:ext>
                  </a:extLst>
                </a:gridCol>
              </a:tblGrid>
              <a:tr h="0">
                <a:tc>
                  <a:txBody>
                    <a:bodyPr/>
                    <a:lstStyle/>
                    <a:p>
                      <a:pPr rtl="0">
                        <a:buNone/>
                      </a:pPr>
                      <a:r>
                        <a:rPr lang="ja-JP" altLang="en-US" b="1">
                          <a:solidFill>
                            <a:srgbClr val="1F1F1F"/>
                          </a:solidFill>
                          <a:effectLst/>
                        </a:rPr>
                        <a:t>制御入力 </a:t>
                      </a:r>
                      <a:r>
                        <a:rPr lang="en-US" altLang="ja-JP" b="1">
                          <a:solidFill>
                            <a:srgbClr val="1F1F1F"/>
                          </a:solidFill>
                          <a:effectLst/>
                        </a:rPr>
                        <a:t>ST</a:t>
                      </a:r>
                      <a:endParaRPr lang="en-US">
                        <a:solidFill>
                          <a:srgbClr val="1F1F1F"/>
                        </a:solidFill>
                        <a:effectLst/>
                        <a:latin typeface="Google Sans Text"/>
                      </a:endParaRPr>
                    </a:p>
                  </a:txBody>
                  <a:tcPr marR="50800" marT="67733" marB="67733" anchor="ctr"/>
                </a:tc>
                <a:tc>
                  <a:txBody>
                    <a:bodyPr/>
                    <a:lstStyle/>
                    <a:p>
                      <a:pPr rtl="0">
                        <a:buNone/>
                      </a:pPr>
                      <a:r>
                        <a:rPr lang="ja-JP" altLang="en-US" b="1">
                          <a:solidFill>
                            <a:srgbClr val="1F1F1F"/>
                          </a:solidFill>
                          <a:effectLst/>
                        </a:rPr>
                        <a:t>入力 </a:t>
                      </a:r>
                      <a:r>
                        <a:rPr lang="en-US" altLang="ja-JP" b="1">
                          <a:solidFill>
                            <a:srgbClr val="1F1F1F"/>
                          </a:solidFill>
                          <a:effectLst/>
                        </a:rPr>
                        <a:t>U</a:t>
                      </a:r>
                      <a:r>
                        <a:rPr lang="en-US" b="1">
                          <a:solidFill>
                            <a:srgbClr val="1F1F1F"/>
                          </a:solidFill>
                          <a:effectLst/>
                        </a:rPr>
                        <a:t>A</a:t>
                      </a:r>
                      <a:endParaRPr lang="en-US">
                        <a:solidFill>
                          <a:srgbClr val="1F1F1F"/>
                        </a:solidFill>
                        <a:effectLst/>
                        <a:latin typeface="Google Sans Text"/>
                      </a:endParaRPr>
                    </a:p>
                  </a:txBody>
                  <a:tcPr marR="50800" marT="67733" marB="67733" anchor="ctr"/>
                </a:tc>
                <a:tc>
                  <a:txBody>
                    <a:bodyPr/>
                    <a:lstStyle/>
                    <a:p>
                      <a:pPr rtl="0">
                        <a:buNone/>
                      </a:pPr>
                      <a:r>
                        <a:rPr lang="ja-JP" altLang="en-US" b="1">
                          <a:solidFill>
                            <a:srgbClr val="1F1F1F"/>
                          </a:solidFill>
                          <a:effectLst/>
                        </a:rPr>
                        <a:t>出力 </a:t>
                      </a:r>
                      <a:r>
                        <a:rPr lang="en-US" altLang="ja-JP" b="1">
                          <a:solidFill>
                            <a:srgbClr val="1F1F1F"/>
                          </a:solidFill>
                          <a:effectLst/>
                        </a:rPr>
                        <a:t>U</a:t>
                      </a:r>
                      <a:r>
                        <a:rPr lang="en-US" b="1">
                          <a:solidFill>
                            <a:srgbClr val="1F1F1F"/>
                          </a:solidFill>
                          <a:effectLst/>
                        </a:rPr>
                        <a:t>B</a:t>
                      </a:r>
                      <a:endParaRPr lang="en-US">
                        <a:solidFill>
                          <a:srgbClr val="1F1F1F"/>
                        </a:solidFill>
                        <a:effectLst/>
                        <a:latin typeface="Google Sans Text"/>
                      </a:endParaRPr>
                    </a:p>
                  </a:txBody>
                  <a:tcPr marR="50800" marT="67733" marB="67733" anchor="ctr"/>
                </a:tc>
                <a:tc>
                  <a:txBody>
                    <a:bodyPr/>
                    <a:lstStyle/>
                    <a:p>
                      <a:pPr rtl="0">
                        <a:buNone/>
                      </a:pPr>
                      <a:r>
                        <a:rPr lang="ja-JP" altLang="en-US" b="1">
                          <a:solidFill>
                            <a:srgbClr val="1F1F1F"/>
                          </a:solidFill>
                          <a:effectLst/>
                        </a:rPr>
                        <a:t>状態</a:t>
                      </a:r>
                      <a:endParaRPr lang="ja-JP" altLang="en-US">
                        <a:solidFill>
                          <a:srgbClr val="1F1F1F"/>
                        </a:solidFill>
                        <a:effectLst/>
                        <a:latin typeface="Google Sans Text"/>
                      </a:endParaRPr>
                    </a:p>
                  </a:txBody>
                  <a:tcPr marT="67733" marB="67733" anchor="ctr"/>
                </a:tc>
                <a:extLst>
                  <a:ext uri="{0D108BD9-81ED-4DB2-BD59-A6C34878D82A}">
                    <a16:rowId xmlns:a16="http://schemas.microsoft.com/office/drawing/2014/main" val="1817043693"/>
                  </a:ext>
                </a:extLst>
              </a:tr>
              <a:tr h="0">
                <a:tc>
                  <a:txBody>
                    <a:bodyPr/>
                    <a:lstStyle/>
                    <a:p>
                      <a:pPr rtl="0">
                        <a:buNone/>
                      </a:pPr>
                      <a:r>
                        <a:rPr lang="en-US" b="1">
                          <a:solidFill>
                            <a:srgbClr val="1F1F1F"/>
                          </a:solidFill>
                          <a:effectLst/>
                        </a:rPr>
                        <a:t>0 (L)</a:t>
                      </a:r>
                      <a:endParaRPr lang="en-US">
                        <a:solidFill>
                          <a:srgbClr val="1F1F1F"/>
                        </a:solidFill>
                        <a:effectLst/>
                        <a:latin typeface="Google Sans Text"/>
                      </a:endParaRPr>
                    </a:p>
                  </a:txBody>
                  <a:tcPr marR="50800" marT="67733" marB="67733" anchor="ctr"/>
                </a:tc>
                <a:tc>
                  <a:txBody>
                    <a:bodyPr/>
                    <a:lstStyle/>
                    <a:p>
                      <a:pPr rtl="0">
                        <a:buNone/>
                      </a:pPr>
                      <a:r>
                        <a:rPr lang="en-US" altLang="ja-JP">
                          <a:solidFill>
                            <a:srgbClr val="1F1F1F"/>
                          </a:solidFill>
                          <a:effectLst/>
                        </a:rPr>
                        <a:t>0</a:t>
                      </a:r>
                      <a:endParaRPr lang="en-US" altLang="ja-JP">
                        <a:solidFill>
                          <a:srgbClr val="1F1F1F"/>
                        </a:solidFill>
                        <a:effectLst/>
                        <a:latin typeface="Google Sans Text"/>
                      </a:endParaRPr>
                    </a:p>
                  </a:txBody>
                  <a:tcPr marR="50800" marT="67733" marB="67733" anchor="ctr"/>
                </a:tc>
                <a:tc>
                  <a:txBody>
                    <a:bodyPr/>
                    <a:lstStyle/>
                    <a:p>
                      <a:pPr rtl="0">
                        <a:buNone/>
                      </a:pPr>
                      <a:r>
                        <a:rPr lang="en-US">
                          <a:solidFill>
                            <a:srgbClr val="1F1F1F"/>
                          </a:solidFill>
                          <a:effectLst/>
                        </a:rPr>
                        <a:t>Hi-Z</a:t>
                      </a:r>
                      <a:endParaRPr lang="en-US">
                        <a:solidFill>
                          <a:srgbClr val="1F1F1F"/>
                        </a:solidFill>
                        <a:effectLst/>
                        <a:latin typeface="Google Sans Text"/>
                      </a:endParaRPr>
                    </a:p>
                  </a:txBody>
                  <a:tcPr marR="50800" marT="67733" marB="67733" anchor="ctr"/>
                </a:tc>
                <a:tc>
                  <a:txBody>
                    <a:bodyPr/>
                    <a:lstStyle/>
                    <a:p>
                      <a:pPr rtl="0">
                        <a:buNone/>
                      </a:pPr>
                      <a:r>
                        <a:rPr lang="ja-JP" altLang="en-US">
                          <a:solidFill>
                            <a:srgbClr val="1F1F1F"/>
                          </a:solidFill>
                          <a:effectLst/>
                        </a:rPr>
                        <a:t>遮断 </a:t>
                      </a:r>
                      <a:r>
                        <a:rPr lang="en-US" altLang="ja-JP">
                          <a:solidFill>
                            <a:srgbClr val="1F1F1F"/>
                          </a:solidFill>
                          <a:effectLst/>
                        </a:rPr>
                        <a:t>(</a:t>
                      </a:r>
                      <a:r>
                        <a:rPr lang="en-US">
                          <a:solidFill>
                            <a:srgbClr val="1F1F1F"/>
                          </a:solidFill>
                          <a:effectLst/>
                        </a:rPr>
                        <a:t>OFF)</a:t>
                      </a:r>
                      <a:endParaRPr lang="en-US">
                        <a:solidFill>
                          <a:srgbClr val="1F1F1F"/>
                        </a:solidFill>
                        <a:effectLst/>
                        <a:latin typeface="Google Sans Text"/>
                      </a:endParaRPr>
                    </a:p>
                  </a:txBody>
                  <a:tcPr marT="67733" marB="67733" anchor="ctr"/>
                </a:tc>
                <a:extLst>
                  <a:ext uri="{0D108BD9-81ED-4DB2-BD59-A6C34878D82A}">
                    <a16:rowId xmlns:a16="http://schemas.microsoft.com/office/drawing/2014/main" val="146994684"/>
                  </a:ext>
                </a:extLst>
              </a:tr>
              <a:tr h="0">
                <a:tc>
                  <a:txBody>
                    <a:bodyPr/>
                    <a:lstStyle/>
                    <a:p>
                      <a:pPr rtl="0">
                        <a:buNone/>
                      </a:pPr>
                      <a:r>
                        <a:rPr lang="en-US" b="1">
                          <a:solidFill>
                            <a:srgbClr val="1F1F1F"/>
                          </a:solidFill>
                          <a:effectLst/>
                        </a:rPr>
                        <a:t>0 (L)</a:t>
                      </a:r>
                      <a:endParaRPr lang="en-US">
                        <a:solidFill>
                          <a:srgbClr val="1F1F1F"/>
                        </a:solidFill>
                        <a:effectLst/>
                        <a:latin typeface="Google Sans Text"/>
                      </a:endParaRPr>
                    </a:p>
                  </a:txBody>
                  <a:tcPr marR="50800" marT="67733" marB="67733" anchor="ctr"/>
                </a:tc>
                <a:tc>
                  <a:txBody>
                    <a:bodyPr/>
                    <a:lstStyle/>
                    <a:p>
                      <a:pPr rtl="0">
                        <a:buNone/>
                      </a:pPr>
                      <a:r>
                        <a:rPr lang="en-US" altLang="ja-JP">
                          <a:solidFill>
                            <a:srgbClr val="1F1F1F"/>
                          </a:solidFill>
                          <a:effectLst/>
                        </a:rPr>
                        <a:t>1</a:t>
                      </a:r>
                      <a:endParaRPr lang="en-US" altLang="ja-JP">
                        <a:solidFill>
                          <a:srgbClr val="1F1F1F"/>
                        </a:solidFill>
                        <a:effectLst/>
                        <a:latin typeface="Google Sans Text"/>
                      </a:endParaRPr>
                    </a:p>
                  </a:txBody>
                  <a:tcPr marR="50800" marT="67733" marB="67733" anchor="ctr"/>
                </a:tc>
                <a:tc>
                  <a:txBody>
                    <a:bodyPr/>
                    <a:lstStyle/>
                    <a:p>
                      <a:pPr rtl="0">
                        <a:buNone/>
                      </a:pPr>
                      <a:r>
                        <a:rPr lang="en-US">
                          <a:solidFill>
                            <a:srgbClr val="1F1F1F"/>
                          </a:solidFill>
                          <a:effectLst/>
                        </a:rPr>
                        <a:t>Hi-Z</a:t>
                      </a:r>
                      <a:endParaRPr lang="en-US">
                        <a:solidFill>
                          <a:srgbClr val="1F1F1F"/>
                        </a:solidFill>
                        <a:effectLst/>
                        <a:latin typeface="Google Sans Text"/>
                      </a:endParaRPr>
                    </a:p>
                  </a:txBody>
                  <a:tcPr marR="50800" marT="67733" marB="67733" anchor="ctr"/>
                </a:tc>
                <a:tc>
                  <a:txBody>
                    <a:bodyPr/>
                    <a:lstStyle/>
                    <a:p>
                      <a:pPr rtl="0">
                        <a:buNone/>
                      </a:pPr>
                      <a:r>
                        <a:rPr lang="ja-JP" altLang="en-US">
                          <a:solidFill>
                            <a:srgbClr val="1F1F1F"/>
                          </a:solidFill>
                          <a:effectLst/>
                        </a:rPr>
                        <a:t>遮断 </a:t>
                      </a:r>
                      <a:r>
                        <a:rPr lang="en-US" altLang="ja-JP">
                          <a:solidFill>
                            <a:srgbClr val="1F1F1F"/>
                          </a:solidFill>
                          <a:effectLst/>
                        </a:rPr>
                        <a:t>(</a:t>
                      </a:r>
                      <a:r>
                        <a:rPr lang="en-US">
                          <a:solidFill>
                            <a:srgbClr val="1F1F1F"/>
                          </a:solidFill>
                          <a:effectLst/>
                        </a:rPr>
                        <a:t>OFF)</a:t>
                      </a:r>
                      <a:endParaRPr lang="en-US">
                        <a:solidFill>
                          <a:srgbClr val="1F1F1F"/>
                        </a:solidFill>
                        <a:effectLst/>
                        <a:latin typeface="Google Sans Text"/>
                      </a:endParaRPr>
                    </a:p>
                  </a:txBody>
                  <a:tcPr marT="67733" marB="67733" anchor="ctr"/>
                </a:tc>
                <a:extLst>
                  <a:ext uri="{0D108BD9-81ED-4DB2-BD59-A6C34878D82A}">
                    <a16:rowId xmlns:a16="http://schemas.microsoft.com/office/drawing/2014/main" val="2975454627"/>
                  </a:ext>
                </a:extLst>
              </a:tr>
              <a:tr h="0">
                <a:tc>
                  <a:txBody>
                    <a:bodyPr/>
                    <a:lstStyle/>
                    <a:p>
                      <a:pPr rtl="0">
                        <a:buNone/>
                      </a:pPr>
                      <a:r>
                        <a:rPr lang="en-US" b="1">
                          <a:solidFill>
                            <a:srgbClr val="1F1F1F"/>
                          </a:solidFill>
                          <a:effectLst/>
                        </a:rPr>
                        <a:t>1 (H)</a:t>
                      </a:r>
                      <a:endParaRPr lang="en-US">
                        <a:solidFill>
                          <a:srgbClr val="1F1F1F"/>
                        </a:solidFill>
                        <a:effectLst/>
                        <a:latin typeface="Google Sans Text"/>
                      </a:endParaRPr>
                    </a:p>
                  </a:txBody>
                  <a:tcPr marR="50800" marT="67733" marB="67733" anchor="ctr"/>
                </a:tc>
                <a:tc>
                  <a:txBody>
                    <a:bodyPr/>
                    <a:lstStyle/>
                    <a:p>
                      <a:pPr rtl="0">
                        <a:buNone/>
                      </a:pPr>
                      <a:r>
                        <a:rPr lang="en-US" altLang="ja-JP">
                          <a:solidFill>
                            <a:srgbClr val="1F1F1F"/>
                          </a:solidFill>
                          <a:effectLst/>
                        </a:rPr>
                        <a:t>0</a:t>
                      </a:r>
                      <a:endParaRPr lang="en-US" altLang="ja-JP">
                        <a:solidFill>
                          <a:srgbClr val="1F1F1F"/>
                        </a:solidFill>
                        <a:effectLst/>
                        <a:latin typeface="Google Sans Text"/>
                      </a:endParaRPr>
                    </a:p>
                  </a:txBody>
                  <a:tcPr marR="50800" marT="67733" marB="67733" anchor="ctr"/>
                </a:tc>
                <a:tc>
                  <a:txBody>
                    <a:bodyPr/>
                    <a:lstStyle/>
                    <a:p>
                      <a:pPr rtl="0">
                        <a:buNone/>
                      </a:pPr>
                      <a:r>
                        <a:rPr lang="en-US" altLang="ja-JP" b="1">
                          <a:solidFill>
                            <a:srgbClr val="1F1F1F"/>
                          </a:solidFill>
                          <a:effectLst/>
                        </a:rPr>
                        <a:t>0</a:t>
                      </a:r>
                      <a:endParaRPr lang="ja-JP" altLang="en-US">
                        <a:solidFill>
                          <a:srgbClr val="1F1F1F"/>
                        </a:solidFill>
                        <a:effectLst/>
                        <a:latin typeface="Google Sans Text"/>
                      </a:endParaRPr>
                    </a:p>
                  </a:txBody>
                  <a:tcPr marR="50800" marT="67733" marB="67733" anchor="ctr"/>
                </a:tc>
                <a:tc>
                  <a:txBody>
                    <a:bodyPr/>
                    <a:lstStyle/>
                    <a:p>
                      <a:pPr rtl="0">
                        <a:buNone/>
                      </a:pPr>
                      <a:r>
                        <a:rPr lang="ja-JP" altLang="en-US">
                          <a:solidFill>
                            <a:srgbClr val="1F1F1F"/>
                          </a:solidFill>
                          <a:effectLst/>
                        </a:rPr>
                        <a:t>導通 </a:t>
                      </a:r>
                      <a:r>
                        <a:rPr lang="en-US" altLang="ja-JP">
                          <a:solidFill>
                            <a:srgbClr val="1F1F1F"/>
                          </a:solidFill>
                          <a:effectLst/>
                        </a:rPr>
                        <a:t>(</a:t>
                      </a:r>
                      <a:r>
                        <a:rPr lang="en-US">
                          <a:solidFill>
                            <a:srgbClr val="1F1F1F"/>
                          </a:solidFill>
                          <a:effectLst/>
                        </a:rPr>
                        <a:t>ON)</a:t>
                      </a:r>
                      <a:endParaRPr lang="en-US">
                        <a:solidFill>
                          <a:srgbClr val="1F1F1F"/>
                        </a:solidFill>
                        <a:effectLst/>
                        <a:latin typeface="Google Sans Text"/>
                      </a:endParaRPr>
                    </a:p>
                  </a:txBody>
                  <a:tcPr marT="67733" marB="67733" anchor="ctr"/>
                </a:tc>
                <a:extLst>
                  <a:ext uri="{0D108BD9-81ED-4DB2-BD59-A6C34878D82A}">
                    <a16:rowId xmlns:a16="http://schemas.microsoft.com/office/drawing/2014/main" val="4252008064"/>
                  </a:ext>
                </a:extLst>
              </a:tr>
              <a:tr h="0">
                <a:tc>
                  <a:txBody>
                    <a:bodyPr/>
                    <a:lstStyle/>
                    <a:p>
                      <a:pPr rtl="0">
                        <a:buNone/>
                      </a:pPr>
                      <a:r>
                        <a:rPr lang="en-US" b="1">
                          <a:solidFill>
                            <a:srgbClr val="1F1F1F"/>
                          </a:solidFill>
                          <a:effectLst/>
                        </a:rPr>
                        <a:t>1 (H)</a:t>
                      </a:r>
                      <a:endParaRPr lang="en-US">
                        <a:solidFill>
                          <a:srgbClr val="1F1F1F"/>
                        </a:solidFill>
                        <a:effectLst/>
                        <a:latin typeface="Google Sans Text"/>
                      </a:endParaRPr>
                    </a:p>
                  </a:txBody>
                  <a:tcPr marR="50800" marT="67733" marB="67733" anchor="ctr"/>
                </a:tc>
                <a:tc>
                  <a:txBody>
                    <a:bodyPr/>
                    <a:lstStyle/>
                    <a:p>
                      <a:pPr rtl="0">
                        <a:buNone/>
                      </a:pPr>
                      <a:r>
                        <a:rPr lang="en-US" altLang="ja-JP">
                          <a:solidFill>
                            <a:srgbClr val="1F1F1F"/>
                          </a:solidFill>
                          <a:effectLst/>
                        </a:rPr>
                        <a:t>1</a:t>
                      </a:r>
                      <a:endParaRPr lang="en-US" altLang="ja-JP">
                        <a:solidFill>
                          <a:srgbClr val="1F1F1F"/>
                        </a:solidFill>
                        <a:effectLst/>
                        <a:latin typeface="Google Sans Text"/>
                      </a:endParaRPr>
                    </a:p>
                  </a:txBody>
                  <a:tcPr marR="50800" marT="67733" marB="67733" anchor="ctr"/>
                </a:tc>
                <a:tc>
                  <a:txBody>
                    <a:bodyPr/>
                    <a:lstStyle/>
                    <a:p>
                      <a:pPr rtl="0">
                        <a:buNone/>
                      </a:pPr>
                      <a:r>
                        <a:rPr lang="en-US" altLang="ja-JP" b="1">
                          <a:solidFill>
                            <a:srgbClr val="1F1F1F"/>
                          </a:solidFill>
                          <a:effectLst/>
                        </a:rPr>
                        <a:t>1</a:t>
                      </a:r>
                      <a:endParaRPr lang="ja-JP" altLang="en-US">
                        <a:solidFill>
                          <a:srgbClr val="1F1F1F"/>
                        </a:solidFill>
                        <a:effectLst/>
                        <a:latin typeface="Google Sans Text"/>
                      </a:endParaRPr>
                    </a:p>
                  </a:txBody>
                  <a:tcPr marR="50800" marT="67733" marB="67733" anchor="ctr"/>
                </a:tc>
                <a:tc>
                  <a:txBody>
                    <a:bodyPr/>
                    <a:lstStyle/>
                    <a:p>
                      <a:pPr rtl="0">
                        <a:buNone/>
                      </a:pPr>
                      <a:r>
                        <a:rPr lang="ja-JP" altLang="en-US">
                          <a:solidFill>
                            <a:srgbClr val="1F1F1F"/>
                          </a:solidFill>
                          <a:effectLst/>
                        </a:rPr>
                        <a:t>導通 </a:t>
                      </a:r>
                      <a:r>
                        <a:rPr lang="en-US" altLang="ja-JP">
                          <a:solidFill>
                            <a:srgbClr val="1F1F1F"/>
                          </a:solidFill>
                          <a:effectLst/>
                        </a:rPr>
                        <a:t>(</a:t>
                      </a:r>
                      <a:r>
                        <a:rPr lang="en-US">
                          <a:solidFill>
                            <a:srgbClr val="1F1F1F"/>
                          </a:solidFill>
                          <a:effectLst/>
                        </a:rPr>
                        <a:t>ON)</a:t>
                      </a:r>
                      <a:endParaRPr lang="en-US">
                        <a:solidFill>
                          <a:srgbClr val="1F1F1F"/>
                        </a:solidFill>
                        <a:effectLst/>
                        <a:latin typeface="Google Sans Text"/>
                      </a:endParaRPr>
                    </a:p>
                  </a:txBody>
                  <a:tcPr marT="67733" marB="67733" anchor="ctr"/>
                </a:tc>
                <a:extLst>
                  <a:ext uri="{0D108BD9-81ED-4DB2-BD59-A6C34878D82A}">
                    <a16:rowId xmlns:a16="http://schemas.microsoft.com/office/drawing/2014/main" val="1101509700"/>
                  </a:ext>
                </a:extLst>
              </a:tr>
            </a:tbl>
          </a:graphicData>
        </a:graphic>
      </p:graphicFrame>
    </p:spTree>
    <p:extLst>
      <p:ext uri="{BB962C8B-B14F-4D97-AF65-F5344CB8AC3E}">
        <p14:creationId xmlns:p14="http://schemas.microsoft.com/office/powerpoint/2010/main" val="1440243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322F7C-7EFF-9178-7336-868E7BA1A6E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F687420-BEB4-45CD-8226-339BE553B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787B8B8-456B-A5C0-984F-1CB1F14CB443}"/>
              </a:ext>
            </a:extLst>
          </p:cNvPr>
          <p:cNvSpPr>
            <a:spLocks noGrp="1"/>
          </p:cNvSpPr>
          <p:nvPr>
            <p:ph type="title"/>
          </p:nvPr>
        </p:nvSpPr>
        <p:spPr>
          <a:xfrm>
            <a:off x="645064" y="525982"/>
            <a:ext cx="4282983" cy="1200361"/>
          </a:xfrm>
        </p:spPr>
        <p:txBody>
          <a:bodyPr anchor="b">
            <a:normAutofit/>
          </a:bodyPr>
          <a:lstStyle/>
          <a:p>
            <a:r>
              <a:rPr lang="ja-JP" altLang="en-US" sz="3600"/>
              <a:t>動作内容</a:t>
            </a:r>
            <a:endParaRPr kumimoji="1" lang="ja-JP" altLang="en-US" sz="3600"/>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703BA62-9A98-AE0F-B4EE-379AFB6D9F21}"/>
              </a:ext>
            </a:extLst>
          </p:cNvPr>
          <p:cNvSpPr>
            <a:spLocks noGrp="1"/>
          </p:cNvSpPr>
          <p:nvPr>
            <p:ph idx="1"/>
          </p:nvPr>
        </p:nvSpPr>
        <p:spPr>
          <a:xfrm>
            <a:off x="645065" y="2031101"/>
            <a:ext cx="4912851" cy="3511943"/>
          </a:xfrm>
        </p:spPr>
        <p:txBody>
          <a:bodyPr anchor="ctr">
            <a:normAutofit/>
          </a:bodyPr>
          <a:lstStyle/>
          <a:p>
            <a:r>
              <a:rPr lang="en-US" altLang="ja-JP" sz="1800" err="1"/>
              <a:t>Vctrl</a:t>
            </a:r>
            <a:r>
              <a:rPr lang="en-US" altLang="ja-JP" sz="1800"/>
              <a:t> = High</a:t>
            </a:r>
          </a:p>
          <a:p>
            <a:pPr lvl="1"/>
            <a:r>
              <a:rPr lang="en-US" altLang="ja-JP" sz="1400"/>
              <a:t>XM2</a:t>
            </a:r>
            <a:r>
              <a:rPr lang="ja-JP" altLang="en-US" sz="1400"/>
              <a:t>（</a:t>
            </a:r>
            <a:r>
              <a:rPr lang="en-US" altLang="ja-JP" sz="1400"/>
              <a:t>NMOS</a:t>
            </a:r>
            <a:r>
              <a:rPr lang="ja-JP" altLang="en-US" sz="1400"/>
              <a:t>）がオン</a:t>
            </a:r>
          </a:p>
          <a:p>
            <a:pPr lvl="1"/>
            <a:r>
              <a:rPr lang="en-US" altLang="ja-JP" sz="1400"/>
              <a:t>XM1</a:t>
            </a:r>
            <a:r>
              <a:rPr lang="ja-JP" altLang="en-US" sz="1400"/>
              <a:t>（</a:t>
            </a:r>
            <a:r>
              <a:rPr lang="en-US" altLang="ja-JP" sz="1400"/>
              <a:t>PMOS</a:t>
            </a:r>
            <a:r>
              <a:rPr lang="ja-JP" altLang="en-US" sz="1400"/>
              <a:t>）は </a:t>
            </a:r>
            <a:r>
              <a:rPr lang="en-US" altLang="ja-JP" sz="1400" err="1"/>
              <a:t>Vctrl</a:t>
            </a:r>
            <a:r>
              <a:rPr lang="en-US" altLang="ja-JP" sz="1400"/>
              <a:t> </a:t>
            </a:r>
            <a:r>
              <a:rPr lang="ja-JP" altLang="en-US" sz="1400"/>
              <a:t>の反転でオン</a:t>
            </a:r>
            <a:endParaRPr lang="en-US" altLang="ja-JP" sz="1400"/>
          </a:p>
          <a:p>
            <a:pPr lvl="1"/>
            <a:r>
              <a:rPr lang="en-US" altLang="ja-JP" sz="1400"/>
              <a:t>Vin </a:t>
            </a:r>
            <a:r>
              <a:rPr lang="ja-JP" altLang="en-US" sz="1400"/>
              <a:t>が </a:t>
            </a:r>
            <a:r>
              <a:rPr lang="en-US" altLang="ja-JP" sz="1400" err="1"/>
              <a:t>Vout</a:t>
            </a:r>
            <a:r>
              <a:rPr lang="en-US" altLang="ja-JP" sz="1400"/>
              <a:t> </a:t>
            </a:r>
            <a:r>
              <a:rPr lang="ja-JP" altLang="en-US" sz="1400"/>
              <a:t>に伝わる</a:t>
            </a:r>
          </a:p>
          <a:p>
            <a:r>
              <a:rPr lang="en-US" altLang="ja-JP" sz="1800" err="1"/>
              <a:t>Vctrl</a:t>
            </a:r>
            <a:r>
              <a:rPr lang="en-US" altLang="ja-JP" sz="1800"/>
              <a:t> = Low</a:t>
            </a:r>
          </a:p>
          <a:p>
            <a:pPr lvl="1"/>
            <a:r>
              <a:rPr lang="en-US" altLang="ja-JP" sz="1400"/>
              <a:t>XM1, XM2 </a:t>
            </a:r>
            <a:r>
              <a:rPr lang="ja-JP" altLang="en-US" sz="1400"/>
              <a:t>ともにオフ</a:t>
            </a:r>
          </a:p>
          <a:p>
            <a:pPr lvl="1"/>
            <a:r>
              <a:rPr lang="en-US" altLang="ja-JP" sz="1400"/>
              <a:t>Vin </a:t>
            </a:r>
            <a:r>
              <a:rPr lang="ja-JP" altLang="en-US" sz="1400"/>
              <a:t>と </a:t>
            </a:r>
            <a:r>
              <a:rPr lang="en-US" altLang="ja-JP" sz="1400" err="1"/>
              <a:t>Vout</a:t>
            </a:r>
            <a:r>
              <a:rPr lang="en-US" altLang="ja-JP" sz="1400"/>
              <a:t> </a:t>
            </a:r>
            <a:r>
              <a:rPr lang="ja-JP" altLang="en-US" sz="1400"/>
              <a:t>は切り離される</a:t>
            </a:r>
            <a:endParaRPr lang="en-US" altLang="ja-JP" sz="1400"/>
          </a:p>
          <a:p>
            <a:pPr lvl="2"/>
            <a:r>
              <a:rPr lang="en-US" altLang="ja-JP" sz="1000"/>
              <a:t>XM5</a:t>
            </a:r>
            <a:r>
              <a:rPr lang="ja-JP" altLang="en-US" sz="1000"/>
              <a:t>が </a:t>
            </a:r>
            <a:r>
              <a:rPr lang="en-US" altLang="ja-JP" sz="1000"/>
              <a:t>ON </a:t>
            </a:r>
            <a:r>
              <a:rPr lang="ja-JP" altLang="en-US" sz="1000"/>
              <a:t>になり、</a:t>
            </a:r>
            <a:r>
              <a:rPr lang="en-US" altLang="ja-JP" sz="1000" err="1"/>
              <a:t>Vout</a:t>
            </a:r>
            <a:r>
              <a:rPr lang="en-US" altLang="ja-JP" sz="1000"/>
              <a:t> </a:t>
            </a:r>
            <a:r>
              <a:rPr lang="ja-JP" altLang="en-US" sz="1000"/>
              <a:t>を強制的に </a:t>
            </a:r>
            <a:r>
              <a:rPr lang="en-US" altLang="ja-JP" sz="1000"/>
              <a:t>GND</a:t>
            </a:r>
            <a:r>
              <a:rPr lang="ja-JP" altLang="en-US" sz="1000"/>
              <a:t>にする</a:t>
            </a:r>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1436C8E9-5C19-2DDA-F505-A1A2A594D97F}"/>
              </a:ext>
            </a:extLst>
          </p:cNvPr>
          <p:cNvPicPr>
            <a:picLocks noChangeAspect="1"/>
          </p:cNvPicPr>
          <p:nvPr/>
        </p:nvPicPr>
        <p:blipFill>
          <a:blip r:embed="rId2"/>
          <a:stretch>
            <a:fillRect/>
          </a:stretch>
        </p:blipFill>
        <p:spPr>
          <a:xfrm>
            <a:off x="5722901" y="1429792"/>
            <a:ext cx="6158865" cy="3765546"/>
          </a:xfrm>
          <a:prstGeom prst="rect">
            <a:avLst/>
          </a:prstGeom>
        </p:spPr>
      </p:pic>
    </p:spTree>
    <p:extLst>
      <p:ext uri="{BB962C8B-B14F-4D97-AF65-F5344CB8AC3E}">
        <p14:creationId xmlns:p14="http://schemas.microsoft.com/office/powerpoint/2010/main" val="297513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142E73-431B-F489-5573-73B2C4B944E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B7B5DE-C19B-E3EE-45E6-C46EEBAC9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AFE0058-C577-66C6-9A6B-4706C2CA3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2" name="Rectangle 11">
              <a:extLst>
                <a:ext uri="{FF2B5EF4-FFF2-40B4-BE49-F238E27FC236}">
                  <a16:creationId xmlns:a16="http://schemas.microsoft.com/office/drawing/2014/main" id="{BF3965E6-51EC-55B5-D367-8E2B43BD7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8598A4-0BEC-D0C5-6EA9-301BB9380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77B5FC36-BB4E-2E82-5A49-E6E1E07EA0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8A2AAA7-71F2-6188-E564-5B811FF46C0F}"/>
              </a:ext>
            </a:extLst>
          </p:cNvPr>
          <p:cNvSpPr>
            <a:spLocks noGrp="1"/>
          </p:cNvSpPr>
          <p:nvPr>
            <p:ph type="title"/>
          </p:nvPr>
        </p:nvSpPr>
        <p:spPr>
          <a:xfrm>
            <a:off x="1282963" y="1238080"/>
            <a:ext cx="9849751" cy="1349671"/>
          </a:xfrm>
        </p:spPr>
        <p:txBody>
          <a:bodyPr anchor="b">
            <a:normAutofit/>
          </a:bodyPr>
          <a:lstStyle/>
          <a:p>
            <a:r>
              <a:rPr kumimoji="1" lang="ja-JP" altLang="en-US" sz="5400"/>
              <a:t>設計方針</a:t>
            </a:r>
          </a:p>
        </p:txBody>
      </p:sp>
      <p:graphicFrame>
        <p:nvGraphicFramePr>
          <p:cNvPr id="6" name="コンテンツ プレースホルダー 3">
            <a:extLst>
              <a:ext uri="{FF2B5EF4-FFF2-40B4-BE49-F238E27FC236}">
                <a16:creationId xmlns:a16="http://schemas.microsoft.com/office/drawing/2014/main" id="{55DD7297-24A9-943F-D058-E8E60AAE4CAF}"/>
              </a:ext>
            </a:extLst>
          </p:cNvPr>
          <p:cNvGraphicFramePr>
            <a:graphicFrameLocks/>
          </p:cNvGraphicFramePr>
          <p:nvPr/>
        </p:nvGraphicFramePr>
        <p:xfrm>
          <a:off x="838200" y="3030212"/>
          <a:ext cx="10640330" cy="2323250"/>
        </p:xfrm>
        <a:graphic>
          <a:graphicData uri="http://schemas.openxmlformats.org/drawingml/2006/table">
            <a:tbl>
              <a:tblPr>
                <a:tableStyleId>{8A107856-5554-42FB-B03E-39F5DBC370BA}</a:tableStyleId>
              </a:tblPr>
              <a:tblGrid>
                <a:gridCol w="1696349">
                  <a:extLst>
                    <a:ext uri="{9D8B030D-6E8A-4147-A177-3AD203B41FA5}">
                      <a16:colId xmlns:a16="http://schemas.microsoft.com/office/drawing/2014/main" val="3711947888"/>
                    </a:ext>
                  </a:extLst>
                </a:gridCol>
                <a:gridCol w="3187057">
                  <a:extLst>
                    <a:ext uri="{9D8B030D-6E8A-4147-A177-3AD203B41FA5}">
                      <a16:colId xmlns:a16="http://schemas.microsoft.com/office/drawing/2014/main" val="2177769385"/>
                    </a:ext>
                  </a:extLst>
                </a:gridCol>
                <a:gridCol w="5756924">
                  <a:extLst>
                    <a:ext uri="{9D8B030D-6E8A-4147-A177-3AD203B41FA5}">
                      <a16:colId xmlns:a16="http://schemas.microsoft.com/office/drawing/2014/main" val="1074219041"/>
                    </a:ext>
                  </a:extLst>
                </a:gridCol>
              </a:tblGrid>
              <a:tr h="0">
                <a:tc>
                  <a:txBody>
                    <a:bodyPr/>
                    <a:lstStyle/>
                    <a:p>
                      <a:pPr rtl="0">
                        <a:buNone/>
                      </a:pPr>
                      <a:r>
                        <a:rPr lang="ja-JP" altLang="en-US" b="1">
                          <a:solidFill>
                            <a:srgbClr val="1F1F1F"/>
                          </a:solidFill>
                          <a:effectLst/>
                        </a:rPr>
                        <a:t>インスタンス</a:t>
                      </a:r>
                      <a:endParaRPr lang="ja-JP" altLang="en-US">
                        <a:solidFill>
                          <a:srgbClr val="1F1F1F"/>
                        </a:solidFill>
                        <a:effectLst/>
                        <a:latin typeface="Google Sans Text"/>
                      </a:endParaRPr>
                    </a:p>
                  </a:txBody>
                  <a:tcPr marR="50800" marT="67733" marB="67733" anchor="ctr"/>
                </a:tc>
                <a:tc>
                  <a:txBody>
                    <a:bodyPr/>
                    <a:lstStyle/>
                    <a:p>
                      <a:pPr rtl="0">
                        <a:buNone/>
                      </a:pPr>
                      <a:r>
                        <a:rPr lang="ja-JP" altLang="en-US" b="1">
                          <a:solidFill>
                            <a:srgbClr val="1F1F1F"/>
                          </a:solidFill>
                          <a:effectLst/>
                        </a:rPr>
                        <a:t>種類</a:t>
                      </a:r>
                      <a:endParaRPr lang="ja-JP" altLang="en-US">
                        <a:solidFill>
                          <a:srgbClr val="1F1F1F"/>
                        </a:solidFill>
                        <a:effectLst/>
                        <a:latin typeface="Google Sans Text"/>
                      </a:endParaRPr>
                    </a:p>
                  </a:txBody>
                  <a:tcPr marR="50800" marT="67733" marB="67733" anchor="ctr"/>
                </a:tc>
                <a:tc>
                  <a:txBody>
                    <a:bodyPr/>
                    <a:lstStyle/>
                    <a:p>
                      <a:pPr rtl="0">
                        <a:buNone/>
                      </a:pPr>
                      <a:r>
                        <a:rPr lang="ja-JP" altLang="en-US" b="1">
                          <a:solidFill>
                            <a:srgbClr val="1F1F1F"/>
                          </a:solidFill>
                          <a:effectLst/>
                        </a:rPr>
                        <a:t>サイズ決定のポイント</a:t>
                      </a:r>
                      <a:endParaRPr lang="ja-JP" altLang="en-US">
                        <a:solidFill>
                          <a:srgbClr val="1F1F1F"/>
                        </a:solidFill>
                        <a:effectLst/>
                        <a:latin typeface="Google Sans Text"/>
                      </a:endParaRPr>
                    </a:p>
                  </a:txBody>
                  <a:tcPr marT="67733" marB="67733" anchor="ctr"/>
                </a:tc>
                <a:extLst>
                  <a:ext uri="{0D108BD9-81ED-4DB2-BD59-A6C34878D82A}">
                    <a16:rowId xmlns:a16="http://schemas.microsoft.com/office/drawing/2014/main" val="3596098477"/>
                  </a:ext>
                </a:extLst>
              </a:tr>
              <a:tr h="0">
                <a:tc>
                  <a:txBody>
                    <a:bodyPr/>
                    <a:lstStyle/>
                    <a:p>
                      <a:pPr rtl="0">
                        <a:buNone/>
                      </a:pPr>
                      <a:r>
                        <a:rPr lang="en-US" b="1">
                          <a:solidFill>
                            <a:srgbClr val="1F1F1F"/>
                          </a:solidFill>
                          <a:effectLst/>
                        </a:rPr>
                        <a:t>XM1</a:t>
                      </a:r>
                      <a:endParaRPr lang="en-US">
                        <a:solidFill>
                          <a:srgbClr val="1F1F1F"/>
                        </a:solidFill>
                        <a:effectLst/>
                        <a:latin typeface="Google Sans Text"/>
                      </a:endParaRPr>
                    </a:p>
                  </a:txBody>
                  <a:tcPr marR="50800" marT="67733" marB="67733" anchor="ctr">
                    <a:solidFill>
                      <a:schemeClr val="accent2">
                        <a:lumMod val="40000"/>
                        <a:lumOff val="60000"/>
                      </a:schemeClr>
                    </a:solidFill>
                  </a:tcPr>
                </a:tc>
                <a:tc>
                  <a:txBody>
                    <a:bodyPr/>
                    <a:lstStyle/>
                    <a:p>
                      <a:pPr rtl="0">
                        <a:buNone/>
                      </a:pPr>
                      <a:r>
                        <a:rPr lang="ja-JP" altLang="en-US">
                          <a:solidFill>
                            <a:srgbClr val="1F1F1F"/>
                          </a:solidFill>
                          <a:effectLst/>
                        </a:rPr>
                        <a:t>パス用スイッチ（</a:t>
                      </a:r>
                      <a:r>
                        <a:rPr lang="en-US" altLang="ja-JP">
                          <a:solidFill>
                            <a:srgbClr val="1F1F1F"/>
                          </a:solidFill>
                          <a:effectLst/>
                        </a:rPr>
                        <a:t>PMOS</a:t>
                      </a:r>
                      <a:r>
                        <a:rPr lang="ja-JP" altLang="en-US">
                          <a:solidFill>
                            <a:srgbClr val="1F1F1F"/>
                          </a:solidFill>
                          <a:effectLst/>
                        </a:rPr>
                        <a:t>）</a:t>
                      </a:r>
                      <a:endParaRPr lang="ja-JP" altLang="en-US">
                        <a:solidFill>
                          <a:srgbClr val="1F1F1F"/>
                        </a:solidFill>
                        <a:effectLst/>
                        <a:latin typeface="Google Sans Text"/>
                      </a:endParaRPr>
                    </a:p>
                  </a:txBody>
                  <a:tcPr marR="50800" marT="67733" marB="67733" anchor="ctr">
                    <a:solidFill>
                      <a:schemeClr val="accent2">
                        <a:lumMod val="40000"/>
                        <a:lumOff val="60000"/>
                      </a:schemeClr>
                    </a:solidFill>
                  </a:tcPr>
                </a:tc>
                <a:tc>
                  <a:txBody>
                    <a:bodyPr/>
                    <a:lstStyle/>
                    <a:p>
                      <a:pPr rtl="0">
                        <a:buNone/>
                      </a:pPr>
                      <a:r>
                        <a:rPr lang="en-US" altLang="ja-JP">
                          <a:solidFill>
                            <a:srgbClr val="1F1F1F"/>
                          </a:solidFill>
                          <a:effectLst/>
                        </a:rPr>
                        <a:t>32C</a:t>
                      </a:r>
                      <a:r>
                        <a:rPr lang="ja-JP" altLang="en-US">
                          <a:solidFill>
                            <a:srgbClr val="1F1F1F"/>
                          </a:solidFill>
                          <a:effectLst/>
                        </a:rPr>
                        <a:t>の容量（電荷）を規定クロック内で</a:t>
                      </a:r>
                      <a:r>
                        <a:rPr lang="en-US" altLang="ja-JP">
                          <a:solidFill>
                            <a:srgbClr val="1F1F1F"/>
                          </a:solidFill>
                          <a:effectLst/>
                        </a:rPr>
                        <a:t>VSS</a:t>
                      </a:r>
                      <a:r>
                        <a:rPr lang="ja-JP" altLang="en-US">
                          <a:solidFill>
                            <a:srgbClr val="1F1F1F"/>
                          </a:solidFill>
                          <a:effectLst/>
                        </a:rPr>
                        <a:t>（</a:t>
                      </a:r>
                      <a:r>
                        <a:rPr lang="en-US" altLang="ja-JP">
                          <a:solidFill>
                            <a:srgbClr val="1F1F1F"/>
                          </a:solidFill>
                          <a:effectLst/>
                        </a:rPr>
                        <a:t>0V</a:t>
                      </a:r>
                      <a:r>
                        <a:rPr lang="ja-JP" altLang="en-US">
                          <a:solidFill>
                            <a:srgbClr val="1F1F1F"/>
                          </a:solidFill>
                          <a:effectLst/>
                        </a:rPr>
                        <a:t>）に出来るスルーレート</a:t>
                      </a:r>
                      <a:endParaRPr lang="ja-JP" altLang="en-US">
                        <a:solidFill>
                          <a:srgbClr val="1F1F1F"/>
                        </a:solidFill>
                        <a:effectLst/>
                        <a:latin typeface="Google Sans Text"/>
                      </a:endParaRPr>
                    </a:p>
                  </a:txBody>
                  <a:tcPr marT="67733" marB="67733" anchor="ctr">
                    <a:solidFill>
                      <a:schemeClr val="accent2">
                        <a:lumMod val="40000"/>
                        <a:lumOff val="60000"/>
                      </a:schemeClr>
                    </a:solidFill>
                  </a:tcPr>
                </a:tc>
                <a:extLst>
                  <a:ext uri="{0D108BD9-81ED-4DB2-BD59-A6C34878D82A}">
                    <a16:rowId xmlns:a16="http://schemas.microsoft.com/office/drawing/2014/main" val="591220462"/>
                  </a:ext>
                </a:extLst>
              </a:tr>
              <a:tr h="0">
                <a:tc>
                  <a:txBody>
                    <a:bodyPr/>
                    <a:lstStyle/>
                    <a:p>
                      <a:pPr rtl="0">
                        <a:buNone/>
                      </a:pPr>
                      <a:r>
                        <a:rPr lang="en-US" b="1">
                          <a:solidFill>
                            <a:srgbClr val="1F1F1F"/>
                          </a:solidFill>
                          <a:effectLst/>
                        </a:rPr>
                        <a:t>XM2</a:t>
                      </a:r>
                      <a:endParaRPr lang="en-US">
                        <a:solidFill>
                          <a:srgbClr val="1F1F1F"/>
                        </a:solidFill>
                        <a:effectLst/>
                        <a:latin typeface="Google Sans Text"/>
                      </a:endParaRPr>
                    </a:p>
                  </a:txBody>
                  <a:tcPr marR="50800" marT="67733" marB="67733" anchor="ctr">
                    <a:solidFill>
                      <a:schemeClr val="accent2">
                        <a:lumMod val="40000"/>
                        <a:lumOff val="60000"/>
                      </a:schemeClr>
                    </a:solidFill>
                  </a:tcPr>
                </a:tc>
                <a:tc>
                  <a:txBody>
                    <a:bodyPr/>
                    <a:lstStyle/>
                    <a:p>
                      <a:pPr rtl="0">
                        <a:buNone/>
                      </a:pPr>
                      <a:r>
                        <a:rPr lang="ja-JP" altLang="en-US">
                          <a:solidFill>
                            <a:srgbClr val="1F1F1F"/>
                          </a:solidFill>
                          <a:effectLst/>
                        </a:rPr>
                        <a:t>パス用スイッチ（</a:t>
                      </a:r>
                      <a:r>
                        <a:rPr lang="en-US" altLang="ja-JP">
                          <a:solidFill>
                            <a:srgbClr val="1F1F1F"/>
                          </a:solidFill>
                          <a:effectLst/>
                        </a:rPr>
                        <a:t>NMOS</a:t>
                      </a:r>
                      <a:r>
                        <a:rPr lang="ja-JP" altLang="en-US">
                          <a:solidFill>
                            <a:srgbClr val="1F1F1F"/>
                          </a:solidFill>
                          <a:effectLst/>
                        </a:rPr>
                        <a:t>）</a:t>
                      </a:r>
                      <a:endParaRPr lang="ja-JP" altLang="en-US">
                        <a:solidFill>
                          <a:srgbClr val="1F1F1F"/>
                        </a:solidFill>
                        <a:effectLst/>
                        <a:latin typeface="Google Sans Text"/>
                      </a:endParaRPr>
                    </a:p>
                  </a:txBody>
                  <a:tcPr marR="50800" marT="67733" marB="67733" anchor="ctr">
                    <a:solidFill>
                      <a:schemeClr val="accent2">
                        <a:lumMod val="40000"/>
                        <a:lumOff val="60000"/>
                      </a:schemeClr>
                    </a:solidFill>
                  </a:tcPr>
                </a:tc>
                <a:tc>
                  <a:txBody>
                    <a:bodyPr/>
                    <a:lstStyle/>
                    <a:p>
                      <a:pPr rtl="0">
                        <a:buNone/>
                      </a:pPr>
                      <a:r>
                        <a:rPr lang="en-US" altLang="ja-JP">
                          <a:solidFill>
                            <a:srgbClr val="1F1F1F"/>
                          </a:solidFill>
                          <a:effectLst/>
                        </a:rPr>
                        <a:t>P/N</a:t>
                      </a:r>
                      <a:r>
                        <a:rPr lang="ja-JP" altLang="en-US">
                          <a:solidFill>
                            <a:srgbClr val="1F1F1F"/>
                          </a:solidFill>
                          <a:effectLst/>
                        </a:rPr>
                        <a:t>バランスを考慮した値</a:t>
                      </a:r>
                      <a:endParaRPr lang="ja-JP" altLang="en-US">
                        <a:solidFill>
                          <a:srgbClr val="1F1F1F"/>
                        </a:solidFill>
                        <a:effectLst/>
                        <a:latin typeface="Google Sans Text"/>
                      </a:endParaRPr>
                    </a:p>
                  </a:txBody>
                  <a:tcPr marT="67733" marB="67733" anchor="ctr">
                    <a:solidFill>
                      <a:schemeClr val="accent2">
                        <a:lumMod val="40000"/>
                        <a:lumOff val="60000"/>
                      </a:schemeClr>
                    </a:solidFill>
                  </a:tcPr>
                </a:tc>
                <a:extLst>
                  <a:ext uri="{0D108BD9-81ED-4DB2-BD59-A6C34878D82A}">
                    <a16:rowId xmlns:a16="http://schemas.microsoft.com/office/drawing/2014/main" val="4281272371"/>
                  </a:ext>
                </a:extLst>
              </a:tr>
              <a:tr h="0">
                <a:tc>
                  <a:txBody>
                    <a:bodyPr/>
                    <a:lstStyle/>
                    <a:p>
                      <a:pPr rtl="0">
                        <a:buNone/>
                      </a:pPr>
                      <a:r>
                        <a:rPr lang="en-US" b="1">
                          <a:solidFill>
                            <a:srgbClr val="1F1F1F"/>
                          </a:solidFill>
                          <a:effectLst/>
                        </a:rPr>
                        <a:t>XM3, XM4</a:t>
                      </a:r>
                      <a:endParaRPr lang="en-US">
                        <a:solidFill>
                          <a:srgbClr val="1F1F1F"/>
                        </a:solidFill>
                        <a:effectLst/>
                        <a:latin typeface="Google Sans Text"/>
                      </a:endParaRPr>
                    </a:p>
                  </a:txBody>
                  <a:tcPr marR="50800" marT="67733" marB="67733" anchor="ctr"/>
                </a:tc>
                <a:tc>
                  <a:txBody>
                    <a:bodyPr/>
                    <a:lstStyle/>
                    <a:p>
                      <a:pPr rtl="0">
                        <a:buNone/>
                      </a:pPr>
                      <a:r>
                        <a:rPr lang="ja-JP" altLang="en-US">
                          <a:solidFill>
                            <a:srgbClr val="1F1F1F"/>
                          </a:solidFill>
                          <a:effectLst/>
                        </a:rPr>
                        <a:t>インバータ（</a:t>
                      </a:r>
                      <a:r>
                        <a:rPr lang="en-US" altLang="ja-JP">
                          <a:solidFill>
                            <a:srgbClr val="1F1F1F"/>
                          </a:solidFill>
                          <a:effectLst/>
                        </a:rPr>
                        <a:t>P,NMOS</a:t>
                      </a:r>
                      <a:r>
                        <a:rPr lang="ja-JP" altLang="en-US">
                          <a:solidFill>
                            <a:srgbClr val="1F1F1F"/>
                          </a:solidFill>
                          <a:effectLst/>
                        </a:rPr>
                        <a:t>）</a:t>
                      </a:r>
                      <a:endParaRPr lang="zh-CN" altLang="en-US">
                        <a:solidFill>
                          <a:srgbClr val="1F1F1F"/>
                        </a:solidFill>
                        <a:effectLst/>
                        <a:latin typeface="Google Sans Text"/>
                      </a:endParaRPr>
                    </a:p>
                  </a:txBody>
                  <a:tcPr marR="50800" marT="67733" marB="67733" anchor="ctr"/>
                </a:tc>
                <a:tc>
                  <a:txBody>
                    <a:bodyPr/>
                    <a:lstStyle/>
                    <a:p>
                      <a:pPr rtl="0">
                        <a:buNone/>
                      </a:pPr>
                      <a:r>
                        <a:rPr lang="en-US" altLang="ja-JP">
                          <a:solidFill>
                            <a:srgbClr val="1F1F1F"/>
                          </a:solidFill>
                          <a:effectLst/>
                        </a:rPr>
                        <a:t>XM1</a:t>
                      </a:r>
                      <a:r>
                        <a:rPr lang="ja-JP" altLang="en-US">
                          <a:solidFill>
                            <a:srgbClr val="1F1F1F"/>
                          </a:solidFill>
                          <a:effectLst/>
                        </a:rPr>
                        <a:t>、</a:t>
                      </a:r>
                      <a:r>
                        <a:rPr lang="en-US" altLang="ja-JP">
                          <a:solidFill>
                            <a:srgbClr val="1F1F1F"/>
                          </a:solidFill>
                          <a:effectLst/>
                        </a:rPr>
                        <a:t>XM2</a:t>
                      </a:r>
                      <a:r>
                        <a:rPr lang="ja-JP" altLang="en-US">
                          <a:solidFill>
                            <a:srgbClr val="1F1F1F"/>
                          </a:solidFill>
                          <a:effectLst/>
                        </a:rPr>
                        <a:t>のゲートを高速に駆動できるサイズ</a:t>
                      </a:r>
                      <a:endParaRPr lang="ja-JP" altLang="en-US">
                        <a:solidFill>
                          <a:srgbClr val="1F1F1F"/>
                        </a:solidFill>
                        <a:effectLst/>
                        <a:latin typeface="Google Sans Text"/>
                      </a:endParaRPr>
                    </a:p>
                  </a:txBody>
                  <a:tcPr marT="67733" marB="67733" anchor="ctr"/>
                </a:tc>
                <a:extLst>
                  <a:ext uri="{0D108BD9-81ED-4DB2-BD59-A6C34878D82A}">
                    <a16:rowId xmlns:a16="http://schemas.microsoft.com/office/drawing/2014/main" val="3267905338"/>
                  </a:ext>
                </a:extLst>
              </a:tr>
              <a:tr h="0">
                <a:tc>
                  <a:txBody>
                    <a:bodyPr/>
                    <a:lstStyle/>
                    <a:p>
                      <a:pPr rtl="0">
                        <a:buNone/>
                      </a:pPr>
                      <a:r>
                        <a:rPr lang="en-US" b="1">
                          <a:solidFill>
                            <a:srgbClr val="1F1F1F"/>
                          </a:solidFill>
                          <a:effectLst/>
                        </a:rPr>
                        <a:t>XM5</a:t>
                      </a:r>
                      <a:endParaRPr lang="en-US">
                        <a:solidFill>
                          <a:srgbClr val="1F1F1F"/>
                        </a:solidFill>
                        <a:effectLst/>
                        <a:latin typeface="Google Sans Text"/>
                      </a:endParaRPr>
                    </a:p>
                  </a:txBody>
                  <a:tcPr marR="50800" marT="67733" marB="67733" anchor="ctr">
                    <a:solidFill>
                      <a:schemeClr val="accent2">
                        <a:lumMod val="40000"/>
                        <a:lumOff val="60000"/>
                      </a:schemeClr>
                    </a:solidFill>
                  </a:tcPr>
                </a:tc>
                <a:tc>
                  <a:txBody>
                    <a:bodyPr/>
                    <a:lstStyle/>
                    <a:p>
                      <a:pPr rtl="0">
                        <a:buNone/>
                      </a:pPr>
                      <a:r>
                        <a:rPr lang="ja-JP" altLang="en-US">
                          <a:solidFill>
                            <a:srgbClr val="1F1F1F"/>
                          </a:solidFill>
                          <a:effectLst/>
                        </a:rPr>
                        <a:t>プルダウン（</a:t>
                      </a:r>
                      <a:r>
                        <a:rPr lang="en-US" altLang="ja-JP">
                          <a:solidFill>
                            <a:srgbClr val="1F1F1F"/>
                          </a:solidFill>
                          <a:effectLst/>
                        </a:rPr>
                        <a:t>NMOS</a:t>
                      </a:r>
                      <a:r>
                        <a:rPr lang="ja-JP" altLang="en-US">
                          <a:solidFill>
                            <a:srgbClr val="1F1F1F"/>
                          </a:solidFill>
                          <a:effectLst/>
                        </a:rPr>
                        <a:t>）</a:t>
                      </a:r>
                      <a:endParaRPr lang="zh-CN" altLang="en-US">
                        <a:solidFill>
                          <a:srgbClr val="1F1F1F"/>
                        </a:solidFill>
                        <a:effectLst/>
                        <a:latin typeface="Google Sans Text"/>
                      </a:endParaRPr>
                    </a:p>
                  </a:txBody>
                  <a:tcPr marR="50800" marT="67733" marB="67733" anchor="ctr">
                    <a:solidFill>
                      <a:schemeClr val="accent2">
                        <a:lumMod val="40000"/>
                        <a:lumOff val="60000"/>
                      </a:schemeClr>
                    </a:solidFill>
                  </a:tcPr>
                </a:tc>
                <a:tc>
                  <a:txBody>
                    <a:bodyPr/>
                    <a:lstStyle/>
                    <a:p>
                      <a:pPr rtl="0">
                        <a:buNone/>
                      </a:pPr>
                      <a:r>
                        <a:rPr lang="en-US" altLang="ja-JP">
                          <a:solidFill>
                            <a:srgbClr val="1F1F1F"/>
                          </a:solidFill>
                          <a:effectLst/>
                        </a:rPr>
                        <a:t>XM2</a:t>
                      </a:r>
                      <a:r>
                        <a:rPr lang="ja-JP" altLang="en-US">
                          <a:solidFill>
                            <a:srgbClr val="1F1F1F"/>
                          </a:solidFill>
                          <a:effectLst/>
                        </a:rPr>
                        <a:t>の</a:t>
                      </a:r>
                      <a:r>
                        <a:rPr lang="en-US" altLang="ja-JP">
                          <a:solidFill>
                            <a:srgbClr val="1F1F1F"/>
                          </a:solidFill>
                          <a:effectLst/>
                        </a:rPr>
                        <a:t>1/2</a:t>
                      </a:r>
                      <a:r>
                        <a:rPr lang="ja-JP" altLang="en-US">
                          <a:solidFill>
                            <a:srgbClr val="1F1F1F"/>
                          </a:solidFill>
                          <a:effectLst/>
                        </a:rPr>
                        <a:t>～</a:t>
                      </a:r>
                      <a:r>
                        <a:rPr lang="en-US" altLang="ja-JP">
                          <a:solidFill>
                            <a:srgbClr val="1F1F1F"/>
                          </a:solidFill>
                          <a:effectLst/>
                        </a:rPr>
                        <a:t>1/5</a:t>
                      </a:r>
                      <a:r>
                        <a:rPr lang="ja-JP" altLang="en-US">
                          <a:solidFill>
                            <a:srgbClr val="1F1F1F"/>
                          </a:solidFill>
                          <a:effectLst/>
                        </a:rPr>
                        <a:t>程度</a:t>
                      </a:r>
                      <a:endParaRPr lang="en-US" altLang="ja-JP">
                        <a:solidFill>
                          <a:srgbClr val="1F1F1F"/>
                        </a:solidFill>
                        <a:effectLst/>
                        <a:latin typeface="Google Sans Text"/>
                      </a:endParaRPr>
                    </a:p>
                  </a:txBody>
                  <a:tcPr marT="67733" marB="67733" anchor="ctr">
                    <a:solidFill>
                      <a:schemeClr val="accent2">
                        <a:lumMod val="40000"/>
                        <a:lumOff val="60000"/>
                      </a:schemeClr>
                    </a:solidFill>
                  </a:tcPr>
                </a:tc>
                <a:extLst>
                  <a:ext uri="{0D108BD9-81ED-4DB2-BD59-A6C34878D82A}">
                    <a16:rowId xmlns:a16="http://schemas.microsoft.com/office/drawing/2014/main" val="3128258433"/>
                  </a:ext>
                </a:extLst>
              </a:tr>
            </a:tbl>
          </a:graphicData>
        </a:graphic>
      </p:graphicFrame>
    </p:spTree>
    <p:extLst>
      <p:ext uri="{BB962C8B-B14F-4D97-AF65-F5344CB8AC3E}">
        <p14:creationId xmlns:p14="http://schemas.microsoft.com/office/powerpoint/2010/main" val="890837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357D189-04D8-2DB9-E738-52B372A54D91}"/>
              </a:ext>
            </a:extLst>
          </p:cNvPr>
          <p:cNvSpPr>
            <a:spLocks noGrp="1"/>
          </p:cNvSpPr>
          <p:nvPr>
            <p:ph type="title"/>
          </p:nvPr>
        </p:nvSpPr>
        <p:spPr>
          <a:xfrm>
            <a:off x="1043631" y="809898"/>
            <a:ext cx="10569738" cy="1554480"/>
          </a:xfrm>
        </p:spPr>
        <p:txBody>
          <a:bodyPr anchor="ctr">
            <a:normAutofit/>
          </a:bodyPr>
          <a:lstStyle/>
          <a:p>
            <a:r>
              <a:rPr kumimoji="1" lang="ja-JP" altLang="en-US" sz="4800" dirty="0"/>
              <a:t>トランスミッション設計：スペック例</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コンテンツ プレースホルダー 2">
            <a:extLst>
              <a:ext uri="{FF2B5EF4-FFF2-40B4-BE49-F238E27FC236}">
                <a16:creationId xmlns:a16="http://schemas.microsoft.com/office/drawing/2014/main" id="{61A51F7C-6A93-2AB0-0343-A711F0452185}"/>
              </a:ext>
            </a:extLst>
          </p:cNvPr>
          <p:cNvGraphicFramePr>
            <a:graphicFrameLocks noGrp="1"/>
          </p:cNvGraphicFramePr>
          <p:nvPr>
            <p:ph idx="1"/>
            <p:extLst>
              <p:ext uri="{D42A27DB-BD31-4B8C-83A1-F6EECF244321}">
                <p14:modId xmlns:p14="http://schemas.microsoft.com/office/powerpoint/2010/main" val="255570789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1593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EFCCB427-3C36-7B50-CEB5-5878CD12E568}"/>
              </a:ext>
            </a:extLst>
          </p:cNvPr>
          <p:cNvPicPr>
            <a:picLocks noChangeAspect="1"/>
          </p:cNvPicPr>
          <p:nvPr/>
        </p:nvPicPr>
        <p:blipFill>
          <a:blip r:embed="rId2"/>
          <a:stretch>
            <a:fillRect/>
          </a:stretch>
        </p:blipFill>
        <p:spPr>
          <a:xfrm>
            <a:off x="155844" y="1607783"/>
            <a:ext cx="11938358" cy="4998390"/>
          </a:xfrm>
          <a:prstGeom prst="rect">
            <a:avLst/>
          </a:prstGeom>
        </p:spPr>
      </p:pic>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C9A3857-B8CB-5C0F-70DA-CAF1D9CA4A0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dirty="0">
                <a:solidFill>
                  <a:schemeClr val="bg1"/>
                </a:solidFill>
                <a:latin typeface="+mj-lt"/>
                <a:ea typeface="+mj-ea"/>
                <a:cs typeface="+mj-cs"/>
              </a:rPr>
              <a:t>シミュレーション回路例</a:t>
            </a:r>
          </a:p>
        </p:txBody>
      </p:sp>
      <p:sp>
        <p:nvSpPr>
          <p:cNvPr id="6" name="吹き出し: 角を丸めた四角形 5">
            <a:extLst>
              <a:ext uri="{FF2B5EF4-FFF2-40B4-BE49-F238E27FC236}">
                <a16:creationId xmlns:a16="http://schemas.microsoft.com/office/drawing/2014/main" id="{ADB60A5A-603C-E24D-0206-B46166659D62}"/>
              </a:ext>
            </a:extLst>
          </p:cNvPr>
          <p:cNvSpPr/>
          <p:nvPr/>
        </p:nvSpPr>
        <p:spPr>
          <a:xfrm>
            <a:off x="2479798" y="2445656"/>
            <a:ext cx="1860036" cy="702015"/>
          </a:xfrm>
          <a:prstGeom prst="wedgeRoundRectCallout">
            <a:avLst>
              <a:gd name="adj1" fmla="val 60135"/>
              <a:gd name="adj2" fmla="val 107300"/>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a:t>レベルシフタ</a:t>
            </a:r>
          </a:p>
        </p:txBody>
      </p:sp>
      <p:sp>
        <p:nvSpPr>
          <p:cNvPr id="7" name="吹き出し: 角を丸めた四角形 6">
            <a:extLst>
              <a:ext uri="{FF2B5EF4-FFF2-40B4-BE49-F238E27FC236}">
                <a16:creationId xmlns:a16="http://schemas.microsoft.com/office/drawing/2014/main" id="{BCCE4803-1AD4-0C5D-8DB3-4EFEAD32EDD1}"/>
              </a:ext>
            </a:extLst>
          </p:cNvPr>
          <p:cNvSpPr/>
          <p:nvPr/>
        </p:nvSpPr>
        <p:spPr>
          <a:xfrm>
            <a:off x="10166717" y="2936187"/>
            <a:ext cx="1860036" cy="702015"/>
          </a:xfrm>
          <a:prstGeom prst="wedgeRoundRectCallout">
            <a:avLst>
              <a:gd name="adj1" fmla="val -43949"/>
              <a:gd name="adj2" fmla="val 142937"/>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dirty="0"/>
              <a:t>CDAC</a:t>
            </a:r>
            <a:r>
              <a:rPr kumimoji="1" lang="ja-JP" altLang="en-US" dirty="0"/>
              <a:t>容量</a:t>
            </a:r>
          </a:p>
        </p:txBody>
      </p:sp>
      <p:sp>
        <p:nvSpPr>
          <p:cNvPr id="11" name="吹き出し: 角を丸めた四角形 10">
            <a:extLst>
              <a:ext uri="{FF2B5EF4-FFF2-40B4-BE49-F238E27FC236}">
                <a16:creationId xmlns:a16="http://schemas.microsoft.com/office/drawing/2014/main" id="{2ACCAC74-4F5E-8411-5B50-0B2C44206429}"/>
              </a:ext>
            </a:extLst>
          </p:cNvPr>
          <p:cNvSpPr/>
          <p:nvPr/>
        </p:nvSpPr>
        <p:spPr>
          <a:xfrm>
            <a:off x="6506431" y="5556920"/>
            <a:ext cx="1860036" cy="702015"/>
          </a:xfrm>
          <a:prstGeom prst="wedgeRoundRectCallout">
            <a:avLst>
              <a:gd name="adj1" fmla="val -80953"/>
              <a:gd name="adj2" fmla="val 1926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a:t>クロック源</a:t>
            </a:r>
          </a:p>
        </p:txBody>
      </p:sp>
      <p:sp>
        <p:nvSpPr>
          <p:cNvPr id="3" name="正方形/長方形 2">
            <a:extLst>
              <a:ext uri="{FF2B5EF4-FFF2-40B4-BE49-F238E27FC236}">
                <a16:creationId xmlns:a16="http://schemas.microsoft.com/office/drawing/2014/main" id="{49CE6EBE-A9AA-C2FB-BD6F-E938A097B658}"/>
              </a:ext>
            </a:extLst>
          </p:cNvPr>
          <p:cNvSpPr/>
          <p:nvPr/>
        </p:nvSpPr>
        <p:spPr>
          <a:xfrm>
            <a:off x="8683028" y="33848"/>
            <a:ext cx="3467158" cy="6064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ファイル名：</a:t>
            </a:r>
            <a:r>
              <a:rPr lang="en-US" altLang="ja-JP" dirty="0" err="1"/>
              <a:t>SW_CDAC.</a:t>
            </a:r>
            <a:r>
              <a:rPr kumimoji="1" lang="en-US" altLang="ja-JP" dirty="0" err="1"/>
              <a:t>sch</a:t>
            </a:r>
            <a:endParaRPr kumimoji="1" lang="ja-JP" altLang="en-US" dirty="0"/>
          </a:p>
        </p:txBody>
      </p:sp>
    </p:spTree>
    <p:extLst>
      <p:ext uri="{BB962C8B-B14F-4D97-AF65-F5344CB8AC3E}">
        <p14:creationId xmlns:p14="http://schemas.microsoft.com/office/powerpoint/2010/main" val="1965522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1BBBE79-C427-480A-88F3-4BBC7C8C3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5ACF3F0-D5C2-85F4-A809-C1C279C7A20A}"/>
              </a:ext>
            </a:extLst>
          </p:cNvPr>
          <p:cNvSpPr>
            <a:spLocks noGrp="1"/>
          </p:cNvSpPr>
          <p:nvPr>
            <p:ph type="title"/>
          </p:nvPr>
        </p:nvSpPr>
        <p:spPr>
          <a:xfrm>
            <a:off x="532015" y="4495568"/>
            <a:ext cx="3861960" cy="1905232"/>
          </a:xfrm>
        </p:spPr>
        <p:txBody>
          <a:bodyPr anchor="ctr">
            <a:normAutofit/>
          </a:bodyPr>
          <a:lstStyle/>
          <a:p>
            <a:r>
              <a:rPr kumimoji="1" lang="ja-JP" altLang="en-US" sz="3200" dirty="0"/>
              <a:t>設計ポイント：</a:t>
            </a:r>
            <a:br>
              <a:rPr kumimoji="1" lang="en-US" altLang="ja-JP" sz="3200" dirty="0"/>
            </a:br>
            <a:r>
              <a:rPr kumimoji="1" lang="en-US" altLang="ja-JP" sz="3200" dirty="0"/>
              <a:t>W</a:t>
            </a:r>
            <a:r>
              <a:rPr kumimoji="1" lang="ja-JP" altLang="en-US" sz="3200" dirty="0"/>
              <a:t>の値</a:t>
            </a:r>
          </a:p>
        </p:txBody>
      </p:sp>
      <p:sp>
        <p:nvSpPr>
          <p:cNvPr id="15" name="Rectangle 14">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410CA5-BE66-5822-F0D7-99878FEBEAF9}"/>
                  </a:ext>
                </a:extLst>
              </p:cNvPr>
              <p:cNvSpPr>
                <a:spLocks noGrp="1"/>
              </p:cNvSpPr>
              <p:nvPr>
                <p:ph idx="1"/>
              </p:nvPr>
            </p:nvSpPr>
            <p:spPr>
              <a:xfrm>
                <a:off x="5162719" y="4495568"/>
                <a:ext cx="6799126" cy="1905232"/>
              </a:xfrm>
            </p:spPr>
            <p:txBody>
              <a:bodyPr anchor="ctr">
                <a:normAutofit/>
              </a:bodyPr>
              <a:lstStyle/>
              <a:p>
                <a:r>
                  <a:rPr kumimoji="1" lang="ja-JP" altLang="en-US" sz="1800" dirty="0"/>
                  <a:t>時定数</a:t>
                </a:r>
                <a14:m>
                  <m:oMath xmlns:m="http://schemas.openxmlformats.org/officeDocument/2006/math">
                    <m:r>
                      <a:rPr lang="ja-JP" altLang="en-US" sz="1800" i="1">
                        <a:latin typeface="Cambria Math" panose="02040503050406030204" pitchFamily="18" charset="0"/>
                      </a:rPr>
                      <m:t>：</m:t>
                    </m:r>
                    <m:r>
                      <a:rPr kumimoji="1" lang="ja-JP" altLang="en-US" sz="1800" i="1" smtClean="0">
                        <a:latin typeface="Cambria Math" panose="02040503050406030204" pitchFamily="18" charset="0"/>
                      </a:rPr>
                      <m:t>𝜏</m:t>
                    </m:r>
                    <m:r>
                      <a:rPr kumimoji="1" lang="en-US" altLang="ja-JP" sz="1800" i="1" smtClean="0">
                        <a:latin typeface="Cambria Math" panose="02040503050406030204" pitchFamily="18" charset="0"/>
                        <a:ea typeface="Cambria Math" panose="02040503050406030204" pitchFamily="18" charset="0"/>
                      </a:rPr>
                      <m:t>=</m:t>
                    </m:r>
                    <m:sSub>
                      <m:sSubPr>
                        <m:ctrlPr>
                          <a:rPr kumimoji="1" lang="en-US" altLang="ja-JP" sz="1800" b="0" i="1" smtClean="0">
                            <a:latin typeface="Cambria Math" panose="02040503050406030204" pitchFamily="18" charset="0"/>
                            <a:ea typeface="Cambria Math" panose="02040503050406030204" pitchFamily="18" charset="0"/>
                          </a:rPr>
                        </m:ctrlPr>
                      </m:sSubPr>
                      <m:e>
                        <m:r>
                          <a:rPr kumimoji="1" lang="en-US" altLang="ja-JP" sz="1800" b="0" i="1" smtClean="0">
                            <a:latin typeface="Cambria Math" panose="02040503050406030204" pitchFamily="18" charset="0"/>
                            <a:ea typeface="Cambria Math" panose="02040503050406030204" pitchFamily="18" charset="0"/>
                          </a:rPr>
                          <m:t>𝑅</m:t>
                        </m:r>
                      </m:e>
                      <m:sub>
                        <m:r>
                          <a:rPr kumimoji="1" lang="en-US" altLang="ja-JP" sz="1800" b="0" i="1" smtClean="0">
                            <a:latin typeface="Cambria Math" panose="02040503050406030204" pitchFamily="18" charset="0"/>
                            <a:ea typeface="Cambria Math" panose="02040503050406030204" pitchFamily="18" charset="0"/>
                          </a:rPr>
                          <m:t>𝑜𝑛</m:t>
                        </m:r>
                      </m:sub>
                    </m:sSub>
                    <m:r>
                      <a:rPr kumimoji="1" lang="en-US" altLang="ja-JP" sz="1800" b="0" i="1" smtClean="0">
                        <a:latin typeface="Cambria Math" panose="02040503050406030204" pitchFamily="18" charset="0"/>
                        <a:ea typeface="Cambria Math" panose="02040503050406030204" pitchFamily="18" charset="0"/>
                      </a:rPr>
                      <m:t>×</m:t>
                    </m:r>
                    <m:r>
                      <a:rPr kumimoji="1" lang="en-US" altLang="ja-JP" sz="1800" b="0" i="1" smtClean="0">
                        <a:latin typeface="Cambria Math" panose="02040503050406030204" pitchFamily="18" charset="0"/>
                        <a:ea typeface="Cambria Math" panose="02040503050406030204" pitchFamily="18" charset="0"/>
                      </a:rPr>
                      <m:t>𝐶</m:t>
                    </m:r>
                  </m:oMath>
                </a14:m>
                <a:r>
                  <a:rPr kumimoji="1" lang="ja-JP" altLang="en-US" sz="1800" dirty="0"/>
                  <a:t> 、目標誤差</a:t>
                </a:r>
                <a:r>
                  <a:rPr lang="ja-JP" altLang="en-US" sz="1800" dirty="0"/>
                  <a:t>：</a:t>
                </a:r>
                <a:r>
                  <a:rPr lang="en-US" altLang="ja-JP" sz="1800" dirty="0"/>
                  <a:t>0.1%</a:t>
                </a:r>
                <a:r>
                  <a:rPr lang="ja-JP" altLang="en-US" sz="1800" dirty="0"/>
                  <a:t>＝</a:t>
                </a:r>
                <a:r>
                  <a:rPr lang="en-US" altLang="ja-JP" sz="1800" dirty="0"/>
                  <a:t>7</a:t>
                </a:r>
                <a14:m>
                  <m:oMath xmlns:m="http://schemas.openxmlformats.org/officeDocument/2006/math">
                    <m:r>
                      <a:rPr lang="ja-JP" altLang="en-US" sz="1800" i="1">
                        <a:latin typeface="Cambria Math" panose="02040503050406030204" pitchFamily="18" charset="0"/>
                      </a:rPr>
                      <m:t>𝜏</m:t>
                    </m:r>
                  </m:oMath>
                </a14:m>
                <a:r>
                  <a:rPr lang="ja-JP" altLang="en-US" sz="1800" dirty="0"/>
                  <a:t>、</a:t>
                </a:r>
                <a:endParaRPr lang="en-US" altLang="ja-JP" sz="1800" dirty="0"/>
              </a:p>
              <a:p>
                <a:pPr lvl="1"/>
                <a14:m>
                  <m:oMath xmlns:m="http://schemas.openxmlformats.org/officeDocument/2006/math">
                    <m:r>
                      <a:rPr lang="ja-JP" altLang="en-US" sz="1400" i="1" smtClean="0">
                        <a:latin typeface="Cambria Math" panose="02040503050406030204" pitchFamily="18" charset="0"/>
                      </a:rPr>
                      <m:t>𝜏</m:t>
                    </m:r>
                    <m:r>
                      <a:rPr lang="en-US" altLang="ja-JP" sz="1400" i="1">
                        <a:latin typeface="Cambria Math" panose="02040503050406030204" pitchFamily="18" charset="0"/>
                        <a:ea typeface="Cambria Math" panose="02040503050406030204" pitchFamily="18" charset="0"/>
                      </a:rPr>
                      <m:t>≤</m:t>
                    </m:r>
                    <m:f>
                      <m:fPr>
                        <m:ctrlPr>
                          <a:rPr lang="en-US" altLang="ja-JP" sz="1400" i="1" smtClean="0">
                            <a:latin typeface="Cambria Math" panose="02040503050406030204" pitchFamily="18" charset="0"/>
                            <a:ea typeface="Cambria Math" panose="02040503050406030204" pitchFamily="18" charset="0"/>
                          </a:rPr>
                        </m:ctrlPr>
                      </m:fPr>
                      <m:num>
                        <m:r>
                          <a:rPr lang="en-US" altLang="ja-JP" sz="1400" b="0" i="1" smtClean="0">
                            <a:latin typeface="Cambria Math" panose="02040503050406030204" pitchFamily="18" charset="0"/>
                            <a:ea typeface="Cambria Math" panose="02040503050406030204" pitchFamily="18" charset="0"/>
                          </a:rPr>
                          <m:t>200</m:t>
                        </m:r>
                        <m:r>
                          <a:rPr lang="en-US" altLang="ja-JP" sz="1400" b="0" i="1" smtClean="0">
                            <a:latin typeface="Cambria Math" panose="02040503050406030204" pitchFamily="18" charset="0"/>
                            <a:ea typeface="Cambria Math" panose="02040503050406030204" pitchFamily="18" charset="0"/>
                          </a:rPr>
                          <m:t>𝑛𝑠</m:t>
                        </m:r>
                      </m:num>
                      <m:den>
                        <m:r>
                          <a:rPr lang="en-US" altLang="ja-JP" sz="1400" b="0" i="1" smtClean="0">
                            <a:latin typeface="Cambria Math" panose="02040503050406030204" pitchFamily="18" charset="0"/>
                            <a:ea typeface="Cambria Math" panose="02040503050406030204" pitchFamily="18" charset="0"/>
                          </a:rPr>
                          <m:t>7</m:t>
                        </m:r>
                      </m:den>
                    </m:f>
                    <m:r>
                      <a:rPr lang="en-US" altLang="ja-JP" sz="1400" i="1" smtClean="0">
                        <a:latin typeface="Cambria Math" panose="02040503050406030204" pitchFamily="18" charset="0"/>
                        <a:ea typeface="Cambria Math" panose="02040503050406030204" pitchFamily="18" charset="0"/>
                      </a:rPr>
                      <m:t>≈</m:t>
                    </m:r>
                    <m:r>
                      <a:rPr lang="en-US" altLang="ja-JP" sz="1400" b="0" i="1" smtClean="0">
                        <a:latin typeface="Cambria Math" panose="02040503050406030204" pitchFamily="18" charset="0"/>
                        <a:ea typeface="Cambria Math" panose="02040503050406030204" pitchFamily="18" charset="0"/>
                      </a:rPr>
                      <m:t>28.5</m:t>
                    </m:r>
                    <m:r>
                      <a:rPr lang="en-US" altLang="ja-JP" sz="1400" b="0" i="1" smtClean="0">
                        <a:latin typeface="Cambria Math" panose="02040503050406030204" pitchFamily="18" charset="0"/>
                        <a:ea typeface="Cambria Math" panose="02040503050406030204" pitchFamily="18" charset="0"/>
                      </a:rPr>
                      <m:t>𝑛𝑠</m:t>
                    </m:r>
                    <m:r>
                      <a:rPr lang="en-US" altLang="ja-JP" sz="1400" b="0" i="1" smtClean="0">
                        <a:latin typeface="Cambria Math" panose="02040503050406030204" pitchFamily="18" charset="0"/>
                        <a:ea typeface="Cambria Math" panose="02040503050406030204" pitchFamily="18" charset="0"/>
                      </a:rPr>
                      <m:t> </m:t>
                    </m:r>
                  </m:oMath>
                </a14:m>
                <a:r>
                  <a:rPr lang="en-US" altLang="ja-JP" sz="1400" dirty="0"/>
                  <a:t>(200ns</a:t>
                </a:r>
                <a:r>
                  <a:rPr lang="ja-JP" altLang="en-US" sz="1400" dirty="0"/>
                  <a:t>は</a:t>
                </a:r>
                <a:r>
                  <a:rPr lang="en-US" altLang="ja-JP" sz="1400" dirty="0"/>
                  <a:t>1.2MHz</a:t>
                </a:r>
                <a:r>
                  <a:rPr lang="ja-JP" altLang="en-US" sz="1400" dirty="0"/>
                  <a:t>の半分クロックより</a:t>
                </a:r>
                <a:r>
                  <a:rPr lang="en-US" altLang="ja-JP" sz="1400" dirty="0"/>
                  <a:t>)</a:t>
                </a:r>
              </a:p>
              <a:p>
                <a:pPr lvl="1"/>
                <a14:m>
                  <m:oMath xmlns:m="http://schemas.openxmlformats.org/officeDocument/2006/math">
                    <m:sSub>
                      <m:sSubPr>
                        <m:ctrlPr>
                          <a:rPr lang="en-US" altLang="ja-JP" sz="1400" i="1" smtClean="0">
                            <a:latin typeface="Cambria Math" panose="02040503050406030204" pitchFamily="18" charset="0"/>
                          </a:rPr>
                        </m:ctrlPr>
                      </m:sSubPr>
                      <m:e>
                        <m:r>
                          <a:rPr lang="en-US" altLang="ja-JP" sz="1400" b="0" i="1" smtClean="0">
                            <a:latin typeface="Cambria Math" panose="02040503050406030204" pitchFamily="18" charset="0"/>
                          </a:rPr>
                          <m:t>𝑅</m:t>
                        </m:r>
                      </m:e>
                      <m:sub>
                        <m:r>
                          <a:rPr lang="en-US" altLang="ja-JP" sz="1400" b="0" i="1" smtClean="0">
                            <a:latin typeface="Cambria Math" panose="02040503050406030204" pitchFamily="18" charset="0"/>
                          </a:rPr>
                          <m:t>𝑜𝑛</m:t>
                        </m:r>
                      </m:sub>
                    </m:sSub>
                    <m:r>
                      <a:rPr lang="en-US" altLang="ja-JP" sz="1400" i="1" smtClean="0">
                        <a:latin typeface="Cambria Math" panose="02040503050406030204" pitchFamily="18" charset="0"/>
                        <a:ea typeface="Cambria Math" panose="02040503050406030204" pitchFamily="18" charset="0"/>
                      </a:rPr>
                      <m:t>≤</m:t>
                    </m:r>
                    <m:f>
                      <m:fPr>
                        <m:ctrlPr>
                          <a:rPr lang="en-US" altLang="ja-JP" sz="1400" i="1" smtClean="0">
                            <a:latin typeface="Cambria Math" panose="02040503050406030204" pitchFamily="18" charset="0"/>
                            <a:ea typeface="Cambria Math" panose="02040503050406030204" pitchFamily="18" charset="0"/>
                          </a:rPr>
                        </m:ctrlPr>
                      </m:fPr>
                      <m:num>
                        <m:r>
                          <a:rPr lang="ja-JP" altLang="en-US" sz="1400" i="1" smtClean="0">
                            <a:latin typeface="Cambria Math" panose="02040503050406030204" pitchFamily="18" charset="0"/>
                            <a:ea typeface="Cambria Math" panose="02040503050406030204" pitchFamily="18" charset="0"/>
                          </a:rPr>
                          <m:t>𝜏</m:t>
                        </m:r>
                      </m:num>
                      <m:den>
                        <m:r>
                          <a:rPr lang="en-US" altLang="ja-JP" sz="1400" b="0" i="1" smtClean="0">
                            <a:latin typeface="Cambria Math" panose="02040503050406030204" pitchFamily="18" charset="0"/>
                            <a:ea typeface="Cambria Math" panose="02040503050406030204" pitchFamily="18" charset="0"/>
                          </a:rPr>
                          <m:t>𝐶</m:t>
                        </m:r>
                      </m:den>
                    </m:f>
                    <m:r>
                      <a:rPr lang="en-US" altLang="ja-JP" sz="1400" i="1" smtClean="0">
                        <a:latin typeface="Cambria Math" panose="02040503050406030204" pitchFamily="18" charset="0"/>
                        <a:ea typeface="Cambria Math" panose="02040503050406030204" pitchFamily="18" charset="0"/>
                      </a:rPr>
                      <m:t>=</m:t>
                    </m:r>
                    <m:f>
                      <m:fPr>
                        <m:ctrlPr>
                          <a:rPr lang="en-US" altLang="ja-JP" sz="1400" b="0" i="1" smtClean="0">
                            <a:latin typeface="Cambria Math" panose="02040503050406030204" pitchFamily="18" charset="0"/>
                            <a:ea typeface="Cambria Math" panose="02040503050406030204" pitchFamily="18" charset="0"/>
                          </a:rPr>
                        </m:ctrlPr>
                      </m:fPr>
                      <m:num>
                        <m:r>
                          <a:rPr lang="en-US" altLang="ja-JP" sz="1400" b="0" i="1" smtClean="0">
                            <a:latin typeface="Cambria Math" panose="02040503050406030204" pitchFamily="18" charset="0"/>
                            <a:ea typeface="Cambria Math" panose="02040503050406030204" pitchFamily="18" charset="0"/>
                          </a:rPr>
                          <m:t>28.5</m:t>
                        </m:r>
                        <m:r>
                          <a:rPr lang="en-US" altLang="ja-JP" sz="1400" b="0" i="1" smtClean="0">
                            <a:latin typeface="Cambria Math" panose="02040503050406030204" pitchFamily="18" charset="0"/>
                            <a:ea typeface="Cambria Math" panose="02040503050406030204" pitchFamily="18" charset="0"/>
                          </a:rPr>
                          <m:t>𝑛𝑠</m:t>
                        </m:r>
                      </m:num>
                      <m:den>
                        <m:r>
                          <a:rPr lang="en-US" altLang="ja-JP" sz="1400" b="0" i="1" smtClean="0">
                            <a:latin typeface="Cambria Math" panose="02040503050406030204" pitchFamily="18" charset="0"/>
                            <a:ea typeface="Cambria Math" panose="02040503050406030204" pitchFamily="18" charset="0"/>
                          </a:rPr>
                          <m:t>6400</m:t>
                        </m:r>
                        <m:r>
                          <a:rPr lang="en-US" altLang="ja-JP" sz="1400" b="0" i="1" smtClean="0">
                            <a:latin typeface="Cambria Math" panose="02040503050406030204" pitchFamily="18" charset="0"/>
                            <a:ea typeface="Cambria Math" panose="02040503050406030204" pitchFamily="18" charset="0"/>
                          </a:rPr>
                          <m:t>𝑓𝐹</m:t>
                        </m:r>
                      </m:den>
                    </m:f>
                    <m:r>
                      <a:rPr lang="en-US" altLang="ja-JP" sz="1400" b="0" i="1" smtClean="0">
                        <a:latin typeface="Cambria Math" panose="02040503050406030204" pitchFamily="18" charset="0"/>
                        <a:ea typeface="Cambria Math" panose="02040503050406030204" pitchFamily="18" charset="0"/>
                      </a:rPr>
                      <m:t>=17.8</m:t>
                    </m:r>
                    <m:r>
                      <a:rPr lang="en-US" altLang="ja-JP" sz="1400" b="0" i="1" smtClean="0">
                        <a:latin typeface="Cambria Math" panose="02040503050406030204" pitchFamily="18" charset="0"/>
                        <a:ea typeface="Cambria Math" panose="02040503050406030204" pitchFamily="18" charset="0"/>
                      </a:rPr>
                      <m:t>𝑘</m:t>
                    </m:r>
                    <m:r>
                      <m:rPr>
                        <m:sty m:val="p"/>
                      </m:rPr>
                      <a:rPr lang="en-US" altLang="ja-JP" sz="1400" i="1">
                        <a:latin typeface="Cambria Math" panose="02040503050406030204" pitchFamily="18" charset="0"/>
                        <a:ea typeface="Cambria Math" panose="02040503050406030204" pitchFamily="18" charset="0"/>
                      </a:rPr>
                      <m:t>Ω</m:t>
                    </m:r>
                  </m:oMath>
                </a14:m>
                <a:endParaRPr lang="en-US" altLang="ja-JP" sz="1400" dirty="0"/>
              </a:p>
              <a:p>
                <a:r>
                  <a:rPr lang="en-US" altLang="ja-JP" sz="1800" dirty="0">
                    <a:ea typeface="Cambria Math" panose="02040503050406030204" pitchFamily="18" charset="0"/>
                  </a:rPr>
                  <a:t>PMOS</a:t>
                </a:r>
                <a:r>
                  <a:rPr lang="ja-JP" altLang="en-US" sz="1800" dirty="0">
                    <a:ea typeface="Cambria Math" panose="02040503050406030204" pitchFamily="18" charset="0"/>
                  </a:rPr>
                  <a:t>の</a:t>
                </a:r>
                <a14:m>
                  <m:oMath xmlns:m="http://schemas.openxmlformats.org/officeDocument/2006/math">
                    <m:sSub>
                      <m:sSubPr>
                        <m:ctrlPr>
                          <a:rPr lang="en-US" altLang="ja-JP" sz="1800" i="1">
                            <a:latin typeface="Cambria Math" panose="02040503050406030204" pitchFamily="18" charset="0"/>
                            <a:ea typeface="Cambria Math" panose="02040503050406030204" pitchFamily="18" charset="0"/>
                          </a:rPr>
                        </m:ctrlPr>
                      </m:sSubPr>
                      <m:e>
                        <m:r>
                          <a:rPr lang="en-US" altLang="ja-JP" sz="1800" i="1">
                            <a:latin typeface="Cambria Math" panose="02040503050406030204" pitchFamily="18" charset="0"/>
                            <a:ea typeface="Cambria Math" panose="02040503050406030204" pitchFamily="18" charset="0"/>
                          </a:rPr>
                          <m:t>𝑅</m:t>
                        </m:r>
                      </m:e>
                      <m:sub>
                        <m:r>
                          <a:rPr lang="en-US" altLang="ja-JP" sz="1800" i="1">
                            <a:latin typeface="Cambria Math" panose="02040503050406030204" pitchFamily="18" charset="0"/>
                            <a:ea typeface="Cambria Math" panose="02040503050406030204" pitchFamily="18" charset="0"/>
                          </a:rPr>
                          <m:t>𝑜𝑛</m:t>
                        </m:r>
                      </m:sub>
                    </m:sSub>
                    <m:r>
                      <a:rPr lang="en-US" altLang="ja-JP" sz="1800" i="1" smtClean="0">
                        <a:latin typeface="Cambria Math" panose="02040503050406030204" pitchFamily="18" charset="0"/>
                        <a:ea typeface="Cambria Math" panose="02040503050406030204" pitchFamily="18" charset="0"/>
                      </a:rPr>
                      <m:t>≈</m:t>
                    </m:r>
                    <m:f>
                      <m:fPr>
                        <m:ctrlPr>
                          <a:rPr lang="en-US" altLang="ja-JP" sz="1800" i="1" smtClean="0">
                            <a:latin typeface="Cambria Math" panose="02040503050406030204" pitchFamily="18" charset="0"/>
                            <a:ea typeface="Cambria Math" panose="02040503050406030204" pitchFamily="18" charset="0"/>
                          </a:rPr>
                        </m:ctrlPr>
                      </m:fPr>
                      <m:num>
                        <m:r>
                          <a:rPr lang="en-US" altLang="ja-JP" sz="1800" b="0" i="1" smtClean="0">
                            <a:latin typeface="Cambria Math" panose="02040503050406030204" pitchFamily="18" charset="0"/>
                            <a:ea typeface="Cambria Math" panose="02040503050406030204" pitchFamily="18" charset="0"/>
                          </a:rPr>
                          <m:t>1</m:t>
                        </m:r>
                      </m:num>
                      <m:den>
                        <m:sSub>
                          <m:sSubPr>
                            <m:ctrlPr>
                              <a:rPr lang="en-US" altLang="ja-JP" sz="1800" i="1" smtClean="0">
                                <a:latin typeface="Cambria Math" panose="02040503050406030204" pitchFamily="18" charset="0"/>
                                <a:ea typeface="Cambria Math" panose="02040503050406030204" pitchFamily="18" charset="0"/>
                              </a:rPr>
                            </m:ctrlPr>
                          </m:sSubPr>
                          <m:e>
                            <m:r>
                              <a:rPr lang="ja-JP" altLang="en-US" sz="1800" i="1" smtClean="0">
                                <a:latin typeface="Cambria Math" panose="02040503050406030204" pitchFamily="18" charset="0"/>
                                <a:ea typeface="Cambria Math" panose="02040503050406030204" pitchFamily="18" charset="0"/>
                              </a:rPr>
                              <m:t>𝜇</m:t>
                            </m:r>
                          </m:e>
                          <m:sub>
                            <m:r>
                              <a:rPr lang="en-US" altLang="ja-JP" sz="1800" b="0" i="1" smtClean="0">
                                <a:latin typeface="Cambria Math" panose="02040503050406030204" pitchFamily="18" charset="0"/>
                                <a:ea typeface="Cambria Math" panose="02040503050406030204" pitchFamily="18" charset="0"/>
                              </a:rPr>
                              <m:t>𝑝</m:t>
                            </m:r>
                          </m:sub>
                        </m:sSub>
                        <m:sSub>
                          <m:sSubPr>
                            <m:ctrlPr>
                              <a:rPr lang="en-US" altLang="ja-JP" sz="1800" i="1" smtClean="0">
                                <a:latin typeface="Cambria Math" panose="02040503050406030204" pitchFamily="18" charset="0"/>
                                <a:ea typeface="Cambria Math" panose="02040503050406030204" pitchFamily="18" charset="0"/>
                              </a:rPr>
                            </m:ctrlPr>
                          </m:sSubPr>
                          <m:e>
                            <m:r>
                              <a:rPr lang="en-US" altLang="ja-JP" sz="1800" b="0" i="1" smtClean="0">
                                <a:latin typeface="Cambria Math" panose="02040503050406030204" pitchFamily="18" charset="0"/>
                                <a:ea typeface="Cambria Math" panose="02040503050406030204" pitchFamily="18" charset="0"/>
                              </a:rPr>
                              <m:t>𝐶</m:t>
                            </m:r>
                          </m:e>
                          <m:sub>
                            <m:r>
                              <a:rPr lang="en-US" altLang="ja-JP" sz="1800" b="0" i="1" smtClean="0">
                                <a:latin typeface="Cambria Math" panose="02040503050406030204" pitchFamily="18" charset="0"/>
                                <a:ea typeface="Cambria Math" panose="02040503050406030204" pitchFamily="18" charset="0"/>
                              </a:rPr>
                              <m:t>𝑜𝑥</m:t>
                            </m:r>
                          </m:sub>
                        </m:sSub>
                        <m:r>
                          <a:rPr lang="en-US" altLang="ja-JP" sz="1800" b="0" i="1" smtClean="0">
                            <a:latin typeface="Cambria Math" panose="02040503050406030204" pitchFamily="18" charset="0"/>
                            <a:ea typeface="Cambria Math" panose="02040503050406030204" pitchFamily="18" charset="0"/>
                          </a:rPr>
                          <m:t>(</m:t>
                        </m:r>
                        <m:f>
                          <m:fPr>
                            <m:ctrlPr>
                              <a:rPr lang="en-US" altLang="ja-JP" sz="1800" b="0" i="1" smtClean="0">
                                <a:latin typeface="Cambria Math" panose="02040503050406030204" pitchFamily="18" charset="0"/>
                                <a:ea typeface="Cambria Math" panose="02040503050406030204" pitchFamily="18" charset="0"/>
                              </a:rPr>
                            </m:ctrlPr>
                          </m:fPr>
                          <m:num>
                            <m:r>
                              <a:rPr lang="en-US" altLang="ja-JP" sz="1800" b="0" i="1" smtClean="0">
                                <a:latin typeface="Cambria Math" panose="02040503050406030204" pitchFamily="18" charset="0"/>
                                <a:ea typeface="Cambria Math" panose="02040503050406030204" pitchFamily="18" charset="0"/>
                              </a:rPr>
                              <m:t>𝑊</m:t>
                            </m:r>
                          </m:num>
                          <m:den>
                            <m:r>
                              <a:rPr lang="en-US" altLang="ja-JP" sz="1800" b="0" i="1" smtClean="0">
                                <a:latin typeface="Cambria Math" panose="02040503050406030204" pitchFamily="18" charset="0"/>
                                <a:ea typeface="Cambria Math" panose="02040503050406030204" pitchFamily="18" charset="0"/>
                              </a:rPr>
                              <m:t>𝐿</m:t>
                            </m:r>
                          </m:den>
                        </m:f>
                        <m:r>
                          <a:rPr lang="en-US" altLang="ja-JP" sz="1800" b="0" i="1" smtClean="0">
                            <a:latin typeface="Cambria Math" panose="02040503050406030204" pitchFamily="18" charset="0"/>
                            <a:ea typeface="Cambria Math" panose="02040503050406030204" pitchFamily="18" charset="0"/>
                          </a:rPr>
                          <m:t>)(</m:t>
                        </m:r>
                        <m:sSub>
                          <m:sSubPr>
                            <m:ctrlPr>
                              <a:rPr lang="en-US" altLang="ja-JP" sz="1800" b="0" i="1" smtClean="0">
                                <a:latin typeface="Cambria Math" panose="02040503050406030204" pitchFamily="18" charset="0"/>
                                <a:ea typeface="Cambria Math" panose="02040503050406030204" pitchFamily="18" charset="0"/>
                              </a:rPr>
                            </m:ctrlPr>
                          </m:sSubPr>
                          <m:e>
                            <m:r>
                              <a:rPr lang="en-US" altLang="ja-JP" sz="1800" b="0" i="1" smtClean="0">
                                <a:latin typeface="Cambria Math" panose="02040503050406030204" pitchFamily="18" charset="0"/>
                                <a:ea typeface="Cambria Math" panose="02040503050406030204" pitchFamily="18" charset="0"/>
                              </a:rPr>
                              <m:t>𝑉</m:t>
                            </m:r>
                          </m:e>
                          <m:sub>
                            <m:r>
                              <a:rPr lang="en-US" altLang="ja-JP" sz="1800" b="0" i="1" smtClean="0">
                                <a:latin typeface="Cambria Math" panose="02040503050406030204" pitchFamily="18" charset="0"/>
                                <a:ea typeface="Cambria Math" panose="02040503050406030204" pitchFamily="18" charset="0"/>
                              </a:rPr>
                              <m:t>𝐺𝑆</m:t>
                            </m:r>
                          </m:sub>
                        </m:sSub>
                        <m:r>
                          <a:rPr lang="en-US" altLang="ja-JP" sz="1800" b="0" i="1" smtClean="0">
                            <a:latin typeface="Cambria Math" panose="02040503050406030204" pitchFamily="18" charset="0"/>
                            <a:ea typeface="Cambria Math" panose="02040503050406030204" pitchFamily="18" charset="0"/>
                          </a:rPr>
                          <m:t>−</m:t>
                        </m:r>
                        <m:sSub>
                          <m:sSubPr>
                            <m:ctrlPr>
                              <a:rPr lang="en-US" altLang="ja-JP" sz="1800" b="0" i="1" smtClean="0">
                                <a:latin typeface="Cambria Math" panose="02040503050406030204" pitchFamily="18" charset="0"/>
                                <a:ea typeface="Cambria Math" panose="02040503050406030204" pitchFamily="18" charset="0"/>
                              </a:rPr>
                            </m:ctrlPr>
                          </m:sSubPr>
                          <m:e>
                            <m:r>
                              <a:rPr lang="en-US" altLang="ja-JP" sz="1800" b="0" i="1" smtClean="0">
                                <a:latin typeface="Cambria Math" panose="02040503050406030204" pitchFamily="18" charset="0"/>
                                <a:ea typeface="Cambria Math" panose="02040503050406030204" pitchFamily="18" charset="0"/>
                              </a:rPr>
                              <m:t>𝑉</m:t>
                            </m:r>
                          </m:e>
                          <m:sub>
                            <m:r>
                              <a:rPr lang="en-US" altLang="ja-JP" sz="1800" b="0" i="1" smtClean="0">
                                <a:latin typeface="Cambria Math" panose="02040503050406030204" pitchFamily="18" charset="0"/>
                                <a:ea typeface="Cambria Math" panose="02040503050406030204" pitchFamily="18" charset="0"/>
                              </a:rPr>
                              <m:t>𝑡h</m:t>
                            </m:r>
                          </m:sub>
                        </m:sSub>
                        <m:r>
                          <a:rPr lang="en-US" altLang="ja-JP" sz="1800" b="0" i="1" smtClean="0">
                            <a:latin typeface="Cambria Math" panose="02040503050406030204" pitchFamily="18" charset="0"/>
                            <a:ea typeface="Cambria Math" panose="02040503050406030204" pitchFamily="18" charset="0"/>
                          </a:rPr>
                          <m:t>)</m:t>
                        </m:r>
                      </m:den>
                    </m:f>
                  </m:oMath>
                </a14:m>
                <a:r>
                  <a:rPr lang="en-US" altLang="ja-JP" sz="1800" dirty="0"/>
                  <a:t> </a:t>
                </a:r>
              </a:p>
              <a:p>
                <a:pPr lvl="1"/>
                <a:r>
                  <a:rPr lang="en-US" altLang="ja-JP" sz="1400" dirty="0"/>
                  <a:t>W/L</a:t>
                </a:r>
                <a:r>
                  <a:rPr lang="ja-JP" altLang="en-US" sz="1400" dirty="0"/>
                  <a:t>は</a:t>
                </a:r>
                <a:r>
                  <a:rPr lang="en-US" altLang="ja-JP" sz="1400" dirty="0"/>
                  <a:t>10</a:t>
                </a:r>
                <a:r>
                  <a:rPr lang="ja-JP" altLang="en-US" sz="1400" dirty="0"/>
                  <a:t>～</a:t>
                </a:r>
                <a:r>
                  <a:rPr lang="en-US" altLang="ja-JP" sz="1400" dirty="0"/>
                  <a:t>30</a:t>
                </a:r>
                <a:r>
                  <a:rPr lang="ja-JP" altLang="en-US" sz="1400" dirty="0"/>
                  <a:t>あれば十分、</a:t>
                </a:r>
                <a:r>
                  <a:rPr lang="en-US" altLang="ja-JP" sz="1400" dirty="0"/>
                  <a:t>NMOS</a:t>
                </a:r>
                <a:r>
                  <a:rPr lang="ja-JP" altLang="en-US" sz="1400" dirty="0"/>
                  <a:t>は</a:t>
                </a:r>
                <a:r>
                  <a:rPr lang="en-US" altLang="ja-JP" sz="1400" dirty="0"/>
                  <a:t>1/2</a:t>
                </a:r>
                <a:r>
                  <a:rPr lang="ja-JP" altLang="en-US" sz="1400" dirty="0"/>
                  <a:t>～</a:t>
                </a:r>
                <a:r>
                  <a:rPr lang="en-US" altLang="ja-JP" sz="1400" dirty="0"/>
                  <a:t>1/3</a:t>
                </a:r>
              </a:p>
              <a:p>
                <a:pPr lvl="1"/>
                <a:endParaRPr kumimoji="1" lang="en-US" altLang="ja-JP" sz="1400" dirty="0"/>
              </a:p>
            </p:txBody>
          </p:sp>
        </mc:Choice>
        <mc:Fallback xmlns="">
          <p:sp>
            <p:nvSpPr>
              <p:cNvPr id="3" name="コンテンツ プレースホルダー 2">
                <a:extLst>
                  <a:ext uri="{FF2B5EF4-FFF2-40B4-BE49-F238E27FC236}">
                    <a16:creationId xmlns:a16="http://schemas.microsoft.com/office/drawing/2014/main" id="{7C410CA5-BE66-5822-F0D7-99878FEBEAF9}"/>
                  </a:ext>
                </a:extLst>
              </p:cNvPr>
              <p:cNvSpPr>
                <a:spLocks noGrp="1" noRot="1" noChangeAspect="1" noMove="1" noResize="1" noEditPoints="1" noAdjustHandles="1" noChangeArrowheads="1" noChangeShapeType="1" noTextEdit="1"/>
              </p:cNvSpPr>
              <p:nvPr>
                <p:ph idx="1"/>
              </p:nvPr>
            </p:nvSpPr>
            <p:spPr>
              <a:xfrm>
                <a:off x="5162719" y="4495568"/>
                <a:ext cx="6799126" cy="1905232"/>
              </a:xfrm>
              <a:blipFill>
                <a:blip r:embed="rId2"/>
                <a:stretch>
                  <a:fillRect l="-628" t="-8626"/>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E9B2EBB2-AB75-205A-1DD0-F3CFF44C5398}"/>
              </a:ext>
            </a:extLst>
          </p:cNvPr>
          <p:cNvPicPr>
            <a:picLocks noChangeAspect="1"/>
          </p:cNvPicPr>
          <p:nvPr/>
        </p:nvPicPr>
        <p:blipFill>
          <a:blip r:embed="rId3"/>
          <a:stretch>
            <a:fillRect/>
          </a:stretch>
        </p:blipFill>
        <p:spPr>
          <a:xfrm>
            <a:off x="3484984" y="243832"/>
            <a:ext cx="5924939" cy="3500375"/>
          </a:xfrm>
          <a:prstGeom prst="rect">
            <a:avLst/>
          </a:prstGeom>
        </p:spPr>
      </p:pic>
    </p:spTree>
    <p:extLst>
      <p:ext uri="{BB962C8B-B14F-4D97-AF65-F5344CB8AC3E}">
        <p14:creationId xmlns:p14="http://schemas.microsoft.com/office/powerpoint/2010/main" val="40669495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9150D9-C6A2-E1A2-1449-8F0D2D44E812}"/>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3DE2008-5AD5-6745-B8CC-40674D61A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34E8557-E05F-32EE-A137-6DA5D9238BA8}"/>
              </a:ext>
            </a:extLst>
          </p:cNvPr>
          <p:cNvSpPr>
            <a:spLocks noGrp="1"/>
          </p:cNvSpPr>
          <p:nvPr>
            <p:ph type="title"/>
          </p:nvPr>
        </p:nvSpPr>
        <p:spPr>
          <a:xfrm>
            <a:off x="532015" y="4495568"/>
            <a:ext cx="3861960" cy="1905232"/>
          </a:xfrm>
        </p:spPr>
        <p:txBody>
          <a:bodyPr anchor="ctr">
            <a:normAutofit/>
          </a:bodyPr>
          <a:lstStyle/>
          <a:p>
            <a:r>
              <a:rPr kumimoji="1" lang="ja-JP" altLang="en-US" sz="3200" dirty="0"/>
              <a:t>設計ポイント：</a:t>
            </a:r>
            <a:br>
              <a:rPr kumimoji="1" lang="en-US" altLang="ja-JP" sz="3200" dirty="0"/>
            </a:br>
            <a:r>
              <a:rPr kumimoji="1" lang="en-US" altLang="ja-JP" sz="3200" dirty="0"/>
              <a:t>W</a:t>
            </a:r>
            <a:r>
              <a:rPr kumimoji="1" lang="ja-JP" altLang="en-US" sz="3200" dirty="0"/>
              <a:t>の値</a:t>
            </a:r>
          </a:p>
        </p:txBody>
      </p:sp>
      <p:sp>
        <p:nvSpPr>
          <p:cNvPr id="15" name="Rectangle 14">
            <a:extLst>
              <a:ext uri="{FF2B5EF4-FFF2-40B4-BE49-F238E27FC236}">
                <a16:creationId xmlns:a16="http://schemas.microsoft.com/office/drawing/2014/main" id="{DA3F2305-8593-6A27-5875-CB0B26B9B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9372C85-15E0-E1B7-B392-D7FFCD97D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E21F7F93-3A14-88A7-9DB0-55C1A0C109B5}"/>
              </a:ext>
            </a:extLst>
          </p:cNvPr>
          <p:cNvPicPr>
            <a:picLocks noChangeAspect="1"/>
          </p:cNvPicPr>
          <p:nvPr/>
        </p:nvPicPr>
        <p:blipFill>
          <a:blip r:embed="rId2"/>
          <a:srcRect r="16034" b="2"/>
          <a:stretch>
            <a:fillRect/>
          </a:stretch>
        </p:blipFill>
        <p:spPr>
          <a:xfrm>
            <a:off x="5773428" y="550847"/>
            <a:ext cx="2947327" cy="3027441"/>
          </a:xfrm>
          <a:prstGeom prst="rect">
            <a:avLst/>
          </a:prstGeom>
        </p:spPr>
      </p:pic>
      <p:pic>
        <p:nvPicPr>
          <p:cNvPr id="5" name="図 4">
            <a:extLst>
              <a:ext uri="{FF2B5EF4-FFF2-40B4-BE49-F238E27FC236}">
                <a16:creationId xmlns:a16="http://schemas.microsoft.com/office/drawing/2014/main" id="{25BFE5A4-73C7-3EDD-568A-F8779BD1A9DA}"/>
              </a:ext>
            </a:extLst>
          </p:cNvPr>
          <p:cNvPicPr>
            <a:picLocks noChangeAspect="1"/>
          </p:cNvPicPr>
          <p:nvPr/>
        </p:nvPicPr>
        <p:blipFill>
          <a:blip r:embed="rId3"/>
          <a:srcRect r="12590" b="-5"/>
          <a:stretch>
            <a:fillRect/>
          </a:stretch>
        </p:blipFill>
        <p:spPr>
          <a:xfrm>
            <a:off x="8805041" y="550847"/>
            <a:ext cx="2948356" cy="3027441"/>
          </a:xfrm>
          <a:prstGeom prst="rect">
            <a:avLst/>
          </a:prstGeom>
        </p:spPr>
      </p:pic>
      <p:sp>
        <p:nvSpPr>
          <p:cNvPr id="19" name="Rectangle 18">
            <a:extLst>
              <a:ext uri="{FF2B5EF4-FFF2-40B4-BE49-F238E27FC236}">
                <a16:creationId xmlns:a16="http://schemas.microsoft.com/office/drawing/2014/main" id="{EC25A46C-CE0B-139E-9207-29F6F828F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7A39976-ECEA-ABEB-0F49-8C6A7A6A4F2A}"/>
              </a:ext>
            </a:extLst>
          </p:cNvPr>
          <p:cNvSpPr>
            <a:spLocks noGrp="1"/>
          </p:cNvSpPr>
          <p:nvPr>
            <p:ph idx="1"/>
          </p:nvPr>
        </p:nvSpPr>
        <p:spPr>
          <a:xfrm>
            <a:off x="5162719" y="4495568"/>
            <a:ext cx="6586915" cy="1905232"/>
          </a:xfrm>
        </p:spPr>
        <p:txBody>
          <a:bodyPr anchor="ctr">
            <a:normAutofit/>
          </a:bodyPr>
          <a:lstStyle/>
          <a:p>
            <a:r>
              <a:rPr lang="ja-JP" altLang="en-US" sz="1800" dirty="0"/>
              <a:t>中央の図：</a:t>
            </a:r>
            <a:r>
              <a:rPr lang="en-US" altLang="ja-JP" sz="1800" dirty="0"/>
              <a:t>PMOS:W=1u, NMOS:W=1u</a:t>
            </a:r>
            <a:endParaRPr lang="ja-JP" altLang="en-US" sz="1800" dirty="0"/>
          </a:p>
          <a:p>
            <a:r>
              <a:rPr kumimoji="1" lang="ja-JP" altLang="en-US" sz="1800" dirty="0"/>
              <a:t>右の図：</a:t>
            </a:r>
            <a:r>
              <a:rPr kumimoji="1" lang="en-US" altLang="ja-JP" sz="1800" dirty="0"/>
              <a:t>PMOS:W</a:t>
            </a:r>
            <a:r>
              <a:rPr kumimoji="1" lang="ja-JP" altLang="en-US" sz="1800" dirty="0"/>
              <a:t>＝</a:t>
            </a:r>
            <a:r>
              <a:rPr lang="en-US" altLang="ja-JP" sz="1800" dirty="0"/>
              <a:t>60</a:t>
            </a:r>
            <a:r>
              <a:rPr kumimoji="1" lang="en-US" altLang="ja-JP" sz="1800" dirty="0"/>
              <a:t>u, NMOS:W=30u</a:t>
            </a:r>
          </a:p>
          <a:p>
            <a:pPr lvl="1"/>
            <a:r>
              <a:rPr lang="en-US" altLang="ja-JP" sz="1400" dirty="0"/>
              <a:t>L</a:t>
            </a:r>
            <a:r>
              <a:rPr lang="ja-JP" altLang="en-US" sz="1400" dirty="0"/>
              <a:t>は駆動力重視で最小の</a:t>
            </a:r>
            <a:r>
              <a:rPr lang="en-US" altLang="ja-JP" sz="1400" dirty="0"/>
              <a:t>0.5u</a:t>
            </a:r>
            <a:r>
              <a:rPr lang="ja-JP" altLang="en-US" sz="1400" dirty="0"/>
              <a:t>とした</a:t>
            </a:r>
            <a:endParaRPr lang="en-US" altLang="ja-JP" sz="1400" dirty="0"/>
          </a:p>
          <a:p>
            <a:pPr lvl="1"/>
            <a:r>
              <a:rPr lang="ja-JP" altLang="en-US" sz="1400" dirty="0"/>
              <a:t>回路図とレイアウトでなぜか</a:t>
            </a:r>
            <a:r>
              <a:rPr lang="en-US" altLang="ja-JP" sz="1400" dirty="0"/>
              <a:t>Cap</a:t>
            </a:r>
            <a:r>
              <a:rPr lang="ja-JP" altLang="en-US" sz="1400" dirty="0"/>
              <a:t>の容量が</a:t>
            </a:r>
            <a:r>
              <a:rPr lang="en-US" altLang="ja-JP" sz="1400" dirty="0"/>
              <a:t>2</a:t>
            </a:r>
            <a:r>
              <a:rPr lang="ja-JP" altLang="en-US" sz="1400" dirty="0"/>
              <a:t>倍違い、かなりの寄生容量が載ることを考慮し、必要</a:t>
            </a:r>
            <a:r>
              <a:rPr lang="en-US" altLang="ja-JP" sz="1400" dirty="0"/>
              <a:t>W/L</a:t>
            </a:r>
            <a:r>
              <a:rPr lang="ja-JP" altLang="en-US" sz="1400" dirty="0"/>
              <a:t>の約</a:t>
            </a:r>
            <a:r>
              <a:rPr lang="en-US" altLang="ja-JP" sz="1400" dirty="0"/>
              <a:t>4</a:t>
            </a:r>
            <a:r>
              <a:rPr lang="ja-JP" altLang="en-US" sz="1400" dirty="0"/>
              <a:t>倍として設計した</a:t>
            </a:r>
            <a:endParaRPr kumimoji="1" lang="en-US" altLang="ja-JP" sz="1400" dirty="0"/>
          </a:p>
        </p:txBody>
      </p:sp>
      <p:pic>
        <p:nvPicPr>
          <p:cNvPr id="6" name="図 5">
            <a:extLst>
              <a:ext uri="{FF2B5EF4-FFF2-40B4-BE49-F238E27FC236}">
                <a16:creationId xmlns:a16="http://schemas.microsoft.com/office/drawing/2014/main" id="{1F725A13-A0EC-D450-07AA-0A6F489CE1C0}"/>
              </a:ext>
            </a:extLst>
          </p:cNvPr>
          <p:cNvPicPr>
            <a:picLocks noChangeAspect="1"/>
          </p:cNvPicPr>
          <p:nvPr/>
        </p:nvPicPr>
        <p:blipFill>
          <a:blip r:embed="rId4"/>
          <a:stretch>
            <a:fillRect/>
          </a:stretch>
        </p:blipFill>
        <p:spPr>
          <a:xfrm>
            <a:off x="532015" y="550847"/>
            <a:ext cx="5157127" cy="3046762"/>
          </a:xfrm>
          <a:prstGeom prst="rect">
            <a:avLst/>
          </a:prstGeom>
        </p:spPr>
      </p:pic>
    </p:spTree>
    <p:extLst>
      <p:ext uri="{BB962C8B-B14F-4D97-AF65-F5344CB8AC3E}">
        <p14:creationId xmlns:p14="http://schemas.microsoft.com/office/powerpoint/2010/main" val="2309006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8CEDBA5-06FA-268F-A1B3-B7CFEEE9412E}"/>
              </a:ext>
            </a:extLst>
          </p:cNvPr>
          <p:cNvSpPr>
            <a:spLocks noGrp="1"/>
          </p:cNvSpPr>
          <p:nvPr>
            <p:ph type="title"/>
          </p:nvPr>
        </p:nvSpPr>
        <p:spPr>
          <a:xfrm>
            <a:off x="1057025" y="922644"/>
            <a:ext cx="5040285" cy="1169585"/>
          </a:xfrm>
        </p:spPr>
        <p:txBody>
          <a:bodyPr vert="horz" lIns="91440" tIns="45720" rIns="91440" bIns="45720" rtlCol="0" anchor="b">
            <a:normAutofit/>
          </a:bodyPr>
          <a:lstStyle/>
          <a:p>
            <a:r>
              <a:rPr kumimoji="1" lang="ja-JP" altLang="en-US" sz="3700"/>
              <a:t>設計のポイント：</a:t>
            </a:r>
            <a:br>
              <a:rPr kumimoji="1" lang="en-US" altLang="ja-JP" sz="3700"/>
            </a:br>
            <a:r>
              <a:rPr lang="ja-JP" altLang="en-US" sz="3700"/>
              <a:t>ファンアウト</a:t>
            </a:r>
            <a:endParaRPr kumimoji="1" lang="en-US" altLang="ja-JP" sz="3700"/>
          </a:p>
        </p:txBody>
      </p:sp>
      <p:sp>
        <p:nvSpPr>
          <p:cNvPr id="35" name="Rectangle 34">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コンテンツ プレースホルダー 4">
            <a:extLst>
              <a:ext uri="{FF2B5EF4-FFF2-40B4-BE49-F238E27FC236}">
                <a16:creationId xmlns:a16="http://schemas.microsoft.com/office/drawing/2014/main" id="{563FE06B-D6D8-1E0C-ACEE-61B1A0FC3AC4}"/>
              </a:ext>
            </a:extLst>
          </p:cNvPr>
          <p:cNvSpPr txBox="1">
            <a:spLocks/>
          </p:cNvSpPr>
          <p:nvPr/>
        </p:nvSpPr>
        <p:spPr>
          <a:xfrm>
            <a:off x="1055714" y="2508106"/>
            <a:ext cx="5340195" cy="291746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a:r>
              <a:rPr lang="ja-JP" altLang="en-US" sz="1700" dirty="0"/>
              <a:t>出力先にどれぐらいの容量負荷が接続されているかを表す単位</a:t>
            </a:r>
            <a:endParaRPr lang="en-US" altLang="ja-JP" sz="1700" dirty="0"/>
          </a:p>
          <a:p>
            <a:pPr marL="285750"/>
            <a:endParaRPr lang="en-US" altLang="ja-JP" sz="1700" dirty="0"/>
          </a:p>
          <a:p>
            <a:pPr marL="285750"/>
            <a:r>
              <a:rPr lang="ja-JP" altLang="en-US" sz="1700" dirty="0"/>
              <a:t>特性</a:t>
            </a:r>
            <a:endParaRPr lang="en-US" altLang="ja-JP" sz="1700" dirty="0"/>
          </a:p>
          <a:p>
            <a:pPr marL="742950" lvl="1"/>
            <a:r>
              <a:rPr lang="en-US" altLang="ja-JP" sz="1600" dirty="0"/>
              <a:t>3</a:t>
            </a:r>
            <a:r>
              <a:rPr lang="ja-JP" altLang="en-US" sz="1600" dirty="0"/>
              <a:t>倍くらいのサイズにすると一番遅延時間が減る</a:t>
            </a:r>
            <a:endParaRPr lang="en-US" altLang="ja-JP" sz="1600" dirty="0"/>
          </a:p>
          <a:p>
            <a:pPr marL="285750"/>
            <a:r>
              <a:rPr lang="ja-JP" altLang="en-US" sz="1600" dirty="0"/>
              <a:t>本設計の</a:t>
            </a:r>
            <a:r>
              <a:rPr lang="en-US" altLang="ja-JP" sz="1600" dirty="0"/>
              <a:t>W</a:t>
            </a:r>
          </a:p>
          <a:p>
            <a:pPr marL="1200150" lvl="2"/>
            <a:r>
              <a:rPr lang="en-US" altLang="ja-JP" sz="1400" dirty="0"/>
              <a:t>5u</a:t>
            </a:r>
            <a:r>
              <a:rPr lang="ja-JP" altLang="en-US" sz="1400" dirty="0"/>
              <a:t> </a:t>
            </a:r>
            <a:r>
              <a:rPr lang="en-US" altLang="ja-JP" sz="1400" dirty="0"/>
              <a:t>-&gt; 10u -&gt; 40u -&gt; 60u</a:t>
            </a:r>
          </a:p>
          <a:p>
            <a:pPr marL="1200150" lvl="2"/>
            <a:r>
              <a:rPr lang="en-US" altLang="ja-JP" sz="1400" dirty="0"/>
              <a:t>1</a:t>
            </a:r>
            <a:r>
              <a:rPr lang="ja-JP" altLang="en-US" sz="1400" dirty="0"/>
              <a:t>倍</a:t>
            </a:r>
            <a:r>
              <a:rPr lang="en-US" altLang="ja-JP" sz="1400" dirty="0"/>
              <a:t> -&gt; 2</a:t>
            </a:r>
            <a:r>
              <a:rPr lang="ja-JP" altLang="en-US" sz="1400" dirty="0"/>
              <a:t>倍 </a:t>
            </a:r>
            <a:r>
              <a:rPr lang="en-US" altLang="ja-JP" sz="1400" dirty="0"/>
              <a:t>-&gt; 4</a:t>
            </a:r>
            <a:r>
              <a:rPr lang="ja-JP" altLang="en-US" sz="1400" dirty="0"/>
              <a:t>倍 </a:t>
            </a:r>
            <a:r>
              <a:rPr lang="en-US" altLang="ja-JP" sz="1400" dirty="0"/>
              <a:t>-&gt; 1.5</a:t>
            </a:r>
            <a:r>
              <a:rPr lang="ja-JP" altLang="en-US" sz="1400" dirty="0"/>
              <a:t>倍</a:t>
            </a:r>
            <a:br>
              <a:rPr lang="en-US" altLang="ja-JP" sz="1100" dirty="0"/>
            </a:br>
            <a:endParaRPr lang="en-US" altLang="ja-JP" sz="1100" dirty="0"/>
          </a:p>
        </p:txBody>
      </p:sp>
      <p:pic>
        <p:nvPicPr>
          <p:cNvPr id="5" name="図 4">
            <a:extLst>
              <a:ext uri="{FF2B5EF4-FFF2-40B4-BE49-F238E27FC236}">
                <a16:creationId xmlns:a16="http://schemas.microsoft.com/office/drawing/2014/main" id="{FD99FC29-C74B-FB52-1C97-842811E03BEB}"/>
              </a:ext>
            </a:extLst>
          </p:cNvPr>
          <p:cNvPicPr>
            <a:picLocks noChangeAspect="1"/>
          </p:cNvPicPr>
          <p:nvPr/>
        </p:nvPicPr>
        <p:blipFill>
          <a:blip r:embed="rId2"/>
          <a:stretch>
            <a:fillRect/>
          </a:stretch>
        </p:blipFill>
        <p:spPr>
          <a:xfrm>
            <a:off x="6455709" y="4136364"/>
            <a:ext cx="5124426" cy="1985715"/>
          </a:xfrm>
          <a:prstGeom prst="rect">
            <a:avLst/>
          </a:prstGeom>
        </p:spPr>
      </p:pic>
      <p:pic>
        <p:nvPicPr>
          <p:cNvPr id="19" name="図 18">
            <a:extLst>
              <a:ext uri="{FF2B5EF4-FFF2-40B4-BE49-F238E27FC236}">
                <a16:creationId xmlns:a16="http://schemas.microsoft.com/office/drawing/2014/main" id="{C2734510-4863-ED95-4B8E-E2069F1BF1CE}"/>
              </a:ext>
            </a:extLst>
          </p:cNvPr>
          <p:cNvPicPr>
            <a:picLocks noChangeAspect="1"/>
          </p:cNvPicPr>
          <p:nvPr/>
        </p:nvPicPr>
        <p:blipFill>
          <a:blip r:embed="rId3"/>
          <a:stretch>
            <a:fillRect/>
          </a:stretch>
        </p:blipFill>
        <p:spPr>
          <a:xfrm>
            <a:off x="6447626" y="552978"/>
            <a:ext cx="5108788" cy="3265985"/>
          </a:xfrm>
          <a:prstGeom prst="rect">
            <a:avLst/>
          </a:prstGeom>
        </p:spPr>
      </p:pic>
    </p:spTree>
    <p:extLst>
      <p:ext uri="{BB962C8B-B14F-4D97-AF65-F5344CB8AC3E}">
        <p14:creationId xmlns:p14="http://schemas.microsoft.com/office/powerpoint/2010/main" val="2436999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6331D9-BA14-A73E-FAAF-D4DF5F80D2D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9E19281-C8F2-8212-7A53-8AD16C951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B1655D4-C7AE-71E8-B84A-3FEE0071DA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D5103F14-565E-06F6-8A54-BBCA530AE2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F1C2783-CA5E-79BF-47DF-6078CD06B9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DEA957B-6334-5125-037E-C397FD66FB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6AB7DB2-D26E-B209-450B-FACC8E716B8E}"/>
              </a:ext>
            </a:extLst>
          </p:cNvPr>
          <p:cNvSpPr>
            <a:spLocks noGrp="1"/>
          </p:cNvSpPr>
          <p:nvPr>
            <p:ph type="title"/>
          </p:nvPr>
        </p:nvSpPr>
        <p:spPr>
          <a:xfrm>
            <a:off x="1021676" y="1584683"/>
            <a:ext cx="10053292"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ロジック（デジタル）編</a:t>
            </a:r>
          </a:p>
        </p:txBody>
      </p:sp>
    </p:spTree>
    <p:extLst>
      <p:ext uri="{BB962C8B-B14F-4D97-AF65-F5344CB8AC3E}">
        <p14:creationId xmlns:p14="http://schemas.microsoft.com/office/powerpoint/2010/main" val="32125662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73FE491-C06C-19F9-8716-FD208343EEB9}"/>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BA65AD8B-6400-D006-7388-3BBB4029EE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A5E6547-AEE3-095D-4B67-B6086CFB1B7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7C0B14A8-5B6A-412A-3F21-1A4CD4FD63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00ACD2DE-A6D9-F722-44B9-61F1D1D9C4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7B6F8A6-4F72-284B-DE22-6CEC6CA63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C82D0B4-0732-FF51-40F8-30E998F3D19B}"/>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制御器</a:t>
            </a:r>
          </a:p>
        </p:txBody>
      </p:sp>
    </p:spTree>
    <p:extLst>
      <p:ext uri="{BB962C8B-B14F-4D97-AF65-F5344CB8AC3E}">
        <p14:creationId xmlns:p14="http://schemas.microsoft.com/office/powerpoint/2010/main" val="1250234336"/>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404B4C4-F302-C5A2-B775-DB81E3674A4D}"/>
              </a:ext>
            </a:extLst>
          </p:cNvPr>
          <p:cNvSpPr>
            <a:spLocks noGrp="1"/>
          </p:cNvSpPr>
          <p:nvPr>
            <p:ph type="title"/>
          </p:nvPr>
        </p:nvSpPr>
        <p:spPr>
          <a:xfrm>
            <a:off x="808638" y="386930"/>
            <a:ext cx="9236700" cy="1188950"/>
          </a:xfrm>
        </p:spPr>
        <p:txBody>
          <a:bodyPr anchor="b">
            <a:normAutofit/>
          </a:bodyPr>
          <a:lstStyle/>
          <a:p>
            <a:r>
              <a:rPr kumimoji="1" lang="en-US" altLang="ja-JP" sz="5400"/>
              <a:t>SAR-LOGIC.v</a:t>
            </a:r>
            <a:r>
              <a:rPr kumimoji="1" lang="ja-JP" altLang="en-US" sz="5400"/>
              <a:t>の引数</a:t>
            </a:r>
          </a:p>
        </p:txBody>
      </p:sp>
      <p:grpSp>
        <p:nvGrpSpPr>
          <p:cNvPr id="24" name="Group 2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26D3696-A31E-1E34-E5A1-D267DC8EC225}"/>
              </a:ext>
            </a:extLst>
          </p:cNvPr>
          <p:cNvSpPr>
            <a:spLocks noGrp="1"/>
          </p:cNvSpPr>
          <p:nvPr>
            <p:ph idx="1"/>
          </p:nvPr>
        </p:nvSpPr>
        <p:spPr>
          <a:xfrm>
            <a:off x="793660" y="2599509"/>
            <a:ext cx="10143668" cy="3435531"/>
          </a:xfrm>
        </p:spPr>
        <p:txBody>
          <a:bodyPr anchor="ctr">
            <a:normAutofit/>
          </a:bodyPr>
          <a:lstStyle/>
          <a:p>
            <a:r>
              <a:rPr lang="en-US" altLang="ja-JP" sz="1700"/>
              <a:t>module SAR_LOGIC(COMP_OUT, DIGITAL_OUT, COMP_CLK, SC, SDAC, EOC, CLK, XRST);</a:t>
            </a:r>
          </a:p>
          <a:p>
            <a:pPr lvl="1"/>
            <a:r>
              <a:rPr lang="en-US" altLang="ja-JP" sz="1700"/>
              <a:t>COMP_OUT : </a:t>
            </a:r>
            <a:r>
              <a:rPr lang="ja-JP" altLang="en-US" sz="1700"/>
              <a:t>ラッチ後のコンパレータ出力</a:t>
            </a:r>
            <a:endParaRPr lang="en-US" altLang="ja-JP" sz="1700"/>
          </a:p>
          <a:p>
            <a:pPr lvl="1"/>
            <a:r>
              <a:rPr lang="en-US" altLang="ja-JP" sz="1700"/>
              <a:t>DIGITAL_OUT : A/D</a:t>
            </a:r>
            <a:r>
              <a:rPr lang="ja-JP" altLang="en-US" sz="1700"/>
              <a:t>結果</a:t>
            </a:r>
          </a:p>
          <a:p>
            <a:pPr lvl="1"/>
            <a:r>
              <a:rPr lang="en-US" altLang="ja-JP" sz="1700"/>
              <a:t>COMP_CLK : </a:t>
            </a:r>
            <a:r>
              <a:rPr lang="ja-JP" altLang="en-US" sz="1700"/>
              <a:t>コンパレータに入力する</a:t>
            </a:r>
            <a:r>
              <a:rPr lang="en-US" altLang="ja-JP" sz="1700"/>
              <a:t>CLK</a:t>
            </a:r>
          </a:p>
          <a:p>
            <a:pPr lvl="1"/>
            <a:r>
              <a:rPr lang="en-US" altLang="ja-JP" sz="1700"/>
              <a:t>SC : CDAC</a:t>
            </a:r>
            <a:r>
              <a:rPr lang="ja-JP" altLang="en-US" sz="1700"/>
              <a:t>の容量のコンパレータ側端子を</a:t>
            </a:r>
            <a:r>
              <a:rPr lang="en-US" altLang="ja-JP" sz="1700"/>
              <a:t>GND</a:t>
            </a:r>
            <a:r>
              <a:rPr lang="ja-JP" altLang="en-US" sz="1700"/>
              <a:t>に落とす</a:t>
            </a:r>
            <a:r>
              <a:rPr lang="en-US" altLang="ja-JP" sz="1700"/>
              <a:t>SW</a:t>
            </a:r>
            <a:r>
              <a:rPr lang="ja-JP" altLang="en-US" sz="1700"/>
              <a:t>。</a:t>
            </a:r>
            <a:r>
              <a:rPr lang="en-US" altLang="ja-JP" sz="1700"/>
              <a:t>HIGH</a:t>
            </a:r>
            <a:r>
              <a:rPr lang="ja-JP" altLang="en-US" sz="1700"/>
              <a:t>で</a:t>
            </a:r>
            <a:r>
              <a:rPr lang="en-US" altLang="ja-JP" sz="1700"/>
              <a:t>GND</a:t>
            </a:r>
            <a:r>
              <a:rPr lang="ja-JP" altLang="en-US" sz="1700"/>
              <a:t>に落とす想定。</a:t>
            </a:r>
          </a:p>
          <a:p>
            <a:pPr lvl="1"/>
            <a:r>
              <a:rPr lang="en-US" altLang="ja-JP" sz="1700"/>
              <a:t>SDAC : CDAC</a:t>
            </a:r>
            <a:r>
              <a:rPr lang="ja-JP" altLang="en-US" sz="1700"/>
              <a:t>の容量に</a:t>
            </a:r>
            <a:r>
              <a:rPr lang="en-US" altLang="ja-JP" sz="1700"/>
              <a:t>Vref</a:t>
            </a:r>
            <a:r>
              <a:rPr lang="ja-JP" altLang="en-US" sz="1700"/>
              <a:t>を入力するか</a:t>
            </a:r>
            <a:r>
              <a:rPr lang="en-US" altLang="ja-JP" sz="1700"/>
              <a:t>GND</a:t>
            </a:r>
            <a:r>
              <a:rPr lang="ja-JP" altLang="en-US" sz="1700"/>
              <a:t>を入力するか決める</a:t>
            </a:r>
            <a:r>
              <a:rPr lang="en-US" altLang="ja-JP" sz="1700"/>
              <a:t>SW</a:t>
            </a:r>
            <a:r>
              <a:rPr lang="ja-JP" altLang="en-US" sz="1700"/>
              <a:t>。</a:t>
            </a:r>
            <a:r>
              <a:rPr lang="en-US" altLang="ja-JP" sz="1700"/>
              <a:t>LOW</a:t>
            </a:r>
            <a:r>
              <a:rPr lang="ja-JP" altLang="en-US" sz="1700"/>
              <a:t>で</a:t>
            </a:r>
            <a:r>
              <a:rPr lang="en-US" altLang="ja-JP" sz="1700"/>
              <a:t>GND</a:t>
            </a:r>
            <a:r>
              <a:rPr lang="ja-JP" altLang="en-US" sz="1700"/>
              <a:t>を入力、</a:t>
            </a:r>
            <a:r>
              <a:rPr lang="en-US" altLang="ja-JP" sz="1700"/>
              <a:t>HIGH</a:t>
            </a:r>
            <a:r>
              <a:rPr lang="ja-JP" altLang="en-US" sz="1700"/>
              <a:t>で</a:t>
            </a:r>
            <a:r>
              <a:rPr lang="en-US" altLang="ja-JP" sz="1700"/>
              <a:t>Vref</a:t>
            </a:r>
            <a:r>
              <a:rPr lang="ja-JP" altLang="en-US" sz="1700"/>
              <a:t>を入力する想定。</a:t>
            </a:r>
          </a:p>
          <a:p>
            <a:pPr lvl="2"/>
            <a:r>
              <a:rPr lang="en-US" altLang="ja-JP" sz="1700"/>
              <a:t>BIT_ADC+1</a:t>
            </a:r>
            <a:r>
              <a:rPr lang="ja-JP" altLang="en-US" sz="1700"/>
              <a:t>個の</a:t>
            </a:r>
            <a:r>
              <a:rPr lang="en-US" altLang="ja-JP" sz="1700"/>
              <a:t>SW</a:t>
            </a:r>
            <a:r>
              <a:rPr lang="ja-JP" altLang="en-US" sz="1700"/>
              <a:t>。</a:t>
            </a:r>
            <a:r>
              <a:rPr lang="en-US" altLang="ja-JP" sz="1700"/>
              <a:t>MSB</a:t>
            </a:r>
            <a:r>
              <a:rPr lang="ja-JP" altLang="en-US" sz="1700"/>
              <a:t>が</a:t>
            </a:r>
            <a:r>
              <a:rPr lang="en-US" altLang="ja-JP" sz="1700"/>
              <a:t>CDAC</a:t>
            </a:r>
            <a:r>
              <a:rPr lang="ja-JP" altLang="en-US" sz="1700"/>
              <a:t>の最大の容量、</a:t>
            </a:r>
            <a:r>
              <a:rPr lang="en-US" altLang="ja-JP" sz="1700"/>
              <a:t>LSB</a:t>
            </a:r>
            <a:r>
              <a:rPr lang="ja-JP" altLang="en-US" sz="1700"/>
              <a:t>が最小の容量に対応。</a:t>
            </a:r>
          </a:p>
          <a:p>
            <a:pPr lvl="1"/>
            <a:r>
              <a:rPr lang="en-US" altLang="ja-JP" sz="1700"/>
              <a:t>EOC : End of conversion signal</a:t>
            </a:r>
          </a:p>
          <a:p>
            <a:pPr lvl="1"/>
            <a:r>
              <a:rPr lang="en-US" altLang="ja-JP" sz="1700"/>
              <a:t>CLK : PLL</a:t>
            </a:r>
            <a:r>
              <a:rPr lang="ja-JP" altLang="en-US" sz="1700"/>
              <a:t>出力</a:t>
            </a:r>
            <a:r>
              <a:rPr lang="en-US" altLang="ja-JP" sz="1700"/>
              <a:t>CLK(6</a:t>
            </a:r>
            <a:r>
              <a:rPr lang="ja-JP" altLang="en-US" sz="1700"/>
              <a:t>の倍数の</a:t>
            </a:r>
            <a:r>
              <a:rPr lang="en-US" altLang="ja-JP" sz="1700"/>
              <a:t>MHz)</a:t>
            </a:r>
          </a:p>
          <a:p>
            <a:pPr lvl="1"/>
            <a:r>
              <a:rPr lang="en-US" altLang="ja-JP" sz="1700"/>
              <a:t>XRST : </a:t>
            </a:r>
            <a:r>
              <a:rPr lang="ja-JP" altLang="en-US" sz="1700"/>
              <a:t>非同期</a:t>
            </a:r>
            <a:r>
              <a:rPr lang="en-US" altLang="ja-JP" sz="1700"/>
              <a:t>Reset</a:t>
            </a:r>
            <a:r>
              <a:rPr lang="ja-JP" altLang="en-US" sz="1700"/>
              <a:t>信号</a:t>
            </a:r>
          </a:p>
        </p:txBody>
      </p:sp>
    </p:spTree>
    <p:extLst>
      <p:ext uri="{BB962C8B-B14F-4D97-AF65-F5344CB8AC3E}">
        <p14:creationId xmlns:p14="http://schemas.microsoft.com/office/powerpoint/2010/main" val="1938571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828D6441-B190-9237-CBE9-52E5C9C4C406}"/>
              </a:ext>
            </a:extLst>
          </p:cNvPr>
          <p:cNvPicPr>
            <a:picLocks noGrp="1" noChangeAspect="1"/>
          </p:cNvPicPr>
          <p:nvPr>
            <p:ph idx="1"/>
          </p:nvPr>
        </p:nvPicPr>
        <p:blipFill>
          <a:blip r:embed="rId2"/>
          <a:stretch>
            <a:fillRect/>
          </a:stretch>
        </p:blipFill>
        <p:spPr>
          <a:xfrm>
            <a:off x="643467" y="1411564"/>
            <a:ext cx="10905066" cy="4034871"/>
          </a:xfrm>
          <a:prstGeom prst="rect">
            <a:avLst/>
          </a:prstGeom>
        </p:spPr>
      </p:pic>
      <p:sp>
        <p:nvSpPr>
          <p:cNvPr id="2" name="正方形/長方形 1">
            <a:extLst>
              <a:ext uri="{FF2B5EF4-FFF2-40B4-BE49-F238E27FC236}">
                <a16:creationId xmlns:a16="http://schemas.microsoft.com/office/drawing/2014/main" id="{371DB392-7CD5-F9DB-FF0F-22BF3482C555}"/>
              </a:ext>
            </a:extLst>
          </p:cNvPr>
          <p:cNvSpPr/>
          <p:nvPr/>
        </p:nvSpPr>
        <p:spPr>
          <a:xfrm>
            <a:off x="8683028" y="33848"/>
            <a:ext cx="3467158" cy="6064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ファイル名：</a:t>
            </a:r>
            <a:r>
              <a:rPr lang="en-US" altLang="ja-JP" dirty="0" err="1"/>
              <a:t>tran_sar_adc.</a:t>
            </a:r>
            <a:r>
              <a:rPr kumimoji="1" lang="en-US" altLang="ja-JP" dirty="0" err="1"/>
              <a:t>sch</a:t>
            </a:r>
            <a:endParaRPr kumimoji="1" lang="ja-JP" altLang="en-US" dirty="0"/>
          </a:p>
        </p:txBody>
      </p:sp>
    </p:spTree>
    <p:extLst>
      <p:ext uri="{BB962C8B-B14F-4D97-AF65-F5344CB8AC3E}">
        <p14:creationId xmlns:p14="http://schemas.microsoft.com/office/powerpoint/2010/main" val="17765933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6D792BA-D522-96EF-7E74-ADAEE7E6914A}"/>
              </a:ext>
            </a:extLst>
          </p:cNvPr>
          <p:cNvSpPr>
            <a:spLocks noGrp="1"/>
          </p:cNvSpPr>
          <p:nvPr>
            <p:ph type="title"/>
          </p:nvPr>
        </p:nvSpPr>
        <p:spPr>
          <a:xfrm>
            <a:off x="1043631" y="809898"/>
            <a:ext cx="10173010" cy="1554480"/>
          </a:xfrm>
        </p:spPr>
        <p:txBody>
          <a:bodyPr anchor="ctr">
            <a:normAutofit/>
          </a:bodyPr>
          <a:lstStyle/>
          <a:p>
            <a:r>
              <a:rPr kumimoji="1" lang="ja-JP" altLang="en-US" sz="4800" dirty="0"/>
              <a:t>動作ステップ：</a:t>
            </a:r>
            <a:r>
              <a:rPr kumimoji="1" lang="en-US" altLang="ja-JP" sz="4800" dirty="0"/>
              <a:t>1</a:t>
            </a:r>
            <a:r>
              <a:rPr kumimoji="1" lang="ja-JP" altLang="en-US" sz="4800" dirty="0"/>
              <a:t>～</a:t>
            </a:r>
            <a:r>
              <a:rPr kumimoji="1" lang="en-US" altLang="ja-JP" sz="4800" dirty="0"/>
              <a:t>5</a:t>
            </a:r>
            <a:r>
              <a:rPr kumimoji="1" lang="ja-JP" altLang="en-US" sz="4800" dirty="0"/>
              <a:t>を</a:t>
            </a:r>
            <a:r>
              <a:rPr kumimoji="1" lang="en-US" altLang="ja-JP" sz="4800" dirty="0"/>
              <a:t>6bit</a:t>
            </a:r>
            <a:r>
              <a:rPr kumimoji="1" lang="ja-JP" altLang="en-US" sz="4800" dirty="0"/>
              <a:t>繰り返す</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コンテンツ プレースホルダー 3">
            <a:extLst>
              <a:ext uri="{FF2B5EF4-FFF2-40B4-BE49-F238E27FC236}">
                <a16:creationId xmlns:a16="http://schemas.microsoft.com/office/drawing/2014/main" id="{120F5887-B56F-9154-4C98-07DF1B9FF237}"/>
              </a:ext>
            </a:extLst>
          </p:cNvPr>
          <p:cNvGraphicFramePr>
            <a:graphicFrameLocks noGrp="1"/>
          </p:cNvGraphicFramePr>
          <p:nvPr>
            <p:ph idx="1"/>
            <p:extLst>
              <p:ext uri="{D42A27DB-BD31-4B8C-83A1-F6EECF244321}">
                <p14:modId xmlns:p14="http://schemas.microsoft.com/office/powerpoint/2010/main" val="3238540548"/>
              </p:ext>
            </p:extLst>
          </p:nvPr>
        </p:nvGraphicFramePr>
        <p:xfrm>
          <a:off x="97931" y="2803473"/>
          <a:ext cx="7842420" cy="3244629"/>
        </p:xfrm>
        <a:graphic>
          <a:graphicData uri="http://schemas.openxmlformats.org/drawingml/2006/table">
            <a:tbl>
              <a:tblPr firstRow="1" bandRow="1">
                <a:tableStyleId>{93296810-A885-4BE3-A3E7-6D5BEEA58F35}</a:tableStyleId>
              </a:tblPr>
              <a:tblGrid>
                <a:gridCol w="842409">
                  <a:extLst>
                    <a:ext uri="{9D8B030D-6E8A-4147-A177-3AD203B41FA5}">
                      <a16:colId xmlns:a16="http://schemas.microsoft.com/office/drawing/2014/main" val="1379524934"/>
                    </a:ext>
                  </a:extLst>
                </a:gridCol>
                <a:gridCol w="2027833">
                  <a:extLst>
                    <a:ext uri="{9D8B030D-6E8A-4147-A177-3AD203B41FA5}">
                      <a16:colId xmlns:a16="http://schemas.microsoft.com/office/drawing/2014/main" val="947696747"/>
                    </a:ext>
                  </a:extLst>
                </a:gridCol>
                <a:gridCol w="4972178">
                  <a:extLst>
                    <a:ext uri="{9D8B030D-6E8A-4147-A177-3AD203B41FA5}">
                      <a16:colId xmlns:a16="http://schemas.microsoft.com/office/drawing/2014/main" val="2820348121"/>
                    </a:ext>
                  </a:extLst>
                </a:gridCol>
              </a:tblGrid>
              <a:tr h="393681">
                <a:tc>
                  <a:txBody>
                    <a:bodyPr/>
                    <a:lstStyle/>
                    <a:p>
                      <a:pPr>
                        <a:buNone/>
                      </a:pPr>
                      <a:r>
                        <a:rPr lang="en-US" sz="1800"/>
                        <a:t>state</a:t>
                      </a:r>
                    </a:p>
                  </a:txBody>
                  <a:tcPr marL="89473" marR="89473" marT="44736" marB="44736" anchor="ctr"/>
                </a:tc>
                <a:tc>
                  <a:txBody>
                    <a:bodyPr/>
                    <a:lstStyle/>
                    <a:p>
                      <a:pPr>
                        <a:buNone/>
                      </a:pPr>
                      <a:r>
                        <a:rPr lang="ja-JP" altLang="en-US" sz="1800"/>
                        <a:t>動作</a:t>
                      </a:r>
                    </a:p>
                  </a:txBody>
                  <a:tcPr marL="89473" marR="89473" marT="44736" marB="44736" anchor="ctr"/>
                </a:tc>
                <a:tc>
                  <a:txBody>
                    <a:bodyPr/>
                    <a:lstStyle/>
                    <a:p>
                      <a:pPr>
                        <a:buNone/>
                      </a:pPr>
                      <a:r>
                        <a:rPr lang="ja-JP" altLang="en-US" sz="1800"/>
                        <a:t>内容</a:t>
                      </a:r>
                    </a:p>
                  </a:txBody>
                  <a:tcPr marL="89473" marR="89473" marT="44736" marB="44736" anchor="ctr"/>
                </a:tc>
                <a:extLst>
                  <a:ext uri="{0D108BD9-81ED-4DB2-BD59-A6C34878D82A}">
                    <a16:rowId xmlns:a16="http://schemas.microsoft.com/office/drawing/2014/main" val="2643936006"/>
                  </a:ext>
                </a:extLst>
              </a:tr>
              <a:tr h="393681">
                <a:tc>
                  <a:txBody>
                    <a:bodyPr/>
                    <a:lstStyle/>
                    <a:p>
                      <a:pPr>
                        <a:buNone/>
                      </a:pPr>
                      <a:r>
                        <a:rPr lang="en-US" altLang="ja-JP" sz="1800"/>
                        <a:t>1</a:t>
                      </a:r>
                    </a:p>
                  </a:txBody>
                  <a:tcPr marL="89473" marR="89473" marT="44736" marB="44736" anchor="ctr"/>
                </a:tc>
                <a:tc>
                  <a:txBody>
                    <a:bodyPr/>
                    <a:lstStyle/>
                    <a:p>
                      <a:pPr>
                        <a:buNone/>
                      </a:pPr>
                      <a:r>
                        <a:rPr lang="en-US" sz="1800"/>
                        <a:t>CDAC </a:t>
                      </a:r>
                      <a:r>
                        <a:rPr lang="ja-JP" altLang="en-US" sz="1800"/>
                        <a:t>リセット</a:t>
                      </a:r>
                    </a:p>
                  </a:txBody>
                  <a:tcPr marL="89473" marR="89473" marT="44736" marB="44736" anchor="ctr"/>
                </a:tc>
                <a:tc>
                  <a:txBody>
                    <a:bodyPr/>
                    <a:lstStyle/>
                    <a:p>
                      <a:pPr>
                        <a:buNone/>
                      </a:pPr>
                      <a:r>
                        <a:rPr lang="en-US" sz="1800" dirty="0"/>
                        <a:t>COMP_CLK=0, SC=1, SDAC=0, EOC=0</a:t>
                      </a:r>
                    </a:p>
                  </a:txBody>
                  <a:tcPr marL="89473" marR="89473" marT="44736" marB="44736" anchor="ctr"/>
                </a:tc>
                <a:extLst>
                  <a:ext uri="{0D108BD9-81ED-4DB2-BD59-A6C34878D82A}">
                    <a16:rowId xmlns:a16="http://schemas.microsoft.com/office/drawing/2014/main" val="2126251590"/>
                  </a:ext>
                </a:extLst>
              </a:tr>
              <a:tr h="393681">
                <a:tc>
                  <a:txBody>
                    <a:bodyPr/>
                    <a:lstStyle/>
                    <a:p>
                      <a:pPr>
                        <a:buNone/>
                      </a:pPr>
                      <a:r>
                        <a:rPr lang="en-US" altLang="ja-JP" sz="1800"/>
                        <a:t>2</a:t>
                      </a:r>
                    </a:p>
                  </a:txBody>
                  <a:tcPr marL="89473" marR="89473" marT="44736" marB="44736" anchor="ctr"/>
                </a:tc>
                <a:tc>
                  <a:txBody>
                    <a:bodyPr/>
                    <a:lstStyle/>
                    <a:p>
                      <a:pPr>
                        <a:buNone/>
                      </a:pPr>
                      <a:r>
                        <a:rPr lang="ja-JP" altLang="en-US" sz="1800"/>
                        <a:t>サンプリング解除</a:t>
                      </a:r>
                    </a:p>
                  </a:txBody>
                  <a:tcPr marL="89473" marR="89473" marT="44736" marB="44736" anchor="ctr"/>
                </a:tc>
                <a:tc>
                  <a:txBody>
                    <a:bodyPr/>
                    <a:lstStyle/>
                    <a:p>
                      <a:pPr>
                        <a:buNone/>
                      </a:pPr>
                      <a:r>
                        <a:rPr lang="en-US" sz="1800" dirty="0"/>
                        <a:t>SC=0（Hi-Z）</a:t>
                      </a:r>
                    </a:p>
                  </a:txBody>
                  <a:tcPr marL="89473" marR="89473" marT="44736" marB="44736" anchor="ctr"/>
                </a:tc>
                <a:extLst>
                  <a:ext uri="{0D108BD9-81ED-4DB2-BD59-A6C34878D82A}">
                    <a16:rowId xmlns:a16="http://schemas.microsoft.com/office/drawing/2014/main" val="412670530"/>
                  </a:ext>
                </a:extLst>
              </a:tr>
              <a:tr h="393681">
                <a:tc>
                  <a:txBody>
                    <a:bodyPr/>
                    <a:lstStyle/>
                    <a:p>
                      <a:pPr>
                        <a:buNone/>
                      </a:pPr>
                      <a:r>
                        <a:rPr lang="en-US" altLang="ja-JP" sz="1800"/>
                        <a:t>3</a:t>
                      </a:r>
                    </a:p>
                  </a:txBody>
                  <a:tcPr marL="89473" marR="89473" marT="44736" marB="44736" anchor="ctr"/>
                </a:tc>
                <a:tc>
                  <a:txBody>
                    <a:bodyPr/>
                    <a:lstStyle/>
                    <a:p>
                      <a:pPr>
                        <a:buNone/>
                      </a:pPr>
                      <a:r>
                        <a:rPr lang="en-US" sz="1800"/>
                        <a:t>DAC </a:t>
                      </a:r>
                      <a:r>
                        <a:rPr lang="ja-JP" altLang="en-US" sz="1800"/>
                        <a:t>セット</a:t>
                      </a:r>
                    </a:p>
                  </a:txBody>
                  <a:tcPr marL="89473" marR="89473" marT="44736" marB="44736" anchor="ctr"/>
                </a:tc>
                <a:tc>
                  <a:txBody>
                    <a:bodyPr/>
                    <a:lstStyle/>
                    <a:p>
                      <a:pPr>
                        <a:buNone/>
                      </a:pPr>
                      <a:r>
                        <a:rPr lang="en-US" sz="1800" dirty="0"/>
                        <a:t>SDAC=SDAC_NEXT</a:t>
                      </a:r>
                    </a:p>
                  </a:txBody>
                  <a:tcPr marL="89473" marR="89473" marT="44736" marB="44736" anchor="ctr"/>
                </a:tc>
                <a:extLst>
                  <a:ext uri="{0D108BD9-81ED-4DB2-BD59-A6C34878D82A}">
                    <a16:rowId xmlns:a16="http://schemas.microsoft.com/office/drawing/2014/main" val="1315981101"/>
                  </a:ext>
                </a:extLst>
              </a:tr>
              <a:tr h="393681">
                <a:tc>
                  <a:txBody>
                    <a:bodyPr/>
                    <a:lstStyle/>
                    <a:p>
                      <a:pPr>
                        <a:buNone/>
                      </a:pPr>
                      <a:r>
                        <a:rPr lang="en-US" altLang="ja-JP" sz="1800"/>
                        <a:t>4</a:t>
                      </a:r>
                    </a:p>
                  </a:txBody>
                  <a:tcPr marL="89473" marR="89473" marT="44736" marB="44736" anchor="ctr"/>
                </a:tc>
                <a:tc>
                  <a:txBody>
                    <a:bodyPr/>
                    <a:lstStyle/>
                    <a:p>
                      <a:pPr>
                        <a:buNone/>
                      </a:pPr>
                      <a:r>
                        <a:rPr lang="ja-JP" altLang="en-US" sz="1800"/>
                        <a:t>コンパレータクロック </a:t>
                      </a:r>
                      <a:r>
                        <a:rPr lang="en-US" altLang="ja-JP" sz="1800"/>
                        <a:t>High</a:t>
                      </a:r>
                    </a:p>
                  </a:txBody>
                  <a:tcPr marL="89473" marR="89473" marT="44736" marB="44736" anchor="ctr"/>
                </a:tc>
                <a:tc>
                  <a:txBody>
                    <a:bodyPr/>
                    <a:lstStyle/>
                    <a:p>
                      <a:pPr>
                        <a:buNone/>
                      </a:pPr>
                      <a:r>
                        <a:rPr lang="zh-TW" altLang="en-US" sz="1800" dirty="0"/>
                        <a:t>比較動作開始</a:t>
                      </a:r>
                    </a:p>
                  </a:txBody>
                  <a:tcPr marL="89473" marR="89473" marT="44736" marB="44736" anchor="ctr"/>
                </a:tc>
                <a:extLst>
                  <a:ext uri="{0D108BD9-81ED-4DB2-BD59-A6C34878D82A}">
                    <a16:rowId xmlns:a16="http://schemas.microsoft.com/office/drawing/2014/main" val="1582935379"/>
                  </a:ext>
                </a:extLst>
              </a:tr>
              <a:tr h="393681">
                <a:tc>
                  <a:txBody>
                    <a:bodyPr/>
                    <a:lstStyle/>
                    <a:p>
                      <a:pPr>
                        <a:buNone/>
                      </a:pPr>
                      <a:r>
                        <a:rPr lang="en-US" altLang="ja-JP" sz="1800"/>
                        <a:t>5</a:t>
                      </a:r>
                    </a:p>
                  </a:txBody>
                  <a:tcPr marL="89473" marR="89473" marT="44736" marB="44736" anchor="ctr"/>
                </a:tc>
                <a:tc>
                  <a:txBody>
                    <a:bodyPr/>
                    <a:lstStyle/>
                    <a:p>
                      <a:pPr>
                        <a:buNone/>
                      </a:pPr>
                      <a:r>
                        <a:rPr lang="ja-JP" altLang="en-US" sz="1800"/>
                        <a:t>比較結果取り込み</a:t>
                      </a:r>
                    </a:p>
                  </a:txBody>
                  <a:tcPr marL="89473" marR="89473" marT="44736" marB="44736" anchor="ctr"/>
                </a:tc>
                <a:tc>
                  <a:txBody>
                    <a:bodyPr/>
                    <a:lstStyle/>
                    <a:p>
                      <a:pPr>
                        <a:buNone/>
                      </a:pPr>
                      <a:r>
                        <a:rPr lang="en-US" sz="1800" dirty="0"/>
                        <a:t>DIGITAL_OUT_BUF </a:t>
                      </a:r>
                      <a:r>
                        <a:rPr lang="ja-JP" altLang="en-US" sz="1800" dirty="0"/>
                        <a:t>に </a:t>
                      </a:r>
                      <a:r>
                        <a:rPr lang="en-US" sz="1800" dirty="0"/>
                        <a:t>COMP_OUT </a:t>
                      </a:r>
                      <a:r>
                        <a:rPr lang="ja-JP" altLang="en-US" sz="1800" dirty="0"/>
                        <a:t>をシフト</a:t>
                      </a:r>
                      <a:endParaRPr lang="en-US" altLang="ja-JP" sz="1800" dirty="0"/>
                    </a:p>
                    <a:p>
                      <a:pPr>
                        <a:buNone/>
                      </a:pPr>
                      <a:r>
                        <a:rPr lang="en-US" altLang="ja-JP" sz="1800" dirty="0"/>
                        <a:t>SDAC_NEXT</a:t>
                      </a:r>
                      <a:r>
                        <a:rPr lang="ja-JP" altLang="en-US" sz="1800" dirty="0"/>
                        <a:t>をカウントアップ</a:t>
                      </a:r>
                    </a:p>
                  </a:txBody>
                  <a:tcPr marL="89473" marR="89473" marT="44736" marB="44736" anchor="ctr"/>
                </a:tc>
                <a:extLst>
                  <a:ext uri="{0D108BD9-81ED-4DB2-BD59-A6C34878D82A}">
                    <a16:rowId xmlns:a16="http://schemas.microsoft.com/office/drawing/2014/main" val="4190978776"/>
                  </a:ext>
                </a:extLst>
              </a:tr>
              <a:tr h="393681">
                <a:tc>
                  <a:txBody>
                    <a:bodyPr/>
                    <a:lstStyle/>
                    <a:p>
                      <a:pPr>
                        <a:buNone/>
                      </a:pPr>
                      <a:r>
                        <a:rPr lang="en-US" altLang="ja-JP" sz="1800" dirty="0"/>
                        <a:t>6</a:t>
                      </a:r>
                    </a:p>
                  </a:txBody>
                  <a:tcPr marL="89473" marR="89473" marT="44736" marB="44736" anchor="ctr"/>
                </a:tc>
                <a:tc>
                  <a:txBody>
                    <a:bodyPr/>
                    <a:lstStyle/>
                    <a:p>
                      <a:pPr>
                        <a:buNone/>
                      </a:pPr>
                      <a:r>
                        <a:rPr lang="en-US" sz="1800"/>
                        <a:t>LSB </a:t>
                      </a:r>
                      <a:r>
                        <a:rPr lang="ja-JP" altLang="en-US" sz="1800"/>
                        <a:t>なら </a:t>
                      </a:r>
                      <a:r>
                        <a:rPr lang="en-US" sz="1800"/>
                        <a:t>EOC=1</a:t>
                      </a:r>
                    </a:p>
                  </a:txBody>
                  <a:tcPr marL="89473" marR="89473" marT="44736" marB="44736" anchor="ctr"/>
                </a:tc>
                <a:tc>
                  <a:txBody>
                    <a:bodyPr/>
                    <a:lstStyle/>
                    <a:p>
                      <a:pPr>
                        <a:buNone/>
                      </a:pPr>
                      <a:r>
                        <a:rPr lang="en-US" altLang="ja-JP" sz="1800" dirty="0"/>
                        <a:t>DIGITAL_OUT_BUF </a:t>
                      </a:r>
                      <a:r>
                        <a:rPr lang="ja-JP" altLang="en-US" sz="1800" dirty="0"/>
                        <a:t>を </a:t>
                      </a:r>
                      <a:r>
                        <a:rPr lang="en-US" sz="1800" dirty="0"/>
                        <a:t>DIGITAL_OUT </a:t>
                      </a:r>
                      <a:r>
                        <a:rPr lang="ja-JP" altLang="en-US" sz="1800" dirty="0"/>
                        <a:t>に反映</a:t>
                      </a:r>
                    </a:p>
                  </a:txBody>
                  <a:tcPr marL="89473" marR="89473" marT="44736" marB="44736" anchor="ctr"/>
                </a:tc>
                <a:extLst>
                  <a:ext uri="{0D108BD9-81ED-4DB2-BD59-A6C34878D82A}">
                    <a16:rowId xmlns:a16="http://schemas.microsoft.com/office/drawing/2014/main" val="406270781"/>
                  </a:ext>
                </a:extLst>
              </a:tr>
            </a:tbl>
          </a:graphicData>
        </a:graphic>
      </p:graphicFrame>
      <p:pic>
        <p:nvPicPr>
          <p:cNvPr id="8" name="図 7">
            <a:extLst>
              <a:ext uri="{FF2B5EF4-FFF2-40B4-BE49-F238E27FC236}">
                <a16:creationId xmlns:a16="http://schemas.microsoft.com/office/drawing/2014/main" id="{311A4406-C47E-68DA-0BD6-725751A12FB5}"/>
              </a:ext>
            </a:extLst>
          </p:cNvPr>
          <p:cNvPicPr>
            <a:picLocks noChangeAspect="1"/>
          </p:cNvPicPr>
          <p:nvPr/>
        </p:nvPicPr>
        <p:blipFill>
          <a:blip r:embed="rId2"/>
          <a:stretch>
            <a:fillRect/>
          </a:stretch>
        </p:blipFill>
        <p:spPr>
          <a:xfrm>
            <a:off x="7902210" y="2426031"/>
            <a:ext cx="4289790" cy="4059282"/>
          </a:xfrm>
          <a:prstGeom prst="rect">
            <a:avLst/>
          </a:prstGeom>
        </p:spPr>
      </p:pic>
    </p:spTree>
    <p:extLst>
      <p:ext uri="{BB962C8B-B14F-4D97-AF65-F5344CB8AC3E}">
        <p14:creationId xmlns:p14="http://schemas.microsoft.com/office/powerpoint/2010/main" val="1826704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B2E8FD4A-A17D-105D-36A4-3C4A14D9A276}"/>
              </a:ext>
            </a:extLst>
          </p:cNvPr>
          <p:cNvSpPr>
            <a:spLocks noGrp="1"/>
          </p:cNvSpPr>
          <p:nvPr>
            <p:ph type="title"/>
          </p:nvPr>
        </p:nvSpPr>
        <p:spPr>
          <a:xfrm>
            <a:off x="838200" y="365125"/>
            <a:ext cx="10515600" cy="1325563"/>
          </a:xfrm>
        </p:spPr>
        <p:txBody>
          <a:bodyPr>
            <a:normAutofit/>
          </a:bodyPr>
          <a:lstStyle/>
          <a:p>
            <a:r>
              <a:rPr kumimoji="1" lang="en-US" altLang="ja-JP" dirty="0"/>
              <a:t>Verilog -&gt; GDS</a:t>
            </a:r>
            <a:r>
              <a:rPr kumimoji="1" lang="ja-JP" altLang="en-US" dirty="0"/>
              <a:t>変換の方法</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56BF8F42-2E61-B770-531C-91D2A1C816AE}"/>
              </a:ext>
            </a:extLst>
          </p:cNvPr>
          <p:cNvSpPr>
            <a:spLocks noGrp="1"/>
          </p:cNvSpPr>
          <p:nvPr>
            <p:ph idx="1"/>
          </p:nvPr>
        </p:nvSpPr>
        <p:spPr>
          <a:xfrm>
            <a:off x="838200" y="1825625"/>
            <a:ext cx="10515600" cy="4351338"/>
          </a:xfrm>
        </p:spPr>
        <p:txBody>
          <a:bodyPr>
            <a:normAutofit/>
          </a:bodyPr>
          <a:lstStyle/>
          <a:p>
            <a:r>
              <a:rPr kumimoji="1" lang="en-US" altLang="ja-JP" dirty="0"/>
              <a:t>2</a:t>
            </a:r>
            <a:r>
              <a:rPr kumimoji="1" lang="ja-JP" altLang="en-US" dirty="0"/>
              <a:t>種類</a:t>
            </a:r>
            <a:endParaRPr kumimoji="1" lang="en-US" altLang="ja-JP" dirty="0"/>
          </a:p>
          <a:p>
            <a:pPr lvl="1"/>
            <a:r>
              <a:rPr lang="en-US" altLang="ja-JP" dirty="0"/>
              <a:t>TT(</a:t>
            </a:r>
            <a:r>
              <a:rPr lang="en-US" altLang="ja-JP" dirty="0" err="1"/>
              <a:t>TinyTapeout</a:t>
            </a:r>
            <a:r>
              <a:rPr lang="en-US" altLang="ja-JP" dirty="0"/>
              <a:t>)</a:t>
            </a:r>
            <a:r>
              <a:rPr lang="ja-JP" altLang="en-US" dirty="0"/>
              <a:t>でのやり方を踏襲した方法</a:t>
            </a:r>
            <a:endParaRPr lang="en-US" altLang="ja-JP" dirty="0"/>
          </a:p>
          <a:p>
            <a:pPr lvl="2"/>
            <a:r>
              <a:rPr lang="ja-JP" altLang="en-US" dirty="0"/>
              <a:t>メリット</a:t>
            </a:r>
            <a:endParaRPr lang="en-US" altLang="ja-JP" dirty="0"/>
          </a:p>
          <a:p>
            <a:pPr lvl="3"/>
            <a:r>
              <a:rPr lang="ja-JP" altLang="en-US" dirty="0"/>
              <a:t>投稿先標準のやり方のため、トラブルがない</a:t>
            </a:r>
            <a:endParaRPr lang="en-US" altLang="ja-JP" dirty="0"/>
          </a:p>
          <a:p>
            <a:pPr lvl="2"/>
            <a:r>
              <a:rPr lang="ja-JP" altLang="en-US" dirty="0"/>
              <a:t>デメリット</a:t>
            </a:r>
            <a:endParaRPr lang="en-US" altLang="ja-JP" dirty="0"/>
          </a:p>
          <a:p>
            <a:pPr lvl="3"/>
            <a:r>
              <a:rPr lang="ja-JP" altLang="en-US" dirty="0"/>
              <a:t>サイズやピンの位置が固定のため、無駄なエリアが出来てしまう</a:t>
            </a:r>
            <a:endParaRPr lang="en-US" altLang="ja-JP" dirty="0"/>
          </a:p>
          <a:p>
            <a:pPr lvl="1"/>
            <a:r>
              <a:rPr kumimoji="1" lang="en-US" altLang="ja-JP" dirty="0" err="1"/>
              <a:t>ChipIgnite</a:t>
            </a:r>
            <a:r>
              <a:rPr kumimoji="1" lang="ja-JP" altLang="en-US" dirty="0"/>
              <a:t>でのやり方を踏襲した方法</a:t>
            </a:r>
            <a:endParaRPr kumimoji="1" lang="en-US" altLang="ja-JP" dirty="0"/>
          </a:p>
          <a:p>
            <a:pPr lvl="2"/>
            <a:r>
              <a:rPr lang="ja-JP" altLang="en-US" dirty="0"/>
              <a:t>メリット</a:t>
            </a:r>
            <a:endParaRPr lang="en-US" altLang="ja-JP" dirty="0"/>
          </a:p>
          <a:p>
            <a:pPr lvl="3"/>
            <a:r>
              <a:rPr kumimoji="1" lang="ja-JP" altLang="en-US" dirty="0"/>
              <a:t>サイズやピンの位置を変更可能なため、最小のサイズに出来る</a:t>
            </a:r>
            <a:endParaRPr kumimoji="1" lang="en-US" altLang="ja-JP" dirty="0"/>
          </a:p>
          <a:p>
            <a:pPr lvl="2"/>
            <a:r>
              <a:rPr lang="ja-JP" altLang="en-US" dirty="0"/>
              <a:t>デメリット</a:t>
            </a:r>
            <a:endParaRPr lang="en-US" altLang="ja-JP" dirty="0"/>
          </a:p>
          <a:p>
            <a:pPr lvl="3"/>
            <a:r>
              <a:rPr kumimoji="1" lang="en-US" altLang="ja-JP" dirty="0"/>
              <a:t>TT</a:t>
            </a:r>
            <a:r>
              <a:rPr lang="ja-JP" altLang="en-US" dirty="0"/>
              <a:t>が利用するファブではあるが、バージョンの違いなどがある可能性がある</a:t>
            </a:r>
            <a:endParaRPr kumimoji="1" lang="ja-JP" altLang="en-US" dirty="0"/>
          </a:p>
        </p:txBody>
      </p:sp>
    </p:spTree>
    <p:extLst>
      <p:ext uri="{BB962C8B-B14F-4D97-AF65-F5344CB8AC3E}">
        <p14:creationId xmlns:p14="http://schemas.microsoft.com/office/powerpoint/2010/main" val="8902205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E47ECC-0253-5212-536E-A38A41F59C2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8D371EF-A6E9-8083-C202-9AC3F62364FD}"/>
              </a:ext>
            </a:extLst>
          </p:cNvPr>
          <p:cNvSpPr>
            <a:spLocks noGrp="1"/>
          </p:cNvSpPr>
          <p:nvPr>
            <p:ph type="title"/>
          </p:nvPr>
        </p:nvSpPr>
        <p:spPr>
          <a:xfrm>
            <a:off x="1043631" y="809898"/>
            <a:ext cx="9942716" cy="1554480"/>
          </a:xfrm>
        </p:spPr>
        <p:txBody>
          <a:bodyPr anchor="ctr">
            <a:normAutofit/>
          </a:bodyPr>
          <a:lstStyle/>
          <a:p>
            <a:r>
              <a:rPr lang="en-US" altLang="ja-JP" sz="4800" dirty="0"/>
              <a:t>TT</a:t>
            </a:r>
            <a:r>
              <a:rPr lang="ja-JP" altLang="en-US" sz="4800" dirty="0"/>
              <a:t>：</a:t>
            </a:r>
            <a:r>
              <a:rPr kumimoji="1" lang="en-US" altLang="ja-JP" sz="4800" dirty="0"/>
              <a:t>GDS</a:t>
            </a:r>
            <a:r>
              <a:rPr kumimoji="1" lang="ja-JP" altLang="en-US" sz="4800" dirty="0"/>
              <a:t>を</a:t>
            </a:r>
            <a:r>
              <a:rPr lang="ja-JP" altLang="en-US" sz="4800" dirty="0"/>
              <a:t>生成</a:t>
            </a:r>
            <a:r>
              <a:rPr kumimoji="1" lang="ja-JP" altLang="en-US" sz="4800" dirty="0"/>
              <a:t>する</a:t>
            </a:r>
          </a:p>
        </p:txBody>
      </p:sp>
      <p:sp>
        <p:nvSpPr>
          <p:cNvPr id="3" name="コンテンツ プレースホルダー 2">
            <a:extLst>
              <a:ext uri="{FF2B5EF4-FFF2-40B4-BE49-F238E27FC236}">
                <a16:creationId xmlns:a16="http://schemas.microsoft.com/office/drawing/2014/main" id="{FFFC68CA-E683-837D-C568-3B02E6801D64}"/>
              </a:ext>
            </a:extLst>
          </p:cNvPr>
          <p:cNvSpPr>
            <a:spLocks noGrp="1"/>
          </p:cNvSpPr>
          <p:nvPr>
            <p:ph idx="1"/>
          </p:nvPr>
        </p:nvSpPr>
        <p:spPr>
          <a:xfrm>
            <a:off x="1045028" y="2531336"/>
            <a:ext cx="9941319" cy="3124658"/>
          </a:xfrm>
        </p:spPr>
        <p:txBody>
          <a:bodyPr anchor="ctr">
            <a:normAutofit/>
          </a:bodyPr>
          <a:lstStyle/>
          <a:p>
            <a:pPr lvl="1"/>
            <a:r>
              <a:rPr lang="en-US" altLang="ja-JP" sz="2800"/>
              <a:t>source ~/</a:t>
            </a:r>
            <a:r>
              <a:rPr lang="en-US" altLang="ja-JP" sz="2800" err="1"/>
              <a:t>ttsetup</a:t>
            </a:r>
            <a:r>
              <a:rPr lang="en-US" altLang="ja-JP" sz="2800"/>
              <a:t>/</a:t>
            </a:r>
            <a:r>
              <a:rPr lang="en-US" altLang="ja-JP" sz="2800" err="1"/>
              <a:t>venv</a:t>
            </a:r>
            <a:r>
              <a:rPr lang="en-US" altLang="ja-JP" sz="2800"/>
              <a:t>/bin/activate</a:t>
            </a:r>
          </a:p>
          <a:p>
            <a:pPr lvl="1"/>
            <a:r>
              <a:rPr lang="en-US" altLang="ja-JP" sz="2800" err="1"/>
              <a:t>verilog</a:t>
            </a:r>
            <a:r>
              <a:rPr lang="ja-JP" altLang="en-US" sz="2800"/>
              <a:t>ファイルなどを追加した場合は</a:t>
            </a:r>
            <a:r>
              <a:rPr lang="en-US" altLang="ja-JP" sz="2800"/>
              <a:t>create-user-config</a:t>
            </a:r>
            <a:r>
              <a:rPr lang="ja-JP" altLang="en-US" sz="2800"/>
              <a:t>から実行すること</a:t>
            </a:r>
            <a:endParaRPr lang="en-US" altLang="ja-JP" sz="2800"/>
          </a:p>
          <a:p>
            <a:pPr lvl="1"/>
            <a:endParaRPr lang="en-US" altLang="ja-JP"/>
          </a:p>
          <a:p>
            <a:pPr lvl="1"/>
            <a:endParaRPr lang="en-US" altLang="ja-JP"/>
          </a:p>
          <a:p>
            <a:pPr lvl="1"/>
            <a:endParaRPr kumimoji="1" lang="ja-JP" altLang="en-US"/>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59311DA1-79A5-67A0-2B45-ED3BC961F707}"/>
              </a:ext>
            </a:extLst>
          </p:cNvPr>
          <p:cNvSpPr txBox="1"/>
          <p:nvPr/>
        </p:nvSpPr>
        <p:spPr>
          <a:xfrm>
            <a:off x="1005113" y="4310296"/>
            <a:ext cx="10348687" cy="2031325"/>
          </a:xfrm>
          <a:prstGeom prst="rect">
            <a:avLst/>
          </a:prstGeom>
          <a:solidFill>
            <a:schemeClr val="tx1"/>
          </a:solidFill>
        </p:spPr>
        <p:txBody>
          <a:bodyPr wrap="square" rtlCol="0">
            <a:spAutoFit/>
          </a:bodyPr>
          <a:lstStyle/>
          <a:p>
            <a:r>
              <a:rPr kumimoji="1" lang="en" altLang="ja-JP">
                <a:solidFill>
                  <a:schemeClr val="bg2"/>
                </a:solidFill>
              </a:rPr>
              <a:t>&gt; cd ~/tt[TT_runname]-tt_um_[username]_[projectname]</a:t>
            </a:r>
          </a:p>
          <a:p>
            <a:r>
              <a:rPr kumimoji="1" lang="en" altLang="ja-JP">
                <a:solidFill>
                  <a:schemeClr val="bg2"/>
                </a:solidFill>
              </a:rPr>
              <a:t>&gt; ./tt/tt_tool.py --create-user-config</a:t>
            </a:r>
          </a:p>
          <a:p>
            <a:endParaRPr kumimoji="1" lang="en" altLang="ja-JP">
              <a:solidFill>
                <a:schemeClr val="bg2"/>
              </a:solidFill>
            </a:endParaRPr>
          </a:p>
          <a:p>
            <a:r>
              <a:rPr kumimoji="1" lang="en" altLang="ja-JP">
                <a:solidFill>
                  <a:schemeClr val="bg2"/>
                </a:solidFill>
              </a:rPr>
              <a:t>※Docker</a:t>
            </a:r>
            <a:r>
              <a:rPr kumimoji="1" lang="ja-JP" altLang="en-US">
                <a:solidFill>
                  <a:schemeClr val="bg2"/>
                </a:solidFill>
              </a:rPr>
              <a:t>が動いている必要がある</a:t>
            </a:r>
          </a:p>
          <a:p>
            <a:endParaRPr kumimoji="1" lang="en-US" altLang="ja-JP">
              <a:solidFill>
                <a:schemeClr val="bg2"/>
              </a:solidFill>
            </a:endParaRPr>
          </a:p>
          <a:p>
            <a:r>
              <a:rPr kumimoji="1" lang="ja-JP" altLang="en-US">
                <a:solidFill>
                  <a:schemeClr val="bg2"/>
                </a:solidFill>
              </a:rPr>
              <a:t>⭕️</a:t>
            </a:r>
            <a:r>
              <a:rPr kumimoji="1" lang="en-US" altLang="ja-JP">
                <a:solidFill>
                  <a:schemeClr val="bg2"/>
                </a:solidFill>
              </a:rPr>
              <a:t>GDS</a:t>
            </a:r>
            <a:r>
              <a:rPr kumimoji="1" lang="ja-JP" altLang="en-US">
                <a:solidFill>
                  <a:schemeClr val="bg2"/>
                </a:solidFill>
              </a:rPr>
              <a:t>の生成</a:t>
            </a:r>
          </a:p>
          <a:p>
            <a:r>
              <a:rPr kumimoji="1" lang="en-US" altLang="ja-JP">
                <a:solidFill>
                  <a:schemeClr val="bg2"/>
                </a:solidFill>
              </a:rPr>
              <a:t>&gt; ./</a:t>
            </a:r>
            <a:r>
              <a:rPr kumimoji="1" lang="en" altLang="ja-JP">
                <a:solidFill>
                  <a:schemeClr val="bg2"/>
                </a:solidFill>
              </a:rPr>
              <a:t>tt/tt_tool.py --harden</a:t>
            </a:r>
          </a:p>
        </p:txBody>
      </p:sp>
    </p:spTree>
    <p:extLst>
      <p:ext uri="{BB962C8B-B14F-4D97-AF65-F5344CB8AC3E}">
        <p14:creationId xmlns:p14="http://schemas.microsoft.com/office/powerpoint/2010/main" val="3282916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F63497-8302-6F12-1AEF-18D606F6DFCC}"/>
            </a:ext>
          </a:extLst>
        </p:cNvPr>
        <p:cNvGrpSpPr/>
        <p:nvPr/>
      </p:nvGrpSpPr>
      <p:grpSpPr>
        <a:xfrm>
          <a:off x="0" y="0"/>
          <a:ext cx="0" cy="0"/>
          <a:chOff x="0" y="0"/>
          <a:chExt cx="0" cy="0"/>
        </a:xfrm>
      </p:grpSpPr>
      <p:sp useBgFill="1">
        <p:nvSpPr>
          <p:cNvPr id="7"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ECB41AE-D83E-A7F6-6AAE-367B5897C002}"/>
              </a:ext>
            </a:extLst>
          </p:cNvPr>
          <p:cNvSpPr>
            <a:spLocks noGrp="1"/>
          </p:cNvSpPr>
          <p:nvPr>
            <p:ph type="title"/>
          </p:nvPr>
        </p:nvSpPr>
        <p:spPr>
          <a:xfrm>
            <a:off x="1043631" y="809898"/>
            <a:ext cx="9942716" cy="1554480"/>
          </a:xfrm>
        </p:spPr>
        <p:txBody>
          <a:bodyPr anchor="ctr">
            <a:normAutofit/>
          </a:bodyPr>
          <a:lstStyle/>
          <a:p>
            <a:r>
              <a:rPr lang="en-US" altLang="ja-JP" sz="4800" dirty="0"/>
              <a:t>TT</a:t>
            </a:r>
            <a:r>
              <a:rPr lang="ja-JP" altLang="en-US" sz="4800" dirty="0"/>
              <a:t>： </a:t>
            </a:r>
            <a:r>
              <a:rPr lang="en-US" altLang="ja-JP" sz="4800" dirty="0"/>
              <a:t>GDS</a:t>
            </a:r>
            <a:r>
              <a:rPr lang="ja-JP" altLang="en-US" sz="4800" dirty="0"/>
              <a:t>を表示する</a:t>
            </a:r>
            <a:endParaRPr kumimoji="1" lang="ja-JP" altLang="en-US" sz="4800" dirty="0"/>
          </a:p>
        </p:txBody>
      </p:sp>
      <p:sp>
        <p:nvSpPr>
          <p:cNvPr id="3" name="コンテンツ プレースホルダー 2">
            <a:extLst>
              <a:ext uri="{FF2B5EF4-FFF2-40B4-BE49-F238E27FC236}">
                <a16:creationId xmlns:a16="http://schemas.microsoft.com/office/drawing/2014/main" id="{FF4F9517-A186-6130-0BC0-082DB3B55972}"/>
              </a:ext>
            </a:extLst>
          </p:cNvPr>
          <p:cNvSpPr>
            <a:spLocks noGrp="1"/>
          </p:cNvSpPr>
          <p:nvPr>
            <p:ph idx="1"/>
          </p:nvPr>
        </p:nvSpPr>
        <p:spPr>
          <a:xfrm>
            <a:off x="1043631" y="2704014"/>
            <a:ext cx="9941319" cy="890389"/>
          </a:xfrm>
        </p:spPr>
        <p:txBody>
          <a:bodyPr anchor="ctr">
            <a:normAutofit/>
          </a:bodyPr>
          <a:lstStyle/>
          <a:p>
            <a:r>
              <a:rPr lang="en-US" altLang="ja-JP" sz="2400" err="1"/>
              <a:t>OpenRoad</a:t>
            </a:r>
            <a:r>
              <a:rPr lang="ja-JP" altLang="en-US" sz="2400"/>
              <a:t>や</a:t>
            </a:r>
            <a:r>
              <a:rPr lang="en-US" altLang="ja-JP" sz="2400" err="1"/>
              <a:t>Klayout</a:t>
            </a:r>
            <a:r>
              <a:rPr lang="ja-JP" altLang="en-US" sz="2400"/>
              <a:t>で実行する</a:t>
            </a:r>
            <a:endParaRPr kumimoji="1" lang="ja-JP" alt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1EB76C4-D7A7-8CC2-751C-E6547F2FBE8A}"/>
              </a:ext>
            </a:extLst>
          </p:cNvPr>
          <p:cNvSpPr txBox="1"/>
          <p:nvPr/>
        </p:nvSpPr>
        <p:spPr>
          <a:xfrm>
            <a:off x="919478" y="4212721"/>
            <a:ext cx="10348687" cy="2031325"/>
          </a:xfrm>
          <a:prstGeom prst="rect">
            <a:avLst/>
          </a:prstGeom>
          <a:solidFill>
            <a:schemeClr val="tx1"/>
          </a:solidFill>
        </p:spPr>
        <p:txBody>
          <a:bodyPr wrap="square" rtlCol="0">
            <a:spAutoFit/>
          </a:bodyPr>
          <a:lstStyle/>
          <a:p>
            <a:r>
              <a:rPr kumimoji="1" lang="en" altLang="ja-JP" dirty="0">
                <a:solidFill>
                  <a:schemeClr val="bg2"/>
                </a:solidFill>
              </a:rPr>
              <a:t>&gt; cd ~/tt</a:t>
            </a:r>
            <a:r>
              <a:rPr lang="en" altLang="ja-JP" dirty="0">
                <a:solidFill>
                  <a:schemeClr val="bg2"/>
                </a:solidFill>
              </a:rPr>
              <a:t>[TT_runname]</a:t>
            </a:r>
            <a:r>
              <a:rPr kumimoji="1" lang="en" altLang="ja-JP" dirty="0">
                <a:solidFill>
                  <a:schemeClr val="bg2"/>
                </a:solidFill>
              </a:rPr>
              <a:t>-tt_um_[username]_[projectname]</a:t>
            </a:r>
          </a:p>
          <a:p>
            <a:endParaRPr lang="en-US" altLang="ja-JP" dirty="0">
              <a:solidFill>
                <a:schemeClr val="bg2"/>
              </a:solidFill>
            </a:endParaRPr>
          </a:p>
          <a:p>
            <a:r>
              <a:rPr lang="ja-JP" altLang="en-US" dirty="0">
                <a:solidFill>
                  <a:schemeClr val="bg2"/>
                </a:solidFill>
              </a:rPr>
              <a:t>⭕️</a:t>
            </a:r>
            <a:r>
              <a:rPr lang="en-US" altLang="ja-JP" dirty="0" err="1">
                <a:solidFill>
                  <a:schemeClr val="bg2"/>
                </a:solidFill>
              </a:rPr>
              <a:t>OpenRoad</a:t>
            </a:r>
            <a:r>
              <a:rPr lang="ja-JP" altLang="en-US" dirty="0">
                <a:solidFill>
                  <a:schemeClr val="bg2"/>
                </a:solidFill>
              </a:rPr>
              <a:t>を</a:t>
            </a:r>
            <a:r>
              <a:rPr lang="en-US" altLang="ja-JP" dirty="0">
                <a:solidFill>
                  <a:schemeClr val="bg2"/>
                </a:solidFill>
              </a:rPr>
              <a:t>GUI</a:t>
            </a:r>
            <a:r>
              <a:rPr lang="ja-JP" altLang="en-US" dirty="0">
                <a:solidFill>
                  <a:schemeClr val="bg2"/>
                </a:solidFill>
              </a:rPr>
              <a:t>で実行</a:t>
            </a:r>
            <a:endParaRPr lang="en-US" altLang="ja-JP" dirty="0">
              <a:solidFill>
                <a:schemeClr val="bg2"/>
              </a:solidFill>
            </a:endParaRPr>
          </a:p>
          <a:p>
            <a:r>
              <a:rPr lang="en-US" altLang="ja-JP" dirty="0">
                <a:solidFill>
                  <a:schemeClr val="bg2"/>
                </a:solidFill>
              </a:rPr>
              <a:t>&gt; ./tt/tt_tool.py --open-in-</a:t>
            </a:r>
            <a:r>
              <a:rPr lang="en-US" altLang="ja-JP" dirty="0" err="1">
                <a:solidFill>
                  <a:schemeClr val="bg2"/>
                </a:solidFill>
              </a:rPr>
              <a:t>openroad</a:t>
            </a:r>
            <a:endParaRPr lang="en-US" altLang="ja-JP" dirty="0">
              <a:solidFill>
                <a:schemeClr val="bg2"/>
              </a:solidFill>
            </a:endParaRPr>
          </a:p>
          <a:p>
            <a:endParaRPr kumimoji="1" lang="en-US" altLang="ja-JP" dirty="0">
              <a:solidFill>
                <a:schemeClr val="bg2"/>
              </a:solidFill>
            </a:endParaRPr>
          </a:p>
          <a:p>
            <a:r>
              <a:rPr kumimoji="1" lang="ja-JP" altLang="en-US" dirty="0">
                <a:solidFill>
                  <a:schemeClr val="bg2"/>
                </a:solidFill>
              </a:rPr>
              <a:t>⭕️</a:t>
            </a:r>
            <a:r>
              <a:rPr lang="en-US" altLang="ja-JP" dirty="0" err="1">
                <a:solidFill>
                  <a:schemeClr val="bg2"/>
                </a:solidFill>
              </a:rPr>
              <a:t>Klayout</a:t>
            </a:r>
            <a:r>
              <a:rPr lang="ja-JP" altLang="en-US" dirty="0">
                <a:solidFill>
                  <a:schemeClr val="bg2"/>
                </a:solidFill>
              </a:rPr>
              <a:t>で</a:t>
            </a:r>
            <a:r>
              <a:rPr kumimoji="1" lang="ja-JP" altLang="en-US" dirty="0">
                <a:solidFill>
                  <a:schemeClr val="bg2"/>
                </a:solidFill>
              </a:rPr>
              <a:t>実行</a:t>
            </a:r>
            <a:endParaRPr kumimoji="1" lang="en" altLang="ja-JP" dirty="0">
              <a:solidFill>
                <a:schemeClr val="bg2"/>
              </a:solidFill>
            </a:endParaRPr>
          </a:p>
          <a:p>
            <a:r>
              <a:rPr kumimoji="1" lang="en" altLang="ja-JP" dirty="0">
                <a:solidFill>
                  <a:schemeClr val="bg2"/>
                </a:solidFill>
              </a:rPr>
              <a:t>&gt; </a:t>
            </a:r>
            <a:r>
              <a:rPr lang="en-US" altLang="ja-JP" dirty="0">
                <a:solidFill>
                  <a:schemeClr val="bg2"/>
                </a:solidFill>
              </a:rPr>
              <a:t>./tt/tt_tool.py --open-in-</a:t>
            </a:r>
            <a:r>
              <a:rPr lang="en-US" altLang="ja-JP" dirty="0" err="1">
                <a:solidFill>
                  <a:schemeClr val="bg2"/>
                </a:solidFill>
              </a:rPr>
              <a:t>klayout</a:t>
            </a:r>
            <a:endParaRPr kumimoji="1" lang="en" altLang="ja-JP" dirty="0">
              <a:solidFill>
                <a:schemeClr val="bg2"/>
              </a:solidFill>
            </a:endParaRPr>
          </a:p>
        </p:txBody>
      </p:sp>
    </p:spTree>
    <p:extLst>
      <p:ext uri="{BB962C8B-B14F-4D97-AF65-F5344CB8AC3E}">
        <p14:creationId xmlns:p14="http://schemas.microsoft.com/office/powerpoint/2010/main" val="2086724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6307D44E-1A71-EC4C-442B-E85888E29BB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2223" b="1"/>
          <a:stretch>
            <a:fillRect/>
          </a:stretch>
        </p:blipFill>
        <p:spPr>
          <a:xfrm>
            <a:off x="20" y="10"/>
            <a:ext cx="12191980" cy="6857990"/>
          </a:xfrm>
          <a:prstGeom prst="rect">
            <a:avLst/>
          </a:prstGeom>
        </p:spPr>
      </p:pic>
      <p:sp>
        <p:nvSpPr>
          <p:cNvPr id="17"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439E1D3-3104-2F6D-E201-672619721AC3}"/>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kumimoji="1" lang="en-US" altLang="ja-JP" sz="3600">
                <a:solidFill>
                  <a:schemeClr val="tx1">
                    <a:lumMod val="85000"/>
                    <a:lumOff val="15000"/>
                  </a:schemeClr>
                </a:solidFill>
              </a:rPr>
              <a:t>GDS</a:t>
            </a:r>
            <a:r>
              <a:rPr kumimoji="1" lang="ja-JP" altLang="en-US" sz="3600">
                <a:solidFill>
                  <a:schemeClr val="tx1">
                    <a:lumMod val="85000"/>
                    <a:lumOff val="15000"/>
                  </a:schemeClr>
                </a:solidFill>
              </a:rPr>
              <a:t>の結果</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330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072F4F-9554-5E69-22A3-CD1E2A7764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10F6B10-3DEB-5F0F-9FF0-6F53E033D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4CC01B5-9F31-A188-B318-E3DEA0CFD6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815EBF2-1337-F5FE-4956-50A95820C8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B17C21-963A-FD0E-8033-EE2FD5421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C5590B8-2592-74D4-AEF8-7336BA75C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18A6ECAA-00ED-5AFF-ED4E-5AD8A0013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FEA524B-99A7-1A84-8AA0-D283BEA7D0CC}"/>
              </a:ext>
            </a:extLst>
          </p:cNvPr>
          <p:cNvSpPr>
            <a:spLocks noGrp="1"/>
          </p:cNvSpPr>
          <p:nvPr>
            <p:ph type="title"/>
          </p:nvPr>
        </p:nvSpPr>
        <p:spPr>
          <a:xfrm>
            <a:off x="1043630" y="809898"/>
            <a:ext cx="10470345" cy="1554480"/>
          </a:xfrm>
        </p:spPr>
        <p:txBody>
          <a:bodyPr anchor="ctr">
            <a:normAutofit/>
          </a:bodyPr>
          <a:lstStyle/>
          <a:p>
            <a:r>
              <a:rPr lang="en-US" altLang="ja-JP" sz="4800" dirty="0" err="1"/>
              <a:t>ChipIgnite</a:t>
            </a:r>
            <a:r>
              <a:rPr lang="ja-JP" altLang="en-US" sz="4800" dirty="0"/>
              <a:t>：</a:t>
            </a:r>
            <a:r>
              <a:rPr lang="en-US" altLang="ja-JP" sz="4800" dirty="0"/>
              <a:t>nix-shell</a:t>
            </a:r>
            <a:r>
              <a:rPr lang="ja-JP" altLang="en-US" sz="4800" dirty="0"/>
              <a:t>のセットアップ</a:t>
            </a:r>
            <a:endParaRPr kumimoji="1" lang="ja-JP" altLang="en-US" sz="4800" dirty="0"/>
          </a:p>
        </p:txBody>
      </p:sp>
      <p:sp>
        <p:nvSpPr>
          <p:cNvPr id="3" name="コンテンツ プレースホルダー 2">
            <a:extLst>
              <a:ext uri="{FF2B5EF4-FFF2-40B4-BE49-F238E27FC236}">
                <a16:creationId xmlns:a16="http://schemas.microsoft.com/office/drawing/2014/main" id="{2DF38ACE-94B1-DB51-54B3-23AA74BB20DF}"/>
              </a:ext>
            </a:extLst>
          </p:cNvPr>
          <p:cNvSpPr>
            <a:spLocks noGrp="1"/>
          </p:cNvSpPr>
          <p:nvPr>
            <p:ph idx="1"/>
          </p:nvPr>
        </p:nvSpPr>
        <p:spPr>
          <a:xfrm>
            <a:off x="1045028" y="2531336"/>
            <a:ext cx="9941319" cy="2273929"/>
          </a:xfrm>
        </p:spPr>
        <p:txBody>
          <a:bodyPr anchor="ctr">
            <a:normAutofit/>
          </a:bodyPr>
          <a:lstStyle/>
          <a:p>
            <a:r>
              <a:rPr lang="ja-JP" altLang="en-US" sz="3200" dirty="0"/>
              <a:t>インストール方法</a:t>
            </a:r>
            <a:endParaRPr lang="en-US" altLang="ja-JP" sz="3200" dirty="0"/>
          </a:p>
          <a:p>
            <a:pPr lvl="1"/>
            <a:r>
              <a:rPr lang="en-US" altLang="ja-JP" sz="2800" dirty="0">
                <a:hlinkClick r:id="rId2"/>
              </a:rPr>
              <a:t>https://librelane.readthedocs.io/en/stable/installation/nix_installation/installation_linux.html</a:t>
            </a:r>
            <a:endParaRPr lang="en-US" altLang="ja-JP" sz="2800" dirty="0"/>
          </a:p>
          <a:p>
            <a:pPr lvl="1"/>
            <a:endParaRPr lang="en-US" altLang="ja-JP" dirty="0"/>
          </a:p>
          <a:p>
            <a:pPr lvl="1"/>
            <a:endParaRPr kumimoji="1" lang="ja-JP" altLang="en-US" dirty="0"/>
          </a:p>
        </p:txBody>
      </p:sp>
      <p:cxnSp>
        <p:nvCxnSpPr>
          <p:cNvPr id="17" name="Straight Connector 16">
            <a:extLst>
              <a:ext uri="{FF2B5EF4-FFF2-40B4-BE49-F238E27FC236}">
                <a16:creationId xmlns:a16="http://schemas.microsoft.com/office/drawing/2014/main" id="{B086E3CF-7EA9-48E0-8F5B-F231BA6D60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EAF345A1-DD2F-76FB-DABA-D674769EE7C1}"/>
              </a:ext>
            </a:extLst>
          </p:cNvPr>
          <p:cNvSpPr txBox="1"/>
          <p:nvPr/>
        </p:nvSpPr>
        <p:spPr>
          <a:xfrm>
            <a:off x="919478" y="4137680"/>
            <a:ext cx="10348687" cy="2308324"/>
          </a:xfrm>
          <a:prstGeom prst="rect">
            <a:avLst/>
          </a:prstGeom>
          <a:solidFill>
            <a:schemeClr val="tx1"/>
          </a:solidFill>
        </p:spPr>
        <p:txBody>
          <a:bodyPr wrap="square" rtlCol="0">
            <a:spAutoFit/>
          </a:bodyPr>
          <a:lstStyle/>
          <a:p>
            <a:r>
              <a:rPr lang="en-US" altLang="ja-JP" dirty="0">
                <a:solidFill>
                  <a:schemeClr val="bg1"/>
                </a:solidFill>
              </a:rPr>
              <a:t>&gt; </a:t>
            </a:r>
            <a:r>
              <a:rPr lang="en-US" altLang="ja-JP" dirty="0" err="1">
                <a:solidFill>
                  <a:schemeClr val="bg1"/>
                </a:solidFill>
              </a:rPr>
              <a:t>sudo</a:t>
            </a:r>
            <a:r>
              <a:rPr lang="en-US" altLang="ja-JP" dirty="0">
                <a:solidFill>
                  <a:schemeClr val="bg1"/>
                </a:solidFill>
              </a:rPr>
              <a:t> apt-get install -y curl</a:t>
            </a:r>
          </a:p>
          <a:p>
            <a:r>
              <a:rPr lang="en-US" altLang="ja-JP" dirty="0">
                <a:solidFill>
                  <a:schemeClr val="bg1"/>
                </a:solidFill>
              </a:rPr>
              <a:t>&gt; curl --proto '=</a:t>
            </a:r>
            <a:r>
              <a:rPr lang="en-US" altLang="ja-JP" dirty="0" err="1">
                <a:solidFill>
                  <a:schemeClr val="bg1"/>
                </a:solidFill>
              </a:rPr>
              <a:t>https'</a:t>
            </a:r>
            <a:r>
              <a:rPr lang="en-US" altLang="ja-JP" dirty="0">
                <a:solidFill>
                  <a:schemeClr val="bg1"/>
                </a:solidFill>
              </a:rPr>
              <a:t> --tlsv1.2 -</a:t>
            </a:r>
            <a:r>
              <a:rPr lang="en-US" altLang="ja-JP" dirty="0" err="1">
                <a:solidFill>
                  <a:schemeClr val="bg1"/>
                </a:solidFill>
              </a:rPr>
              <a:t>fsSL</a:t>
            </a:r>
            <a:r>
              <a:rPr lang="en-US" altLang="ja-JP" dirty="0">
                <a:solidFill>
                  <a:schemeClr val="bg1"/>
                </a:solidFill>
              </a:rPr>
              <a:t> https://artifacts.nixos.org/nix-installer | </a:t>
            </a:r>
            <a:r>
              <a:rPr lang="en-US" altLang="ja-JP" dirty="0" err="1">
                <a:solidFill>
                  <a:schemeClr val="bg1"/>
                </a:solidFill>
              </a:rPr>
              <a:t>sh</a:t>
            </a:r>
            <a:r>
              <a:rPr lang="en-US" altLang="ja-JP" dirty="0">
                <a:solidFill>
                  <a:schemeClr val="bg1"/>
                </a:solidFill>
              </a:rPr>
              <a:t> -s -- install --no-confirm --extra-conf "</a:t>
            </a:r>
          </a:p>
          <a:p>
            <a:r>
              <a:rPr lang="en-US" altLang="ja-JP" dirty="0">
                <a:solidFill>
                  <a:schemeClr val="bg1"/>
                </a:solidFill>
              </a:rPr>
              <a:t>    extra-</a:t>
            </a:r>
            <a:r>
              <a:rPr lang="en-US" altLang="ja-JP" dirty="0" err="1">
                <a:solidFill>
                  <a:schemeClr val="bg1"/>
                </a:solidFill>
              </a:rPr>
              <a:t>substituters</a:t>
            </a:r>
            <a:r>
              <a:rPr lang="en-US" altLang="ja-JP" dirty="0">
                <a:solidFill>
                  <a:schemeClr val="bg1"/>
                </a:solidFill>
              </a:rPr>
              <a:t> = https://nix-cache.fossi-foundation.org</a:t>
            </a:r>
          </a:p>
          <a:p>
            <a:r>
              <a:rPr lang="en-US" altLang="ja-JP" dirty="0">
                <a:solidFill>
                  <a:schemeClr val="bg1"/>
                </a:solidFill>
              </a:rPr>
              <a:t>    extra-trusted-public-keys = nix-cache.fossi-foundation.org:3+K59iFwXqKsL7BNu6Guy0v+uTlwsxYQxjspXzqLYQs=</a:t>
            </a:r>
          </a:p>
          <a:p>
            <a:r>
              <a:rPr lang="en-US" altLang="ja-JP" dirty="0">
                <a:solidFill>
                  <a:schemeClr val="bg1"/>
                </a:solidFill>
              </a:rPr>
              <a:t>    extra-experimental-features = nix-command flakes</a:t>
            </a:r>
          </a:p>
          <a:p>
            <a:r>
              <a:rPr lang="en-US" altLang="ja-JP" dirty="0">
                <a:solidFill>
                  <a:schemeClr val="bg1"/>
                </a:solidFill>
              </a:rPr>
              <a:t>"</a:t>
            </a:r>
          </a:p>
        </p:txBody>
      </p:sp>
    </p:spTree>
    <p:extLst>
      <p:ext uri="{BB962C8B-B14F-4D97-AF65-F5344CB8AC3E}">
        <p14:creationId xmlns:p14="http://schemas.microsoft.com/office/powerpoint/2010/main" val="38541436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8C7AF8-6E79-DA73-21A9-5196975D2A3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F6D8BB9-88CE-60EA-EFD3-3238CF2C35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C6C3210-DDEB-E642-882F-156E594D08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E674D077-6223-847F-AA00-16F2885B8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C2DBA5-CEE4-570F-D58E-03817AFA6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F66BBB2-2921-4A78-CFFE-7BAD76117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99D6FCAC-4AF2-1390-74C1-4FB0C8366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C35716D-0DEA-36C4-952C-97FFBCFA44A8}"/>
              </a:ext>
            </a:extLst>
          </p:cNvPr>
          <p:cNvSpPr>
            <a:spLocks noGrp="1"/>
          </p:cNvSpPr>
          <p:nvPr>
            <p:ph type="title"/>
          </p:nvPr>
        </p:nvSpPr>
        <p:spPr>
          <a:xfrm>
            <a:off x="1043630" y="809898"/>
            <a:ext cx="10792252" cy="1554480"/>
          </a:xfrm>
        </p:spPr>
        <p:txBody>
          <a:bodyPr anchor="ctr">
            <a:normAutofit/>
          </a:bodyPr>
          <a:lstStyle/>
          <a:p>
            <a:r>
              <a:rPr lang="en-US" altLang="ja-JP" sz="4800" dirty="0" err="1"/>
              <a:t>ChipIgnite</a:t>
            </a:r>
            <a:r>
              <a:rPr lang="ja-JP" altLang="en-US" sz="4800" dirty="0"/>
              <a:t>：</a:t>
            </a:r>
            <a:r>
              <a:rPr lang="en-US" altLang="ja-JP" sz="4800" dirty="0"/>
              <a:t> </a:t>
            </a:r>
            <a:r>
              <a:rPr lang="en-US" altLang="ja-JP" sz="4800" dirty="0" err="1"/>
              <a:t>LibreLane</a:t>
            </a:r>
            <a:r>
              <a:rPr lang="ja-JP" altLang="en-US" sz="4800" dirty="0"/>
              <a:t>のセットアップ</a:t>
            </a:r>
            <a:endParaRPr kumimoji="1" lang="ja-JP" altLang="en-US" sz="4800" dirty="0"/>
          </a:p>
        </p:txBody>
      </p:sp>
      <p:sp>
        <p:nvSpPr>
          <p:cNvPr id="3" name="コンテンツ プレースホルダー 2">
            <a:extLst>
              <a:ext uri="{FF2B5EF4-FFF2-40B4-BE49-F238E27FC236}">
                <a16:creationId xmlns:a16="http://schemas.microsoft.com/office/drawing/2014/main" id="{FB468B74-7866-7F87-E7A3-DAD38246057C}"/>
              </a:ext>
            </a:extLst>
          </p:cNvPr>
          <p:cNvSpPr>
            <a:spLocks noGrp="1"/>
          </p:cNvSpPr>
          <p:nvPr>
            <p:ph idx="1"/>
          </p:nvPr>
        </p:nvSpPr>
        <p:spPr>
          <a:xfrm>
            <a:off x="1045028" y="2531336"/>
            <a:ext cx="9941319" cy="3342284"/>
          </a:xfrm>
        </p:spPr>
        <p:txBody>
          <a:bodyPr anchor="ctr">
            <a:normAutofit/>
          </a:bodyPr>
          <a:lstStyle/>
          <a:p>
            <a:r>
              <a:rPr lang="en-US" altLang="ja-JP" sz="3200" dirty="0"/>
              <a:t>SAR-Logic</a:t>
            </a:r>
            <a:r>
              <a:rPr lang="ja-JP" altLang="en-US" sz="3200" dirty="0"/>
              <a:t>のサンプル</a:t>
            </a:r>
            <a:endParaRPr lang="en-US" altLang="ja-JP" sz="3200" dirty="0"/>
          </a:p>
          <a:p>
            <a:pPr lvl="1"/>
            <a:r>
              <a:rPr lang="en-US" altLang="ja-JP" sz="2800" dirty="0">
                <a:hlinkClick r:id="rId2"/>
              </a:rPr>
              <a:t>https://github.com/ishi-kai/librelane-sar-logic</a:t>
            </a:r>
            <a:endParaRPr lang="en-US" altLang="ja-JP" sz="2800" dirty="0"/>
          </a:p>
          <a:p>
            <a:pPr lvl="1"/>
            <a:endParaRPr lang="en-US" altLang="ja-JP" sz="2800" dirty="0"/>
          </a:p>
          <a:p>
            <a:pPr lvl="1"/>
            <a:endParaRPr lang="en-US" altLang="ja-JP" sz="2800" dirty="0"/>
          </a:p>
          <a:p>
            <a:pPr lvl="1"/>
            <a:endParaRPr lang="en-US" altLang="ja-JP" dirty="0"/>
          </a:p>
          <a:p>
            <a:pPr lvl="1"/>
            <a:endParaRPr lang="en-US" altLang="ja-JP" dirty="0"/>
          </a:p>
          <a:p>
            <a:pPr lvl="1"/>
            <a:endParaRPr kumimoji="1" lang="ja-JP" altLang="en-US" dirty="0"/>
          </a:p>
        </p:txBody>
      </p:sp>
      <p:cxnSp>
        <p:nvCxnSpPr>
          <p:cNvPr id="17" name="Straight Connector 16">
            <a:extLst>
              <a:ext uri="{FF2B5EF4-FFF2-40B4-BE49-F238E27FC236}">
                <a16:creationId xmlns:a16="http://schemas.microsoft.com/office/drawing/2014/main" id="{73E7EEF5-A7DD-6253-3C1D-17356A7619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7EEB8842-DC07-7000-43D8-9F77947384C5}"/>
              </a:ext>
            </a:extLst>
          </p:cNvPr>
          <p:cNvSpPr txBox="1"/>
          <p:nvPr/>
        </p:nvSpPr>
        <p:spPr>
          <a:xfrm>
            <a:off x="919478" y="4417650"/>
            <a:ext cx="10348687" cy="2031325"/>
          </a:xfrm>
          <a:prstGeom prst="rect">
            <a:avLst/>
          </a:prstGeom>
          <a:solidFill>
            <a:schemeClr val="tx1"/>
          </a:solidFill>
        </p:spPr>
        <p:txBody>
          <a:bodyPr wrap="square" rtlCol="0">
            <a:spAutoFit/>
          </a:bodyPr>
          <a:lstStyle/>
          <a:p>
            <a:r>
              <a:rPr lang="en-US" altLang="ja-JP" dirty="0">
                <a:solidFill>
                  <a:schemeClr val="bg1"/>
                </a:solidFill>
              </a:rPr>
              <a:t>&gt; cd ~/</a:t>
            </a:r>
          </a:p>
          <a:p>
            <a:r>
              <a:rPr lang="en-US" altLang="ja-JP" dirty="0">
                <a:solidFill>
                  <a:schemeClr val="bg1"/>
                </a:solidFill>
              </a:rPr>
              <a:t>&gt; git clone –recursive </a:t>
            </a:r>
            <a:r>
              <a:rPr lang="en-US" altLang="ja-JP" dirty="0">
                <a:solidFill>
                  <a:schemeClr val="bg1"/>
                </a:solidFill>
                <a:hlinkClick r:id="rId2"/>
              </a:rPr>
              <a:t>https://github.com/ishi-kai/librelane-sar-logic</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a:t>
            </a:r>
            <a:r>
              <a:rPr lang="ja-JP" altLang="en-US" dirty="0">
                <a:solidFill>
                  <a:schemeClr val="bg1"/>
                </a:solidFill>
              </a:rPr>
              <a:t>失敗する場合は、</a:t>
            </a:r>
            <a:r>
              <a:rPr lang="en-US" altLang="ja-JP" dirty="0">
                <a:solidFill>
                  <a:schemeClr val="bg1"/>
                </a:solidFill>
              </a:rPr>
              <a:t>~/</a:t>
            </a:r>
            <a:r>
              <a:rPr lang="en-US" altLang="ja-JP" dirty="0" err="1">
                <a:solidFill>
                  <a:schemeClr val="bg1"/>
                </a:solidFill>
              </a:rPr>
              <a:t>librelane</a:t>
            </a:r>
            <a:r>
              <a:rPr lang="en-US" altLang="ja-JP" dirty="0">
                <a:solidFill>
                  <a:schemeClr val="bg1"/>
                </a:solidFill>
              </a:rPr>
              <a:t>-</a:t>
            </a:r>
            <a:r>
              <a:rPr lang="en-US" altLang="ja-JP" dirty="0" err="1">
                <a:solidFill>
                  <a:schemeClr val="bg1"/>
                </a:solidFill>
              </a:rPr>
              <a:t>sar</a:t>
            </a:r>
            <a:r>
              <a:rPr lang="en-US" altLang="ja-JP" dirty="0">
                <a:solidFill>
                  <a:schemeClr val="bg1"/>
                </a:solidFill>
              </a:rPr>
              <a:t>-logic/submodules/</a:t>
            </a:r>
            <a:r>
              <a:rPr lang="ja-JP" altLang="en-US" dirty="0">
                <a:solidFill>
                  <a:schemeClr val="bg1"/>
                </a:solidFill>
              </a:rPr>
              <a:t> 内で</a:t>
            </a:r>
          </a:p>
          <a:p>
            <a:r>
              <a:rPr lang="en-US" altLang="ja-JP" dirty="0">
                <a:solidFill>
                  <a:schemeClr val="bg1"/>
                </a:solidFill>
              </a:rPr>
              <a:t>&gt; git clone https://github.com/librelane/librelane</a:t>
            </a:r>
          </a:p>
          <a:p>
            <a:r>
              <a:rPr lang="en-US" altLang="ja-JP" dirty="0">
                <a:solidFill>
                  <a:schemeClr val="bg1"/>
                </a:solidFill>
              </a:rPr>
              <a:t>&gt; cd </a:t>
            </a:r>
            <a:r>
              <a:rPr lang="en-US" altLang="ja-JP" dirty="0" err="1">
                <a:solidFill>
                  <a:schemeClr val="bg1"/>
                </a:solidFill>
              </a:rPr>
              <a:t>librelane</a:t>
            </a:r>
            <a:endParaRPr lang="en-US" altLang="ja-JP" dirty="0">
              <a:solidFill>
                <a:schemeClr val="bg1"/>
              </a:solidFill>
            </a:endParaRPr>
          </a:p>
          <a:p>
            <a:r>
              <a:rPr lang="en-US" altLang="ja-JP" dirty="0">
                <a:solidFill>
                  <a:schemeClr val="bg1"/>
                </a:solidFill>
              </a:rPr>
              <a:t>&gt; git checkout 1e4f4d5bf9d2693798b12dc0c1cd0337ad266a0d</a:t>
            </a:r>
          </a:p>
        </p:txBody>
      </p:sp>
    </p:spTree>
    <p:extLst>
      <p:ext uri="{BB962C8B-B14F-4D97-AF65-F5344CB8AC3E}">
        <p14:creationId xmlns:p14="http://schemas.microsoft.com/office/powerpoint/2010/main" val="1053054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D322C7-BE95-649E-9F1C-3D751D27C7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810A40-EF12-BC54-0591-A07A7707D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5AA9462-B993-17EC-6C85-FCB00E6D5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1E601A1B-FDD3-0CFD-27CD-86CDB65F3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BF5D0B-B62E-0474-6894-7521C015B0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11F96CD-056B-A5BA-F403-6947B9F54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4444E8B2-07A5-9928-B222-B5BFCADB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D20904F-A8DE-873D-61E8-5C7F53CED270}"/>
              </a:ext>
            </a:extLst>
          </p:cNvPr>
          <p:cNvSpPr>
            <a:spLocks noGrp="1" noRot="1" noMove="1" noResize="1" noEditPoints="1" noAdjustHandles="1" noChangeArrowheads="1" noChangeShapeType="1"/>
          </p:cNvSpPr>
          <p:nvPr>
            <p:ph type="title"/>
          </p:nvPr>
        </p:nvSpPr>
        <p:spPr>
          <a:xfrm>
            <a:off x="1043631" y="809898"/>
            <a:ext cx="9942716" cy="1554480"/>
          </a:xfrm>
        </p:spPr>
        <p:txBody>
          <a:bodyPr anchor="ctr">
            <a:normAutofit/>
          </a:bodyPr>
          <a:lstStyle/>
          <a:p>
            <a:r>
              <a:rPr lang="en-US" altLang="ja-JP" sz="4800" dirty="0" err="1"/>
              <a:t>ChipIgnite</a:t>
            </a:r>
            <a:r>
              <a:rPr lang="ja-JP" altLang="en-US" sz="4800" dirty="0"/>
              <a:t>：ビルドする</a:t>
            </a:r>
            <a:endParaRPr kumimoji="1" lang="ja-JP" altLang="en-US" sz="4800" dirty="0"/>
          </a:p>
        </p:txBody>
      </p:sp>
      <p:sp>
        <p:nvSpPr>
          <p:cNvPr id="3" name="コンテンツ プレースホルダー 2">
            <a:extLst>
              <a:ext uri="{FF2B5EF4-FFF2-40B4-BE49-F238E27FC236}">
                <a16:creationId xmlns:a16="http://schemas.microsoft.com/office/drawing/2014/main" id="{732B4490-5C0C-382A-F593-6B41685D4803}"/>
              </a:ext>
            </a:extLst>
          </p:cNvPr>
          <p:cNvSpPr>
            <a:spLocks noGrp="1"/>
          </p:cNvSpPr>
          <p:nvPr>
            <p:ph idx="1"/>
          </p:nvPr>
        </p:nvSpPr>
        <p:spPr>
          <a:xfrm>
            <a:off x="1045028" y="2531336"/>
            <a:ext cx="9941319" cy="3179000"/>
          </a:xfrm>
        </p:spPr>
        <p:txBody>
          <a:bodyPr anchor="ctr">
            <a:normAutofit/>
          </a:bodyPr>
          <a:lstStyle/>
          <a:p>
            <a:r>
              <a:rPr lang="en-US" altLang="ja-JP" sz="2400" dirty="0"/>
              <a:t>SAR-LOGIC</a:t>
            </a:r>
            <a:r>
              <a:rPr lang="ja-JP" altLang="en-US" sz="2400" dirty="0"/>
              <a:t>のソースコード</a:t>
            </a:r>
            <a:endParaRPr lang="en-US" altLang="ja-JP" sz="2400" dirty="0"/>
          </a:p>
          <a:p>
            <a:pPr lvl="1"/>
            <a:r>
              <a:rPr lang="en-US" altLang="ja-JP" sz="2000" dirty="0"/>
              <a:t> ~/</a:t>
            </a:r>
            <a:r>
              <a:rPr lang="en-US" altLang="ja-JP" sz="2000" dirty="0" err="1"/>
              <a:t>librelane</a:t>
            </a:r>
            <a:r>
              <a:rPr lang="en-US" altLang="ja-JP" sz="2000" dirty="0"/>
              <a:t>-</a:t>
            </a:r>
            <a:r>
              <a:rPr lang="en-US" altLang="ja-JP" sz="2000" dirty="0" err="1"/>
              <a:t>sar</a:t>
            </a:r>
            <a:r>
              <a:rPr lang="en-US" altLang="ja-JP" sz="2000" dirty="0"/>
              <a:t>-logic/</a:t>
            </a:r>
            <a:r>
              <a:rPr lang="en-US" altLang="ja-JP" sz="2000" dirty="0" err="1"/>
              <a:t>src</a:t>
            </a:r>
            <a:r>
              <a:rPr lang="en-US" altLang="ja-JP" sz="2000" dirty="0"/>
              <a:t>/SAR-</a:t>
            </a:r>
            <a:r>
              <a:rPr lang="en-US" altLang="ja-JP" sz="2000" dirty="0" err="1"/>
              <a:t>LOGIC.v</a:t>
            </a:r>
            <a:endParaRPr lang="en-US" altLang="ja-JP" sz="2000" dirty="0"/>
          </a:p>
          <a:p>
            <a:pPr lvl="1"/>
            <a:r>
              <a:rPr lang="ja-JP" altLang="en-US" sz="2000" dirty="0"/>
              <a:t>設定</a:t>
            </a:r>
            <a:endParaRPr lang="en-US" altLang="ja-JP" sz="2000" dirty="0"/>
          </a:p>
          <a:p>
            <a:pPr lvl="2"/>
            <a:r>
              <a:rPr lang="ja-JP" altLang="en-US" sz="1600" dirty="0"/>
              <a:t>ビルド用の各種設定</a:t>
            </a:r>
            <a:endParaRPr lang="en-US" altLang="ja-JP" sz="1600" dirty="0"/>
          </a:p>
          <a:p>
            <a:pPr lvl="3"/>
            <a:r>
              <a:rPr lang="en-US" altLang="ja-JP" sz="1600" dirty="0"/>
              <a:t>~/</a:t>
            </a:r>
            <a:r>
              <a:rPr lang="en-US" altLang="ja-JP" sz="1600" dirty="0" err="1"/>
              <a:t>librelane</a:t>
            </a:r>
            <a:r>
              <a:rPr lang="en-US" altLang="ja-JP" sz="1600" dirty="0"/>
              <a:t>-</a:t>
            </a:r>
            <a:r>
              <a:rPr lang="en-US" altLang="ja-JP" sz="1600" dirty="0" err="1"/>
              <a:t>sar</a:t>
            </a:r>
            <a:r>
              <a:rPr lang="en-US" altLang="ja-JP" sz="1600" dirty="0"/>
              <a:t>-logic/config/</a:t>
            </a:r>
            <a:r>
              <a:rPr lang="en-US" altLang="ja-JP" sz="1600" dirty="0" err="1"/>
              <a:t>config.json</a:t>
            </a:r>
            <a:endParaRPr lang="en-US" altLang="ja-JP" sz="1600" dirty="0"/>
          </a:p>
          <a:p>
            <a:pPr lvl="2"/>
            <a:r>
              <a:rPr lang="ja-JP" altLang="en-US" sz="1600" dirty="0"/>
              <a:t>ピンの設定</a:t>
            </a:r>
            <a:endParaRPr lang="en-US" altLang="ja-JP" sz="1600" dirty="0"/>
          </a:p>
          <a:p>
            <a:pPr lvl="3"/>
            <a:r>
              <a:rPr lang="en-US" altLang="ja-JP" sz="1600" dirty="0"/>
              <a:t>~/</a:t>
            </a:r>
            <a:r>
              <a:rPr lang="en-US" altLang="ja-JP" sz="1600" dirty="0" err="1"/>
              <a:t>librelane</a:t>
            </a:r>
            <a:r>
              <a:rPr lang="en-US" altLang="ja-JP" sz="1600" dirty="0"/>
              <a:t>-</a:t>
            </a:r>
            <a:r>
              <a:rPr lang="en-US" altLang="ja-JP" sz="1600" dirty="0" err="1"/>
              <a:t>sar</a:t>
            </a:r>
            <a:r>
              <a:rPr lang="en-US" altLang="ja-JP" sz="1600" dirty="0"/>
              <a:t>-logic/config/</a:t>
            </a:r>
            <a:r>
              <a:rPr lang="en-US" altLang="ja-JP" sz="1600" dirty="0" err="1"/>
              <a:t>pin_order.cfg</a:t>
            </a:r>
            <a:endParaRPr lang="en-US" altLang="ja-JP" sz="1600" dirty="0"/>
          </a:p>
          <a:p>
            <a:pPr lvl="2"/>
            <a:endParaRPr lang="en-US" altLang="ja-JP" sz="1400" dirty="0"/>
          </a:p>
          <a:p>
            <a:pPr lvl="2"/>
            <a:endParaRPr lang="en-US" altLang="ja-JP" sz="1400" dirty="0"/>
          </a:p>
          <a:p>
            <a:pPr lvl="1"/>
            <a:endParaRPr kumimoji="1" lang="ja-JP" altLang="en-US" sz="1800" dirty="0"/>
          </a:p>
        </p:txBody>
      </p:sp>
      <p:cxnSp>
        <p:nvCxnSpPr>
          <p:cNvPr id="17" name="Straight Connector 16">
            <a:extLst>
              <a:ext uri="{FF2B5EF4-FFF2-40B4-BE49-F238E27FC236}">
                <a16:creationId xmlns:a16="http://schemas.microsoft.com/office/drawing/2014/main" id="{FBD3608D-0CB9-9099-942A-C0BC644ED5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0459DE25-6F0A-9FDA-104E-8FAB69705AE2}"/>
              </a:ext>
            </a:extLst>
          </p:cNvPr>
          <p:cNvSpPr txBox="1"/>
          <p:nvPr/>
        </p:nvSpPr>
        <p:spPr>
          <a:xfrm>
            <a:off x="919478" y="4826040"/>
            <a:ext cx="10348687" cy="2031325"/>
          </a:xfrm>
          <a:prstGeom prst="rect">
            <a:avLst/>
          </a:prstGeom>
          <a:solidFill>
            <a:schemeClr val="tx1"/>
          </a:solidFill>
        </p:spPr>
        <p:txBody>
          <a:bodyPr wrap="square" rtlCol="0">
            <a:spAutoFit/>
          </a:bodyPr>
          <a:lstStyle/>
          <a:p>
            <a:r>
              <a:rPr lang="ja-JP" altLang="en-US" dirty="0">
                <a:solidFill>
                  <a:schemeClr val="bg2"/>
                </a:solidFill>
              </a:rPr>
              <a:t>⭕️</a:t>
            </a:r>
            <a:r>
              <a:rPr lang="en-US" altLang="ja-JP" dirty="0">
                <a:solidFill>
                  <a:schemeClr val="bg2"/>
                </a:solidFill>
              </a:rPr>
              <a:t>nix-shell</a:t>
            </a:r>
            <a:r>
              <a:rPr lang="ja-JP" altLang="en-US" dirty="0">
                <a:solidFill>
                  <a:schemeClr val="bg2"/>
                </a:solidFill>
              </a:rPr>
              <a:t>を起動する</a:t>
            </a:r>
            <a:endParaRPr lang="en-US" altLang="ja-JP" dirty="0">
              <a:solidFill>
                <a:schemeClr val="bg1"/>
              </a:solidFill>
            </a:endParaRPr>
          </a:p>
          <a:p>
            <a:r>
              <a:rPr lang="en-US" altLang="ja-JP" dirty="0">
                <a:solidFill>
                  <a:schemeClr val="bg1"/>
                </a:solidFill>
              </a:rPr>
              <a:t>&gt; cd ~/</a:t>
            </a:r>
            <a:r>
              <a:rPr lang="en-US" altLang="ja-JP" dirty="0" err="1">
                <a:solidFill>
                  <a:schemeClr val="bg1"/>
                </a:solidFill>
              </a:rPr>
              <a:t>librelane</a:t>
            </a:r>
            <a:r>
              <a:rPr lang="en-US" altLang="ja-JP" dirty="0">
                <a:solidFill>
                  <a:schemeClr val="bg1"/>
                </a:solidFill>
              </a:rPr>
              <a:t>-</a:t>
            </a:r>
            <a:r>
              <a:rPr lang="en-US" altLang="ja-JP" dirty="0" err="1">
                <a:solidFill>
                  <a:schemeClr val="bg1"/>
                </a:solidFill>
              </a:rPr>
              <a:t>sar</a:t>
            </a:r>
            <a:r>
              <a:rPr lang="en-US" altLang="ja-JP" dirty="0">
                <a:solidFill>
                  <a:schemeClr val="bg1"/>
                </a:solidFill>
              </a:rPr>
              <a:t>-logic/submodules/</a:t>
            </a:r>
            <a:r>
              <a:rPr lang="en-US" altLang="ja-JP" dirty="0" err="1">
                <a:solidFill>
                  <a:schemeClr val="bg1"/>
                </a:solidFill>
              </a:rPr>
              <a:t>librelane</a:t>
            </a:r>
            <a:endParaRPr lang="en-US" altLang="ja-JP" dirty="0">
              <a:solidFill>
                <a:schemeClr val="bg1"/>
              </a:solidFill>
            </a:endParaRPr>
          </a:p>
          <a:p>
            <a:r>
              <a:rPr lang="en-US" altLang="ja-JP" dirty="0">
                <a:solidFill>
                  <a:schemeClr val="bg1"/>
                </a:solidFill>
              </a:rPr>
              <a:t>&gt; nix-shell </a:t>
            </a:r>
            <a:r>
              <a:rPr lang="en-US" altLang="ja-JP" dirty="0" err="1">
                <a:solidFill>
                  <a:schemeClr val="bg1"/>
                </a:solidFill>
              </a:rPr>
              <a:t>shell.nix</a:t>
            </a:r>
            <a:endParaRPr lang="en-US" altLang="ja-JP" dirty="0">
              <a:solidFill>
                <a:schemeClr val="bg1"/>
              </a:solidFill>
            </a:endParaRPr>
          </a:p>
          <a:p>
            <a:endParaRPr lang="en-US" altLang="ja-JP" dirty="0">
              <a:solidFill>
                <a:schemeClr val="bg1"/>
              </a:solidFill>
            </a:endParaRPr>
          </a:p>
          <a:p>
            <a:r>
              <a:rPr lang="ja-JP" altLang="en-US" dirty="0">
                <a:solidFill>
                  <a:schemeClr val="bg2"/>
                </a:solidFill>
              </a:rPr>
              <a:t>⭕️ビルドする</a:t>
            </a:r>
            <a:endParaRPr lang="en-US" altLang="ja-JP" dirty="0">
              <a:solidFill>
                <a:schemeClr val="bg1"/>
              </a:solidFill>
            </a:endParaRPr>
          </a:p>
          <a:p>
            <a:r>
              <a:rPr lang="en-US" altLang="ja-JP" dirty="0">
                <a:solidFill>
                  <a:schemeClr val="bg1"/>
                </a:solidFill>
              </a:rPr>
              <a:t>&gt; cd ~/</a:t>
            </a:r>
            <a:r>
              <a:rPr lang="en-US" altLang="ja-JP" dirty="0" err="1">
                <a:solidFill>
                  <a:schemeClr val="bg1"/>
                </a:solidFill>
              </a:rPr>
              <a:t>librelane</a:t>
            </a:r>
            <a:r>
              <a:rPr lang="en-US" altLang="ja-JP" dirty="0">
                <a:solidFill>
                  <a:schemeClr val="bg1"/>
                </a:solidFill>
              </a:rPr>
              <a:t>-</a:t>
            </a:r>
            <a:r>
              <a:rPr lang="en-US" altLang="ja-JP" dirty="0" err="1">
                <a:solidFill>
                  <a:schemeClr val="bg1"/>
                </a:solidFill>
              </a:rPr>
              <a:t>sar</a:t>
            </a:r>
            <a:r>
              <a:rPr lang="en-US" altLang="ja-JP" dirty="0">
                <a:solidFill>
                  <a:schemeClr val="bg1"/>
                </a:solidFill>
              </a:rPr>
              <a:t>-logic/config/</a:t>
            </a:r>
          </a:p>
          <a:p>
            <a:r>
              <a:rPr lang="en-US" altLang="ja-JP" dirty="0">
                <a:solidFill>
                  <a:schemeClr val="bg1"/>
                </a:solidFill>
              </a:rPr>
              <a:t>&gt; </a:t>
            </a:r>
            <a:r>
              <a:rPr lang="en-US" altLang="ja-JP" dirty="0" err="1">
                <a:solidFill>
                  <a:schemeClr val="bg1"/>
                </a:solidFill>
              </a:rPr>
              <a:t>librelane</a:t>
            </a:r>
            <a:r>
              <a:rPr lang="en-US" altLang="ja-JP" dirty="0">
                <a:solidFill>
                  <a:schemeClr val="bg1"/>
                </a:solidFill>
              </a:rPr>
              <a:t> </a:t>
            </a:r>
            <a:r>
              <a:rPr lang="en-US" altLang="ja-JP" dirty="0" err="1">
                <a:solidFill>
                  <a:schemeClr val="bg1"/>
                </a:solidFill>
              </a:rPr>
              <a:t>config.json</a:t>
            </a:r>
            <a:r>
              <a:rPr lang="en-US" altLang="ja-JP" dirty="0">
                <a:solidFill>
                  <a:schemeClr val="bg1"/>
                </a:solidFill>
              </a:rPr>
              <a:t> -j 12</a:t>
            </a:r>
          </a:p>
        </p:txBody>
      </p:sp>
    </p:spTree>
    <p:extLst>
      <p:ext uri="{BB962C8B-B14F-4D97-AF65-F5344CB8AC3E}">
        <p14:creationId xmlns:p14="http://schemas.microsoft.com/office/powerpoint/2010/main" val="19803385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5B6B7B-648E-9E30-1F34-2A41A7FDE5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87DDA6-8AEA-0F2E-8C42-CC4E8913D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71CB2DB-1A9B-87DE-47E9-73A0AB6D65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D146ECF6-CA2E-D59E-1061-48D5B1E88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012892-C48F-1DBB-111F-3B0CD2E7B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8F2301-8DFC-E5D5-65EE-3BF88FF4E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AD22C172-0ED9-65DD-C9C5-27794118D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EF8ECED-E7AE-BEFA-7CC9-81447934500C}"/>
              </a:ext>
            </a:extLst>
          </p:cNvPr>
          <p:cNvSpPr>
            <a:spLocks noGrp="1" noRot="1" noMove="1" noResize="1" noEditPoints="1" noAdjustHandles="1" noChangeArrowheads="1" noChangeShapeType="1"/>
          </p:cNvSpPr>
          <p:nvPr>
            <p:ph type="title"/>
          </p:nvPr>
        </p:nvSpPr>
        <p:spPr>
          <a:xfrm>
            <a:off x="1043631" y="809898"/>
            <a:ext cx="9942716" cy="1554480"/>
          </a:xfrm>
        </p:spPr>
        <p:txBody>
          <a:bodyPr anchor="ctr">
            <a:normAutofit/>
          </a:bodyPr>
          <a:lstStyle/>
          <a:p>
            <a:r>
              <a:rPr lang="en-US" altLang="ja-JP" sz="4800" dirty="0" err="1"/>
              <a:t>ChipIgnite</a:t>
            </a:r>
            <a:r>
              <a:rPr lang="ja-JP" altLang="en-US" sz="4800" dirty="0"/>
              <a:t>：ビルドされたファイル</a:t>
            </a:r>
            <a:endParaRPr kumimoji="1" lang="ja-JP" altLang="en-US" sz="4800" dirty="0"/>
          </a:p>
        </p:txBody>
      </p:sp>
      <p:sp>
        <p:nvSpPr>
          <p:cNvPr id="3" name="コンテンツ プレースホルダー 2">
            <a:extLst>
              <a:ext uri="{FF2B5EF4-FFF2-40B4-BE49-F238E27FC236}">
                <a16:creationId xmlns:a16="http://schemas.microsoft.com/office/drawing/2014/main" id="{B9ADA4AA-B71D-781B-3FA6-5DB1505F487A}"/>
              </a:ext>
            </a:extLst>
          </p:cNvPr>
          <p:cNvSpPr>
            <a:spLocks noGrp="1"/>
          </p:cNvSpPr>
          <p:nvPr>
            <p:ph idx="1"/>
          </p:nvPr>
        </p:nvSpPr>
        <p:spPr>
          <a:xfrm>
            <a:off x="1045028" y="2531335"/>
            <a:ext cx="9941319" cy="3359193"/>
          </a:xfrm>
        </p:spPr>
        <p:txBody>
          <a:bodyPr anchor="ctr">
            <a:normAutofit/>
          </a:bodyPr>
          <a:lstStyle/>
          <a:p>
            <a:r>
              <a:rPr lang="ja-JP" altLang="en-US" sz="2400" dirty="0"/>
              <a:t>ビルドされたファイルができる場所</a:t>
            </a:r>
            <a:endParaRPr lang="en-US" altLang="ja-JP" sz="2400" dirty="0"/>
          </a:p>
          <a:p>
            <a:pPr lvl="1"/>
            <a:r>
              <a:rPr lang="en-US" altLang="ja-JP" sz="2000" dirty="0"/>
              <a:t>~/</a:t>
            </a:r>
            <a:r>
              <a:rPr lang="en-US" altLang="ja-JP" sz="2000" dirty="0" err="1"/>
              <a:t>librelane</a:t>
            </a:r>
            <a:r>
              <a:rPr lang="en-US" altLang="ja-JP" sz="2000" dirty="0"/>
              <a:t>-</a:t>
            </a:r>
            <a:r>
              <a:rPr lang="en-US" altLang="ja-JP" sz="2000" dirty="0" err="1"/>
              <a:t>sar</a:t>
            </a:r>
            <a:r>
              <a:rPr lang="en-US" altLang="ja-JP" sz="2000" dirty="0"/>
              <a:t>-logic/config/runs/RUN_[</a:t>
            </a:r>
            <a:r>
              <a:rPr lang="ja-JP" altLang="en-US" sz="2000" dirty="0"/>
              <a:t>ビルドした日時</a:t>
            </a:r>
            <a:r>
              <a:rPr lang="en-US" altLang="ja-JP" sz="2000" dirty="0"/>
              <a:t>]/final/</a:t>
            </a:r>
          </a:p>
          <a:p>
            <a:r>
              <a:rPr lang="ja-JP" altLang="en-US" sz="2400" dirty="0"/>
              <a:t>ビルドされたファイル</a:t>
            </a:r>
            <a:endParaRPr lang="en-US" altLang="ja-JP" sz="2400" dirty="0"/>
          </a:p>
          <a:p>
            <a:pPr lvl="1"/>
            <a:r>
              <a:rPr lang="en-US" altLang="ja-JP" sz="2000" dirty="0"/>
              <a:t>GDS</a:t>
            </a:r>
            <a:r>
              <a:rPr lang="ja-JP" altLang="en-US" sz="2000" dirty="0"/>
              <a:t>ファイル（どちらを使ってもよい）</a:t>
            </a:r>
            <a:endParaRPr lang="en-US" altLang="ja-JP" sz="2000" dirty="0"/>
          </a:p>
          <a:p>
            <a:pPr lvl="2"/>
            <a:r>
              <a:rPr lang="en-US" altLang="ja-JP" sz="1600" dirty="0" err="1"/>
              <a:t>gds</a:t>
            </a:r>
            <a:r>
              <a:rPr lang="en-US" altLang="ja-JP" sz="1600" dirty="0"/>
              <a:t>/</a:t>
            </a:r>
            <a:r>
              <a:rPr lang="en-US" altLang="ja-JP" sz="1600" dirty="0" err="1"/>
              <a:t>SAR_LOGIC.gds</a:t>
            </a:r>
            <a:endParaRPr lang="en-US" altLang="ja-JP" sz="1600" dirty="0"/>
          </a:p>
          <a:p>
            <a:pPr lvl="2"/>
            <a:r>
              <a:rPr lang="en-US" altLang="ja-JP" sz="1600" dirty="0" err="1"/>
              <a:t>klayout_gds</a:t>
            </a:r>
            <a:r>
              <a:rPr lang="en-US" altLang="ja-JP" sz="1600" dirty="0"/>
              <a:t>/</a:t>
            </a:r>
            <a:r>
              <a:rPr lang="en-US" altLang="ja-JP" sz="1600" dirty="0" err="1"/>
              <a:t>SAR_LOGIC.klayout.gds</a:t>
            </a:r>
            <a:endParaRPr lang="en-US" altLang="ja-JP" sz="2400" dirty="0"/>
          </a:p>
          <a:p>
            <a:pPr lvl="1"/>
            <a:r>
              <a:rPr lang="en-US" altLang="ja-JP" sz="2000" dirty="0"/>
              <a:t>spice</a:t>
            </a:r>
            <a:r>
              <a:rPr lang="ja-JP" altLang="en-US" sz="2000" dirty="0"/>
              <a:t>ファイル</a:t>
            </a:r>
            <a:endParaRPr lang="en-US" altLang="ja-JP" sz="2000" dirty="0"/>
          </a:p>
          <a:p>
            <a:pPr lvl="2"/>
            <a:r>
              <a:rPr lang="en-US" altLang="ja-JP" sz="1600" dirty="0"/>
              <a:t>spice/</a:t>
            </a:r>
            <a:r>
              <a:rPr lang="en-US" altLang="ja-JP" sz="1600" dirty="0" err="1"/>
              <a:t>SAR_LOGIC.spice</a:t>
            </a:r>
            <a:endParaRPr lang="en-US" altLang="ja-JP" sz="1600" dirty="0"/>
          </a:p>
          <a:p>
            <a:pPr lvl="3"/>
            <a:r>
              <a:rPr lang="ja-JP" altLang="en-US" sz="1400" dirty="0"/>
              <a:t>最初に空の</a:t>
            </a:r>
            <a:r>
              <a:rPr lang="en-US" altLang="ja-JP" sz="1400" dirty="0" err="1"/>
              <a:t>subckt</a:t>
            </a:r>
            <a:r>
              <a:rPr lang="ja-JP" altLang="en-US" sz="1400" dirty="0"/>
              <a:t>は削除してください。</a:t>
            </a:r>
            <a:endParaRPr lang="en-US" altLang="ja-JP" sz="1400" dirty="0"/>
          </a:p>
          <a:p>
            <a:pPr lvl="3"/>
            <a:r>
              <a:rPr lang="ja-JP" altLang="en-US" sz="1400" dirty="0"/>
              <a:t>このファイルはスタンダードセルの情報が入っていません。下記コマンドで結合してください。</a:t>
            </a:r>
            <a:endParaRPr lang="en-US" altLang="ja-JP" sz="1400" dirty="0"/>
          </a:p>
        </p:txBody>
      </p:sp>
      <p:cxnSp>
        <p:nvCxnSpPr>
          <p:cNvPr id="17" name="Straight Connector 16">
            <a:extLst>
              <a:ext uri="{FF2B5EF4-FFF2-40B4-BE49-F238E27FC236}">
                <a16:creationId xmlns:a16="http://schemas.microsoft.com/office/drawing/2014/main" id="{31DE5ECE-7BCE-9858-0F8F-FD65FC3A31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646A4FAD-8C97-67A2-692F-6249EAF1B52F}"/>
              </a:ext>
            </a:extLst>
          </p:cNvPr>
          <p:cNvSpPr txBox="1"/>
          <p:nvPr/>
        </p:nvSpPr>
        <p:spPr>
          <a:xfrm>
            <a:off x="966131" y="5859859"/>
            <a:ext cx="10348687" cy="923330"/>
          </a:xfrm>
          <a:prstGeom prst="rect">
            <a:avLst/>
          </a:prstGeom>
          <a:solidFill>
            <a:schemeClr val="tx1"/>
          </a:solidFill>
        </p:spPr>
        <p:txBody>
          <a:bodyPr wrap="square" rtlCol="0">
            <a:spAutoFit/>
          </a:bodyPr>
          <a:lstStyle/>
          <a:p>
            <a:r>
              <a:rPr lang="ja-JP" altLang="en-US" dirty="0">
                <a:solidFill>
                  <a:schemeClr val="bg2"/>
                </a:solidFill>
              </a:rPr>
              <a:t>⭕️ビルドされた</a:t>
            </a:r>
            <a:r>
              <a:rPr lang="en-US" altLang="ja-JP" dirty="0">
                <a:solidFill>
                  <a:schemeClr val="bg2"/>
                </a:solidFill>
              </a:rPr>
              <a:t>spice</a:t>
            </a:r>
            <a:r>
              <a:rPr lang="ja-JP" altLang="en-US" dirty="0">
                <a:solidFill>
                  <a:schemeClr val="bg2"/>
                </a:solidFill>
              </a:rPr>
              <a:t>ファイルに必要なファイルを結合する</a:t>
            </a:r>
            <a:endParaRPr lang="en-US" altLang="ja-JP" dirty="0">
              <a:solidFill>
                <a:schemeClr val="bg1"/>
              </a:solidFill>
            </a:endParaRPr>
          </a:p>
          <a:p>
            <a:r>
              <a:rPr lang="en-US" altLang="ja-JP" dirty="0">
                <a:solidFill>
                  <a:schemeClr val="bg1"/>
                </a:solidFill>
              </a:rPr>
              <a:t>&gt; cat ~/</a:t>
            </a:r>
            <a:r>
              <a:rPr lang="en-US" altLang="ja-JP" dirty="0" err="1">
                <a:solidFill>
                  <a:schemeClr val="bg1"/>
                </a:solidFill>
              </a:rPr>
              <a:t>pdk</a:t>
            </a:r>
            <a:r>
              <a:rPr lang="en-US" altLang="ja-JP" dirty="0">
                <a:solidFill>
                  <a:schemeClr val="bg1"/>
                </a:solidFill>
              </a:rPr>
              <a:t>/sky130A/</a:t>
            </a:r>
            <a:r>
              <a:rPr lang="en-US" altLang="ja-JP" dirty="0" err="1">
                <a:solidFill>
                  <a:schemeClr val="bg1"/>
                </a:solidFill>
              </a:rPr>
              <a:t>libs.ref</a:t>
            </a:r>
            <a:r>
              <a:rPr lang="en-US" altLang="ja-JP" dirty="0">
                <a:solidFill>
                  <a:schemeClr val="bg1"/>
                </a:solidFill>
              </a:rPr>
              <a:t>/sky130_fd_sc_hd/spice/sky130_*.spice </a:t>
            </a:r>
            <a:r>
              <a:rPr lang="en-US" altLang="ja-JP" dirty="0" err="1">
                <a:solidFill>
                  <a:schemeClr val="bg1"/>
                </a:solidFill>
              </a:rPr>
              <a:t>SAR_LOGIC.spice</a:t>
            </a:r>
            <a:r>
              <a:rPr lang="en-US" altLang="ja-JP" dirty="0">
                <a:solidFill>
                  <a:schemeClr val="bg1"/>
                </a:solidFill>
              </a:rPr>
              <a:t> &gt; </a:t>
            </a:r>
            <a:r>
              <a:rPr lang="en-US" altLang="ja-JP" dirty="0" err="1">
                <a:solidFill>
                  <a:schemeClr val="bg1"/>
                </a:solidFill>
              </a:rPr>
              <a:t>SAR_LOGIC_FULL.spice</a:t>
            </a:r>
            <a:endParaRPr lang="en-US" altLang="ja-JP" dirty="0">
              <a:solidFill>
                <a:schemeClr val="bg1"/>
              </a:solidFill>
            </a:endParaRPr>
          </a:p>
        </p:txBody>
      </p:sp>
    </p:spTree>
    <p:extLst>
      <p:ext uri="{BB962C8B-B14F-4D97-AF65-F5344CB8AC3E}">
        <p14:creationId xmlns:p14="http://schemas.microsoft.com/office/powerpoint/2010/main" val="10169447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48BA0C-1821-18D0-1BEC-04F69DC61851}"/>
            </a:ext>
          </a:extLst>
        </p:cNvPr>
        <p:cNvGrpSpPr/>
        <p:nvPr/>
      </p:nvGrpSpPr>
      <p:grpSpPr>
        <a:xfrm>
          <a:off x="0" y="0"/>
          <a:ext cx="0" cy="0"/>
          <a:chOff x="0" y="0"/>
          <a:chExt cx="0" cy="0"/>
        </a:xfrm>
      </p:grpSpPr>
      <p:pic>
        <p:nvPicPr>
          <p:cNvPr id="7" name="コンテンツ プレースホルダー 6">
            <a:extLst>
              <a:ext uri="{FF2B5EF4-FFF2-40B4-BE49-F238E27FC236}">
                <a16:creationId xmlns:a16="http://schemas.microsoft.com/office/drawing/2014/main" id="{89FB1264-4B9E-5F50-2D5C-722857D19DDE}"/>
              </a:ext>
            </a:extLst>
          </p:cNvPr>
          <p:cNvPicPr>
            <a:picLocks noGrp="1" noChangeAspect="1"/>
          </p:cNvPicPr>
          <p:nvPr>
            <p:ph idx="1"/>
          </p:nvPr>
        </p:nvPicPr>
        <p:blipFill>
          <a:blip r:embed="rId2"/>
          <a:srcRect t="5877" r="-1" b="2567"/>
          <a:stretch>
            <a:fillRect/>
          </a:stretch>
        </p:blipFill>
        <p:spPr>
          <a:xfrm rot="5400000">
            <a:off x="2667000" y="-2667000"/>
            <a:ext cx="6858000" cy="12192000"/>
          </a:xfrm>
          <a:prstGeom prst="rect">
            <a:avLst/>
          </a:prstGeom>
        </p:spPr>
      </p:pic>
      <p:sp>
        <p:nvSpPr>
          <p:cNvPr id="23" name="Rectangle 22">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65A2C26-1D7D-9005-33C7-214BC0A560CE}"/>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kumimoji="1" lang="en-US" altLang="ja-JP" sz="3600">
                <a:solidFill>
                  <a:schemeClr val="tx1">
                    <a:lumMod val="85000"/>
                    <a:lumOff val="15000"/>
                  </a:schemeClr>
                </a:solidFill>
              </a:rPr>
              <a:t>GDS</a:t>
            </a:r>
            <a:r>
              <a:rPr kumimoji="1" lang="ja-JP" altLang="en-US" sz="3600">
                <a:solidFill>
                  <a:schemeClr val="tx1">
                    <a:lumMod val="85000"/>
                    <a:lumOff val="15000"/>
                  </a:schemeClr>
                </a:solidFill>
              </a:rPr>
              <a:t>の結果</a:t>
            </a:r>
          </a:p>
        </p:txBody>
      </p:sp>
      <p:cxnSp>
        <p:nvCxnSpPr>
          <p:cNvPr id="25" name="Straight Connector 24">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88731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3FE776E-6982-1867-7568-DFD8550D3951}"/>
              </a:ext>
            </a:extLst>
          </p:cNvPr>
          <p:cNvSpPr>
            <a:spLocks noGrp="1"/>
          </p:cNvSpPr>
          <p:nvPr>
            <p:ph type="title"/>
          </p:nvPr>
        </p:nvSpPr>
        <p:spPr>
          <a:xfrm>
            <a:off x="1043631" y="809898"/>
            <a:ext cx="9942716" cy="1554480"/>
          </a:xfrm>
        </p:spPr>
        <p:txBody>
          <a:bodyPr anchor="ctr">
            <a:normAutofit/>
          </a:bodyPr>
          <a:lstStyle/>
          <a:p>
            <a:r>
              <a:rPr lang="ja-JP" altLang="en-US" sz="4800" dirty="0"/>
              <a:t>各種検証を実施する方法</a:t>
            </a:r>
            <a:endParaRPr kumimoji="1" lang="ja-JP" altLang="en-US" sz="4800" dirty="0"/>
          </a:p>
        </p:txBody>
      </p:sp>
      <p:sp>
        <p:nvSpPr>
          <p:cNvPr id="3" name="コンテンツ プレースホルダー 2">
            <a:extLst>
              <a:ext uri="{FF2B5EF4-FFF2-40B4-BE49-F238E27FC236}">
                <a16:creationId xmlns:a16="http://schemas.microsoft.com/office/drawing/2014/main" id="{B94F7408-1A94-1C07-090F-A4C6714FA6BC}"/>
              </a:ext>
            </a:extLst>
          </p:cNvPr>
          <p:cNvSpPr>
            <a:spLocks noGrp="1"/>
          </p:cNvSpPr>
          <p:nvPr>
            <p:ph idx="1"/>
          </p:nvPr>
        </p:nvSpPr>
        <p:spPr>
          <a:xfrm>
            <a:off x="1045028" y="3017521"/>
            <a:ext cx="10807943" cy="3467789"/>
          </a:xfrm>
        </p:spPr>
        <p:txBody>
          <a:bodyPr anchor="ctr">
            <a:normAutofit/>
          </a:bodyPr>
          <a:lstStyle/>
          <a:p>
            <a:r>
              <a:rPr lang="en-US" altLang="ja-JP" sz="2000" dirty="0"/>
              <a:t>LVS</a:t>
            </a:r>
          </a:p>
          <a:p>
            <a:pPr lvl="1"/>
            <a:r>
              <a:rPr lang="ja-JP" altLang="en-US" sz="1600" dirty="0"/>
              <a:t>スタセルと統合した</a:t>
            </a:r>
            <a:r>
              <a:rPr lang="en-US" altLang="ja-JP" sz="1600" dirty="0" err="1"/>
              <a:t>SAR_LOGIC.spice</a:t>
            </a:r>
            <a:r>
              <a:rPr lang="ja-JP" altLang="en-US" sz="1600" dirty="0"/>
              <a:t>を</a:t>
            </a:r>
            <a:r>
              <a:rPr lang="en-US" altLang="ja-JP" sz="1600" dirty="0"/>
              <a:t>~/.</a:t>
            </a:r>
            <a:r>
              <a:rPr lang="en-US" altLang="ja-JP" sz="1600" dirty="0" err="1"/>
              <a:t>xschem</a:t>
            </a:r>
            <a:r>
              <a:rPr lang="en-US" altLang="ja-JP" sz="1600" dirty="0"/>
              <a:t>/simulations/ </a:t>
            </a:r>
            <a:r>
              <a:rPr lang="ja-JP" altLang="en-US" sz="1600" dirty="0"/>
              <a:t>にコピー</a:t>
            </a:r>
            <a:endParaRPr lang="en-US" altLang="ja-JP" sz="1600" dirty="0"/>
          </a:p>
          <a:p>
            <a:pPr lvl="1"/>
            <a:r>
              <a:rPr lang="ja-JP" altLang="en-US" sz="1600" dirty="0"/>
              <a:t>メニュー「</a:t>
            </a:r>
            <a:r>
              <a:rPr lang="en-US" altLang="ja-JP" sz="1600" dirty="0"/>
              <a:t>sky130 PDK</a:t>
            </a:r>
            <a:r>
              <a:rPr lang="ja-JP" altLang="en-US" sz="1600" dirty="0"/>
              <a:t>」</a:t>
            </a:r>
            <a:r>
              <a:rPr lang="en-US" altLang="ja-JP" sz="1600" dirty="0"/>
              <a:t>-&gt;</a:t>
            </a:r>
            <a:r>
              <a:rPr lang="ja-JP" altLang="en-US" sz="1600" dirty="0"/>
              <a:t>「</a:t>
            </a:r>
            <a:r>
              <a:rPr lang="en-US" altLang="ja-JP" sz="1600" dirty="0"/>
              <a:t>Make netlist for </a:t>
            </a:r>
            <a:r>
              <a:rPr lang="en-US" altLang="ja-JP" sz="1600" dirty="0" err="1"/>
              <a:t>Klayout</a:t>
            </a:r>
            <a:r>
              <a:rPr lang="en-US" altLang="ja-JP" sz="1600" dirty="0"/>
              <a:t> LVS</a:t>
            </a:r>
            <a:r>
              <a:rPr lang="ja-JP" altLang="en-US" sz="1600" dirty="0"/>
              <a:t>」を実行</a:t>
            </a:r>
            <a:endParaRPr lang="en-US" altLang="ja-JP" sz="1600" dirty="0"/>
          </a:p>
          <a:p>
            <a:pPr lvl="1"/>
            <a:r>
              <a:rPr lang="ja-JP" altLang="en-US" sz="1600" dirty="0"/>
              <a:t>メニュー「</a:t>
            </a:r>
            <a:r>
              <a:rPr lang="en-US" altLang="ja-JP" sz="1600" dirty="0"/>
              <a:t>sky130 PDK</a:t>
            </a:r>
            <a:r>
              <a:rPr lang="ja-JP" altLang="en-US" sz="1600" dirty="0"/>
              <a:t>」</a:t>
            </a:r>
            <a:r>
              <a:rPr lang="en-US" altLang="ja-JP" sz="1600" dirty="0"/>
              <a:t>-&gt;</a:t>
            </a:r>
            <a:r>
              <a:rPr lang="ja-JP" altLang="en-US" sz="1600" dirty="0"/>
              <a:t>「</a:t>
            </a:r>
            <a:r>
              <a:rPr lang="en-US" altLang="ja-JP" sz="1600" dirty="0"/>
              <a:t>Run </a:t>
            </a:r>
            <a:r>
              <a:rPr lang="en-US" altLang="ja-JP" sz="1600" dirty="0" err="1"/>
              <a:t>Klayout</a:t>
            </a:r>
            <a:r>
              <a:rPr lang="en-US" altLang="ja-JP" sz="1600" dirty="0"/>
              <a:t> LVS</a:t>
            </a:r>
            <a:r>
              <a:rPr lang="ja-JP" altLang="en-US" sz="1600" dirty="0"/>
              <a:t>」を実行</a:t>
            </a:r>
            <a:endParaRPr lang="en-US" altLang="ja-JP" sz="1600" dirty="0"/>
          </a:p>
          <a:p>
            <a:r>
              <a:rPr lang="en-US" altLang="ja-JP" sz="2000" dirty="0"/>
              <a:t>DRC</a:t>
            </a:r>
          </a:p>
          <a:p>
            <a:pPr lvl="1"/>
            <a:r>
              <a:rPr lang="ja-JP" altLang="en-US" sz="1600" dirty="0"/>
              <a:t>メニュー「</a:t>
            </a:r>
            <a:r>
              <a:rPr lang="en-US" altLang="ja-JP" sz="1600" dirty="0"/>
              <a:t>Tools</a:t>
            </a:r>
            <a:r>
              <a:rPr lang="ja-JP" altLang="en-US" sz="1600" dirty="0"/>
              <a:t>」</a:t>
            </a:r>
            <a:r>
              <a:rPr lang="en-US" altLang="ja-JP" sz="1600" dirty="0"/>
              <a:t>-&gt;</a:t>
            </a:r>
            <a:r>
              <a:rPr lang="ja-JP" altLang="en-US" sz="1600" dirty="0"/>
              <a:t>「</a:t>
            </a:r>
            <a:r>
              <a:rPr lang="en-US" altLang="ja-JP" sz="1600" dirty="0"/>
              <a:t>DRC</a:t>
            </a:r>
            <a:r>
              <a:rPr lang="ja-JP" altLang="en-US" sz="1600" dirty="0"/>
              <a:t>」</a:t>
            </a:r>
            <a:r>
              <a:rPr lang="en-US" altLang="ja-JP" sz="1600" dirty="0"/>
              <a:t>-&gt;</a:t>
            </a:r>
            <a:r>
              <a:rPr lang="ja-JP" altLang="en-US" sz="1600" dirty="0"/>
              <a:t>「</a:t>
            </a:r>
            <a:r>
              <a:rPr lang="en-US" altLang="ja-JP" sz="1600" dirty="0"/>
              <a:t>[</a:t>
            </a:r>
            <a:r>
              <a:rPr lang="en-US" altLang="ja-JP" sz="1600" dirty="0" err="1"/>
              <a:t>klayout</a:t>
            </a:r>
            <a:r>
              <a:rPr lang="en-US" altLang="ja-JP" sz="1600" dirty="0"/>
              <a:t> </a:t>
            </a:r>
            <a:r>
              <a:rPr lang="en-US" altLang="ja-JP" sz="1600" dirty="0" err="1"/>
              <a:t>dir</a:t>
            </a:r>
            <a:r>
              <a:rPr lang="en-US" altLang="ja-JP" sz="1600" dirty="0"/>
              <a:t>]/</a:t>
            </a:r>
            <a:r>
              <a:rPr lang="en-US" altLang="ja-JP" sz="1600" dirty="0" err="1"/>
              <a:t>drc</a:t>
            </a:r>
            <a:r>
              <a:rPr lang="en-US" altLang="ja-JP" sz="1600" dirty="0"/>
              <a:t>/sky130A.lydrc</a:t>
            </a:r>
            <a:r>
              <a:rPr lang="ja-JP" altLang="en-US" sz="1600" dirty="0"/>
              <a:t>」を実行</a:t>
            </a:r>
            <a:endParaRPr lang="en-US" altLang="ja-JP" sz="1600" dirty="0"/>
          </a:p>
          <a:p>
            <a:r>
              <a:rPr lang="en-US" altLang="ja-JP" sz="2000" dirty="0"/>
              <a:t>PEX</a:t>
            </a:r>
          </a:p>
          <a:p>
            <a:pPr lvl="1"/>
            <a:r>
              <a:rPr lang="ja-JP" altLang="en-US" sz="1600" dirty="0"/>
              <a:t>メニュー「</a:t>
            </a:r>
            <a:r>
              <a:rPr lang="en-US" altLang="ja-JP" sz="1600" dirty="0"/>
              <a:t>sky130 PDK</a:t>
            </a:r>
            <a:r>
              <a:rPr lang="ja-JP" altLang="en-US" sz="1600" dirty="0"/>
              <a:t>」</a:t>
            </a:r>
            <a:r>
              <a:rPr lang="en-US" altLang="ja-JP" sz="1600" dirty="0"/>
              <a:t>-&gt;</a:t>
            </a:r>
            <a:r>
              <a:rPr lang="ja-JP" altLang="en-US" sz="1600" dirty="0"/>
              <a:t>「</a:t>
            </a:r>
            <a:r>
              <a:rPr lang="en-US" altLang="ja-JP" sz="1600" dirty="0"/>
              <a:t>Run Magic PEX(RC extraction)</a:t>
            </a:r>
            <a:r>
              <a:rPr lang="ja-JP" altLang="en-US" sz="1600" dirty="0"/>
              <a:t>」を実行</a:t>
            </a:r>
            <a:endParaRPr lang="en-US" altLang="ja-JP" sz="1600" dirty="0"/>
          </a:p>
          <a:p>
            <a:pPr lvl="2"/>
            <a:r>
              <a:rPr lang="en-US" altLang="ja-JP" sz="1200" dirty="0"/>
              <a:t>C extraction</a:t>
            </a:r>
            <a:r>
              <a:rPr lang="ja-JP" altLang="en-US" sz="1200" dirty="0"/>
              <a:t>はキャパシタのみを対象とした</a:t>
            </a:r>
            <a:r>
              <a:rPr lang="en-US" altLang="ja-JP" sz="1200" dirty="0"/>
              <a:t>PEX</a:t>
            </a:r>
          </a:p>
          <a:p>
            <a:pPr lvl="2"/>
            <a:endParaRPr lang="en-US" altLang="ja-JP" sz="1200" dirty="0"/>
          </a:p>
          <a:p>
            <a:pPr lvl="1"/>
            <a:r>
              <a:rPr lang="en-US" altLang="ja-JP" sz="1600" dirty="0"/>
              <a:t>※</a:t>
            </a:r>
            <a:r>
              <a:rPr lang="ja-JP" altLang="en-US" sz="1600" dirty="0"/>
              <a:t>メニュー「</a:t>
            </a:r>
            <a:r>
              <a:rPr lang="en-US" altLang="ja-JP" sz="1600" dirty="0" err="1"/>
              <a:t>Elabless</a:t>
            </a:r>
            <a:r>
              <a:rPr lang="en-US" altLang="ja-JP" sz="1600" dirty="0"/>
              <a:t> sky130</a:t>
            </a:r>
            <a:r>
              <a:rPr lang="ja-JP" altLang="en-US" sz="1600"/>
              <a:t>」がある場合はそちらにあるメニューを利用してもよい</a:t>
            </a:r>
            <a:endParaRPr lang="en-US" altLang="ja-JP" sz="16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02424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809CD0-A71C-526E-2BC4-DEF71DA9C90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C807AD8-153A-AC42-28FD-7CE814895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ADF0044-2E6D-415C-0643-6346B2D754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3F5692E9-0628-EA0D-6F90-F3B34F8CAD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A7E4B9B-0C8B-3D6B-0E43-D5692F69F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312CD9D-6C27-A76A-C8F7-259E5FD67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485950E-7EE8-DDDC-9BFC-DEBC022DA988}"/>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ja-JP" altLang="en-US" sz="6600"/>
              <a:t>比較器</a:t>
            </a:r>
            <a:r>
              <a:rPr kumimoji="1" lang="ja-JP" altLang="en-US" sz="6600" kern="1200">
                <a:solidFill>
                  <a:schemeClr val="tx1"/>
                </a:solidFill>
                <a:latin typeface="+mj-lt"/>
                <a:ea typeface="+mj-ea"/>
                <a:cs typeface="+mj-cs"/>
              </a:rPr>
              <a:t>編</a:t>
            </a:r>
          </a:p>
        </p:txBody>
      </p:sp>
    </p:spTree>
    <p:extLst>
      <p:ext uri="{BB962C8B-B14F-4D97-AF65-F5344CB8AC3E}">
        <p14:creationId xmlns:p14="http://schemas.microsoft.com/office/powerpoint/2010/main" val="22412107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871B6FF-04BE-6447-7051-7FF79C7AA6E6}"/>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6132403A-4EB7-08B8-2386-D1D2A366DA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F9061B7-ACEA-CA10-A32C-C9A4C86649C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B6F8D16F-5AE0-DDAA-505D-5055FD60473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4D772834-286D-2947-41E4-829B0D957FD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C7C588D-429D-A06D-B313-7C6C7E340F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794691E4-3384-EB63-F71C-9E6A3732383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ラッチ回路</a:t>
            </a:r>
          </a:p>
        </p:txBody>
      </p:sp>
    </p:spTree>
    <p:extLst>
      <p:ext uri="{BB962C8B-B14F-4D97-AF65-F5344CB8AC3E}">
        <p14:creationId xmlns:p14="http://schemas.microsoft.com/office/powerpoint/2010/main" val="945169253"/>
      </p:ext>
    </p:extLst>
  </p:cSld>
  <p:clrMapOvr>
    <a:overrideClrMapping bg1="dk1" tx1="lt1" bg2="dk2" tx2="lt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4" name="Rectangle 411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60BCAF5-F402-99BB-0708-EB8D8C6C4702}"/>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kumimoji="1" lang="ja-JP" altLang="en-US" sz="4800" kern="1200">
                <a:latin typeface="+mj-lt"/>
                <a:ea typeface="+mj-ea"/>
                <a:cs typeface="+mj-cs"/>
              </a:rPr>
              <a:t>ラッチ回路</a:t>
            </a:r>
          </a:p>
        </p:txBody>
      </p:sp>
      <p:sp>
        <p:nvSpPr>
          <p:cNvPr id="4116" name="Rectangle 411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8" name="Rectangle 411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027BE44B-BDDD-C479-6D31-C042F6D532CD}"/>
              </a:ext>
            </a:extLst>
          </p:cNvPr>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ja-JP" altLang="en-US" sz="2000" kern="1200">
                <a:latin typeface="+mn-lt"/>
                <a:ea typeface="+mn-ea"/>
                <a:cs typeface="+mn-cs"/>
              </a:rPr>
              <a:t>入力を停止しても直前の状態を</a:t>
            </a:r>
            <a:endParaRPr lang="en-US" altLang="ja-JP" sz="2000" kern="1200">
              <a:latin typeface="+mn-lt"/>
              <a:ea typeface="+mn-ea"/>
              <a:cs typeface="+mn-cs"/>
            </a:endParaRPr>
          </a:p>
          <a:p>
            <a:pPr marL="0" indent="0">
              <a:buNone/>
            </a:pPr>
            <a:r>
              <a:rPr lang="ja-JP" altLang="en-US" sz="2000" kern="1200">
                <a:latin typeface="+mn-lt"/>
                <a:ea typeface="+mn-ea"/>
                <a:cs typeface="+mn-cs"/>
              </a:rPr>
              <a:t>保持し続けることができる</a:t>
            </a:r>
            <a:endParaRPr lang="en-US" altLang="ja-JP" sz="2000" kern="1200">
              <a:latin typeface="+mn-lt"/>
              <a:ea typeface="+mn-ea"/>
              <a:cs typeface="+mn-cs"/>
            </a:endParaRPr>
          </a:p>
          <a:p>
            <a:pPr marL="0" indent="0">
              <a:buNone/>
            </a:pPr>
            <a:r>
              <a:rPr lang="ja-JP" altLang="en-US" sz="2000" kern="1200">
                <a:latin typeface="+mn-lt"/>
                <a:ea typeface="+mn-ea"/>
                <a:cs typeface="+mn-cs"/>
              </a:rPr>
              <a:t>「記憶」の最小単位</a:t>
            </a:r>
            <a:endParaRPr kumimoji="1" lang="en-US" altLang="ja-JP" sz="2000" kern="1200">
              <a:latin typeface="+mn-lt"/>
              <a:ea typeface="+mn-ea"/>
              <a:cs typeface="+mn-cs"/>
            </a:endParaRPr>
          </a:p>
        </p:txBody>
      </p:sp>
      <p:pic>
        <p:nvPicPr>
          <p:cNvPr id="4098" name="Picture 2">
            <a:extLst>
              <a:ext uri="{FF2B5EF4-FFF2-40B4-BE49-F238E27FC236}">
                <a16:creationId xmlns:a16="http://schemas.microsoft.com/office/drawing/2014/main" id="{4C6E832E-4CD6-86AD-B930-CEF8416CFAE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29548" y="2484255"/>
            <a:ext cx="3714244" cy="3714244"/>
          </a:xfrm>
          <a:prstGeom prst="rect">
            <a:avLst/>
          </a:prstGeom>
          <a:noFill/>
          <a:extLst>
            <a:ext uri="{909E8E84-426E-40DD-AFC4-6F175D3DCCD1}">
              <a14:hiddenFill xmlns:a14="http://schemas.microsoft.com/office/drawing/2010/main">
                <a:solidFill>
                  <a:srgbClr val="FFFFFF"/>
                </a:solidFill>
              </a14:hiddenFill>
            </a:ext>
          </a:extLst>
        </p:spPr>
      </p:pic>
      <p:sp>
        <p:nvSpPr>
          <p:cNvPr id="4120" name="Rectangle 411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45724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5428AC11-BFDF-42EF-80FF-717BBF909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8628" y="1408629"/>
            <a:ext cx="6858000"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CC56AF6-38E4-490B-8E2B-1A1037B4E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832"/>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339A6F5-AD6A-4D80-8AD9-6290D13AC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513"/>
            <a:ext cx="6857572" cy="3581401"/>
          </a:xfrm>
          <a:prstGeom prst="rect">
            <a:avLst/>
          </a:prstGeom>
          <a:gradFill>
            <a:gsLst>
              <a:gs pos="0">
                <a:srgbClr val="000000">
                  <a:alpha val="61000"/>
                </a:srgbClr>
              </a:gs>
              <a:gs pos="95000">
                <a:schemeClr val="accent5">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D502C4F-E21C-54A4-C396-F22FEFFC9662}"/>
              </a:ext>
            </a:extLst>
          </p:cNvPr>
          <p:cNvSpPr>
            <a:spLocks noGrp="1"/>
          </p:cNvSpPr>
          <p:nvPr>
            <p:ph type="title"/>
          </p:nvPr>
        </p:nvSpPr>
        <p:spPr>
          <a:xfrm>
            <a:off x="660042" y="2945176"/>
            <a:ext cx="2878688" cy="2757975"/>
          </a:xfrm>
        </p:spPr>
        <p:txBody>
          <a:bodyPr vert="horz" lIns="91440" tIns="45720" rIns="91440" bIns="45720" rtlCol="0" anchor="t">
            <a:normAutofit/>
          </a:bodyPr>
          <a:lstStyle/>
          <a:p>
            <a:r>
              <a:rPr kumimoji="1" lang="en-US" altLang="ja-JP" sz="4000">
                <a:solidFill>
                  <a:srgbClr val="FFFFFF"/>
                </a:solidFill>
              </a:rPr>
              <a:t>D</a:t>
            </a:r>
            <a:r>
              <a:rPr kumimoji="1" lang="ja-JP" altLang="en-US" sz="4000">
                <a:solidFill>
                  <a:srgbClr val="FFFFFF"/>
                </a:solidFill>
              </a:rPr>
              <a:t>ラッチ</a:t>
            </a:r>
            <a:br>
              <a:rPr kumimoji="1" lang="en-US" altLang="ja-JP" sz="4000">
                <a:solidFill>
                  <a:srgbClr val="FFFFFF"/>
                </a:solidFill>
              </a:rPr>
            </a:br>
            <a:r>
              <a:rPr kumimoji="1" lang="ja-JP" altLang="en-US" sz="2400">
                <a:solidFill>
                  <a:srgbClr val="FFFFFF"/>
                </a:solidFill>
              </a:rPr>
              <a:t>安藤さん記事より</a:t>
            </a:r>
            <a:endParaRPr kumimoji="1" lang="ja-JP" altLang="en-US" sz="4000">
              <a:solidFill>
                <a:srgbClr val="FFFFFF"/>
              </a:solidFill>
            </a:endParaRPr>
          </a:p>
        </p:txBody>
      </p:sp>
      <p:pic>
        <p:nvPicPr>
          <p:cNvPr id="7" name="図 6">
            <a:extLst>
              <a:ext uri="{FF2B5EF4-FFF2-40B4-BE49-F238E27FC236}">
                <a16:creationId xmlns:a16="http://schemas.microsoft.com/office/drawing/2014/main" id="{624527E3-0725-BF25-21D5-83146202D766}"/>
              </a:ext>
            </a:extLst>
          </p:cNvPr>
          <p:cNvPicPr>
            <a:picLocks noChangeAspect="1"/>
          </p:cNvPicPr>
          <p:nvPr/>
        </p:nvPicPr>
        <p:blipFill>
          <a:blip r:embed="rId2"/>
          <a:stretch>
            <a:fillRect/>
          </a:stretch>
        </p:blipFill>
        <p:spPr>
          <a:xfrm>
            <a:off x="7830595" y="1114817"/>
            <a:ext cx="4057652" cy="4446740"/>
          </a:xfrm>
          <a:prstGeom prst="rect">
            <a:avLst/>
          </a:prstGeom>
        </p:spPr>
      </p:pic>
      <p:pic>
        <p:nvPicPr>
          <p:cNvPr id="5" name="コンテンツ プレースホルダー 4">
            <a:extLst>
              <a:ext uri="{FF2B5EF4-FFF2-40B4-BE49-F238E27FC236}">
                <a16:creationId xmlns:a16="http://schemas.microsoft.com/office/drawing/2014/main" id="{131AF9F9-52C5-9201-DF2E-ED0E733E29F9}"/>
              </a:ext>
            </a:extLst>
          </p:cNvPr>
          <p:cNvPicPr>
            <a:picLocks noGrp="1" noChangeAspect="1"/>
          </p:cNvPicPr>
          <p:nvPr>
            <p:ph idx="1"/>
          </p:nvPr>
        </p:nvPicPr>
        <p:blipFill>
          <a:blip r:embed="rId3"/>
          <a:srcRect t="1404"/>
          <a:stretch>
            <a:fillRect/>
          </a:stretch>
        </p:blipFill>
        <p:spPr>
          <a:xfrm>
            <a:off x="4683183" y="0"/>
            <a:ext cx="3147412" cy="6858001"/>
          </a:xfrm>
          <a:prstGeom prst="rect">
            <a:avLst/>
          </a:prstGeom>
        </p:spPr>
      </p:pic>
    </p:spTree>
    <p:extLst>
      <p:ext uri="{BB962C8B-B14F-4D97-AF65-F5344CB8AC3E}">
        <p14:creationId xmlns:p14="http://schemas.microsoft.com/office/powerpoint/2010/main" val="2653628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Shape 2056">
            <a:extLst>
              <a:ext uri="{FF2B5EF4-FFF2-40B4-BE49-F238E27FC236}">
                <a16:creationId xmlns:a16="http://schemas.microsoft.com/office/drawing/2014/main" id="{86FD7672-78BE-4D6F-A711-2CDB79B52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4662" y="323519"/>
            <a:ext cx="4323899" cy="6212748"/>
          </a:xfrm>
          <a:custGeom>
            <a:avLst/>
            <a:gdLst>
              <a:gd name="connsiteX0" fmla="*/ 0 w 4323899"/>
              <a:gd name="connsiteY0" fmla="*/ 0 h 6212748"/>
              <a:gd name="connsiteX1" fmla="*/ 742501 w 4323899"/>
              <a:gd name="connsiteY1" fmla="*/ 0 h 6212748"/>
              <a:gd name="connsiteX2" fmla="*/ 4323899 w 4323899"/>
              <a:gd name="connsiteY2" fmla="*/ 0 h 6212748"/>
              <a:gd name="connsiteX3" fmla="*/ 4323899 w 4323899"/>
              <a:gd name="connsiteY3" fmla="*/ 2864954 h 6212748"/>
              <a:gd name="connsiteX4" fmla="*/ 880454 w 4323899"/>
              <a:gd name="connsiteY4" fmla="*/ 6212748 h 6212748"/>
              <a:gd name="connsiteX5" fmla="*/ 0 w 4323899"/>
              <a:gd name="connsiteY5" fmla="*/ 6212748 h 6212748"/>
              <a:gd name="connsiteX6" fmla="*/ 0 w 4323899"/>
              <a:gd name="connsiteY6" fmla="*/ 6210962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3899" h="6212748">
                <a:moveTo>
                  <a:pt x="0" y="0"/>
                </a:moveTo>
                <a:lnTo>
                  <a:pt x="742501" y="0"/>
                </a:lnTo>
                <a:lnTo>
                  <a:pt x="4323899" y="0"/>
                </a:lnTo>
                <a:lnTo>
                  <a:pt x="4323899" y="2864954"/>
                </a:lnTo>
                <a:lnTo>
                  <a:pt x="880454" y="6212748"/>
                </a:lnTo>
                <a:lnTo>
                  <a:pt x="0" y="6212748"/>
                </a:lnTo>
                <a:lnTo>
                  <a:pt x="0" y="6210962"/>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59" name="Right Triangle 205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3A1179F-4F6F-0222-F087-BAAB70C2C5C6}"/>
              </a:ext>
            </a:extLst>
          </p:cNvPr>
          <p:cNvSpPr>
            <a:spLocks noGrp="1"/>
          </p:cNvSpPr>
          <p:nvPr>
            <p:ph type="title"/>
          </p:nvPr>
        </p:nvSpPr>
        <p:spPr>
          <a:xfrm>
            <a:off x="8029292" y="806365"/>
            <a:ext cx="3695069" cy="1567318"/>
          </a:xfrm>
        </p:spPr>
        <p:txBody>
          <a:bodyPr vert="horz" lIns="91440" tIns="45720" rIns="91440" bIns="45720" rtlCol="0" anchor="b">
            <a:normAutofit/>
          </a:bodyPr>
          <a:lstStyle/>
          <a:p>
            <a:r>
              <a:rPr kumimoji="1" lang="en-US" altLang="ja-JP" sz="6000" kern="1200">
                <a:solidFill>
                  <a:schemeClr val="tx1"/>
                </a:solidFill>
                <a:latin typeface="+mj-lt"/>
                <a:ea typeface="+mj-ea"/>
                <a:cs typeface="+mj-cs"/>
              </a:rPr>
              <a:t>SR</a:t>
            </a:r>
            <a:r>
              <a:rPr kumimoji="1" lang="ja-JP" altLang="en-US" sz="6000" kern="1200">
                <a:solidFill>
                  <a:schemeClr val="tx1"/>
                </a:solidFill>
                <a:latin typeface="+mj-lt"/>
                <a:ea typeface="+mj-ea"/>
                <a:cs typeface="+mj-cs"/>
              </a:rPr>
              <a:t>ラッチ</a:t>
            </a:r>
          </a:p>
        </p:txBody>
      </p:sp>
      <p:sp>
        <p:nvSpPr>
          <p:cNvPr id="3" name="コンテンツ プレースホルダー 2">
            <a:extLst>
              <a:ext uri="{FF2B5EF4-FFF2-40B4-BE49-F238E27FC236}">
                <a16:creationId xmlns:a16="http://schemas.microsoft.com/office/drawing/2014/main" id="{8DB27863-62AC-9DB7-7566-ED733E3937E7}"/>
              </a:ext>
            </a:extLst>
          </p:cNvPr>
          <p:cNvSpPr>
            <a:spLocks noGrp="1"/>
          </p:cNvSpPr>
          <p:nvPr>
            <p:ph idx="1"/>
          </p:nvPr>
        </p:nvSpPr>
        <p:spPr>
          <a:xfrm>
            <a:off x="7709770" y="2373683"/>
            <a:ext cx="3908119" cy="2336103"/>
          </a:xfrm>
        </p:spPr>
        <p:txBody>
          <a:bodyPr vert="horz" lIns="91440" tIns="45720" rIns="91440" bIns="45720" rtlCol="0" anchor="t">
            <a:normAutofit fontScale="92500" lnSpcReduction="20000"/>
          </a:bodyPr>
          <a:lstStyle/>
          <a:p>
            <a:pPr marL="0" indent="0">
              <a:buNone/>
            </a:pPr>
            <a:r>
              <a:rPr lang="ja-JP" altLang="en-US" sz="2400" kern="1200">
                <a:solidFill>
                  <a:schemeClr val="tx1"/>
                </a:solidFill>
                <a:latin typeface="+mn-lt"/>
                <a:ea typeface="+mn-ea"/>
                <a:cs typeface="+mn-cs"/>
              </a:rPr>
              <a:t>一般的な論理ゲートでの</a:t>
            </a:r>
            <a:endParaRPr lang="en-US" altLang="ja-JP" sz="2400" kern="1200">
              <a:solidFill>
                <a:schemeClr val="tx1"/>
              </a:solidFill>
              <a:latin typeface="+mn-lt"/>
              <a:ea typeface="+mn-ea"/>
              <a:cs typeface="+mn-cs"/>
            </a:endParaRPr>
          </a:p>
          <a:p>
            <a:pPr marL="0" indent="0">
              <a:buNone/>
            </a:pPr>
            <a:r>
              <a:rPr lang="ja-JP" altLang="en-US" sz="2400" kern="1200">
                <a:solidFill>
                  <a:schemeClr val="tx1"/>
                </a:solidFill>
                <a:latin typeface="+mn-lt"/>
                <a:ea typeface="+mn-ea"/>
                <a:cs typeface="+mn-cs"/>
              </a:rPr>
              <a:t>実装としては、たすきがけに</a:t>
            </a:r>
            <a:endParaRPr lang="en-US" altLang="ja-JP" sz="2400" kern="1200">
              <a:solidFill>
                <a:schemeClr val="tx1"/>
              </a:solidFill>
              <a:latin typeface="+mn-lt"/>
              <a:ea typeface="+mn-ea"/>
              <a:cs typeface="+mn-cs"/>
            </a:endParaRPr>
          </a:p>
          <a:p>
            <a:pPr marL="0" indent="0">
              <a:buNone/>
            </a:pPr>
            <a:r>
              <a:rPr lang="ja-JP" altLang="en-US" sz="2400" kern="1200">
                <a:solidFill>
                  <a:schemeClr val="tx1"/>
                </a:solidFill>
                <a:latin typeface="+mn-lt"/>
                <a:ea typeface="+mn-ea"/>
                <a:cs typeface="+mn-cs"/>
              </a:rPr>
              <a:t>なったペアの</a:t>
            </a:r>
            <a:r>
              <a:rPr lang="en-US" altLang="ja-JP" sz="2400" kern="1200">
                <a:solidFill>
                  <a:schemeClr val="tx1"/>
                </a:solidFill>
                <a:latin typeface="+mn-lt"/>
                <a:ea typeface="+mn-ea"/>
                <a:cs typeface="+mn-cs"/>
              </a:rPr>
              <a:t>NOR</a:t>
            </a:r>
            <a:r>
              <a:rPr lang="ja-JP" altLang="en-US" sz="2400" kern="1200">
                <a:solidFill>
                  <a:schemeClr val="tx1"/>
                </a:solidFill>
                <a:latin typeface="+mn-lt"/>
                <a:ea typeface="+mn-ea"/>
                <a:cs typeface="+mn-cs"/>
              </a:rPr>
              <a:t>ゲートで</a:t>
            </a:r>
            <a:endParaRPr lang="en-US" altLang="ja-JP" sz="2400" kern="1200">
              <a:solidFill>
                <a:schemeClr val="tx1"/>
              </a:solidFill>
              <a:latin typeface="+mn-lt"/>
              <a:ea typeface="+mn-ea"/>
              <a:cs typeface="+mn-cs"/>
            </a:endParaRPr>
          </a:p>
          <a:p>
            <a:pPr marL="0" indent="0">
              <a:buNone/>
            </a:pPr>
            <a:r>
              <a:rPr lang="ja-JP" altLang="en-US" sz="2400" kern="1200">
                <a:solidFill>
                  <a:schemeClr val="tx1"/>
                </a:solidFill>
                <a:latin typeface="+mn-lt"/>
                <a:ea typeface="+mn-ea"/>
                <a:cs typeface="+mn-cs"/>
              </a:rPr>
              <a:t>構成する。</a:t>
            </a:r>
            <a:endParaRPr lang="en-US" altLang="ja-JP" sz="2400" kern="1200">
              <a:solidFill>
                <a:schemeClr val="tx1"/>
              </a:solidFill>
              <a:latin typeface="+mn-lt"/>
              <a:ea typeface="+mn-ea"/>
              <a:cs typeface="+mn-cs"/>
            </a:endParaRPr>
          </a:p>
          <a:p>
            <a:pPr marL="0" indent="0">
              <a:buNone/>
            </a:pPr>
            <a:r>
              <a:rPr lang="ja-JP" altLang="en-US" sz="2400" kern="1200">
                <a:solidFill>
                  <a:schemeClr val="tx1"/>
                </a:solidFill>
                <a:latin typeface="+mn-lt"/>
                <a:ea typeface="+mn-ea"/>
                <a:cs typeface="+mn-cs"/>
              </a:rPr>
              <a:t>状態は、</a:t>
            </a:r>
            <a:r>
              <a:rPr lang="en-US" altLang="ja-JP" sz="2400" kern="1200">
                <a:solidFill>
                  <a:schemeClr val="tx1"/>
                </a:solidFill>
                <a:latin typeface="+mn-lt"/>
                <a:ea typeface="+mn-ea"/>
                <a:cs typeface="+mn-cs"/>
              </a:rPr>
              <a:t>Q</a:t>
            </a:r>
            <a:r>
              <a:rPr lang="ja-JP" altLang="en-US" sz="2400" kern="1200">
                <a:solidFill>
                  <a:schemeClr val="tx1"/>
                </a:solidFill>
                <a:latin typeface="+mn-lt"/>
                <a:ea typeface="+mn-ea"/>
                <a:cs typeface="+mn-cs"/>
              </a:rPr>
              <a:t>の記号を付した</a:t>
            </a:r>
            <a:endParaRPr lang="en-US" altLang="ja-JP" sz="2400" kern="1200">
              <a:solidFill>
                <a:schemeClr val="tx1"/>
              </a:solidFill>
              <a:latin typeface="+mn-lt"/>
              <a:ea typeface="+mn-ea"/>
              <a:cs typeface="+mn-cs"/>
            </a:endParaRPr>
          </a:p>
          <a:p>
            <a:pPr marL="0" indent="0">
              <a:buNone/>
            </a:pPr>
            <a:r>
              <a:rPr lang="ja-JP" altLang="en-US" sz="2400" kern="1200">
                <a:solidFill>
                  <a:schemeClr val="tx1"/>
                </a:solidFill>
                <a:latin typeface="+mn-lt"/>
                <a:ea typeface="+mn-ea"/>
                <a:cs typeface="+mn-cs"/>
              </a:rPr>
              <a:t>端子から出力される。</a:t>
            </a:r>
            <a:endParaRPr kumimoji="1" lang="en-US" altLang="ja-JP" sz="2400" kern="1200">
              <a:solidFill>
                <a:schemeClr val="tx1"/>
              </a:solidFill>
              <a:latin typeface="+mn-lt"/>
              <a:ea typeface="+mn-ea"/>
              <a:cs typeface="+mn-cs"/>
            </a:endParaRPr>
          </a:p>
        </p:txBody>
      </p:sp>
      <p:pic>
        <p:nvPicPr>
          <p:cNvPr id="2050" name="Picture 2" descr="undefined">
            <a:extLst>
              <a:ext uri="{FF2B5EF4-FFF2-40B4-BE49-F238E27FC236}">
                <a16:creationId xmlns:a16="http://schemas.microsoft.com/office/drawing/2014/main" id="{5C453E53-39AD-D61F-2E63-74DEAB26B37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53851" y="551912"/>
            <a:ext cx="4108423" cy="25677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コンテンツ プレースホルダー 3">
            <a:extLst>
              <a:ext uri="{FF2B5EF4-FFF2-40B4-BE49-F238E27FC236}">
                <a16:creationId xmlns:a16="http://schemas.microsoft.com/office/drawing/2014/main" id="{6C56BA61-F15D-248D-5A1C-0D14C2B5C31F}"/>
              </a:ext>
            </a:extLst>
          </p:cNvPr>
          <p:cNvGraphicFramePr>
            <a:graphicFrameLocks/>
          </p:cNvGraphicFramePr>
          <p:nvPr>
            <p:extLst>
              <p:ext uri="{D42A27DB-BD31-4B8C-83A1-F6EECF244321}">
                <p14:modId xmlns:p14="http://schemas.microsoft.com/office/powerpoint/2010/main" val="878007126"/>
              </p:ext>
            </p:extLst>
          </p:nvPr>
        </p:nvGraphicFramePr>
        <p:xfrm>
          <a:off x="990662" y="3128889"/>
          <a:ext cx="6268738" cy="3067360"/>
        </p:xfrm>
        <a:graphic>
          <a:graphicData uri="http://schemas.openxmlformats.org/drawingml/2006/table">
            <a:tbl>
              <a:tblPr firstRow="1" bandRow="1">
                <a:solidFill>
                  <a:schemeClr val="bg1"/>
                </a:solidFill>
              </a:tblPr>
              <a:tblGrid>
                <a:gridCol w="1291939">
                  <a:extLst>
                    <a:ext uri="{9D8B030D-6E8A-4147-A177-3AD203B41FA5}">
                      <a16:colId xmlns:a16="http://schemas.microsoft.com/office/drawing/2014/main" val="957643706"/>
                    </a:ext>
                  </a:extLst>
                </a:gridCol>
                <a:gridCol w="1026078">
                  <a:extLst>
                    <a:ext uri="{9D8B030D-6E8A-4147-A177-3AD203B41FA5}">
                      <a16:colId xmlns:a16="http://schemas.microsoft.com/office/drawing/2014/main" val="1562643731"/>
                    </a:ext>
                  </a:extLst>
                </a:gridCol>
                <a:gridCol w="1917737">
                  <a:extLst>
                    <a:ext uri="{9D8B030D-6E8A-4147-A177-3AD203B41FA5}">
                      <a16:colId xmlns:a16="http://schemas.microsoft.com/office/drawing/2014/main" val="1428239867"/>
                    </a:ext>
                  </a:extLst>
                </a:gridCol>
                <a:gridCol w="2032984">
                  <a:extLst>
                    <a:ext uri="{9D8B030D-6E8A-4147-A177-3AD203B41FA5}">
                      <a16:colId xmlns:a16="http://schemas.microsoft.com/office/drawing/2014/main" val="1888306877"/>
                    </a:ext>
                  </a:extLst>
                </a:gridCol>
              </a:tblGrid>
              <a:tr h="428923">
                <a:tc>
                  <a:txBody>
                    <a:bodyPr/>
                    <a:lstStyle/>
                    <a:p>
                      <a:pPr rtl="0" fontAlgn="b">
                        <a:buNone/>
                      </a:pPr>
                      <a:r>
                        <a:rPr lang="en-US" sz="1600" b="0" cap="none" spc="0">
                          <a:solidFill>
                            <a:schemeClr val="bg1"/>
                          </a:solidFill>
                          <a:effectLst/>
                        </a:rPr>
                        <a:t>R (Reset)</a:t>
                      </a:r>
                    </a:p>
                  </a:txBody>
                  <a:tcPr marL="240260" marR="14910" marT="184816" marB="184816"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rtl="0" fontAlgn="b">
                        <a:buNone/>
                      </a:pPr>
                      <a:r>
                        <a:rPr lang="en-US" sz="1600" b="0" cap="none" spc="0">
                          <a:solidFill>
                            <a:schemeClr val="bg1"/>
                          </a:solidFill>
                          <a:effectLst/>
                        </a:rPr>
                        <a:t>S (Set)</a:t>
                      </a:r>
                    </a:p>
                  </a:txBody>
                  <a:tcPr marL="240260" marR="14910" marT="184816" marB="184816"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b">
                        <a:buNone/>
                      </a:pPr>
                      <a:r>
                        <a:rPr lang="en-US" sz="1600" b="0" cap="none" spc="0">
                          <a:solidFill>
                            <a:schemeClr val="bg1"/>
                          </a:solidFill>
                          <a:effectLst/>
                        </a:rPr>
                        <a:t>Q (</a:t>
                      </a:r>
                      <a:r>
                        <a:rPr lang="ja-JP" altLang="en-US" sz="1600" b="0" cap="none" spc="0">
                          <a:solidFill>
                            <a:schemeClr val="bg1"/>
                          </a:solidFill>
                          <a:effectLst/>
                        </a:rPr>
                        <a:t>出力</a:t>
                      </a:r>
                      <a:r>
                        <a:rPr lang="en-US" altLang="ja-JP" sz="1600" b="0" cap="none" spc="0">
                          <a:solidFill>
                            <a:schemeClr val="bg1"/>
                          </a:solidFill>
                          <a:effectLst/>
                        </a:rPr>
                        <a:t>)</a:t>
                      </a:r>
                    </a:p>
                  </a:txBody>
                  <a:tcPr marL="240260" marR="14910" marT="184816" marB="184816"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b">
                        <a:buNone/>
                      </a:pPr>
                      <a:r>
                        <a:rPr lang="ja-JP" altLang="en-US" sz="1600" b="0" cap="none" spc="0">
                          <a:solidFill>
                            <a:schemeClr val="bg1"/>
                          </a:solidFill>
                          <a:effectLst/>
                        </a:rPr>
                        <a:t>状態</a:t>
                      </a:r>
                    </a:p>
                  </a:txBody>
                  <a:tcPr marL="240260" marR="14910" marT="184816" marB="184816"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812690647"/>
                  </a:ext>
                </a:extLst>
              </a:tr>
              <a:tr h="0">
                <a:tc>
                  <a:txBody>
                    <a:bodyPr/>
                    <a:lstStyle/>
                    <a:p>
                      <a:pPr algn="r" rtl="0" fontAlgn="b">
                        <a:buNone/>
                      </a:pPr>
                      <a:r>
                        <a:rPr lang="en-US" altLang="ja-JP" sz="1600" cap="none" spc="0">
                          <a:solidFill>
                            <a:schemeClr val="tx1"/>
                          </a:solidFill>
                          <a:effectLst/>
                        </a:rPr>
                        <a:t>0</a:t>
                      </a:r>
                    </a:p>
                  </a:txBody>
                  <a:tcPr marL="240260" marR="14910" marT="184816" marB="184816" anchor="b">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gn="r" rtl="0" fontAlgn="b">
                        <a:buNone/>
                      </a:pPr>
                      <a:r>
                        <a:rPr lang="en-US" altLang="ja-JP" sz="1600" cap="none" spc="0">
                          <a:solidFill>
                            <a:schemeClr val="tx1"/>
                          </a:solidFill>
                          <a:effectLst/>
                        </a:rPr>
                        <a:t>0</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b">
                        <a:buNone/>
                      </a:pPr>
                      <a:r>
                        <a:rPr lang="ja-JP" altLang="en-US" sz="1600" cap="none" spc="0">
                          <a:solidFill>
                            <a:schemeClr val="tx1"/>
                          </a:solidFill>
                          <a:effectLst/>
                        </a:rPr>
                        <a:t>前の状態を保持</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b">
                        <a:buNone/>
                      </a:pPr>
                      <a:r>
                        <a:rPr lang="ja-JP" altLang="en-US" sz="1600" cap="none" spc="0">
                          <a:solidFill>
                            <a:schemeClr val="tx1"/>
                          </a:solidFill>
                          <a:effectLst/>
                        </a:rPr>
                        <a:t>保持 </a:t>
                      </a:r>
                      <a:r>
                        <a:rPr lang="en-US" altLang="ja-JP" sz="1600" cap="none" spc="0">
                          <a:solidFill>
                            <a:schemeClr val="tx1"/>
                          </a:solidFill>
                          <a:effectLst/>
                        </a:rPr>
                        <a:t>(</a:t>
                      </a:r>
                      <a:r>
                        <a:rPr lang="en-US" sz="1600" cap="none" spc="0">
                          <a:solidFill>
                            <a:schemeClr val="tx1"/>
                          </a:solidFill>
                          <a:effectLst/>
                        </a:rPr>
                        <a:t>Hold)</a:t>
                      </a:r>
                    </a:p>
                  </a:txBody>
                  <a:tcPr marL="240260" marR="14910" marT="184816" marB="184816" anchor="b">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548392622"/>
                  </a:ext>
                </a:extLst>
              </a:tr>
              <a:tr h="0">
                <a:tc>
                  <a:txBody>
                    <a:bodyPr/>
                    <a:lstStyle/>
                    <a:p>
                      <a:pPr algn="r" rtl="0" fontAlgn="b">
                        <a:buNone/>
                      </a:pPr>
                      <a:r>
                        <a:rPr lang="en-US" altLang="ja-JP" sz="1600" cap="none" spc="0">
                          <a:solidFill>
                            <a:schemeClr val="tx1"/>
                          </a:solidFill>
                          <a:effectLst/>
                        </a:rPr>
                        <a:t>0</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r" rtl="0" fontAlgn="b">
                        <a:buNone/>
                      </a:pPr>
                      <a:r>
                        <a:rPr lang="en-US" altLang="ja-JP" sz="1600" cap="none" spc="0">
                          <a:solidFill>
                            <a:schemeClr val="tx1"/>
                          </a:solidFill>
                          <a:effectLst/>
                        </a:rPr>
                        <a:t>1</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r" rtl="0" fontAlgn="b">
                        <a:buNone/>
                      </a:pPr>
                      <a:r>
                        <a:rPr lang="en-US" altLang="ja-JP" sz="1600" cap="none" spc="0">
                          <a:solidFill>
                            <a:schemeClr val="tx1"/>
                          </a:solidFill>
                          <a:effectLst/>
                        </a:rPr>
                        <a:t>1</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b">
                        <a:buNone/>
                      </a:pPr>
                      <a:r>
                        <a:rPr lang="ja-JP" altLang="en-US" sz="1600" cap="none" spc="0">
                          <a:solidFill>
                            <a:schemeClr val="tx1"/>
                          </a:solidFill>
                          <a:effectLst/>
                        </a:rPr>
                        <a:t>セット </a:t>
                      </a:r>
                      <a:r>
                        <a:rPr lang="en-US" altLang="ja-JP" sz="1600" cap="none" spc="0">
                          <a:solidFill>
                            <a:schemeClr val="tx1"/>
                          </a:solidFill>
                          <a:effectLst/>
                        </a:rPr>
                        <a:t>(</a:t>
                      </a:r>
                      <a:r>
                        <a:rPr lang="en-US" sz="1600" cap="none" spc="0">
                          <a:solidFill>
                            <a:schemeClr val="tx1"/>
                          </a:solidFill>
                          <a:effectLst/>
                        </a:rPr>
                        <a:t>Set)</a:t>
                      </a:r>
                    </a:p>
                  </a:txBody>
                  <a:tcPr marL="240260" marR="14910" marT="184816" marB="184816" anchor="b">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154817501"/>
                  </a:ext>
                </a:extLst>
              </a:tr>
              <a:tr h="0">
                <a:tc>
                  <a:txBody>
                    <a:bodyPr/>
                    <a:lstStyle/>
                    <a:p>
                      <a:pPr algn="r" rtl="0" fontAlgn="b">
                        <a:buNone/>
                      </a:pPr>
                      <a:r>
                        <a:rPr lang="en-US" altLang="ja-JP" sz="1600" cap="none" spc="0">
                          <a:solidFill>
                            <a:schemeClr val="tx1"/>
                          </a:solidFill>
                          <a:effectLst/>
                        </a:rPr>
                        <a:t>1</a:t>
                      </a:r>
                    </a:p>
                  </a:txBody>
                  <a:tcPr marL="240260" marR="14910" marT="184816" marB="184816"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r" rtl="0" fontAlgn="b">
                        <a:buNone/>
                      </a:pPr>
                      <a:r>
                        <a:rPr lang="en-US" altLang="ja-JP" sz="1600" cap="none" spc="0">
                          <a:solidFill>
                            <a:schemeClr val="tx1"/>
                          </a:solidFill>
                          <a:effectLst/>
                        </a:rPr>
                        <a:t>0</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r" rtl="0" fontAlgn="b">
                        <a:buNone/>
                      </a:pPr>
                      <a:r>
                        <a:rPr lang="en-US" altLang="ja-JP" sz="1600" cap="none" spc="0">
                          <a:solidFill>
                            <a:schemeClr val="tx1"/>
                          </a:solidFill>
                          <a:effectLst/>
                        </a:rPr>
                        <a:t>0</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b">
                        <a:buNone/>
                      </a:pPr>
                      <a:r>
                        <a:rPr lang="ja-JP" altLang="en-US" sz="1600" cap="none" spc="0">
                          <a:solidFill>
                            <a:schemeClr val="tx1"/>
                          </a:solidFill>
                          <a:effectLst/>
                        </a:rPr>
                        <a:t>リセット </a:t>
                      </a:r>
                      <a:r>
                        <a:rPr lang="en-US" altLang="ja-JP" sz="1600" cap="none" spc="0">
                          <a:solidFill>
                            <a:schemeClr val="tx1"/>
                          </a:solidFill>
                          <a:effectLst/>
                        </a:rPr>
                        <a:t>(</a:t>
                      </a:r>
                      <a:r>
                        <a:rPr lang="en-US" sz="1600" cap="none" spc="0">
                          <a:solidFill>
                            <a:schemeClr val="tx1"/>
                          </a:solidFill>
                          <a:effectLst/>
                        </a:rPr>
                        <a:t>Reset)</a:t>
                      </a:r>
                    </a:p>
                  </a:txBody>
                  <a:tcPr marL="240260" marR="0" marT="184816" marB="184816"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737496867"/>
                  </a:ext>
                </a:extLst>
              </a:tr>
              <a:tr h="0">
                <a:tc>
                  <a:txBody>
                    <a:bodyPr/>
                    <a:lstStyle/>
                    <a:p>
                      <a:pPr algn="r" rtl="0" fontAlgn="b">
                        <a:buNone/>
                      </a:pPr>
                      <a:r>
                        <a:rPr lang="en-US" altLang="ja-JP" sz="1600" cap="none" spc="0">
                          <a:solidFill>
                            <a:schemeClr val="tx1"/>
                          </a:solidFill>
                          <a:effectLst/>
                        </a:rPr>
                        <a:t>1</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r" rtl="0" fontAlgn="b">
                        <a:buNone/>
                      </a:pPr>
                      <a:r>
                        <a:rPr lang="en-US" altLang="ja-JP" sz="1600" cap="none" spc="0">
                          <a:solidFill>
                            <a:schemeClr val="tx1"/>
                          </a:solidFill>
                          <a:effectLst/>
                        </a:rPr>
                        <a:t>1</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b">
                        <a:buNone/>
                      </a:pPr>
                      <a:r>
                        <a:rPr lang="en-US" altLang="ja-JP" sz="1600" cap="none" spc="0">
                          <a:solidFill>
                            <a:schemeClr val="tx1"/>
                          </a:solidFill>
                          <a:effectLst/>
                        </a:rPr>
                        <a:t>0 (</a:t>
                      </a:r>
                      <a:r>
                        <a:rPr lang="ja-JP" altLang="en-US" sz="1600" cap="none" spc="0">
                          <a:solidFill>
                            <a:schemeClr val="tx1"/>
                          </a:solidFill>
                          <a:effectLst/>
                        </a:rPr>
                        <a:t>不安定</a:t>
                      </a:r>
                      <a:r>
                        <a:rPr lang="en-US" altLang="ja-JP" sz="1600" cap="none" spc="0">
                          <a:solidFill>
                            <a:schemeClr val="tx1"/>
                          </a:solidFill>
                          <a:effectLst/>
                        </a:rPr>
                        <a:t>)</a:t>
                      </a:r>
                    </a:p>
                  </a:txBody>
                  <a:tcPr marL="240260" marR="14910" marT="184816" marB="18481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b">
                        <a:buNone/>
                      </a:pPr>
                      <a:r>
                        <a:rPr lang="ja-JP" altLang="en-US" sz="1600" cap="none" spc="0">
                          <a:solidFill>
                            <a:schemeClr val="tx1"/>
                          </a:solidFill>
                          <a:effectLst/>
                        </a:rPr>
                        <a:t>禁止 </a:t>
                      </a:r>
                      <a:r>
                        <a:rPr lang="en-US" altLang="ja-JP" sz="1600" cap="none" spc="0">
                          <a:solidFill>
                            <a:schemeClr val="tx1"/>
                          </a:solidFill>
                          <a:effectLst/>
                        </a:rPr>
                        <a:t>(</a:t>
                      </a:r>
                      <a:r>
                        <a:rPr lang="en-US" sz="1600" cap="none" spc="0">
                          <a:solidFill>
                            <a:schemeClr val="tx1"/>
                          </a:solidFill>
                          <a:effectLst/>
                        </a:rPr>
                        <a:t>Invalid)</a:t>
                      </a:r>
                    </a:p>
                  </a:txBody>
                  <a:tcPr marL="240260" marR="14910" marT="184816" marB="184816" anchor="b">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52631609"/>
                  </a:ext>
                </a:extLst>
              </a:tr>
            </a:tbl>
          </a:graphicData>
        </a:graphic>
      </p:graphicFrame>
    </p:spTree>
    <p:extLst>
      <p:ext uri="{BB962C8B-B14F-4D97-AF65-F5344CB8AC3E}">
        <p14:creationId xmlns:p14="http://schemas.microsoft.com/office/powerpoint/2010/main" val="21839845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855E406-664F-51C3-8B63-AB190E4CECC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kumimoji="1" lang="en-US" altLang="ja-JP" sz="3600" kern="1200">
                <a:solidFill>
                  <a:srgbClr val="FFFFFF"/>
                </a:solidFill>
                <a:latin typeface="+mj-lt"/>
                <a:ea typeface="+mj-ea"/>
                <a:cs typeface="+mj-cs"/>
              </a:rPr>
              <a:t>NOR</a:t>
            </a:r>
            <a:r>
              <a:rPr kumimoji="1" lang="ja-JP" altLang="en-US" sz="3600" kern="1200">
                <a:solidFill>
                  <a:srgbClr val="FFFFFF"/>
                </a:solidFill>
                <a:latin typeface="+mj-lt"/>
                <a:ea typeface="+mj-ea"/>
                <a:cs typeface="+mj-cs"/>
              </a:rPr>
              <a:t>回路</a:t>
            </a:r>
          </a:p>
        </p:txBody>
      </p:sp>
      <p:pic>
        <p:nvPicPr>
          <p:cNvPr id="5" name="コンテンツ プレースホルダー 4">
            <a:extLst>
              <a:ext uri="{FF2B5EF4-FFF2-40B4-BE49-F238E27FC236}">
                <a16:creationId xmlns:a16="http://schemas.microsoft.com/office/drawing/2014/main" id="{6BDD091A-64BA-04F6-AD2B-263279FD7659}"/>
              </a:ext>
            </a:extLst>
          </p:cNvPr>
          <p:cNvPicPr>
            <a:picLocks noGrp="1" noChangeAspect="1"/>
          </p:cNvPicPr>
          <p:nvPr>
            <p:ph idx="1"/>
          </p:nvPr>
        </p:nvPicPr>
        <p:blipFill>
          <a:blip r:embed="rId2"/>
          <a:stretch>
            <a:fillRect/>
          </a:stretch>
        </p:blipFill>
        <p:spPr>
          <a:xfrm>
            <a:off x="5165651" y="643466"/>
            <a:ext cx="6004030" cy="5568739"/>
          </a:xfrm>
          <a:prstGeom prst="rect">
            <a:avLst/>
          </a:prstGeom>
        </p:spPr>
      </p:pic>
    </p:spTree>
    <p:extLst>
      <p:ext uri="{BB962C8B-B14F-4D97-AF65-F5344CB8AC3E}">
        <p14:creationId xmlns:p14="http://schemas.microsoft.com/office/powerpoint/2010/main" val="3208460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F1B9698-4BAA-86AD-ED12-A82AA483942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kumimoji="1" lang="ja-JP" altLang="en-US" sz="2600" kern="1200">
                <a:solidFill>
                  <a:srgbClr val="FFFFFF"/>
                </a:solidFill>
                <a:latin typeface="+mj-lt"/>
                <a:ea typeface="+mj-ea"/>
                <a:cs typeface="+mj-cs"/>
              </a:rPr>
              <a:t>インバータを使う</a:t>
            </a:r>
            <a:br>
              <a:rPr kumimoji="1" lang="en-US" altLang="ja-JP" sz="2600" kern="1200">
                <a:solidFill>
                  <a:srgbClr val="FFFFFF"/>
                </a:solidFill>
                <a:latin typeface="+mj-lt"/>
                <a:ea typeface="+mj-ea"/>
                <a:cs typeface="+mj-cs"/>
              </a:rPr>
            </a:br>
            <a:r>
              <a:rPr kumimoji="1" lang="ja-JP" altLang="en-US" sz="2600" kern="1200">
                <a:solidFill>
                  <a:srgbClr val="FFFFFF"/>
                </a:solidFill>
                <a:latin typeface="+mj-lt"/>
                <a:ea typeface="+mj-ea"/>
                <a:cs typeface="+mj-cs"/>
              </a:rPr>
              <a:t>パターン</a:t>
            </a:r>
          </a:p>
        </p:txBody>
      </p:sp>
      <p:pic>
        <p:nvPicPr>
          <p:cNvPr id="5" name="コンテンツ プレースホルダー 4">
            <a:extLst>
              <a:ext uri="{FF2B5EF4-FFF2-40B4-BE49-F238E27FC236}">
                <a16:creationId xmlns:a16="http://schemas.microsoft.com/office/drawing/2014/main" id="{D9279AF3-5CC2-87C0-0399-884EE618EF5C}"/>
              </a:ext>
            </a:extLst>
          </p:cNvPr>
          <p:cNvPicPr>
            <a:picLocks noGrp="1" noChangeAspect="1"/>
          </p:cNvPicPr>
          <p:nvPr>
            <p:ph idx="1"/>
          </p:nvPr>
        </p:nvPicPr>
        <p:blipFill>
          <a:blip r:embed="rId2"/>
          <a:stretch>
            <a:fillRect/>
          </a:stretch>
        </p:blipFill>
        <p:spPr>
          <a:xfrm>
            <a:off x="4255312" y="961812"/>
            <a:ext cx="6754774" cy="4930987"/>
          </a:xfrm>
          <a:prstGeom prst="rect">
            <a:avLst/>
          </a:prstGeom>
        </p:spPr>
      </p:pic>
    </p:spTree>
    <p:extLst>
      <p:ext uri="{BB962C8B-B14F-4D97-AF65-F5344CB8AC3E}">
        <p14:creationId xmlns:p14="http://schemas.microsoft.com/office/powerpoint/2010/main" val="41888147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5428AC11-BFDF-42EF-80FF-717BBF909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CC56AF6-38E4-490B-8E2B-1A1037B4E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12A04C66-F376-0A56-EFE5-8A3892F76808}"/>
              </a:ext>
            </a:extLst>
          </p:cNvPr>
          <p:cNvPicPr>
            <a:picLocks noChangeAspect="1"/>
          </p:cNvPicPr>
          <p:nvPr/>
        </p:nvPicPr>
        <p:blipFill>
          <a:blip r:embed="rId2"/>
          <a:srcRect t="2211" r="1" b="3000"/>
          <a:stretch>
            <a:fillRect/>
          </a:stretch>
        </p:blipFill>
        <p:spPr>
          <a:xfrm>
            <a:off x="4038610" y="7"/>
            <a:ext cx="4039673" cy="6875812"/>
          </a:xfrm>
          <a:prstGeom prst="rect">
            <a:avLst/>
          </a:prstGeom>
        </p:spPr>
      </p:pic>
      <p:sp>
        <p:nvSpPr>
          <p:cNvPr id="18" name="Freeform: Shape 17">
            <a:extLst>
              <a:ext uri="{FF2B5EF4-FFF2-40B4-BE49-F238E27FC236}">
                <a16:creationId xmlns:a16="http://schemas.microsoft.com/office/drawing/2014/main" id="{32FD26B0-16CE-4AD4-9CE4-A63EBF330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80D25966-C97D-BCE6-342E-5F42723B10E3}"/>
              </a:ext>
            </a:extLst>
          </p:cNvPr>
          <p:cNvSpPr>
            <a:spLocks noGrp="1"/>
          </p:cNvSpPr>
          <p:nvPr>
            <p:ph type="title"/>
          </p:nvPr>
        </p:nvSpPr>
        <p:spPr>
          <a:xfrm>
            <a:off x="300625" y="3175348"/>
            <a:ext cx="3463445" cy="2527803"/>
          </a:xfrm>
        </p:spPr>
        <p:txBody>
          <a:bodyPr vert="horz" lIns="91440" tIns="45720" rIns="91440" bIns="45720" rtlCol="0" anchor="t">
            <a:normAutofit/>
          </a:bodyPr>
          <a:lstStyle/>
          <a:p>
            <a:pPr algn="r"/>
            <a:r>
              <a:rPr kumimoji="1" lang="en-US" altLang="ja-JP" sz="4000" kern="1200">
                <a:solidFill>
                  <a:srgbClr val="FFFFFF"/>
                </a:solidFill>
                <a:latin typeface="+mj-lt"/>
                <a:ea typeface="+mj-ea"/>
                <a:cs typeface="+mj-cs"/>
              </a:rPr>
              <a:t>NOR</a:t>
            </a:r>
            <a:r>
              <a:rPr kumimoji="1" lang="ja-JP" altLang="en-US" sz="4000" kern="1200">
                <a:solidFill>
                  <a:srgbClr val="FFFFFF"/>
                </a:solidFill>
                <a:latin typeface="+mj-lt"/>
                <a:ea typeface="+mj-ea"/>
                <a:cs typeface="+mj-cs"/>
              </a:rPr>
              <a:t>スタセル</a:t>
            </a:r>
          </a:p>
        </p:txBody>
      </p:sp>
      <p:pic>
        <p:nvPicPr>
          <p:cNvPr id="5" name="図 4">
            <a:extLst>
              <a:ext uri="{FF2B5EF4-FFF2-40B4-BE49-F238E27FC236}">
                <a16:creationId xmlns:a16="http://schemas.microsoft.com/office/drawing/2014/main" id="{258A946D-A401-F535-7968-3882C27EF81F}"/>
              </a:ext>
            </a:extLst>
          </p:cNvPr>
          <p:cNvPicPr>
            <a:picLocks noChangeAspect="1"/>
          </p:cNvPicPr>
          <p:nvPr/>
        </p:nvPicPr>
        <p:blipFill>
          <a:blip r:embed="rId3"/>
          <a:srcRect t="2049" r="-2" b="2076"/>
          <a:stretch>
            <a:fillRect/>
          </a:stretch>
        </p:blipFill>
        <p:spPr>
          <a:xfrm>
            <a:off x="8068007" y="-7"/>
            <a:ext cx="4123986" cy="6876146"/>
          </a:xfrm>
          <a:prstGeom prst="rect">
            <a:avLst/>
          </a:prstGeom>
        </p:spPr>
      </p:pic>
    </p:spTree>
    <p:extLst>
      <p:ext uri="{BB962C8B-B14F-4D97-AF65-F5344CB8AC3E}">
        <p14:creationId xmlns:p14="http://schemas.microsoft.com/office/powerpoint/2010/main" val="38564302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A867840-0C84-D1A3-DEB1-D5904E555C53}"/>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1B05F8F2-ABEB-71EC-7B04-432A164861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7E6D5375-92AA-8D76-F9E9-9448E0D581C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4E1BEB36-3DBB-AE74-90BC-6649589F061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80F64394-8E01-315D-4C1A-E6038F77CC3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01DD08B-3A70-62C3-9DBE-544ED9DDD2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3A661DD-8624-8623-A173-EB0B8B84F70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比較器（コンパレータ）</a:t>
            </a:r>
          </a:p>
        </p:txBody>
      </p:sp>
    </p:spTree>
    <p:extLst>
      <p:ext uri="{BB962C8B-B14F-4D97-AF65-F5344CB8AC3E}">
        <p14:creationId xmlns:p14="http://schemas.microsoft.com/office/powerpoint/2010/main" val="1254895787"/>
      </p:ext>
    </p:extLst>
  </p:cSld>
  <p:clrMapOvr>
    <a:overrideClrMapping bg1="dk1" tx1="lt1" bg2="dk2" tx2="lt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93F4AFE-0CA6-D1DE-B4B0-3A672B83322F}"/>
              </a:ext>
            </a:extLst>
          </p:cNvPr>
          <p:cNvSpPr>
            <a:spLocks noGrp="1"/>
          </p:cNvSpPr>
          <p:nvPr>
            <p:ph type="title"/>
          </p:nvPr>
        </p:nvSpPr>
        <p:spPr>
          <a:xfrm>
            <a:off x="793662" y="386930"/>
            <a:ext cx="10066122" cy="1298448"/>
          </a:xfrm>
        </p:spPr>
        <p:txBody>
          <a:bodyPr anchor="b">
            <a:normAutofit/>
          </a:bodyPr>
          <a:lstStyle/>
          <a:p>
            <a:r>
              <a:rPr kumimoji="1" lang="ja-JP" altLang="en-US" sz="4800"/>
              <a:t>一般的なコンパレータ</a:t>
            </a:r>
          </a:p>
        </p:txBody>
      </p:sp>
      <p:sp>
        <p:nvSpPr>
          <p:cNvPr id="5129" name="Rectangle 512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F238DC6-47A2-CF29-0E41-27B6357E3100}"/>
              </a:ext>
            </a:extLst>
          </p:cNvPr>
          <p:cNvSpPr>
            <a:spLocks noGrp="1"/>
          </p:cNvSpPr>
          <p:nvPr>
            <p:ph idx="1"/>
          </p:nvPr>
        </p:nvSpPr>
        <p:spPr>
          <a:xfrm>
            <a:off x="793661" y="2599509"/>
            <a:ext cx="4530898" cy="3639450"/>
          </a:xfrm>
        </p:spPr>
        <p:txBody>
          <a:bodyPr anchor="ctr">
            <a:normAutofit/>
          </a:bodyPr>
          <a:lstStyle/>
          <a:p>
            <a:r>
              <a:rPr lang="ja-JP" altLang="en-US" sz="2000"/>
              <a:t>二つの電圧または電流を比較し、どちらが大きいかで出力が切り替わる素子である。</a:t>
            </a:r>
            <a:endParaRPr lang="en-US" altLang="ja-JP" sz="2000"/>
          </a:p>
          <a:p>
            <a:pPr lvl="1"/>
            <a:r>
              <a:rPr lang="ja-JP" altLang="en-US" sz="2000"/>
              <a:t>最もシンプルな構成は、負帰還をかけない状態のオペアンプ</a:t>
            </a:r>
            <a:endParaRPr lang="en-US" altLang="ja-JP" sz="2000"/>
          </a:p>
        </p:txBody>
      </p:sp>
      <p:pic>
        <p:nvPicPr>
          <p:cNvPr id="5122" name="Picture 2" descr="帰還経路の無いオペアンプはコンパレータである">
            <a:extLst>
              <a:ext uri="{FF2B5EF4-FFF2-40B4-BE49-F238E27FC236}">
                <a16:creationId xmlns:a16="http://schemas.microsoft.com/office/drawing/2014/main" id="{580EB3EF-3FD8-AF75-57D3-067A9BE16A0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2519467"/>
            <a:ext cx="5150277" cy="3643820"/>
          </a:xfrm>
          <a:prstGeom prst="rect">
            <a:avLst/>
          </a:prstGeom>
          <a:noFill/>
          <a:extLst>
            <a:ext uri="{909E8E84-426E-40DD-AFC4-6F175D3DCCD1}">
              <a14:hiddenFill xmlns:a14="http://schemas.microsoft.com/office/drawing/2010/main">
                <a:solidFill>
                  <a:srgbClr val="FFFFFF"/>
                </a:solidFill>
              </a14:hiddenFill>
            </a:ext>
          </a:extLst>
        </p:spPr>
      </p:pic>
      <p:sp>
        <p:nvSpPr>
          <p:cNvPr id="5133" name="Rectangle 513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0404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637B544-C8C7-D24D-4BAE-92CED1F2FB7F}"/>
              </a:ext>
            </a:extLst>
          </p:cNvPr>
          <p:cNvSpPr>
            <a:spLocks noGrp="1"/>
          </p:cNvSpPr>
          <p:nvPr>
            <p:ph type="title"/>
          </p:nvPr>
        </p:nvSpPr>
        <p:spPr>
          <a:xfrm>
            <a:off x="1043631" y="809898"/>
            <a:ext cx="9942716" cy="1554480"/>
          </a:xfrm>
        </p:spPr>
        <p:txBody>
          <a:bodyPr anchor="ctr">
            <a:normAutofit/>
          </a:bodyPr>
          <a:lstStyle/>
          <a:p>
            <a:r>
              <a:rPr kumimoji="1" lang="ja-JP" altLang="en-US" sz="4800"/>
              <a:t>問題点</a:t>
            </a:r>
          </a:p>
        </p:txBody>
      </p:sp>
      <p:sp>
        <p:nvSpPr>
          <p:cNvPr id="3" name="コンテンツ プレースホルダー 2">
            <a:extLst>
              <a:ext uri="{FF2B5EF4-FFF2-40B4-BE49-F238E27FC236}">
                <a16:creationId xmlns:a16="http://schemas.microsoft.com/office/drawing/2014/main" id="{6F2789F4-BE70-FF18-5AE1-40EAAACC68B7}"/>
              </a:ext>
            </a:extLst>
          </p:cNvPr>
          <p:cNvSpPr>
            <a:spLocks noGrp="1"/>
          </p:cNvSpPr>
          <p:nvPr>
            <p:ph idx="1"/>
          </p:nvPr>
        </p:nvSpPr>
        <p:spPr>
          <a:xfrm>
            <a:off x="1045028" y="3017522"/>
            <a:ext cx="9941319" cy="3124658"/>
          </a:xfrm>
        </p:spPr>
        <p:txBody>
          <a:bodyPr anchor="ctr">
            <a:normAutofit/>
          </a:bodyPr>
          <a:lstStyle/>
          <a:p>
            <a:r>
              <a:rPr lang="en-US" altLang="ja-JP" sz="2400"/>
              <a:t>0-5V</a:t>
            </a:r>
            <a:r>
              <a:rPr lang="ja-JP" altLang="en-US" sz="2400"/>
              <a:t>動作できない</a:t>
            </a:r>
            <a:endParaRPr lang="en-US" altLang="ja-JP" sz="2400"/>
          </a:p>
          <a:p>
            <a:pPr lvl="1"/>
            <a:r>
              <a:rPr kumimoji="1" lang="ja-JP" altLang="en-US"/>
              <a:t>対策：</a:t>
            </a:r>
            <a:r>
              <a:rPr kumimoji="1" lang="en-US" altLang="ja-JP"/>
              <a:t>Rail-to-Rail</a:t>
            </a:r>
            <a:r>
              <a:rPr kumimoji="1" lang="ja-JP" altLang="en-US"/>
              <a:t>化する</a:t>
            </a:r>
            <a:endParaRPr kumimoji="1" lang="en-US" altLang="ja-JP"/>
          </a:p>
          <a:p>
            <a:r>
              <a:rPr lang="ja-JP" altLang="en-US" sz="2400"/>
              <a:t>常に動作しているため消費電力が大きい</a:t>
            </a:r>
            <a:endParaRPr lang="en-US" altLang="ja-JP" sz="2400"/>
          </a:p>
          <a:p>
            <a:pPr lvl="1"/>
            <a:r>
              <a:rPr kumimoji="1" lang="ja-JP" altLang="en-US"/>
              <a:t>対策：クロックドコンパレータにする</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9518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469ABC65-AD8C-9324-5D47-37A60F1349E2}"/>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4E706F97-7080-AE37-FA13-A0DCE3570A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549ECEBA-672C-37B8-EA5D-E281AC8E880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90CF6E21-42C2-399E-12F8-0C3B9281AE7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9FE04BBC-896B-A4EE-2571-EF5056406D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25ACE0B1-546E-9C2F-898A-E2CC629D0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82D41C5E-6637-3A19-D3EC-79E4F2B606B2}"/>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クロックドコンパレータ</a:t>
            </a:r>
          </a:p>
        </p:txBody>
      </p:sp>
    </p:spTree>
    <p:extLst>
      <p:ext uri="{BB962C8B-B14F-4D97-AF65-F5344CB8AC3E}">
        <p14:creationId xmlns:p14="http://schemas.microsoft.com/office/powerpoint/2010/main" val="3335293044"/>
      </p:ext>
    </p:extLst>
  </p:cSld>
  <p:clrMapOvr>
    <a:overrideClrMapping bg1="dk1" tx1="lt1" bg2="dk2" tx2="lt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8"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2CBF87C-C9B8-FDBC-C0F9-0D09E7563E57}"/>
              </a:ext>
            </a:extLst>
          </p:cNvPr>
          <p:cNvSpPr>
            <a:spLocks noGrp="1"/>
          </p:cNvSpPr>
          <p:nvPr>
            <p:ph type="title"/>
          </p:nvPr>
        </p:nvSpPr>
        <p:spPr>
          <a:xfrm>
            <a:off x="1282963" y="1238080"/>
            <a:ext cx="9849751" cy="1349671"/>
          </a:xfrm>
        </p:spPr>
        <p:txBody>
          <a:bodyPr anchor="b">
            <a:normAutofit/>
          </a:bodyPr>
          <a:lstStyle/>
          <a:p>
            <a:r>
              <a:rPr lang="ja-JP" altLang="en-US" sz="5400"/>
              <a:t>クロックドコンパレータ</a:t>
            </a:r>
            <a:endParaRPr kumimoji="1" lang="ja-JP" altLang="en-US" sz="5400"/>
          </a:p>
        </p:txBody>
      </p:sp>
      <p:sp>
        <p:nvSpPr>
          <p:cNvPr id="3" name="コンテンツ プレースホルダー 2">
            <a:extLst>
              <a:ext uri="{FF2B5EF4-FFF2-40B4-BE49-F238E27FC236}">
                <a16:creationId xmlns:a16="http://schemas.microsoft.com/office/drawing/2014/main" id="{5EBCFC69-7E80-7745-C714-4157CFBB8816}"/>
              </a:ext>
            </a:extLst>
          </p:cNvPr>
          <p:cNvSpPr>
            <a:spLocks noGrp="1"/>
          </p:cNvSpPr>
          <p:nvPr>
            <p:ph idx="1"/>
          </p:nvPr>
        </p:nvSpPr>
        <p:spPr>
          <a:xfrm>
            <a:off x="1289304" y="2902913"/>
            <a:ext cx="9849751" cy="3032168"/>
          </a:xfrm>
        </p:spPr>
        <p:txBody>
          <a:bodyPr anchor="ctr">
            <a:normAutofit/>
          </a:bodyPr>
          <a:lstStyle/>
          <a:p>
            <a:r>
              <a:rPr lang="ja-JP" altLang="en-US" sz="2000"/>
              <a:t>クロック信号に同期して動作し、正帰還を利用して微小な差電圧を極めて短時間でロジックレベルまで増幅する回路</a:t>
            </a:r>
          </a:p>
          <a:p>
            <a:pPr lvl="1"/>
            <a:r>
              <a:rPr lang="ja-JP" altLang="en-US" sz="2000"/>
              <a:t>高速・低消費電力</a:t>
            </a:r>
            <a:r>
              <a:rPr lang="en-US" altLang="ja-JP" sz="2000"/>
              <a:t>ADC</a:t>
            </a:r>
            <a:r>
              <a:rPr lang="ja-JP" altLang="en-US" sz="2000"/>
              <a:t>の</a:t>
            </a:r>
            <a:r>
              <a:rPr lang="en-US" altLang="ja-JP" sz="2000"/>
              <a:t>SAR-ADC</a:t>
            </a:r>
            <a:r>
              <a:rPr lang="ja-JP" altLang="en-US" sz="2000"/>
              <a:t>において、最も多用される回路形式の一つ</a:t>
            </a:r>
            <a:endParaRPr kumimoji="1" lang="ja-JP" altLang="en-US" sz="2000"/>
          </a:p>
        </p:txBody>
      </p:sp>
    </p:spTree>
    <p:extLst>
      <p:ext uri="{BB962C8B-B14F-4D97-AF65-F5344CB8AC3E}">
        <p14:creationId xmlns:p14="http://schemas.microsoft.com/office/powerpoint/2010/main" val="34287198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896DE6B-F682-9108-88D6-7F5563276B54}"/>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altLang="ja-JP" sz="5000" kern="1200" err="1">
                <a:solidFill>
                  <a:schemeClr val="tx1"/>
                </a:solidFill>
                <a:latin typeface="+mj-lt"/>
                <a:ea typeface="+mj-ea"/>
                <a:cs typeface="+mj-cs"/>
              </a:rPr>
              <a:t>StrongARM</a:t>
            </a:r>
            <a:r>
              <a:rPr lang="ja-JP" altLang="en-US" sz="5000" kern="1200">
                <a:solidFill>
                  <a:schemeClr val="tx1"/>
                </a:solidFill>
                <a:latin typeface="+mj-lt"/>
                <a:ea typeface="+mj-ea"/>
                <a:cs typeface="+mj-cs"/>
              </a:rPr>
              <a:t>型</a:t>
            </a:r>
            <a:br>
              <a:rPr lang="en-US" altLang="ja-JP" sz="5000" kern="1200">
                <a:solidFill>
                  <a:schemeClr val="tx1"/>
                </a:solidFill>
                <a:latin typeface="+mj-lt"/>
                <a:ea typeface="+mj-ea"/>
                <a:cs typeface="+mj-cs"/>
              </a:rPr>
            </a:br>
            <a:r>
              <a:rPr lang="ja-JP" altLang="en-US" sz="5000" kern="1200">
                <a:solidFill>
                  <a:schemeClr val="tx1"/>
                </a:solidFill>
                <a:latin typeface="+mj-lt"/>
                <a:ea typeface="+mj-ea"/>
                <a:cs typeface="+mj-cs"/>
              </a:rPr>
              <a:t>クロックド</a:t>
            </a:r>
            <a:br>
              <a:rPr lang="en-US" altLang="ja-JP" sz="5000" kern="1200">
                <a:solidFill>
                  <a:schemeClr val="tx1"/>
                </a:solidFill>
                <a:latin typeface="+mj-lt"/>
                <a:ea typeface="+mj-ea"/>
                <a:cs typeface="+mj-cs"/>
              </a:rPr>
            </a:br>
            <a:r>
              <a:rPr lang="ja-JP" altLang="en-US" sz="5000" kern="1200">
                <a:solidFill>
                  <a:schemeClr val="tx1"/>
                </a:solidFill>
                <a:latin typeface="+mj-lt"/>
                <a:ea typeface="+mj-ea"/>
                <a:cs typeface="+mj-cs"/>
              </a:rPr>
              <a:t>コンパレータ</a:t>
            </a:r>
            <a:endParaRPr kumimoji="1" lang="en-US" altLang="ja-JP" sz="5000" kern="1200">
              <a:solidFill>
                <a:schemeClr val="tx1"/>
              </a:solidFill>
              <a:latin typeface="+mj-lt"/>
              <a:ea typeface="+mj-ea"/>
              <a:cs typeface="+mj-cs"/>
            </a:endParaRPr>
          </a:p>
        </p:txBody>
      </p:sp>
      <p:grpSp>
        <p:nvGrpSpPr>
          <p:cNvPr id="6153" name="Group 615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6154" name="Rectangle 615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6" name="Rectangle 615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58" name="Rectangle 615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0" name="Rectangle 615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DEE6E19F-A445-4C19-B4D2-0E9BA46A39B0}"/>
              </a:ext>
            </a:extLst>
          </p:cNvPr>
          <p:cNvPicPr>
            <a:picLocks noChangeAspect="1"/>
          </p:cNvPicPr>
          <p:nvPr/>
        </p:nvPicPr>
        <p:blipFill>
          <a:blip r:embed="rId2"/>
          <a:stretch>
            <a:fillRect/>
          </a:stretch>
        </p:blipFill>
        <p:spPr>
          <a:xfrm>
            <a:off x="5871460" y="1057754"/>
            <a:ext cx="5741033" cy="4741856"/>
          </a:xfrm>
          <a:prstGeom prst="rect">
            <a:avLst/>
          </a:prstGeom>
        </p:spPr>
      </p:pic>
    </p:spTree>
    <p:extLst>
      <p:ext uri="{BB962C8B-B14F-4D97-AF65-F5344CB8AC3E}">
        <p14:creationId xmlns:p14="http://schemas.microsoft.com/office/powerpoint/2010/main" val="14312334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F36C7E8-68C7-525B-2AF8-FD6B928231CB}"/>
              </a:ext>
            </a:extLst>
          </p:cNvPr>
          <p:cNvSpPr>
            <a:spLocks noGrp="1"/>
          </p:cNvSpPr>
          <p:nvPr>
            <p:ph type="title"/>
          </p:nvPr>
        </p:nvSpPr>
        <p:spPr>
          <a:xfrm>
            <a:off x="645064" y="525982"/>
            <a:ext cx="4282983" cy="1200361"/>
          </a:xfrm>
        </p:spPr>
        <p:txBody>
          <a:bodyPr anchor="b">
            <a:normAutofit/>
          </a:bodyPr>
          <a:lstStyle/>
          <a:p>
            <a:r>
              <a:rPr kumimoji="1" lang="ja-JP" altLang="en-US" sz="3600"/>
              <a:t>動作内容：</a:t>
            </a:r>
            <a:r>
              <a:rPr kumimoji="1" lang="en-US" altLang="ja-JP" sz="3600"/>
              <a:t>Clock=Low</a:t>
            </a:r>
            <a:endParaRPr kumimoji="1" lang="ja-JP" altLang="en-US" sz="3600"/>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1FF32FF-876F-540F-372A-AA789E88F8C9}"/>
              </a:ext>
            </a:extLst>
          </p:cNvPr>
          <p:cNvSpPr>
            <a:spLocks noGrp="1"/>
          </p:cNvSpPr>
          <p:nvPr>
            <p:ph idx="1"/>
          </p:nvPr>
        </p:nvSpPr>
        <p:spPr>
          <a:xfrm>
            <a:off x="645066" y="2031101"/>
            <a:ext cx="4282984" cy="3511943"/>
          </a:xfrm>
        </p:spPr>
        <p:txBody>
          <a:bodyPr anchor="ctr">
            <a:normAutofit/>
          </a:bodyPr>
          <a:lstStyle/>
          <a:p>
            <a:pPr marL="514350" indent="-514350">
              <a:buFont typeface="+mj-lt"/>
              <a:buAutoNum type="arabicPeriod"/>
            </a:pPr>
            <a:r>
              <a:rPr kumimoji="1" lang="en-US" altLang="ja-JP" sz="1800"/>
              <a:t>S5</a:t>
            </a:r>
            <a:r>
              <a:rPr kumimoji="1" lang="ja-JP" altLang="en-US" sz="1800"/>
              <a:t>が</a:t>
            </a:r>
            <a:r>
              <a:rPr kumimoji="1" lang="en-US" altLang="ja-JP" sz="1800"/>
              <a:t>Off</a:t>
            </a:r>
            <a:r>
              <a:rPr kumimoji="1" lang="ja-JP" altLang="en-US" sz="1800"/>
              <a:t>になるため、</a:t>
            </a:r>
            <a:r>
              <a:rPr kumimoji="1" lang="en-US" altLang="ja-JP" sz="1800"/>
              <a:t>VSS(GND)</a:t>
            </a:r>
            <a:r>
              <a:rPr kumimoji="1" lang="ja-JP" altLang="en-US" sz="1800"/>
              <a:t>が切り離される。</a:t>
            </a:r>
            <a:endParaRPr kumimoji="1" lang="en-US" altLang="ja-JP" sz="1800"/>
          </a:p>
          <a:p>
            <a:pPr marL="514350" indent="-514350">
              <a:buFont typeface="+mj-lt"/>
              <a:buAutoNum type="arabicPeriod"/>
            </a:pPr>
            <a:r>
              <a:rPr lang="en-US" altLang="ja-JP" sz="1800"/>
              <a:t>S1</a:t>
            </a:r>
            <a:r>
              <a:rPr lang="ja-JP" altLang="en-US" sz="1800"/>
              <a:t>～</a:t>
            </a:r>
            <a:r>
              <a:rPr lang="en-US" altLang="ja-JP" sz="1800"/>
              <a:t>S4</a:t>
            </a:r>
            <a:r>
              <a:rPr lang="ja-JP" altLang="en-US" sz="1800"/>
              <a:t>が</a:t>
            </a:r>
            <a:r>
              <a:rPr lang="en-US" altLang="ja-JP" sz="1800"/>
              <a:t>On</a:t>
            </a:r>
            <a:r>
              <a:rPr lang="ja-JP" altLang="en-US" sz="1800"/>
              <a:t>になるため、</a:t>
            </a:r>
            <a:r>
              <a:rPr kumimoji="1" lang="en-US" altLang="ja-JP" sz="1800"/>
              <a:t>VON,VOP,A,B</a:t>
            </a:r>
            <a:r>
              <a:rPr lang="ja-JP" altLang="en-US" sz="1800"/>
              <a:t>が</a:t>
            </a:r>
            <a:r>
              <a:rPr kumimoji="1" lang="en-US" altLang="ja-JP" sz="1800"/>
              <a:t>VDD</a:t>
            </a:r>
            <a:r>
              <a:rPr kumimoji="1" lang="ja-JP" altLang="en-US" sz="1800"/>
              <a:t>になる。</a:t>
            </a:r>
            <a:endParaRPr kumimoji="1" lang="en-US" altLang="ja-JP" sz="1800"/>
          </a:p>
          <a:p>
            <a:pPr marL="971550" lvl="1" indent="-514350">
              <a:buFont typeface="+mj-lt"/>
              <a:buAutoNum type="arabicPeriod"/>
            </a:pPr>
            <a:r>
              <a:rPr lang="ja-JP" altLang="en-US" sz="1400"/>
              <a:t>プリチャージ動作</a:t>
            </a:r>
            <a:endParaRPr kumimoji="1" lang="en-US" altLang="ja-JP" sz="1400"/>
          </a:p>
          <a:p>
            <a:pPr marL="514350" indent="-514350">
              <a:buFont typeface="+mj-lt"/>
              <a:buAutoNum type="arabicPeriod"/>
            </a:pPr>
            <a:r>
              <a:rPr kumimoji="1" lang="ja-JP" altLang="en-US" sz="1800"/>
              <a:t>全体が</a:t>
            </a:r>
            <a:r>
              <a:rPr kumimoji="1" lang="en-US" altLang="ja-JP" sz="1800"/>
              <a:t>VDD</a:t>
            </a:r>
            <a:r>
              <a:rPr kumimoji="1" lang="ja-JP" altLang="en-US" sz="1800"/>
              <a:t>になるため動作が停止する。</a:t>
            </a:r>
            <a:endParaRPr kumimoji="1" lang="en-US" altLang="ja-JP" sz="1800"/>
          </a:p>
          <a:p>
            <a:pPr marL="514350" indent="-514350">
              <a:buFont typeface="+mj-lt"/>
              <a:buAutoNum type="arabicPeriod"/>
            </a:pPr>
            <a:endParaRPr kumimoji="1" lang="en-US" altLang="ja-JP" sz="1800"/>
          </a:p>
          <a:p>
            <a:pPr marL="0" indent="0">
              <a:buNone/>
            </a:pPr>
            <a:r>
              <a:rPr lang="en-US" altLang="ja-JP" sz="1800"/>
              <a:t>※S</a:t>
            </a:r>
            <a:r>
              <a:rPr lang="ja-JP" altLang="en-US" sz="1800"/>
              <a:t>がスイッチ的な動作をする</a:t>
            </a:r>
            <a:r>
              <a:rPr lang="en-US" altLang="ja-JP" sz="1800"/>
              <a:t>FET</a:t>
            </a:r>
            <a:endParaRPr kumimoji="1" lang="en-US" altLang="ja-JP" sz="180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0557DA9E-611C-238B-5D15-9C223D721654}"/>
              </a:ext>
            </a:extLst>
          </p:cNvPr>
          <p:cNvPicPr>
            <a:picLocks noChangeAspect="1"/>
          </p:cNvPicPr>
          <p:nvPr/>
        </p:nvPicPr>
        <p:blipFill>
          <a:blip r:embed="rId2"/>
          <a:stretch>
            <a:fillRect/>
          </a:stretch>
        </p:blipFill>
        <p:spPr>
          <a:xfrm>
            <a:off x="5987738" y="991008"/>
            <a:ext cx="5628018" cy="4643114"/>
          </a:xfrm>
          <a:prstGeom prst="rect">
            <a:avLst/>
          </a:prstGeom>
        </p:spPr>
      </p:pic>
      <p:sp>
        <p:nvSpPr>
          <p:cNvPr id="5" name="正方形/長方形 4">
            <a:extLst>
              <a:ext uri="{FF2B5EF4-FFF2-40B4-BE49-F238E27FC236}">
                <a16:creationId xmlns:a16="http://schemas.microsoft.com/office/drawing/2014/main" id="{BECA0603-B657-551D-A734-B0E7CB16246C}"/>
              </a:ext>
            </a:extLst>
          </p:cNvPr>
          <p:cNvSpPr/>
          <p:nvPr/>
        </p:nvSpPr>
        <p:spPr>
          <a:xfrm>
            <a:off x="6096000" y="1290181"/>
            <a:ext cx="5479467" cy="3353336"/>
          </a:xfrm>
          <a:prstGeom prst="rect">
            <a:avLst/>
          </a:prstGeom>
          <a:solidFill>
            <a:srgbClr val="F2AA84">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吹き出し: 角を丸めた四角形 5">
            <a:extLst>
              <a:ext uri="{FF2B5EF4-FFF2-40B4-BE49-F238E27FC236}">
                <a16:creationId xmlns:a16="http://schemas.microsoft.com/office/drawing/2014/main" id="{4CC76851-1464-F73D-B1CA-69947237CC44}"/>
              </a:ext>
            </a:extLst>
          </p:cNvPr>
          <p:cNvSpPr/>
          <p:nvPr/>
        </p:nvSpPr>
        <p:spPr>
          <a:xfrm>
            <a:off x="10021941" y="339922"/>
            <a:ext cx="1593815" cy="837955"/>
          </a:xfrm>
          <a:prstGeom prst="wedgeRoundRectCallout">
            <a:avLst>
              <a:gd name="adj1" fmla="val -52884"/>
              <a:gd name="adj2" fmla="val 8566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a:t>VDD</a:t>
            </a:r>
            <a:r>
              <a:rPr kumimoji="1" lang="ja-JP" altLang="en-US"/>
              <a:t>エリア</a:t>
            </a:r>
          </a:p>
        </p:txBody>
      </p:sp>
    </p:spTree>
    <p:extLst>
      <p:ext uri="{BB962C8B-B14F-4D97-AF65-F5344CB8AC3E}">
        <p14:creationId xmlns:p14="http://schemas.microsoft.com/office/powerpoint/2010/main" val="24865314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CF02C7-8C90-7F05-2495-066EE26D2F4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110C40A-8511-621C-5BD5-87D79B59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93E5EAA-2749-F078-495A-AEC105909A4E}"/>
              </a:ext>
            </a:extLst>
          </p:cNvPr>
          <p:cNvSpPr>
            <a:spLocks noGrp="1"/>
          </p:cNvSpPr>
          <p:nvPr>
            <p:ph type="title"/>
          </p:nvPr>
        </p:nvSpPr>
        <p:spPr>
          <a:xfrm>
            <a:off x="645064" y="525982"/>
            <a:ext cx="4282983" cy="1200361"/>
          </a:xfrm>
        </p:spPr>
        <p:txBody>
          <a:bodyPr anchor="b">
            <a:normAutofit/>
          </a:bodyPr>
          <a:lstStyle/>
          <a:p>
            <a:r>
              <a:rPr kumimoji="1" lang="ja-JP" altLang="en-US" sz="3600"/>
              <a:t>動作内容：</a:t>
            </a:r>
            <a:r>
              <a:rPr kumimoji="1" lang="en-US" altLang="ja-JP" sz="3600"/>
              <a:t>Clock=</a:t>
            </a:r>
            <a:r>
              <a:rPr lang="en-US" altLang="ja-JP" sz="3600"/>
              <a:t>High</a:t>
            </a:r>
            <a:endParaRPr kumimoji="1" lang="ja-JP" altLang="en-US" sz="3600"/>
          </a:p>
        </p:txBody>
      </p:sp>
      <p:sp>
        <p:nvSpPr>
          <p:cNvPr id="11" name="Rectangle 10">
            <a:extLst>
              <a:ext uri="{FF2B5EF4-FFF2-40B4-BE49-F238E27FC236}">
                <a16:creationId xmlns:a16="http://schemas.microsoft.com/office/drawing/2014/main" id="{BC5FBCC5-0417-29D6-7754-E97DC779A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33ABBBD-D987-60B0-B178-72A760746F42}"/>
              </a:ext>
            </a:extLst>
          </p:cNvPr>
          <p:cNvSpPr>
            <a:spLocks noGrp="1"/>
          </p:cNvSpPr>
          <p:nvPr>
            <p:ph idx="1"/>
          </p:nvPr>
        </p:nvSpPr>
        <p:spPr>
          <a:xfrm>
            <a:off x="645066" y="2031101"/>
            <a:ext cx="4596132" cy="3511943"/>
          </a:xfrm>
        </p:spPr>
        <p:txBody>
          <a:bodyPr anchor="ctr">
            <a:normAutofit fontScale="85000" lnSpcReduction="10000"/>
          </a:bodyPr>
          <a:lstStyle/>
          <a:p>
            <a:pPr marL="342900" indent="-342900">
              <a:buFont typeface="+mj-lt"/>
              <a:buAutoNum type="arabicPeriod"/>
            </a:pPr>
            <a:r>
              <a:rPr lang="en-US" altLang="ja-JP" sz="1800"/>
              <a:t>S1〜S4</a:t>
            </a:r>
            <a:r>
              <a:rPr lang="ja-JP" altLang="en-US" sz="1800"/>
              <a:t>が</a:t>
            </a:r>
            <a:r>
              <a:rPr lang="en-US" altLang="ja-JP" sz="1800"/>
              <a:t>Off</a:t>
            </a:r>
            <a:r>
              <a:rPr lang="ja-JP" altLang="en-US" sz="1800"/>
              <a:t>になり、</a:t>
            </a:r>
            <a:r>
              <a:rPr lang="en-US" altLang="ja-JP" sz="1800"/>
              <a:t>VDD</a:t>
            </a:r>
            <a:r>
              <a:rPr lang="ja-JP" altLang="en-US" sz="1800"/>
              <a:t>が切り離される。</a:t>
            </a:r>
            <a:endParaRPr lang="en-US" altLang="ja-JP" sz="1800"/>
          </a:p>
          <a:p>
            <a:pPr marL="342900" indent="-342900">
              <a:buFont typeface="+mj-lt"/>
              <a:buAutoNum type="arabicPeriod"/>
            </a:pPr>
            <a:r>
              <a:rPr lang="en-US" altLang="ja-JP" sz="1800"/>
              <a:t>S5</a:t>
            </a:r>
            <a:r>
              <a:rPr lang="ja-JP" altLang="en-US" sz="1800"/>
              <a:t>が</a:t>
            </a:r>
            <a:r>
              <a:rPr lang="en-US" altLang="ja-JP" sz="1800"/>
              <a:t>On</a:t>
            </a:r>
            <a:r>
              <a:rPr lang="ja-JP" altLang="en-US" sz="1800"/>
              <a:t>になり、</a:t>
            </a:r>
            <a:r>
              <a:rPr lang="en-US" altLang="ja-JP" sz="1800"/>
              <a:t>VSS</a:t>
            </a:r>
            <a:r>
              <a:rPr lang="ja-JP" altLang="en-US" sz="1800"/>
              <a:t>へ接続される。</a:t>
            </a:r>
            <a:endParaRPr lang="en-US" altLang="ja-JP" sz="1800"/>
          </a:p>
          <a:p>
            <a:pPr marL="800100" lvl="1" indent="-342900">
              <a:buFont typeface="+mj-lt"/>
              <a:buAutoNum type="arabicPeriod"/>
            </a:pPr>
            <a:r>
              <a:rPr lang="ja-JP" altLang="en-US" sz="1400"/>
              <a:t>この瞬間は、まだ回路は</a:t>
            </a:r>
            <a:r>
              <a:rPr lang="en-US" altLang="ja-JP" sz="1400"/>
              <a:t>VDD</a:t>
            </a:r>
            <a:r>
              <a:rPr lang="ja-JP" altLang="en-US" sz="1400"/>
              <a:t>であることがポイント</a:t>
            </a:r>
          </a:p>
          <a:p>
            <a:pPr marL="342900" indent="-342900">
              <a:buFont typeface="+mj-lt"/>
              <a:buAutoNum type="arabicPeriod"/>
            </a:pPr>
            <a:r>
              <a:rPr lang="ja-JP" altLang="en-US" sz="1800"/>
              <a:t>もし </a:t>
            </a:r>
            <a:r>
              <a:rPr lang="en-US" altLang="ja-JP" sz="1800"/>
              <a:t>VINP &gt; VINN </a:t>
            </a:r>
            <a:r>
              <a:rPr lang="ja-JP" altLang="en-US" sz="1800"/>
              <a:t>であれば、</a:t>
            </a:r>
            <a:r>
              <a:rPr lang="en-US" altLang="ja-JP" sz="1800"/>
              <a:t>M1</a:t>
            </a:r>
            <a:r>
              <a:rPr lang="ja-JP" altLang="en-US" sz="1800"/>
              <a:t>の方が</a:t>
            </a:r>
            <a:r>
              <a:rPr lang="en-US" altLang="ja-JP" sz="1800"/>
              <a:t>M2</a:t>
            </a:r>
            <a:r>
              <a:rPr lang="ja-JP" altLang="en-US" sz="1800"/>
              <a:t>よりも多く電流が流れる。その結果、ノード</a:t>
            </a:r>
            <a:r>
              <a:rPr lang="en-US" altLang="ja-JP" sz="1800"/>
              <a:t>A</a:t>
            </a:r>
            <a:r>
              <a:rPr lang="ja-JP" altLang="en-US" sz="1800"/>
              <a:t>の電圧がノード</a:t>
            </a:r>
            <a:r>
              <a:rPr lang="en-US" altLang="ja-JP" sz="1800"/>
              <a:t>B</a:t>
            </a:r>
            <a:r>
              <a:rPr lang="ja-JP" altLang="en-US" sz="1800"/>
              <a:t>よりも早く下がることになる。</a:t>
            </a:r>
          </a:p>
          <a:p>
            <a:pPr marL="342900" indent="-342900">
              <a:buFont typeface="+mj-lt"/>
              <a:buAutoNum type="arabicPeriod"/>
            </a:pPr>
            <a:r>
              <a:rPr lang="ja-JP" altLang="en-US" sz="1800"/>
              <a:t>ノード</a:t>
            </a:r>
            <a:r>
              <a:rPr lang="en-US" altLang="ja-JP" sz="1800"/>
              <a:t>A, B</a:t>
            </a:r>
            <a:r>
              <a:rPr lang="ja-JP" altLang="en-US" sz="1800"/>
              <a:t>が下がっていくと、</a:t>
            </a:r>
            <a:r>
              <a:rPr lang="en-US" altLang="ja-JP" sz="1800"/>
              <a:t>M3, M4</a:t>
            </a:r>
            <a:r>
              <a:rPr lang="ja-JP" altLang="en-US" sz="1800"/>
              <a:t>がオンになり、次に出力</a:t>
            </a:r>
            <a:r>
              <a:rPr lang="en-US" altLang="ja-JP" sz="1800"/>
              <a:t>VON, VOP</a:t>
            </a:r>
            <a:r>
              <a:rPr lang="ja-JP" altLang="en-US" sz="1800"/>
              <a:t>も放電され始める。</a:t>
            </a:r>
          </a:p>
          <a:p>
            <a:pPr marL="342900" indent="-342900">
              <a:buFont typeface="+mj-lt"/>
              <a:buAutoNum type="arabicPeriod"/>
            </a:pPr>
            <a:r>
              <a:rPr lang="ja-JP" altLang="en-US" sz="1800"/>
              <a:t>わずかに早く下がった方の電圧（この場合 </a:t>
            </a:r>
            <a:r>
              <a:rPr lang="en-US" altLang="ja-JP" sz="1800"/>
              <a:t>VON</a:t>
            </a:r>
            <a:r>
              <a:rPr lang="ja-JP" altLang="en-US" sz="1800"/>
              <a:t>）が、対向するインバータの</a:t>
            </a:r>
            <a:r>
              <a:rPr lang="en-US" altLang="ja-JP" sz="1800"/>
              <a:t>PMOS</a:t>
            </a:r>
            <a:r>
              <a:rPr lang="ja-JP" altLang="en-US" sz="1800"/>
              <a:t>（</a:t>
            </a:r>
            <a:r>
              <a:rPr lang="en-US" altLang="ja-JP" sz="1800"/>
              <a:t>M6</a:t>
            </a:r>
            <a:r>
              <a:rPr lang="ja-JP" altLang="en-US" sz="1800"/>
              <a:t>）をオンにし、</a:t>
            </a:r>
            <a:r>
              <a:rPr lang="en-US" altLang="ja-JP" sz="1800"/>
              <a:t>NMOS</a:t>
            </a:r>
            <a:r>
              <a:rPr lang="ja-JP" altLang="en-US" sz="1800"/>
              <a:t>（</a:t>
            </a:r>
            <a:r>
              <a:rPr lang="en-US" altLang="ja-JP" sz="1800"/>
              <a:t>M4</a:t>
            </a:r>
            <a:r>
              <a:rPr lang="ja-JP" altLang="en-US" sz="1800"/>
              <a:t>）をオフにします。これにより、</a:t>
            </a:r>
            <a:r>
              <a:rPr lang="en-US" altLang="ja-JP" sz="1800"/>
              <a:t>VOP</a:t>
            </a:r>
            <a:r>
              <a:rPr lang="ja-JP" altLang="en-US" sz="1800"/>
              <a:t>が</a:t>
            </a:r>
            <a:r>
              <a:rPr lang="en-US" altLang="ja-JP" sz="1800"/>
              <a:t>VDD</a:t>
            </a:r>
            <a:r>
              <a:rPr lang="ja-JP" altLang="en-US" sz="1800"/>
              <a:t>、</a:t>
            </a:r>
            <a:r>
              <a:rPr lang="en-US" altLang="ja-JP" sz="1800"/>
              <a:t>VON</a:t>
            </a:r>
            <a:r>
              <a:rPr lang="ja-JP" altLang="en-US" sz="1800"/>
              <a:t>が</a:t>
            </a:r>
            <a:r>
              <a:rPr lang="en-US" altLang="ja-JP" sz="1800"/>
              <a:t>VSS</a:t>
            </a:r>
            <a:r>
              <a:rPr lang="ja-JP" altLang="en-US" sz="1800"/>
              <a:t>で確定する。</a:t>
            </a:r>
          </a:p>
        </p:txBody>
      </p:sp>
      <p:sp>
        <p:nvSpPr>
          <p:cNvPr id="13" name="Rectangle 12">
            <a:extLst>
              <a:ext uri="{FF2B5EF4-FFF2-40B4-BE49-F238E27FC236}">
                <a16:creationId xmlns:a16="http://schemas.microsoft.com/office/drawing/2014/main" id="{C6CF43D9-8D29-1BE5-CEF9-FB8B9E745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FA3EE60-2525-79C4-14AC-635FBC92B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325041C-C0DD-B389-984D-B5795A3E9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B85E1096-342A-502F-8481-81DC752BD8BA}"/>
              </a:ext>
            </a:extLst>
          </p:cNvPr>
          <p:cNvPicPr>
            <a:picLocks noChangeAspect="1"/>
          </p:cNvPicPr>
          <p:nvPr/>
        </p:nvPicPr>
        <p:blipFill>
          <a:blip r:embed="rId2"/>
          <a:stretch>
            <a:fillRect/>
          </a:stretch>
        </p:blipFill>
        <p:spPr>
          <a:xfrm>
            <a:off x="5987738" y="991008"/>
            <a:ext cx="5628018" cy="4643114"/>
          </a:xfrm>
          <a:prstGeom prst="rect">
            <a:avLst/>
          </a:prstGeom>
        </p:spPr>
      </p:pic>
      <p:sp>
        <p:nvSpPr>
          <p:cNvPr id="5" name="正方形/長方形 4">
            <a:extLst>
              <a:ext uri="{FF2B5EF4-FFF2-40B4-BE49-F238E27FC236}">
                <a16:creationId xmlns:a16="http://schemas.microsoft.com/office/drawing/2014/main" id="{5BDDA9CC-F962-1BE9-DC2F-BEC6B801345E}"/>
              </a:ext>
            </a:extLst>
          </p:cNvPr>
          <p:cNvSpPr/>
          <p:nvPr/>
        </p:nvSpPr>
        <p:spPr>
          <a:xfrm>
            <a:off x="7581553" y="1290181"/>
            <a:ext cx="2440388" cy="3353336"/>
          </a:xfrm>
          <a:prstGeom prst="rect">
            <a:avLst/>
          </a:prstGeom>
          <a:solidFill>
            <a:srgbClr val="F2AA84">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吹き出し: 角を丸めた四角形 5">
            <a:extLst>
              <a:ext uri="{FF2B5EF4-FFF2-40B4-BE49-F238E27FC236}">
                <a16:creationId xmlns:a16="http://schemas.microsoft.com/office/drawing/2014/main" id="{6EC5B249-49F8-D719-26FD-5C0E65D83335}"/>
              </a:ext>
            </a:extLst>
          </p:cNvPr>
          <p:cNvSpPr/>
          <p:nvPr/>
        </p:nvSpPr>
        <p:spPr>
          <a:xfrm>
            <a:off x="10021941" y="339922"/>
            <a:ext cx="1593815" cy="837955"/>
          </a:xfrm>
          <a:prstGeom prst="wedgeRoundRectCallout">
            <a:avLst>
              <a:gd name="adj1" fmla="val -52884"/>
              <a:gd name="adj2" fmla="val 8566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a:t>VDD</a:t>
            </a:r>
            <a:r>
              <a:rPr kumimoji="1" lang="ja-JP" altLang="en-US"/>
              <a:t>エリア</a:t>
            </a:r>
          </a:p>
        </p:txBody>
      </p:sp>
      <p:sp>
        <p:nvSpPr>
          <p:cNvPr id="8" name="吹き出し: 角を丸めた四角形 7">
            <a:extLst>
              <a:ext uri="{FF2B5EF4-FFF2-40B4-BE49-F238E27FC236}">
                <a16:creationId xmlns:a16="http://schemas.microsoft.com/office/drawing/2014/main" id="{47305F54-12A2-AFFA-F192-F6948EEDDB19}"/>
              </a:ext>
            </a:extLst>
          </p:cNvPr>
          <p:cNvSpPr/>
          <p:nvPr/>
        </p:nvSpPr>
        <p:spPr>
          <a:xfrm>
            <a:off x="5721728" y="2729792"/>
            <a:ext cx="1593815" cy="837955"/>
          </a:xfrm>
          <a:prstGeom prst="wedgeRoundRectCallout">
            <a:avLst>
              <a:gd name="adj1" fmla="val 57372"/>
              <a:gd name="adj2" fmla="val 79570"/>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a:t>こちらが</a:t>
            </a:r>
            <a:endParaRPr kumimoji="1" lang="en-US" altLang="ja-JP"/>
          </a:p>
          <a:p>
            <a:pPr algn="ctr"/>
            <a:r>
              <a:rPr kumimoji="1" lang="ja-JP" altLang="en-US"/>
              <a:t>電圧＝大</a:t>
            </a:r>
          </a:p>
        </p:txBody>
      </p:sp>
      <p:sp>
        <p:nvSpPr>
          <p:cNvPr id="10" name="正方形/長方形 9">
            <a:extLst>
              <a:ext uri="{FF2B5EF4-FFF2-40B4-BE49-F238E27FC236}">
                <a16:creationId xmlns:a16="http://schemas.microsoft.com/office/drawing/2014/main" id="{717C6D8A-4460-2861-C27C-E53DDF5D2007}"/>
              </a:ext>
            </a:extLst>
          </p:cNvPr>
          <p:cNvSpPr/>
          <p:nvPr/>
        </p:nvSpPr>
        <p:spPr>
          <a:xfrm>
            <a:off x="7733953" y="1660223"/>
            <a:ext cx="2099678" cy="1961618"/>
          </a:xfrm>
          <a:prstGeom prst="rect">
            <a:avLst/>
          </a:prstGeom>
          <a:solidFill>
            <a:schemeClr val="accent3">
              <a:lumMod val="40000"/>
              <a:lumOff val="60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91917158-4B0E-5F8E-9FCA-99466C72F143}"/>
              </a:ext>
            </a:extLst>
          </p:cNvPr>
          <p:cNvSpPr/>
          <p:nvPr/>
        </p:nvSpPr>
        <p:spPr>
          <a:xfrm>
            <a:off x="6784645" y="354959"/>
            <a:ext cx="1593815" cy="837955"/>
          </a:xfrm>
          <a:prstGeom prst="wedgeRoundRectCallout">
            <a:avLst>
              <a:gd name="adj1" fmla="val 48719"/>
              <a:gd name="adj2" fmla="val 10700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a:t>インバータ回路</a:t>
            </a:r>
          </a:p>
        </p:txBody>
      </p:sp>
    </p:spTree>
    <p:extLst>
      <p:ext uri="{BB962C8B-B14F-4D97-AF65-F5344CB8AC3E}">
        <p14:creationId xmlns:p14="http://schemas.microsoft.com/office/powerpoint/2010/main" val="3624741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2E710B-D308-F581-5540-BB2B4CC92788}"/>
            </a:ext>
          </a:extLst>
        </p:cNvPr>
        <p:cNvGrpSpPr/>
        <p:nvPr/>
      </p:nvGrpSpPr>
      <p:grpSpPr>
        <a:xfrm>
          <a:off x="0" y="0"/>
          <a:ext cx="0" cy="0"/>
          <a:chOff x="0" y="0"/>
          <a:chExt cx="0" cy="0"/>
        </a:xfrm>
      </p:grpSpPr>
      <p:sp useBgFill="1">
        <p:nvSpPr>
          <p:cNvPr id="27" name="Rectangle 8">
            <a:extLst>
              <a:ext uri="{FF2B5EF4-FFF2-40B4-BE49-F238E27FC236}">
                <a16:creationId xmlns:a16="http://schemas.microsoft.com/office/drawing/2014/main" id="{EA6D77C5-1B58-B14A-C4EE-A60592AED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10">
            <a:extLst>
              <a:ext uri="{FF2B5EF4-FFF2-40B4-BE49-F238E27FC236}">
                <a16:creationId xmlns:a16="http://schemas.microsoft.com/office/drawing/2014/main" id="{B39D5E4C-3F43-2456-B4AA-98FCB0E8B5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9" name="Rectangle 11">
              <a:extLst>
                <a:ext uri="{FF2B5EF4-FFF2-40B4-BE49-F238E27FC236}">
                  <a16:creationId xmlns:a16="http://schemas.microsoft.com/office/drawing/2014/main" id="{253C6D01-9810-F12C-4A0B-653991037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2">
              <a:extLst>
                <a:ext uri="{FF2B5EF4-FFF2-40B4-BE49-F238E27FC236}">
                  <a16:creationId xmlns:a16="http://schemas.microsoft.com/office/drawing/2014/main" id="{2863565F-89DF-A733-24D0-B0B2572DC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AE75E3B-8E5D-34B0-D97D-C28C4D3ABA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9D22F39-3167-00C4-F9E9-3264968609C4}"/>
              </a:ext>
            </a:extLst>
          </p:cNvPr>
          <p:cNvSpPr>
            <a:spLocks noGrp="1"/>
          </p:cNvSpPr>
          <p:nvPr>
            <p:ph type="title"/>
          </p:nvPr>
        </p:nvSpPr>
        <p:spPr>
          <a:xfrm>
            <a:off x="1282963" y="1238080"/>
            <a:ext cx="9849751" cy="1349671"/>
          </a:xfrm>
        </p:spPr>
        <p:txBody>
          <a:bodyPr anchor="b">
            <a:normAutofit/>
          </a:bodyPr>
          <a:lstStyle/>
          <a:p>
            <a:r>
              <a:rPr kumimoji="1" lang="ja-JP" altLang="en-US" sz="5400"/>
              <a:t>設計方針</a:t>
            </a:r>
          </a:p>
        </p:txBody>
      </p:sp>
      <p:graphicFrame>
        <p:nvGraphicFramePr>
          <p:cNvPr id="4" name="コンテンツ プレースホルダー 3">
            <a:extLst>
              <a:ext uri="{FF2B5EF4-FFF2-40B4-BE49-F238E27FC236}">
                <a16:creationId xmlns:a16="http://schemas.microsoft.com/office/drawing/2014/main" id="{AA5EA074-7F3A-D5DF-EF17-4E3F991E7C1A}"/>
              </a:ext>
            </a:extLst>
          </p:cNvPr>
          <p:cNvGraphicFramePr>
            <a:graphicFrameLocks noGrp="1"/>
          </p:cNvGraphicFramePr>
          <p:nvPr>
            <p:ph idx="1"/>
            <p:extLst>
              <p:ext uri="{D42A27DB-BD31-4B8C-83A1-F6EECF244321}">
                <p14:modId xmlns:p14="http://schemas.microsoft.com/office/powerpoint/2010/main" val="120843045"/>
              </p:ext>
            </p:extLst>
          </p:nvPr>
        </p:nvGraphicFramePr>
        <p:xfrm>
          <a:off x="1284626" y="2702333"/>
          <a:ext cx="9923159" cy="3157733"/>
        </p:xfrm>
        <a:graphic>
          <a:graphicData uri="http://schemas.openxmlformats.org/drawingml/2006/table">
            <a:tbl>
              <a:tblPr>
                <a:tableStyleId>{16D9F66E-5EB9-4882-86FB-DCBF35E3C3E4}</a:tableStyleId>
              </a:tblPr>
              <a:tblGrid>
                <a:gridCol w="1464545">
                  <a:extLst>
                    <a:ext uri="{9D8B030D-6E8A-4147-A177-3AD203B41FA5}">
                      <a16:colId xmlns:a16="http://schemas.microsoft.com/office/drawing/2014/main" val="3155321182"/>
                    </a:ext>
                  </a:extLst>
                </a:gridCol>
                <a:gridCol w="1389776">
                  <a:extLst>
                    <a:ext uri="{9D8B030D-6E8A-4147-A177-3AD203B41FA5}">
                      <a16:colId xmlns:a16="http://schemas.microsoft.com/office/drawing/2014/main" val="2545994689"/>
                    </a:ext>
                  </a:extLst>
                </a:gridCol>
                <a:gridCol w="7068838">
                  <a:extLst>
                    <a:ext uri="{9D8B030D-6E8A-4147-A177-3AD203B41FA5}">
                      <a16:colId xmlns:a16="http://schemas.microsoft.com/office/drawing/2014/main" val="3292594834"/>
                    </a:ext>
                  </a:extLst>
                </a:gridCol>
              </a:tblGrid>
              <a:tr h="459911">
                <a:tc>
                  <a:txBody>
                    <a:bodyPr/>
                    <a:lstStyle/>
                    <a:p>
                      <a:pPr rtl="0">
                        <a:buNone/>
                      </a:pPr>
                      <a:r>
                        <a:rPr lang="ja-JP" altLang="en-US" sz="1500" b="1">
                          <a:solidFill>
                            <a:srgbClr val="1F1F1F"/>
                          </a:solidFill>
                          <a:effectLst/>
                        </a:rPr>
                        <a:t>インスタンス</a:t>
                      </a:r>
                      <a:endParaRPr lang="ja-JP" altLang="en-US" sz="1500">
                        <a:solidFill>
                          <a:srgbClr val="1F1F1F"/>
                        </a:solidFill>
                        <a:effectLst/>
                        <a:latin typeface="Google Sans Text"/>
                      </a:endParaRPr>
                    </a:p>
                  </a:txBody>
                  <a:tcPr marL="75435" marR="41908" marT="55877" marB="55877" anchor="ctr"/>
                </a:tc>
                <a:tc>
                  <a:txBody>
                    <a:bodyPr/>
                    <a:lstStyle/>
                    <a:p>
                      <a:pPr rtl="0">
                        <a:buNone/>
                      </a:pPr>
                      <a:r>
                        <a:rPr lang="ja-JP" altLang="en-US" sz="1500" b="1">
                          <a:solidFill>
                            <a:srgbClr val="1F1F1F"/>
                          </a:solidFill>
                          <a:effectLst/>
                        </a:rPr>
                        <a:t>種類</a:t>
                      </a:r>
                      <a:endParaRPr lang="ja-JP" altLang="en-US" sz="1500">
                        <a:solidFill>
                          <a:srgbClr val="1F1F1F"/>
                        </a:solidFill>
                        <a:effectLst/>
                        <a:latin typeface="Google Sans Text"/>
                      </a:endParaRPr>
                    </a:p>
                  </a:txBody>
                  <a:tcPr marL="75435" marR="41908" marT="55877" marB="55877" anchor="ctr"/>
                </a:tc>
                <a:tc>
                  <a:txBody>
                    <a:bodyPr/>
                    <a:lstStyle/>
                    <a:p>
                      <a:pPr rtl="0">
                        <a:buNone/>
                      </a:pPr>
                      <a:r>
                        <a:rPr lang="ja-JP" altLang="en-US" sz="1500" b="1">
                          <a:solidFill>
                            <a:srgbClr val="1F1F1F"/>
                          </a:solidFill>
                          <a:effectLst/>
                        </a:rPr>
                        <a:t>役割・設計意図</a:t>
                      </a:r>
                      <a:endParaRPr lang="ja-JP" altLang="en-US" sz="1500">
                        <a:solidFill>
                          <a:srgbClr val="1F1F1F"/>
                        </a:solidFill>
                        <a:effectLst/>
                        <a:latin typeface="Google Sans Text"/>
                      </a:endParaRPr>
                    </a:p>
                  </a:txBody>
                  <a:tcPr marL="75435" marR="75435" marT="55877" marB="55877" anchor="ctr"/>
                </a:tc>
                <a:extLst>
                  <a:ext uri="{0D108BD9-81ED-4DB2-BD59-A6C34878D82A}">
                    <a16:rowId xmlns:a16="http://schemas.microsoft.com/office/drawing/2014/main" val="1543778990"/>
                  </a:ext>
                </a:extLst>
              </a:tr>
              <a:tr h="459911">
                <a:tc>
                  <a:txBody>
                    <a:bodyPr/>
                    <a:lstStyle/>
                    <a:p>
                      <a:pPr rtl="0">
                        <a:buNone/>
                      </a:pPr>
                      <a:r>
                        <a:rPr lang="en-US" sz="1500" b="1">
                          <a:solidFill>
                            <a:srgbClr val="1F1F1F"/>
                          </a:solidFill>
                          <a:effectLst/>
                        </a:rPr>
                        <a:t>M1, M2</a:t>
                      </a:r>
                      <a:endParaRPr lang="en-US" sz="1500">
                        <a:solidFill>
                          <a:srgbClr val="1F1F1F"/>
                        </a:solidFill>
                        <a:effectLst/>
                        <a:latin typeface="Google Sans Text"/>
                      </a:endParaRPr>
                    </a:p>
                  </a:txBody>
                  <a:tcPr marL="75435" marR="41908" marT="55877" marB="55877" anchor="ctr">
                    <a:solidFill>
                      <a:schemeClr val="accent6">
                        <a:lumMod val="40000"/>
                        <a:lumOff val="60000"/>
                      </a:schemeClr>
                    </a:solidFill>
                  </a:tcPr>
                </a:tc>
                <a:tc>
                  <a:txBody>
                    <a:bodyPr/>
                    <a:lstStyle/>
                    <a:p>
                      <a:pPr rtl="0">
                        <a:buNone/>
                      </a:pPr>
                      <a:r>
                        <a:rPr lang="en-US" sz="1500">
                          <a:solidFill>
                            <a:srgbClr val="1F1F1F"/>
                          </a:solidFill>
                          <a:effectLst/>
                        </a:rPr>
                        <a:t>NMOS</a:t>
                      </a:r>
                      <a:endParaRPr lang="en-US" sz="1500">
                        <a:solidFill>
                          <a:srgbClr val="1F1F1F"/>
                        </a:solidFill>
                        <a:effectLst/>
                        <a:latin typeface="Google Sans Text"/>
                      </a:endParaRPr>
                    </a:p>
                  </a:txBody>
                  <a:tcPr marL="75435" marR="41908" marT="55877" marB="55877" anchor="ctr">
                    <a:solidFill>
                      <a:schemeClr val="accent6">
                        <a:lumMod val="40000"/>
                        <a:lumOff val="60000"/>
                      </a:schemeClr>
                    </a:solidFill>
                  </a:tcPr>
                </a:tc>
                <a:tc>
                  <a:txBody>
                    <a:bodyPr/>
                    <a:lstStyle/>
                    <a:p>
                      <a:pPr rtl="0">
                        <a:buNone/>
                      </a:pPr>
                      <a:r>
                        <a:rPr lang="ja-JP" altLang="en-US" sz="1500" b="1">
                          <a:solidFill>
                            <a:srgbClr val="1F1F1F"/>
                          </a:solidFill>
                          <a:effectLst/>
                        </a:rPr>
                        <a:t>最重要：</a:t>
                      </a:r>
                      <a:r>
                        <a:rPr lang="ja-JP" altLang="en-US" sz="1500">
                          <a:solidFill>
                            <a:srgbClr val="1F1F1F"/>
                          </a:solidFill>
                          <a:effectLst/>
                        </a:rPr>
                        <a:t> 感度向上とオフセット低減のため最大に。</a:t>
                      </a:r>
                      <a:endParaRPr lang="ja-JP" altLang="en-US" sz="1500">
                        <a:solidFill>
                          <a:srgbClr val="1F1F1F"/>
                        </a:solidFill>
                        <a:effectLst/>
                        <a:latin typeface="Google Sans Text"/>
                      </a:endParaRPr>
                    </a:p>
                  </a:txBody>
                  <a:tcPr marL="75435" marR="75435" marT="55877" marB="55877" anchor="ctr">
                    <a:solidFill>
                      <a:schemeClr val="accent6">
                        <a:lumMod val="40000"/>
                        <a:lumOff val="60000"/>
                      </a:schemeClr>
                    </a:solidFill>
                  </a:tcPr>
                </a:tc>
                <a:extLst>
                  <a:ext uri="{0D108BD9-81ED-4DB2-BD59-A6C34878D82A}">
                    <a16:rowId xmlns:a16="http://schemas.microsoft.com/office/drawing/2014/main" val="3631771468"/>
                  </a:ext>
                </a:extLst>
              </a:tr>
              <a:tr h="459911">
                <a:tc>
                  <a:txBody>
                    <a:bodyPr/>
                    <a:lstStyle/>
                    <a:p>
                      <a:pPr rtl="0">
                        <a:buNone/>
                      </a:pPr>
                      <a:r>
                        <a:rPr lang="en-US" sz="1500" b="1">
                          <a:solidFill>
                            <a:srgbClr val="1F1F1F"/>
                          </a:solidFill>
                          <a:effectLst/>
                        </a:rPr>
                        <a:t>M3, M4</a:t>
                      </a:r>
                      <a:endParaRPr lang="en-US" sz="1500">
                        <a:solidFill>
                          <a:srgbClr val="1F1F1F"/>
                        </a:solidFill>
                        <a:effectLst/>
                        <a:latin typeface="Google Sans Text"/>
                      </a:endParaRPr>
                    </a:p>
                  </a:txBody>
                  <a:tcPr marL="75435" marR="41908" marT="55877" marB="55877" anchor="ctr">
                    <a:solidFill>
                      <a:schemeClr val="accent6">
                        <a:lumMod val="40000"/>
                        <a:lumOff val="60000"/>
                      </a:schemeClr>
                    </a:solidFill>
                  </a:tcPr>
                </a:tc>
                <a:tc>
                  <a:txBody>
                    <a:bodyPr/>
                    <a:lstStyle/>
                    <a:p>
                      <a:pPr rtl="0">
                        <a:buNone/>
                      </a:pPr>
                      <a:r>
                        <a:rPr lang="en-US" sz="1500">
                          <a:solidFill>
                            <a:srgbClr val="1F1F1F"/>
                          </a:solidFill>
                          <a:effectLst/>
                        </a:rPr>
                        <a:t>NMOS</a:t>
                      </a:r>
                      <a:endParaRPr lang="en-US" sz="1500">
                        <a:solidFill>
                          <a:srgbClr val="1F1F1F"/>
                        </a:solidFill>
                        <a:effectLst/>
                        <a:latin typeface="Google Sans Text"/>
                      </a:endParaRPr>
                    </a:p>
                  </a:txBody>
                  <a:tcPr marL="75435" marR="41908" marT="55877" marB="55877" anchor="ctr">
                    <a:solidFill>
                      <a:schemeClr val="accent6">
                        <a:lumMod val="40000"/>
                        <a:lumOff val="60000"/>
                      </a:schemeClr>
                    </a:solidFill>
                  </a:tcPr>
                </a:tc>
                <a:tc>
                  <a:txBody>
                    <a:bodyPr/>
                    <a:lstStyle/>
                    <a:p>
                      <a:pPr rtl="0">
                        <a:buNone/>
                      </a:pPr>
                      <a:r>
                        <a:rPr lang="ja-JP" altLang="en-US" sz="1500">
                          <a:solidFill>
                            <a:srgbClr val="1F1F1F"/>
                          </a:solidFill>
                          <a:effectLst/>
                        </a:rPr>
                        <a:t>ラッチ速度を稼ぐため、</a:t>
                      </a:r>
                      <a:r>
                        <a:rPr lang="en-US" altLang="ja-JP" sz="1500">
                          <a:solidFill>
                            <a:srgbClr val="1F1F1F"/>
                          </a:solidFill>
                          <a:effectLst/>
                        </a:rPr>
                        <a:t>M1,M2</a:t>
                      </a:r>
                      <a:r>
                        <a:rPr lang="ja-JP" altLang="en-US" sz="1500">
                          <a:solidFill>
                            <a:srgbClr val="1F1F1F"/>
                          </a:solidFill>
                          <a:effectLst/>
                        </a:rPr>
                        <a:t>の半分程度。</a:t>
                      </a:r>
                      <a:endParaRPr lang="ja-JP" altLang="en-US" sz="1500">
                        <a:solidFill>
                          <a:srgbClr val="1F1F1F"/>
                        </a:solidFill>
                        <a:effectLst/>
                        <a:latin typeface="Google Sans Text"/>
                      </a:endParaRPr>
                    </a:p>
                  </a:txBody>
                  <a:tcPr marL="75435" marR="75435" marT="55877" marB="55877" anchor="ctr">
                    <a:solidFill>
                      <a:schemeClr val="accent6">
                        <a:lumMod val="40000"/>
                        <a:lumOff val="60000"/>
                      </a:schemeClr>
                    </a:solidFill>
                  </a:tcPr>
                </a:tc>
                <a:extLst>
                  <a:ext uri="{0D108BD9-81ED-4DB2-BD59-A6C34878D82A}">
                    <a16:rowId xmlns:a16="http://schemas.microsoft.com/office/drawing/2014/main" val="3907015830"/>
                  </a:ext>
                </a:extLst>
              </a:tr>
              <a:tr h="429089">
                <a:tc>
                  <a:txBody>
                    <a:bodyPr/>
                    <a:lstStyle/>
                    <a:p>
                      <a:pPr rtl="0">
                        <a:buNone/>
                      </a:pPr>
                      <a:r>
                        <a:rPr lang="en-US" sz="1500" b="1">
                          <a:solidFill>
                            <a:srgbClr val="1F1F1F"/>
                          </a:solidFill>
                          <a:effectLst/>
                        </a:rPr>
                        <a:t>M5, M6</a:t>
                      </a:r>
                      <a:endParaRPr lang="en-US" sz="1500">
                        <a:solidFill>
                          <a:srgbClr val="1F1F1F"/>
                        </a:solidFill>
                        <a:effectLst/>
                        <a:latin typeface="Google Sans Text"/>
                      </a:endParaRPr>
                    </a:p>
                  </a:txBody>
                  <a:tcPr marL="75435" marR="41908" marT="55877" marB="55877" anchor="ctr">
                    <a:solidFill>
                      <a:schemeClr val="accent6">
                        <a:lumMod val="40000"/>
                        <a:lumOff val="60000"/>
                      </a:schemeClr>
                    </a:solidFill>
                  </a:tcPr>
                </a:tc>
                <a:tc>
                  <a:txBody>
                    <a:bodyPr/>
                    <a:lstStyle/>
                    <a:p>
                      <a:pPr rtl="0">
                        <a:buNone/>
                      </a:pPr>
                      <a:r>
                        <a:rPr lang="en-US" sz="1500">
                          <a:solidFill>
                            <a:srgbClr val="1F1F1F"/>
                          </a:solidFill>
                          <a:effectLst/>
                        </a:rPr>
                        <a:t>PMOS</a:t>
                      </a:r>
                      <a:endParaRPr lang="en-US" sz="1500">
                        <a:solidFill>
                          <a:srgbClr val="1F1F1F"/>
                        </a:solidFill>
                        <a:effectLst/>
                        <a:latin typeface="Google Sans Text"/>
                      </a:endParaRPr>
                    </a:p>
                  </a:txBody>
                  <a:tcPr marL="75435" marR="41908" marT="55877" marB="55877" anchor="ctr">
                    <a:solidFill>
                      <a:schemeClr val="accent6">
                        <a:lumMod val="40000"/>
                        <a:lumOff val="60000"/>
                      </a:schemeClr>
                    </a:solidFill>
                  </a:tcPr>
                </a:tc>
                <a:tc>
                  <a:txBody>
                    <a:bodyPr/>
                    <a:lstStyle/>
                    <a:p>
                      <a:pPr rtl="0">
                        <a:buNone/>
                      </a:pPr>
                      <a:r>
                        <a:rPr lang="ja-JP" altLang="en-US" sz="1500">
                          <a:solidFill>
                            <a:srgbClr val="1F1F1F"/>
                          </a:solidFill>
                          <a:effectLst/>
                        </a:rPr>
                        <a:t>強すぎると反転を阻害するため、</a:t>
                      </a:r>
                      <a:r>
                        <a:rPr lang="en-US" altLang="ja-JP" sz="1500">
                          <a:solidFill>
                            <a:srgbClr val="1F1F1F"/>
                          </a:solidFill>
                          <a:effectLst/>
                        </a:rPr>
                        <a:t>NMOS(M3,M4)</a:t>
                      </a:r>
                      <a:r>
                        <a:rPr lang="ja-JP" altLang="en-US" sz="1500">
                          <a:solidFill>
                            <a:srgbClr val="1F1F1F"/>
                          </a:solidFill>
                          <a:effectLst/>
                        </a:rPr>
                        <a:t>の</a:t>
                      </a:r>
                      <a:r>
                        <a:rPr lang="en-US" altLang="ja-JP" sz="1500">
                          <a:solidFill>
                            <a:srgbClr val="1F1F1F"/>
                          </a:solidFill>
                          <a:effectLst/>
                        </a:rPr>
                        <a:t>1</a:t>
                      </a:r>
                      <a:r>
                        <a:rPr lang="ja-JP" altLang="en-US" sz="1500">
                          <a:solidFill>
                            <a:srgbClr val="1F1F1F"/>
                          </a:solidFill>
                          <a:effectLst/>
                        </a:rPr>
                        <a:t>～</a:t>
                      </a:r>
                      <a:r>
                        <a:rPr lang="en-US" altLang="ja-JP" sz="1500">
                          <a:solidFill>
                            <a:srgbClr val="1F1F1F"/>
                          </a:solidFill>
                          <a:effectLst/>
                        </a:rPr>
                        <a:t>1.5</a:t>
                      </a:r>
                      <a:r>
                        <a:rPr lang="ja-JP" altLang="en-US" sz="1500">
                          <a:solidFill>
                            <a:srgbClr val="1F1F1F"/>
                          </a:solidFill>
                          <a:effectLst/>
                        </a:rPr>
                        <a:t>倍くらい。</a:t>
                      </a:r>
                      <a:endParaRPr lang="ja-JP" altLang="en-US" sz="1500">
                        <a:solidFill>
                          <a:srgbClr val="1F1F1F"/>
                        </a:solidFill>
                        <a:effectLst/>
                        <a:latin typeface="Google Sans Text"/>
                      </a:endParaRPr>
                    </a:p>
                  </a:txBody>
                  <a:tcPr marL="75435" marR="75435" marT="55877" marB="55877" anchor="ctr">
                    <a:solidFill>
                      <a:schemeClr val="accent6">
                        <a:lumMod val="40000"/>
                        <a:lumOff val="60000"/>
                      </a:schemeClr>
                    </a:solidFill>
                  </a:tcPr>
                </a:tc>
                <a:extLst>
                  <a:ext uri="{0D108BD9-81ED-4DB2-BD59-A6C34878D82A}">
                    <a16:rowId xmlns:a16="http://schemas.microsoft.com/office/drawing/2014/main" val="233170783"/>
                  </a:ext>
                </a:extLst>
              </a:tr>
              <a:tr h="429089">
                <a:tc>
                  <a:txBody>
                    <a:bodyPr/>
                    <a:lstStyle/>
                    <a:p>
                      <a:pPr rtl="0">
                        <a:buNone/>
                      </a:pPr>
                      <a:r>
                        <a:rPr lang="en-US" sz="1500" b="1">
                          <a:solidFill>
                            <a:srgbClr val="1F1F1F"/>
                          </a:solidFill>
                          <a:effectLst/>
                        </a:rPr>
                        <a:t>S1, S2</a:t>
                      </a:r>
                      <a:endParaRPr lang="en-US" sz="1500">
                        <a:solidFill>
                          <a:srgbClr val="1F1F1F"/>
                        </a:solidFill>
                        <a:effectLst/>
                        <a:latin typeface="Google Sans Text"/>
                      </a:endParaRPr>
                    </a:p>
                  </a:txBody>
                  <a:tcPr marL="75435" marR="41908" marT="55877" marB="55877" anchor="ctr"/>
                </a:tc>
                <a:tc>
                  <a:txBody>
                    <a:bodyPr/>
                    <a:lstStyle/>
                    <a:p>
                      <a:pPr rtl="0">
                        <a:buNone/>
                      </a:pPr>
                      <a:r>
                        <a:rPr lang="en-US" sz="1500">
                          <a:solidFill>
                            <a:srgbClr val="1F1F1F"/>
                          </a:solidFill>
                          <a:effectLst/>
                        </a:rPr>
                        <a:t>PMOS</a:t>
                      </a:r>
                      <a:endParaRPr lang="en-US" sz="1500">
                        <a:solidFill>
                          <a:srgbClr val="1F1F1F"/>
                        </a:solidFill>
                        <a:effectLst/>
                        <a:latin typeface="Google Sans Text"/>
                      </a:endParaRPr>
                    </a:p>
                  </a:txBody>
                  <a:tcPr marL="75435" marR="41908" marT="55877" marB="55877" anchor="ctr"/>
                </a:tc>
                <a:tc>
                  <a:txBody>
                    <a:bodyPr/>
                    <a:lstStyle/>
                    <a:p>
                      <a:pPr rtl="0">
                        <a:buNone/>
                      </a:pPr>
                      <a:r>
                        <a:rPr lang="ja-JP" altLang="en-US" sz="1500">
                          <a:solidFill>
                            <a:srgbClr val="1F1F1F"/>
                          </a:solidFill>
                          <a:effectLst/>
                        </a:rPr>
                        <a:t>寄生容量を抑えつつ、リセット期間内に充電完了させるため、最小サイズでよい。</a:t>
                      </a:r>
                      <a:endParaRPr lang="ja-JP" altLang="en-US" sz="1500">
                        <a:solidFill>
                          <a:srgbClr val="1F1F1F"/>
                        </a:solidFill>
                        <a:effectLst/>
                        <a:latin typeface="Google Sans Text"/>
                      </a:endParaRPr>
                    </a:p>
                  </a:txBody>
                  <a:tcPr marL="75435" marR="75435" marT="55877" marB="55877" anchor="ctr"/>
                </a:tc>
                <a:extLst>
                  <a:ext uri="{0D108BD9-81ED-4DB2-BD59-A6C34878D82A}">
                    <a16:rowId xmlns:a16="http://schemas.microsoft.com/office/drawing/2014/main" val="1129496534"/>
                  </a:ext>
                </a:extLst>
              </a:tr>
              <a:tr h="459911">
                <a:tc>
                  <a:txBody>
                    <a:bodyPr/>
                    <a:lstStyle/>
                    <a:p>
                      <a:pPr rtl="0">
                        <a:buNone/>
                      </a:pPr>
                      <a:r>
                        <a:rPr lang="en-US" sz="1500" b="1">
                          <a:solidFill>
                            <a:srgbClr val="1F1F1F"/>
                          </a:solidFill>
                          <a:effectLst/>
                        </a:rPr>
                        <a:t>S3, S4</a:t>
                      </a:r>
                      <a:endParaRPr lang="en-US" sz="1500">
                        <a:solidFill>
                          <a:srgbClr val="1F1F1F"/>
                        </a:solidFill>
                        <a:effectLst/>
                        <a:latin typeface="Google Sans Text"/>
                      </a:endParaRPr>
                    </a:p>
                  </a:txBody>
                  <a:tcPr marL="75435" marR="41908" marT="55877" marB="55877" anchor="ctr"/>
                </a:tc>
                <a:tc>
                  <a:txBody>
                    <a:bodyPr/>
                    <a:lstStyle/>
                    <a:p>
                      <a:pPr rtl="0">
                        <a:buNone/>
                      </a:pPr>
                      <a:r>
                        <a:rPr lang="en-US" sz="1500">
                          <a:solidFill>
                            <a:srgbClr val="1F1F1F"/>
                          </a:solidFill>
                          <a:effectLst/>
                        </a:rPr>
                        <a:t>PMOS</a:t>
                      </a:r>
                      <a:endParaRPr lang="en-US" sz="1500">
                        <a:solidFill>
                          <a:srgbClr val="1F1F1F"/>
                        </a:solidFill>
                        <a:effectLst/>
                        <a:latin typeface="Google Sans Text"/>
                      </a:endParaRPr>
                    </a:p>
                  </a:txBody>
                  <a:tcPr marL="75435" marR="41908" marT="55877" marB="55877" anchor="ctr"/>
                </a:tc>
                <a:tc>
                  <a:txBody>
                    <a:bodyPr/>
                    <a:lstStyle/>
                    <a:p>
                      <a:pPr rtl="0">
                        <a:buNone/>
                      </a:pPr>
                      <a:r>
                        <a:rPr lang="ja-JP" altLang="en-US" sz="1500">
                          <a:solidFill>
                            <a:srgbClr val="1F1F1F"/>
                          </a:solidFill>
                          <a:effectLst/>
                        </a:rPr>
                        <a:t>同上。</a:t>
                      </a:r>
                      <a:endParaRPr lang="ja-JP" altLang="en-US" sz="1500">
                        <a:solidFill>
                          <a:srgbClr val="1F1F1F"/>
                        </a:solidFill>
                        <a:effectLst/>
                        <a:latin typeface="Google Sans Text"/>
                      </a:endParaRPr>
                    </a:p>
                  </a:txBody>
                  <a:tcPr marL="75435" marR="75435" marT="55877" marB="55877" anchor="ctr"/>
                </a:tc>
                <a:extLst>
                  <a:ext uri="{0D108BD9-81ED-4DB2-BD59-A6C34878D82A}">
                    <a16:rowId xmlns:a16="http://schemas.microsoft.com/office/drawing/2014/main" val="1019939530"/>
                  </a:ext>
                </a:extLst>
              </a:tr>
              <a:tr h="459911">
                <a:tc>
                  <a:txBody>
                    <a:bodyPr/>
                    <a:lstStyle/>
                    <a:p>
                      <a:pPr rtl="0">
                        <a:buNone/>
                      </a:pPr>
                      <a:r>
                        <a:rPr lang="en-US" sz="1500" b="1">
                          <a:solidFill>
                            <a:srgbClr val="1F1F1F"/>
                          </a:solidFill>
                          <a:effectLst/>
                        </a:rPr>
                        <a:t>S5 (Tail)</a:t>
                      </a:r>
                      <a:endParaRPr lang="en-US" sz="1500">
                        <a:solidFill>
                          <a:srgbClr val="1F1F1F"/>
                        </a:solidFill>
                        <a:effectLst/>
                        <a:latin typeface="Google Sans Text"/>
                      </a:endParaRPr>
                    </a:p>
                  </a:txBody>
                  <a:tcPr marL="75435" marR="41908" marT="55877" marB="55877" anchor="ctr"/>
                </a:tc>
                <a:tc>
                  <a:txBody>
                    <a:bodyPr/>
                    <a:lstStyle/>
                    <a:p>
                      <a:pPr rtl="0">
                        <a:buNone/>
                      </a:pPr>
                      <a:r>
                        <a:rPr lang="en-US" sz="1500">
                          <a:solidFill>
                            <a:srgbClr val="1F1F1F"/>
                          </a:solidFill>
                          <a:effectLst/>
                        </a:rPr>
                        <a:t>NMOS</a:t>
                      </a:r>
                      <a:endParaRPr lang="en-US" sz="1500">
                        <a:solidFill>
                          <a:srgbClr val="1F1F1F"/>
                        </a:solidFill>
                        <a:effectLst/>
                        <a:latin typeface="Google Sans Text"/>
                      </a:endParaRPr>
                    </a:p>
                  </a:txBody>
                  <a:tcPr marL="75435" marR="41908" marT="55877" marB="55877" anchor="ctr"/>
                </a:tc>
                <a:tc>
                  <a:txBody>
                    <a:bodyPr/>
                    <a:lstStyle/>
                    <a:p>
                      <a:pPr rtl="0">
                        <a:buNone/>
                      </a:pPr>
                      <a:r>
                        <a:rPr lang="ja-JP" altLang="en-US" sz="1500">
                          <a:solidFill>
                            <a:srgbClr val="1F1F1F"/>
                          </a:solidFill>
                          <a:effectLst/>
                        </a:rPr>
                        <a:t>回路全体の電流を引くため、低抵抗（大サイズ）に。</a:t>
                      </a:r>
                      <a:endParaRPr lang="ja-JP" altLang="en-US" sz="1500">
                        <a:solidFill>
                          <a:srgbClr val="1F1F1F"/>
                        </a:solidFill>
                        <a:effectLst/>
                        <a:latin typeface="Google Sans Text"/>
                      </a:endParaRPr>
                    </a:p>
                  </a:txBody>
                  <a:tcPr marL="75435" marR="75435" marT="55877" marB="55877" anchor="ctr"/>
                </a:tc>
                <a:extLst>
                  <a:ext uri="{0D108BD9-81ED-4DB2-BD59-A6C34878D82A}">
                    <a16:rowId xmlns:a16="http://schemas.microsoft.com/office/drawing/2014/main" val="1092350470"/>
                  </a:ext>
                </a:extLst>
              </a:tr>
            </a:tbl>
          </a:graphicData>
        </a:graphic>
      </p:graphicFrame>
      <p:sp>
        <p:nvSpPr>
          <p:cNvPr id="5" name="吹き出し: 角を丸めた四角形 4">
            <a:extLst>
              <a:ext uri="{FF2B5EF4-FFF2-40B4-BE49-F238E27FC236}">
                <a16:creationId xmlns:a16="http://schemas.microsoft.com/office/drawing/2014/main" id="{C1C7F070-FB69-B8F8-C777-CF56D331B09A}"/>
              </a:ext>
            </a:extLst>
          </p:cNvPr>
          <p:cNvSpPr/>
          <p:nvPr/>
        </p:nvSpPr>
        <p:spPr>
          <a:xfrm>
            <a:off x="4635597" y="1350106"/>
            <a:ext cx="2999589" cy="863291"/>
          </a:xfrm>
          <a:prstGeom prst="wedgeRoundRectCallout">
            <a:avLst>
              <a:gd name="adj1" fmla="val -117011"/>
              <a:gd name="adj2" fmla="val 12764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a:t>このペアは同サイズ</a:t>
            </a:r>
            <a:endParaRPr kumimoji="1" lang="en-US" altLang="ja-JP"/>
          </a:p>
          <a:p>
            <a:pPr algn="ctr"/>
            <a:r>
              <a:rPr lang="ja-JP" altLang="en-US"/>
              <a:t>ずれるとオフセットとなってしまう</a:t>
            </a:r>
            <a:endParaRPr kumimoji="1" lang="ja-JP" altLang="en-US"/>
          </a:p>
        </p:txBody>
      </p:sp>
    </p:spTree>
    <p:extLst>
      <p:ext uri="{BB962C8B-B14F-4D97-AF65-F5344CB8AC3E}">
        <p14:creationId xmlns:p14="http://schemas.microsoft.com/office/powerpoint/2010/main" val="42276966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FC90C98-6BE5-32D1-C754-D75D848D79FC}"/>
              </a:ext>
            </a:extLst>
          </p:cNvPr>
          <p:cNvSpPr>
            <a:spLocks noGrp="1"/>
          </p:cNvSpPr>
          <p:nvPr>
            <p:ph type="title"/>
          </p:nvPr>
        </p:nvSpPr>
        <p:spPr>
          <a:xfrm>
            <a:off x="1043631" y="809898"/>
            <a:ext cx="9942716" cy="1554480"/>
          </a:xfrm>
        </p:spPr>
        <p:txBody>
          <a:bodyPr anchor="ctr">
            <a:normAutofit/>
          </a:bodyPr>
          <a:lstStyle/>
          <a:p>
            <a:r>
              <a:rPr kumimoji="1" lang="ja-JP" altLang="en-US" sz="4800"/>
              <a:t>問題点</a:t>
            </a:r>
          </a:p>
        </p:txBody>
      </p:sp>
      <p:sp>
        <p:nvSpPr>
          <p:cNvPr id="3" name="コンテンツ プレースホルダー 2">
            <a:extLst>
              <a:ext uri="{FF2B5EF4-FFF2-40B4-BE49-F238E27FC236}">
                <a16:creationId xmlns:a16="http://schemas.microsoft.com/office/drawing/2014/main" id="{D5E05CF2-7966-EBB5-E6D2-E9089EF63247}"/>
              </a:ext>
            </a:extLst>
          </p:cNvPr>
          <p:cNvSpPr>
            <a:spLocks noGrp="1"/>
          </p:cNvSpPr>
          <p:nvPr>
            <p:ph idx="1"/>
          </p:nvPr>
        </p:nvSpPr>
        <p:spPr>
          <a:xfrm>
            <a:off x="1045028" y="3017522"/>
            <a:ext cx="9941319" cy="3124658"/>
          </a:xfrm>
        </p:spPr>
        <p:txBody>
          <a:bodyPr anchor="ctr">
            <a:normAutofit/>
          </a:bodyPr>
          <a:lstStyle/>
          <a:p>
            <a:r>
              <a:rPr lang="ja-JP" altLang="en-US"/>
              <a:t>キックバックノイズ</a:t>
            </a:r>
            <a:endParaRPr lang="en-US" altLang="ja-JP"/>
          </a:p>
          <a:p>
            <a:pPr lvl="1"/>
            <a:r>
              <a:rPr lang="ja-JP" altLang="en-US"/>
              <a:t>内部ノードの大きな電圧変化が、入力端子側へノイズとして逆流する</a:t>
            </a:r>
            <a:endParaRPr lang="en-US" altLang="ja-JP"/>
          </a:p>
          <a:p>
            <a:r>
              <a:rPr lang="en-US" altLang="ja-JP"/>
              <a:t>Rail-to-Rail</a:t>
            </a:r>
            <a:r>
              <a:rPr lang="ja-JP" altLang="en-US"/>
              <a:t>動作ではない</a:t>
            </a:r>
            <a:endParaRPr lang="en-US" altLang="ja-JP"/>
          </a:p>
          <a:p>
            <a:pPr lvl="1"/>
            <a:r>
              <a:rPr lang="ja-JP" altLang="en-US"/>
              <a:t>下位</a:t>
            </a:r>
            <a:r>
              <a:rPr lang="en-US" altLang="ja-JP"/>
              <a:t>1bit</a:t>
            </a:r>
            <a:r>
              <a:rPr lang="ja-JP" altLang="en-US"/>
              <a:t>がつぶれてしまう</a:t>
            </a:r>
          </a:p>
          <a:p>
            <a:pPr marL="0" indent="0">
              <a:buNone/>
            </a:pPr>
            <a:endParaRPr lang="en-US" altLang="ja-JP"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67874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F1C644-7DB5-168A-4F21-EE0C26308DA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2FED9F0-77E9-3102-1DA4-FF03905DF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A67ADA4-5C23-1547-B8FE-92E4D7FCF749}"/>
              </a:ext>
            </a:extLst>
          </p:cNvPr>
          <p:cNvSpPr>
            <a:spLocks noGrp="1"/>
          </p:cNvSpPr>
          <p:nvPr>
            <p:ph type="title"/>
          </p:nvPr>
        </p:nvSpPr>
        <p:spPr>
          <a:xfrm>
            <a:off x="645064" y="525982"/>
            <a:ext cx="4741496" cy="1200361"/>
          </a:xfrm>
        </p:spPr>
        <p:txBody>
          <a:bodyPr anchor="b">
            <a:normAutofit fontScale="90000"/>
          </a:bodyPr>
          <a:lstStyle/>
          <a:p>
            <a:r>
              <a:rPr lang="en-US" altLang="ja-JP" sz="3600" dirty="0"/>
              <a:t>Rail-to-Rail</a:t>
            </a:r>
            <a:r>
              <a:rPr lang="ja-JP" altLang="en-US" sz="3600" dirty="0"/>
              <a:t>入力差動対</a:t>
            </a:r>
            <a:br>
              <a:rPr lang="en-US" altLang="ja-JP" sz="3600" dirty="0"/>
            </a:br>
            <a:r>
              <a:rPr lang="ja-JP" altLang="en-US" sz="3600" dirty="0"/>
              <a:t>クロックドコンパレータ</a:t>
            </a:r>
            <a:endParaRPr kumimoji="1" lang="ja-JP" altLang="en-US" sz="3600" dirty="0"/>
          </a:p>
        </p:txBody>
      </p:sp>
      <p:sp>
        <p:nvSpPr>
          <p:cNvPr id="14" name="Rectangle 13">
            <a:extLst>
              <a:ext uri="{FF2B5EF4-FFF2-40B4-BE49-F238E27FC236}">
                <a16:creationId xmlns:a16="http://schemas.microsoft.com/office/drawing/2014/main" id="{D84C01B1-5086-3E08-5BBD-944F24A48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4493D87-7255-0AAE-26D4-BE48383E5E00}"/>
              </a:ext>
            </a:extLst>
          </p:cNvPr>
          <p:cNvSpPr>
            <a:spLocks noGrp="1"/>
          </p:cNvSpPr>
          <p:nvPr>
            <p:ph idx="1"/>
          </p:nvPr>
        </p:nvSpPr>
        <p:spPr>
          <a:xfrm>
            <a:off x="645066" y="2031101"/>
            <a:ext cx="4866082" cy="3728989"/>
          </a:xfrm>
        </p:spPr>
        <p:txBody>
          <a:bodyPr anchor="ctr">
            <a:normAutofit/>
          </a:bodyPr>
          <a:lstStyle/>
          <a:p>
            <a:r>
              <a:rPr kumimoji="1" lang="ja-JP" altLang="en-US" sz="1800"/>
              <a:t>オレンジの部分</a:t>
            </a:r>
            <a:endParaRPr kumimoji="1" lang="en-US" altLang="ja-JP" sz="1800"/>
          </a:p>
          <a:p>
            <a:pPr lvl="1"/>
            <a:r>
              <a:rPr kumimoji="1" lang="ja-JP" altLang="en-US" sz="1400"/>
              <a:t>先ほど解説したものと同じ役割の部分</a:t>
            </a:r>
            <a:endParaRPr kumimoji="1" lang="en-US" altLang="ja-JP" sz="1400"/>
          </a:p>
          <a:p>
            <a:r>
              <a:rPr lang="ja-JP" altLang="en-US" sz="1800"/>
              <a:t>緑の部分</a:t>
            </a:r>
            <a:endParaRPr lang="en-US" altLang="ja-JP" sz="1800"/>
          </a:p>
          <a:p>
            <a:pPr lvl="1"/>
            <a:r>
              <a:rPr lang="ja-JP" altLang="en-US" sz="1400"/>
              <a:t>中央の</a:t>
            </a:r>
            <a:r>
              <a:rPr lang="en-US" altLang="ja-JP" sz="1400"/>
              <a:t>P,NMOS</a:t>
            </a:r>
            <a:r>
              <a:rPr lang="ja-JP" altLang="en-US" sz="1400"/>
              <a:t>ペアの動作</a:t>
            </a:r>
            <a:endParaRPr lang="en-US" altLang="ja-JP" sz="1400"/>
          </a:p>
          <a:p>
            <a:pPr lvl="2"/>
            <a:r>
              <a:rPr lang="ja-JP" altLang="en-US" sz="1000"/>
              <a:t>入力が低い時</a:t>
            </a:r>
            <a:r>
              <a:rPr lang="en-US" altLang="ja-JP" sz="1000"/>
              <a:t>: PMOS</a:t>
            </a:r>
            <a:r>
              <a:rPr lang="ja-JP" altLang="en-US" sz="1000"/>
              <a:t>ペアが動き、</a:t>
            </a:r>
            <a:r>
              <a:rPr lang="en-US" altLang="ja-JP" sz="1000"/>
              <a:t>NMOS</a:t>
            </a:r>
            <a:r>
              <a:rPr lang="ja-JP" altLang="en-US" sz="1000"/>
              <a:t>ペアはお休み</a:t>
            </a:r>
          </a:p>
          <a:p>
            <a:pPr lvl="2"/>
            <a:r>
              <a:rPr lang="ja-JP" altLang="en-US" sz="1000"/>
              <a:t>入力が高い時</a:t>
            </a:r>
            <a:r>
              <a:rPr lang="en-US" altLang="ja-JP" sz="1000"/>
              <a:t>: NMOS</a:t>
            </a:r>
            <a:r>
              <a:rPr lang="ja-JP" altLang="en-US" sz="1000"/>
              <a:t>ペアが動き、</a:t>
            </a:r>
            <a:r>
              <a:rPr lang="en-US" altLang="ja-JP" sz="1000"/>
              <a:t>PMOS</a:t>
            </a:r>
            <a:r>
              <a:rPr lang="ja-JP" altLang="en-US" sz="1000"/>
              <a:t>ペアはお休み</a:t>
            </a:r>
          </a:p>
          <a:p>
            <a:pPr lvl="2"/>
            <a:r>
              <a:rPr lang="ja-JP" altLang="en-US" sz="1000"/>
              <a:t>入力が中間の時</a:t>
            </a:r>
            <a:r>
              <a:rPr lang="en-US" altLang="ja-JP" sz="1000"/>
              <a:t>: </a:t>
            </a:r>
            <a:r>
              <a:rPr lang="ja-JP" altLang="en-US" sz="1000"/>
              <a:t>両方のペアが協力して動く</a:t>
            </a:r>
            <a:endParaRPr lang="en-US" altLang="ja-JP" sz="1000"/>
          </a:p>
          <a:p>
            <a:pPr lvl="1"/>
            <a:r>
              <a:rPr lang="ja-JP" altLang="en-US" sz="1400"/>
              <a:t>中央のラッチ段との動作</a:t>
            </a:r>
            <a:endParaRPr lang="en-US" altLang="ja-JP" sz="1400"/>
          </a:p>
          <a:p>
            <a:pPr lvl="2"/>
            <a:r>
              <a:rPr lang="en-US" altLang="ja-JP" sz="1000"/>
              <a:t>PMOS</a:t>
            </a:r>
            <a:r>
              <a:rPr lang="ja-JP" altLang="en-US" sz="1000"/>
              <a:t>側</a:t>
            </a:r>
            <a:r>
              <a:rPr lang="en-US" altLang="ja-JP" sz="1000"/>
              <a:t>: </a:t>
            </a:r>
            <a:r>
              <a:rPr lang="ja-JP" altLang="en-US" sz="1000"/>
              <a:t>上側から電流を流し込む（充電を加速させる）役割</a:t>
            </a:r>
          </a:p>
          <a:p>
            <a:pPr lvl="2"/>
            <a:r>
              <a:rPr lang="en-US" altLang="ja-JP" sz="1000"/>
              <a:t>NMOS</a:t>
            </a:r>
            <a:r>
              <a:rPr lang="ja-JP" altLang="en-US" sz="1000"/>
              <a:t>側</a:t>
            </a:r>
            <a:r>
              <a:rPr lang="en-US" altLang="ja-JP" sz="1000"/>
              <a:t>: </a:t>
            </a:r>
            <a:r>
              <a:rPr lang="ja-JP" altLang="en-US" sz="1000"/>
              <a:t>下側へ電流を引き抜く（放電を加速させる）役割</a:t>
            </a:r>
            <a:endParaRPr lang="en-US" altLang="ja-JP" sz="1000"/>
          </a:p>
          <a:p>
            <a:pPr lvl="2"/>
            <a:r>
              <a:rPr lang="ja-JP" altLang="en-US" sz="1000"/>
              <a:t>により、高速にコンパレータとして動作する</a:t>
            </a:r>
          </a:p>
          <a:p>
            <a:pPr lvl="1"/>
            <a:r>
              <a:rPr lang="ja-JP" altLang="en-US" sz="1400"/>
              <a:t>「</a:t>
            </a:r>
            <a:r>
              <a:rPr lang="en-US" altLang="ja-JP" sz="1400"/>
              <a:t>Long L</a:t>
            </a:r>
            <a:r>
              <a:rPr lang="ja-JP" altLang="en-US" sz="1400"/>
              <a:t>」部分＝</a:t>
            </a:r>
            <a:r>
              <a:rPr lang="ja-JP" altLang="en-US" sz="1300"/>
              <a:t>「テール電流源」</a:t>
            </a:r>
            <a:endParaRPr lang="ja-JP" altLang="en-US" sz="1000"/>
          </a:p>
          <a:p>
            <a:pPr lvl="2"/>
            <a:r>
              <a:rPr lang="ja-JP" altLang="en-US" sz="1000"/>
              <a:t>高インピーダンスのためキックバックノイズを低減する</a:t>
            </a:r>
          </a:p>
        </p:txBody>
      </p:sp>
      <p:sp>
        <p:nvSpPr>
          <p:cNvPr id="16" name="Rectangle 15">
            <a:extLst>
              <a:ext uri="{FF2B5EF4-FFF2-40B4-BE49-F238E27FC236}">
                <a16:creationId xmlns:a16="http://schemas.microsoft.com/office/drawing/2014/main" id="{D483775A-9424-B416-D38B-CBE340A7C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0E41F85-BA04-882A-7AC2-41BC367EB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64CE618-7F95-7B8F-7433-DD2BDCDCE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FB12DD22-E0E3-BA9A-0712-53811EC5AC77}"/>
              </a:ext>
            </a:extLst>
          </p:cNvPr>
          <p:cNvPicPr>
            <a:picLocks noChangeAspect="1"/>
          </p:cNvPicPr>
          <p:nvPr/>
        </p:nvPicPr>
        <p:blipFill>
          <a:blip r:embed="rId2"/>
          <a:srcRect r="31010"/>
          <a:stretch>
            <a:fillRect/>
          </a:stretch>
        </p:blipFill>
        <p:spPr>
          <a:xfrm>
            <a:off x="5799911" y="2055553"/>
            <a:ext cx="5978735" cy="2859809"/>
          </a:xfrm>
          <a:prstGeom prst="rect">
            <a:avLst/>
          </a:prstGeom>
        </p:spPr>
      </p:pic>
      <p:sp>
        <p:nvSpPr>
          <p:cNvPr id="8" name="正方形/長方形 7">
            <a:extLst>
              <a:ext uri="{FF2B5EF4-FFF2-40B4-BE49-F238E27FC236}">
                <a16:creationId xmlns:a16="http://schemas.microsoft.com/office/drawing/2014/main" id="{845B94BA-C968-4FEF-CD0B-6C90D93E82E7}"/>
              </a:ext>
            </a:extLst>
          </p:cNvPr>
          <p:cNvSpPr/>
          <p:nvPr/>
        </p:nvSpPr>
        <p:spPr>
          <a:xfrm>
            <a:off x="8525913" y="1944913"/>
            <a:ext cx="2963970" cy="2970449"/>
          </a:xfrm>
          <a:prstGeom prst="rect">
            <a:avLst/>
          </a:prstGeom>
          <a:solidFill>
            <a:srgbClr val="F2AA84">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8CACDB21-27A8-5ABC-CF76-36D48C71C5B5}"/>
              </a:ext>
            </a:extLst>
          </p:cNvPr>
          <p:cNvSpPr/>
          <p:nvPr/>
        </p:nvSpPr>
        <p:spPr>
          <a:xfrm>
            <a:off x="6322276" y="1944913"/>
            <a:ext cx="1727608" cy="2970449"/>
          </a:xfrm>
          <a:prstGeom prst="rect">
            <a:avLst/>
          </a:prstGeom>
          <a:solidFill>
            <a:schemeClr val="accent3">
              <a:lumMod val="40000"/>
              <a:lumOff val="60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吹き出し: 角を丸めた四角形 9">
            <a:extLst>
              <a:ext uri="{FF2B5EF4-FFF2-40B4-BE49-F238E27FC236}">
                <a16:creationId xmlns:a16="http://schemas.microsoft.com/office/drawing/2014/main" id="{531E59B8-BCE2-CDB7-2489-F32A4BC9D49B}"/>
              </a:ext>
            </a:extLst>
          </p:cNvPr>
          <p:cNvSpPr/>
          <p:nvPr/>
        </p:nvSpPr>
        <p:spPr>
          <a:xfrm>
            <a:off x="4313982" y="2903821"/>
            <a:ext cx="1698061" cy="523116"/>
          </a:xfrm>
          <a:prstGeom prst="wedgeRoundRectCallout">
            <a:avLst>
              <a:gd name="adj1" fmla="val -52460"/>
              <a:gd name="adj2" fmla="val 8015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a:t>Rail-to-Rail</a:t>
            </a:r>
            <a:r>
              <a:rPr kumimoji="1" lang="ja-JP" altLang="en-US"/>
              <a:t>部</a:t>
            </a:r>
          </a:p>
        </p:txBody>
      </p:sp>
    </p:spTree>
    <p:extLst>
      <p:ext uri="{BB962C8B-B14F-4D97-AF65-F5344CB8AC3E}">
        <p14:creationId xmlns:p14="http://schemas.microsoft.com/office/powerpoint/2010/main" val="3515463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DEDCC5D-8B8A-40DB-BE90-A3AA27C6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2" name="Rectangle 11">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7D61131-2772-1A08-2714-1749248350EC}"/>
              </a:ext>
            </a:extLst>
          </p:cNvPr>
          <p:cNvSpPr>
            <a:spLocks noGrp="1"/>
          </p:cNvSpPr>
          <p:nvPr>
            <p:ph type="title"/>
          </p:nvPr>
        </p:nvSpPr>
        <p:spPr>
          <a:xfrm>
            <a:off x="1282963" y="1238080"/>
            <a:ext cx="9849751" cy="1349671"/>
          </a:xfrm>
        </p:spPr>
        <p:txBody>
          <a:bodyPr anchor="b">
            <a:normAutofit/>
          </a:bodyPr>
          <a:lstStyle/>
          <a:p>
            <a:r>
              <a:rPr kumimoji="1" lang="ja-JP" altLang="en-US" sz="5400"/>
              <a:t>設計方針</a:t>
            </a:r>
          </a:p>
        </p:txBody>
      </p:sp>
      <p:graphicFrame>
        <p:nvGraphicFramePr>
          <p:cNvPr id="4" name="コンテンツ プレースホルダー 3">
            <a:extLst>
              <a:ext uri="{FF2B5EF4-FFF2-40B4-BE49-F238E27FC236}">
                <a16:creationId xmlns:a16="http://schemas.microsoft.com/office/drawing/2014/main" id="{99C62764-0332-B754-8290-92DC95D4F447}"/>
              </a:ext>
            </a:extLst>
          </p:cNvPr>
          <p:cNvGraphicFramePr>
            <a:graphicFrameLocks noGrp="1"/>
          </p:cNvGraphicFramePr>
          <p:nvPr>
            <p:ph idx="1"/>
            <p:extLst>
              <p:ext uri="{D42A27DB-BD31-4B8C-83A1-F6EECF244321}">
                <p14:modId xmlns:p14="http://schemas.microsoft.com/office/powerpoint/2010/main" val="1745812336"/>
              </p:ext>
            </p:extLst>
          </p:nvPr>
        </p:nvGraphicFramePr>
        <p:xfrm>
          <a:off x="1284625" y="3158939"/>
          <a:ext cx="10183688" cy="2817584"/>
        </p:xfrm>
        <a:graphic>
          <a:graphicData uri="http://schemas.openxmlformats.org/drawingml/2006/table">
            <a:tbl>
              <a:tblPr firstRow="1" bandRow="1">
                <a:tableStyleId>{16D9F66E-5EB9-4882-86FB-DCBF35E3C3E4}</a:tableStyleId>
              </a:tblPr>
              <a:tblGrid>
                <a:gridCol w="1543888">
                  <a:extLst>
                    <a:ext uri="{9D8B030D-6E8A-4147-A177-3AD203B41FA5}">
                      <a16:colId xmlns:a16="http://schemas.microsoft.com/office/drawing/2014/main" val="2223378708"/>
                    </a:ext>
                  </a:extLst>
                </a:gridCol>
                <a:gridCol w="1756282">
                  <a:extLst>
                    <a:ext uri="{9D8B030D-6E8A-4147-A177-3AD203B41FA5}">
                      <a16:colId xmlns:a16="http://schemas.microsoft.com/office/drawing/2014/main" val="2402935926"/>
                    </a:ext>
                  </a:extLst>
                </a:gridCol>
                <a:gridCol w="6883518">
                  <a:extLst>
                    <a:ext uri="{9D8B030D-6E8A-4147-A177-3AD203B41FA5}">
                      <a16:colId xmlns:a16="http://schemas.microsoft.com/office/drawing/2014/main" val="2270342438"/>
                    </a:ext>
                  </a:extLst>
                </a:gridCol>
              </a:tblGrid>
              <a:tr h="415612">
                <a:tc>
                  <a:txBody>
                    <a:bodyPr/>
                    <a:lstStyle/>
                    <a:p>
                      <a:pPr rtl="0">
                        <a:buNone/>
                      </a:pPr>
                      <a:r>
                        <a:rPr lang="ja-JP" altLang="en-US" sz="1700" b="1">
                          <a:solidFill>
                            <a:srgbClr val="1F1F1F"/>
                          </a:solidFill>
                          <a:effectLst/>
                          <a:latin typeface="Google Sans Text"/>
                        </a:rPr>
                        <a:t>インスタンス</a:t>
                      </a:r>
                      <a:endParaRPr lang="ja-JP" altLang="en-US" sz="1700">
                        <a:solidFill>
                          <a:srgbClr val="1F1F1F"/>
                        </a:solidFill>
                        <a:effectLst/>
                        <a:latin typeface="Google Sans Text"/>
                      </a:endParaRPr>
                    </a:p>
                  </a:txBody>
                  <a:tcPr marL="85141" marR="47300" marT="63067" marB="63067" anchor="ctr"/>
                </a:tc>
                <a:tc>
                  <a:txBody>
                    <a:bodyPr/>
                    <a:lstStyle/>
                    <a:p>
                      <a:pPr rtl="0">
                        <a:buNone/>
                      </a:pPr>
                      <a:r>
                        <a:rPr lang="ja-JP" altLang="en-US" sz="1700" b="1">
                          <a:solidFill>
                            <a:srgbClr val="1F1F1F"/>
                          </a:solidFill>
                          <a:effectLst/>
                          <a:latin typeface="Google Sans Text"/>
                        </a:rPr>
                        <a:t>種類</a:t>
                      </a:r>
                      <a:endParaRPr lang="ja-JP" altLang="en-US" sz="1700">
                        <a:solidFill>
                          <a:srgbClr val="1F1F1F"/>
                        </a:solidFill>
                        <a:effectLst/>
                        <a:latin typeface="Google Sans Text"/>
                      </a:endParaRPr>
                    </a:p>
                  </a:txBody>
                  <a:tcPr marL="85141" marR="47300" marT="63067" marB="63067" anchor="ctr"/>
                </a:tc>
                <a:tc>
                  <a:txBody>
                    <a:bodyPr/>
                    <a:lstStyle/>
                    <a:p>
                      <a:pPr rtl="0">
                        <a:buNone/>
                      </a:pPr>
                      <a:r>
                        <a:rPr lang="ja-JP" altLang="en-US" sz="1700" b="1">
                          <a:solidFill>
                            <a:srgbClr val="1F1F1F"/>
                          </a:solidFill>
                          <a:effectLst/>
                        </a:rPr>
                        <a:t>役割・設計意図</a:t>
                      </a:r>
                      <a:endParaRPr lang="en-US" sz="1700">
                        <a:solidFill>
                          <a:srgbClr val="1F1F1F"/>
                        </a:solidFill>
                        <a:effectLst/>
                        <a:latin typeface="Google Sans Text"/>
                      </a:endParaRPr>
                    </a:p>
                  </a:txBody>
                  <a:tcPr marL="85141" marR="47300" marT="63067" marB="63067" anchor="ctr"/>
                </a:tc>
                <a:extLst>
                  <a:ext uri="{0D108BD9-81ED-4DB2-BD59-A6C34878D82A}">
                    <a16:rowId xmlns:a16="http://schemas.microsoft.com/office/drawing/2014/main" val="3248509396"/>
                  </a:ext>
                </a:extLst>
              </a:tr>
              <a:tr h="671033">
                <a:tc>
                  <a:txBody>
                    <a:bodyPr/>
                    <a:lstStyle/>
                    <a:p>
                      <a:pPr rtl="0">
                        <a:buNone/>
                      </a:pPr>
                      <a:r>
                        <a:rPr lang="ja-JP" altLang="en-US" sz="1700" b="1">
                          <a:solidFill>
                            <a:srgbClr val="1F1F1F"/>
                          </a:solidFill>
                          <a:effectLst/>
                        </a:rPr>
                        <a:t>電流源</a:t>
                      </a:r>
                      <a:endParaRPr lang="ja-JP" altLang="en-US" sz="1700">
                        <a:solidFill>
                          <a:srgbClr val="1F1F1F"/>
                        </a:solidFill>
                        <a:effectLst/>
                        <a:latin typeface="Google Sans Text"/>
                      </a:endParaRPr>
                    </a:p>
                  </a:txBody>
                  <a:tcPr marL="85141" marR="47300" marT="63067" marB="63067" anchor="ctr">
                    <a:solidFill>
                      <a:schemeClr val="accent6">
                        <a:lumMod val="20000"/>
                        <a:lumOff val="80000"/>
                      </a:schemeClr>
                    </a:solidFill>
                  </a:tcPr>
                </a:tc>
                <a:tc>
                  <a:txBody>
                    <a:bodyPr/>
                    <a:lstStyle/>
                    <a:p>
                      <a:pPr rtl="0">
                        <a:buNone/>
                      </a:pPr>
                      <a:r>
                        <a:rPr lang="en-US" sz="1700">
                          <a:solidFill>
                            <a:srgbClr val="1F1F1F"/>
                          </a:solidFill>
                          <a:effectLst/>
                        </a:rPr>
                        <a:t>Long L (P &amp; N)</a:t>
                      </a:r>
                      <a:endParaRPr lang="en-US" sz="1700">
                        <a:solidFill>
                          <a:srgbClr val="1F1F1F"/>
                        </a:solidFill>
                        <a:effectLst/>
                        <a:latin typeface="Google Sans Text"/>
                      </a:endParaRPr>
                    </a:p>
                  </a:txBody>
                  <a:tcPr marL="85141" marR="47300" marT="63067" marB="63067" anchor="ctr">
                    <a:solidFill>
                      <a:schemeClr val="accent6">
                        <a:lumMod val="20000"/>
                        <a:lumOff val="80000"/>
                      </a:schemeClr>
                    </a:solidFill>
                  </a:tcPr>
                </a:tc>
                <a:tc>
                  <a:txBody>
                    <a:bodyPr/>
                    <a:lstStyle/>
                    <a:p>
                      <a:pPr rtl="0">
                        <a:buNone/>
                      </a:pPr>
                      <a:r>
                        <a:rPr lang="en-US" altLang="ja-JP" sz="1700">
                          <a:solidFill>
                            <a:srgbClr val="1F1F1F"/>
                          </a:solidFill>
                          <a:effectLst/>
                          <a:latin typeface="Google Sans Text"/>
                        </a:rPr>
                        <a:t>W=</a:t>
                      </a:r>
                      <a:r>
                        <a:rPr lang="ja-JP" altLang="en-US" sz="1700">
                          <a:solidFill>
                            <a:srgbClr val="1F1F1F"/>
                          </a:solidFill>
                          <a:effectLst/>
                          <a:latin typeface="Google Sans Text"/>
                        </a:rPr>
                        <a:t>必要な電流が流せるサイズ</a:t>
                      </a:r>
                      <a:endParaRPr lang="en-US" altLang="ja-JP" sz="1700">
                        <a:solidFill>
                          <a:srgbClr val="1F1F1F"/>
                        </a:solidFill>
                        <a:effectLst/>
                        <a:latin typeface="Google Sans Text"/>
                      </a:endParaRPr>
                    </a:p>
                    <a:p>
                      <a:pPr rtl="0">
                        <a:buNone/>
                      </a:pPr>
                      <a:r>
                        <a:rPr lang="en-US" altLang="ja-JP" sz="1700">
                          <a:solidFill>
                            <a:srgbClr val="1F1F1F"/>
                          </a:solidFill>
                          <a:effectLst/>
                          <a:latin typeface="Google Sans Text"/>
                        </a:rPr>
                        <a:t>L=</a:t>
                      </a:r>
                      <a:r>
                        <a:rPr lang="ja-JP" altLang="en-US" sz="1700">
                          <a:solidFill>
                            <a:srgbClr val="1F1F1F"/>
                          </a:solidFill>
                          <a:effectLst/>
                          <a:latin typeface="Google Sans Text"/>
                        </a:rPr>
                        <a:t>短チャンネル効果対策などを考慮した最小値の</a:t>
                      </a:r>
                      <a:r>
                        <a:rPr lang="en-US" altLang="ja-JP" sz="1700">
                          <a:solidFill>
                            <a:srgbClr val="1F1F1F"/>
                          </a:solidFill>
                          <a:effectLst/>
                          <a:latin typeface="Google Sans Text"/>
                        </a:rPr>
                        <a:t>3</a:t>
                      </a:r>
                      <a:r>
                        <a:rPr lang="ja-JP" altLang="en-US" sz="1700">
                          <a:solidFill>
                            <a:srgbClr val="1F1F1F"/>
                          </a:solidFill>
                          <a:effectLst/>
                          <a:latin typeface="Google Sans Text"/>
                        </a:rPr>
                        <a:t>～</a:t>
                      </a:r>
                      <a:r>
                        <a:rPr lang="en-US" altLang="ja-JP" sz="1700">
                          <a:solidFill>
                            <a:srgbClr val="1F1F1F"/>
                          </a:solidFill>
                          <a:effectLst/>
                          <a:latin typeface="Google Sans Text"/>
                        </a:rPr>
                        <a:t>5</a:t>
                      </a:r>
                      <a:r>
                        <a:rPr lang="ja-JP" altLang="en-US" sz="1700">
                          <a:solidFill>
                            <a:srgbClr val="1F1F1F"/>
                          </a:solidFill>
                          <a:effectLst/>
                          <a:latin typeface="Google Sans Text"/>
                        </a:rPr>
                        <a:t>倍</a:t>
                      </a:r>
                      <a:endParaRPr lang="en-US" altLang="ja-JP" sz="1700">
                        <a:solidFill>
                          <a:srgbClr val="1F1F1F"/>
                        </a:solidFill>
                        <a:effectLst/>
                        <a:latin typeface="Google Sans Text"/>
                      </a:endParaRPr>
                    </a:p>
                  </a:txBody>
                  <a:tcPr marL="85141" marR="47300" marT="63067" marB="63067" anchor="ctr">
                    <a:solidFill>
                      <a:schemeClr val="accent6">
                        <a:lumMod val="20000"/>
                        <a:lumOff val="80000"/>
                      </a:schemeClr>
                    </a:solidFill>
                  </a:tcPr>
                </a:tc>
                <a:extLst>
                  <a:ext uri="{0D108BD9-81ED-4DB2-BD59-A6C34878D82A}">
                    <a16:rowId xmlns:a16="http://schemas.microsoft.com/office/drawing/2014/main" val="4166605126"/>
                  </a:ext>
                </a:extLst>
              </a:tr>
              <a:tr h="415612">
                <a:tc>
                  <a:txBody>
                    <a:bodyPr/>
                    <a:lstStyle/>
                    <a:p>
                      <a:pPr rtl="0">
                        <a:buNone/>
                      </a:pPr>
                      <a:r>
                        <a:rPr lang="ja-JP" altLang="en-US" sz="1700" b="1">
                          <a:solidFill>
                            <a:srgbClr val="1F1F1F"/>
                          </a:solidFill>
                          <a:effectLst/>
                        </a:rPr>
                        <a:t>入力対</a:t>
                      </a:r>
                      <a:endParaRPr lang="ja-JP" altLang="en-US" sz="1700">
                        <a:solidFill>
                          <a:srgbClr val="1F1F1F"/>
                        </a:solidFill>
                        <a:effectLst/>
                        <a:latin typeface="Google Sans Text"/>
                      </a:endParaRPr>
                    </a:p>
                  </a:txBody>
                  <a:tcPr marL="85141" marR="47300" marT="63067" marB="63067" anchor="ctr">
                    <a:solidFill>
                      <a:schemeClr val="accent6">
                        <a:lumMod val="40000"/>
                        <a:lumOff val="60000"/>
                      </a:schemeClr>
                    </a:solidFill>
                  </a:tcPr>
                </a:tc>
                <a:tc>
                  <a:txBody>
                    <a:bodyPr/>
                    <a:lstStyle/>
                    <a:p>
                      <a:pPr rtl="0">
                        <a:buNone/>
                      </a:pPr>
                      <a:r>
                        <a:rPr lang="en-US" sz="1700">
                          <a:solidFill>
                            <a:srgbClr val="1F1F1F"/>
                          </a:solidFill>
                          <a:effectLst/>
                        </a:rPr>
                        <a:t>PMOS Pair</a:t>
                      </a:r>
                      <a:endParaRPr lang="en-US" sz="1700">
                        <a:solidFill>
                          <a:srgbClr val="1F1F1F"/>
                        </a:solidFill>
                        <a:effectLst/>
                        <a:latin typeface="Google Sans Text"/>
                      </a:endParaRPr>
                    </a:p>
                  </a:txBody>
                  <a:tcPr marL="85141" marR="47300" marT="63067" marB="63067" anchor="ctr">
                    <a:solidFill>
                      <a:schemeClr val="accent6">
                        <a:lumMod val="40000"/>
                        <a:lumOff val="60000"/>
                      </a:schemeClr>
                    </a:solidFill>
                  </a:tcPr>
                </a:tc>
                <a:tc>
                  <a:txBody>
                    <a:bodyPr/>
                    <a:lstStyle/>
                    <a:p>
                      <a:pPr rtl="0">
                        <a:buNone/>
                      </a:pPr>
                      <a:r>
                        <a:rPr lang="en-US" altLang="ja-JP" sz="1700">
                          <a:solidFill>
                            <a:srgbClr val="1F1F1F"/>
                          </a:solidFill>
                          <a:effectLst/>
                          <a:latin typeface="Google Sans Text"/>
                        </a:rPr>
                        <a:t>W=</a:t>
                      </a:r>
                      <a:r>
                        <a:rPr lang="ja-JP" altLang="en-US" sz="1700">
                          <a:solidFill>
                            <a:srgbClr val="1F1F1F"/>
                          </a:solidFill>
                          <a:effectLst/>
                          <a:latin typeface="Google Sans Text"/>
                        </a:rPr>
                        <a:t>必要なクロックで動作するサイズ</a:t>
                      </a:r>
                      <a:endParaRPr lang="en-US" altLang="ja-JP" sz="1700">
                        <a:solidFill>
                          <a:srgbClr val="1F1F1F"/>
                        </a:solidFill>
                        <a:effectLst/>
                        <a:latin typeface="Google Sans Tex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700">
                          <a:solidFill>
                            <a:srgbClr val="1F1F1F"/>
                          </a:solidFill>
                          <a:effectLst/>
                          <a:latin typeface="Google Sans Text"/>
                        </a:rPr>
                        <a:t>L=</a:t>
                      </a:r>
                      <a:r>
                        <a:rPr lang="ja-JP" altLang="en-US" sz="1700">
                          <a:solidFill>
                            <a:srgbClr val="1F1F1F"/>
                          </a:solidFill>
                          <a:effectLst/>
                          <a:latin typeface="Google Sans Text"/>
                        </a:rPr>
                        <a:t>短チャンネル効果対策などを考慮した最小値</a:t>
                      </a:r>
                      <a:endParaRPr lang="en-US" altLang="ja-JP" sz="1700">
                        <a:solidFill>
                          <a:srgbClr val="1F1F1F"/>
                        </a:solidFill>
                        <a:effectLst/>
                        <a:latin typeface="Google Sans Text"/>
                      </a:endParaRPr>
                    </a:p>
                  </a:txBody>
                  <a:tcPr marL="85141" marR="47300" marT="63067" marB="63067" anchor="ctr">
                    <a:solidFill>
                      <a:schemeClr val="accent6">
                        <a:lumMod val="40000"/>
                        <a:lumOff val="60000"/>
                      </a:schemeClr>
                    </a:solidFill>
                  </a:tcPr>
                </a:tc>
                <a:extLst>
                  <a:ext uri="{0D108BD9-81ED-4DB2-BD59-A6C34878D82A}">
                    <a16:rowId xmlns:a16="http://schemas.microsoft.com/office/drawing/2014/main" val="3237799506"/>
                  </a:ext>
                </a:extLst>
              </a:tr>
              <a:tr h="415612">
                <a:tc>
                  <a:txBody>
                    <a:bodyPr/>
                    <a:lstStyle/>
                    <a:p>
                      <a:pPr rtl="0">
                        <a:buNone/>
                      </a:pPr>
                      <a:r>
                        <a:rPr lang="ja-JP" altLang="en-US" sz="1700" b="1">
                          <a:solidFill>
                            <a:srgbClr val="1F1F1F"/>
                          </a:solidFill>
                          <a:effectLst/>
                        </a:rPr>
                        <a:t>入力対</a:t>
                      </a:r>
                      <a:endParaRPr lang="ja-JP" altLang="en-US" sz="1700">
                        <a:solidFill>
                          <a:srgbClr val="1F1F1F"/>
                        </a:solidFill>
                        <a:effectLst/>
                        <a:latin typeface="Google Sans Text"/>
                      </a:endParaRPr>
                    </a:p>
                  </a:txBody>
                  <a:tcPr marL="85141" marR="47300" marT="63067" marB="63067" anchor="ctr">
                    <a:solidFill>
                      <a:schemeClr val="accent6">
                        <a:lumMod val="40000"/>
                        <a:lumOff val="60000"/>
                      </a:schemeClr>
                    </a:solidFill>
                  </a:tcPr>
                </a:tc>
                <a:tc>
                  <a:txBody>
                    <a:bodyPr/>
                    <a:lstStyle/>
                    <a:p>
                      <a:pPr rtl="0">
                        <a:buNone/>
                      </a:pPr>
                      <a:r>
                        <a:rPr lang="en-US" sz="1700">
                          <a:solidFill>
                            <a:srgbClr val="1F1F1F"/>
                          </a:solidFill>
                          <a:effectLst/>
                        </a:rPr>
                        <a:t>NMOS Pair</a:t>
                      </a:r>
                      <a:endParaRPr lang="en-US" sz="1700">
                        <a:solidFill>
                          <a:srgbClr val="1F1F1F"/>
                        </a:solidFill>
                        <a:effectLst/>
                        <a:latin typeface="Google Sans Text"/>
                      </a:endParaRPr>
                    </a:p>
                  </a:txBody>
                  <a:tcPr marL="85141" marR="47300" marT="63067" marB="63067" anchor="ctr">
                    <a:solidFill>
                      <a:schemeClr val="accent6">
                        <a:lumMod val="40000"/>
                        <a:lumOff val="60000"/>
                      </a:schemeClr>
                    </a:solidFill>
                  </a:tcPr>
                </a:tc>
                <a:tc>
                  <a:txBody>
                    <a:bodyPr/>
                    <a:lstStyle/>
                    <a:p>
                      <a:pPr rtl="0">
                        <a:buNone/>
                      </a:pPr>
                      <a:r>
                        <a:rPr lang="en-US" altLang="ja-JP" sz="1700">
                          <a:solidFill>
                            <a:srgbClr val="1F1F1F"/>
                          </a:solidFill>
                          <a:effectLst/>
                          <a:latin typeface="Google Sans Text"/>
                        </a:rPr>
                        <a:t>P/N</a:t>
                      </a:r>
                      <a:r>
                        <a:rPr lang="ja-JP" altLang="en-US" sz="1700">
                          <a:solidFill>
                            <a:srgbClr val="1F1F1F"/>
                          </a:solidFill>
                          <a:effectLst/>
                          <a:latin typeface="Google Sans Text"/>
                        </a:rPr>
                        <a:t>バランスを考慮した値</a:t>
                      </a:r>
                      <a:endParaRPr lang="en-US" altLang="ja-JP" sz="1700">
                        <a:solidFill>
                          <a:srgbClr val="1F1F1F"/>
                        </a:solidFill>
                        <a:effectLst/>
                        <a:latin typeface="Google Sans Text"/>
                      </a:endParaRPr>
                    </a:p>
                  </a:txBody>
                  <a:tcPr marL="85141" marR="47300" marT="63067" marB="63067" anchor="ctr">
                    <a:solidFill>
                      <a:schemeClr val="accent6">
                        <a:lumMod val="40000"/>
                        <a:lumOff val="60000"/>
                      </a:schemeClr>
                    </a:solidFill>
                  </a:tcPr>
                </a:tc>
                <a:extLst>
                  <a:ext uri="{0D108BD9-81ED-4DB2-BD59-A6C34878D82A}">
                    <a16:rowId xmlns:a16="http://schemas.microsoft.com/office/drawing/2014/main" val="1734212617"/>
                  </a:ext>
                </a:extLst>
              </a:tr>
              <a:tr h="671033">
                <a:tc>
                  <a:txBody>
                    <a:bodyPr/>
                    <a:lstStyle/>
                    <a:p>
                      <a:pPr rtl="0">
                        <a:buNone/>
                      </a:pPr>
                      <a:r>
                        <a:rPr lang="ja-JP" altLang="en-US" sz="1700" b="1">
                          <a:solidFill>
                            <a:srgbClr val="1F1F1F"/>
                          </a:solidFill>
                          <a:effectLst/>
                        </a:rPr>
                        <a:t>ラッチ</a:t>
                      </a:r>
                      <a:endParaRPr lang="ja-JP" altLang="en-US" sz="1700">
                        <a:solidFill>
                          <a:srgbClr val="1F1F1F"/>
                        </a:solidFill>
                        <a:effectLst/>
                        <a:latin typeface="Google Sans Text"/>
                      </a:endParaRPr>
                    </a:p>
                  </a:txBody>
                  <a:tcPr marL="85141" marR="47300" marT="63067" marB="63067" anchor="ctr"/>
                </a:tc>
                <a:tc>
                  <a:txBody>
                    <a:bodyPr/>
                    <a:lstStyle/>
                    <a:p>
                      <a:pPr rtl="0">
                        <a:buNone/>
                      </a:pPr>
                      <a:r>
                        <a:rPr lang="ja-JP" altLang="en-US" sz="1700">
                          <a:solidFill>
                            <a:srgbClr val="1F1F1F"/>
                          </a:solidFill>
                          <a:effectLst/>
                        </a:rPr>
                        <a:t>クロス結合部</a:t>
                      </a:r>
                      <a:endParaRPr lang="ja-JP" altLang="en-US" sz="1700">
                        <a:solidFill>
                          <a:srgbClr val="1F1F1F"/>
                        </a:solidFill>
                        <a:effectLst/>
                        <a:latin typeface="Google Sans Text"/>
                      </a:endParaRPr>
                    </a:p>
                  </a:txBody>
                  <a:tcPr marL="85141" marR="47300" marT="63067" marB="63067" anchor="ctr"/>
                </a:tc>
                <a:tc>
                  <a:txBody>
                    <a:bodyPr/>
                    <a:lstStyle/>
                    <a:p>
                      <a:pPr rtl="0">
                        <a:buNone/>
                      </a:pPr>
                      <a:r>
                        <a:rPr lang="en-US" altLang="ja-JP" sz="1700">
                          <a:solidFill>
                            <a:srgbClr val="1F1F1F"/>
                          </a:solidFill>
                          <a:effectLst/>
                          <a:latin typeface="Google Sans Text"/>
                        </a:rPr>
                        <a:t>L=</a:t>
                      </a:r>
                      <a:r>
                        <a:rPr lang="ja-JP" altLang="en-US" sz="1700">
                          <a:solidFill>
                            <a:srgbClr val="1F1F1F"/>
                          </a:solidFill>
                          <a:effectLst/>
                          <a:latin typeface="Google Sans Text"/>
                        </a:rPr>
                        <a:t>短チャンネル効果対策などを考慮した最小値</a:t>
                      </a:r>
                      <a:endParaRPr lang="en-US" altLang="ja-JP" sz="1700">
                        <a:solidFill>
                          <a:srgbClr val="1F1F1F"/>
                        </a:solidFill>
                        <a:effectLst/>
                        <a:latin typeface="Google Sans Tex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700">
                          <a:solidFill>
                            <a:srgbClr val="1F1F1F"/>
                          </a:solidFill>
                          <a:effectLst/>
                          <a:latin typeface="Google Sans Text"/>
                        </a:rPr>
                        <a:t>W/L</a:t>
                      </a:r>
                      <a:r>
                        <a:rPr lang="ja-JP" altLang="en-US" sz="1700">
                          <a:solidFill>
                            <a:srgbClr val="1F1F1F"/>
                          </a:solidFill>
                          <a:effectLst/>
                          <a:latin typeface="Google Sans Text"/>
                        </a:rPr>
                        <a:t>比</a:t>
                      </a:r>
                      <a:r>
                        <a:rPr lang="en-US" altLang="ja-JP" sz="1700">
                          <a:solidFill>
                            <a:srgbClr val="1F1F1F"/>
                          </a:solidFill>
                          <a:effectLst/>
                          <a:latin typeface="Google Sans Text"/>
                        </a:rPr>
                        <a:t>=</a:t>
                      </a:r>
                      <a:r>
                        <a:rPr lang="ja-JP" altLang="en-US" sz="1700">
                          <a:solidFill>
                            <a:srgbClr val="1F1F1F"/>
                          </a:solidFill>
                          <a:effectLst/>
                          <a:latin typeface="Google Sans Text"/>
                        </a:rPr>
                        <a:t>電流源と同じにしてラッチ動作すれば</a:t>
                      </a:r>
                      <a:r>
                        <a:rPr lang="en-US" altLang="ja-JP" sz="1700">
                          <a:solidFill>
                            <a:srgbClr val="1F1F1F"/>
                          </a:solidFill>
                          <a:effectLst/>
                          <a:latin typeface="Google Sans Text"/>
                        </a:rPr>
                        <a:t>OK</a:t>
                      </a:r>
                      <a:r>
                        <a:rPr lang="ja-JP" altLang="en-US" sz="1700">
                          <a:solidFill>
                            <a:srgbClr val="1F1F1F"/>
                          </a:solidFill>
                          <a:effectLst/>
                          <a:latin typeface="Google Sans Text"/>
                        </a:rPr>
                        <a:t>。しない内調整する。</a:t>
                      </a:r>
                      <a:endParaRPr lang="en-US" altLang="ja-JP" sz="1700">
                        <a:solidFill>
                          <a:srgbClr val="1F1F1F"/>
                        </a:solidFill>
                        <a:effectLst/>
                        <a:latin typeface="Google Sans Text"/>
                      </a:endParaRPr>
                    </a:p>
                  </a:txBody>
                  <a:tcPr marL="85141" marR="47300" marT="63067" marB="63067" anchor="ctr"/>
                </a:tc>
                <a:extLst>
                  <a:ext uri="{0D108BD9-81ED-4DB2-BD59-A6C34878D82A}">
                    <a16:rowId xmlns:a16="http://schemas.microsoft.com/office/drawing/2014/main" val="2974971326"/>
                  </a:ext>
                </a:extLst>
              </a:tr>
            </a:tbl>
          </a:graphicData>
        </a:graphic>
      </p:graphicFrame>
    </p:spTree>
    <p:extLst>
      <p:ext uri="{BB962C8B-B14F-4D97-AF65-F5344CB8AC3E}">
        <p14:creationId xmlns:p14="http://schemas.microsoft.com/office/powerpoint/2010/main" val="13821435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4844C0-778A-F1A0-724C-B3CB654450D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1FA9C8-2089-1DE4-9DB6-B74599857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7E1C81A-4FB9-BCBE-B22A-1B1FEE810D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69A8D8F1-D423-078C-313E-D6D293C08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FE48742-3D72-3B8B-E9A6-177B5517C2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8CFD7F-C323-1E5D-FFD0-D0800968E4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0FB7287E-0923-29C4-F92E-45A5BDB8C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86D2ED6-C683-9DC4-0210-FE43BD8E8CC5}"/>
              </a:ext>
            </a:extLst>
          </p:cNvPr>
          <p:cNvSpPr>
            <a:spLocks noGrp="1"/>
          </p:cNvSpPr>
          <p:nvPr>
            <p:ph type="title"/>
          </p:nvPr>
        </p:nvSpPr>
        <p:spPr>
          <a:xfrm>
            <a:off x="1043631" y="809898"/>
            <a:ext cx="10569738" cy="1554480"/>
          </a:xfrm>
        </p:spPr>
        <p:txBody>
          <a:bodyPr anchor="ctr">
            <a:normAutofit fontScale="90000"/>
          </a:bodyPr>
          <a:lstStyle/>
          <a:p>
            <a:r>
              <a:rPr lang="en-US" altLang="ja-JP" sz="4800" dirty="0"/>
              <a:t>Rail-to-Rail</a:t>
            </a:r>
            <a:r>
              <a:rPr lang="ja-JP" altLang="en-US" sz="4800" dirty="0"/>
              <a:t>入力差動対</a:t>
            </a:r>
            <a:br>
              <a:rPr lang="en-US" altLang="ja-JP" sz="4800" dirty="0"/>
            </a:br>
            <a:r>
              <a:rPr lang="ja-JP" altLang="en-US" sz="4800" dirty="0"/>
              <a:t>クロックドコンパレータ設計：スペック</a:t>
            </a:r>
            <a:endParaRPr kumimoji="1" lang="ja-JP" altLang="en-US" sz="4800" dirty="0"/>
          </a:p>
        </p:txBody>
      </p:sp>
      <p:cxnSp>
        <p:nvCxnSpPr>
          <p:cNvPr id="18" name="Straight Connector 17">
            <a:extLst>
              <a:ext uri="{FF2B5EF4-FFF2-40B4-BE49-F238E27FC236}">
                <a16:creationId xmlns:a16="http://schemas.microsoft.com/office/drawing/2014/main" id="{1926C258-FCAC-D8B1-82B6-3CD9E85B4D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コンテンツ プレースホルダー 2">
            <a:extLst>
              <a:ext uri="{FF2B5EF4-FFF2-40B4-BE49-F238E27FC236}">
                <a16:creationId xmlns:a16="http://schemas.microsoft.com/office/drawing/2014/main" id="{EAE68A21-085F-2093-05E5-C3AF8F3EAAC8}"/>
              </a:ext>
            </a:extLst>
          </p:cNvPr>
          <p:cNvGraphicFramePr>
            <a:graphicFrameLocks noGrp="1"/>
          </p:cNvGraphicFramePr>
          <p:nvPr>
            <p:ph idx="1"/>
            <p:extLst>
              <p:ext uri="{D42A27DB-BD31-4B8C-83A1-F6EECF244321}">
                <p14:modId xmlns:p14="http://schemas.microsoft.com/office/powerpoint/2010/main" val="4293068231"/>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41606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D0DB6C-AFFE-BB7E-3A10-1A8E7E7BB03F}"/>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55C35847-AEF0-83FE-5B27-3CF9BF354292}"/>
              </a:ext>
            </a:extLst>
          </p:cNvPr>
          <p:cNvPicPr>
            <a:picLocks noChangeAspect="1"/>
          </p:cNvPicPr>
          <p:nvPr/>
        </p:nvPicPr>
        <p:blipFill>
          <a:blip r:embed="rId2"/>
          <a:stretch>
            <a:fillRect/>
          </a:stretch>
        </p:blipFill>
        <p:spPr>
          <a:xfrm>
            <a:off x="0" y="2355726"/>
            <a:ext cx="12192000" cy="4151085"/>
          </a:xfrm>
          <a:prstGeom prst="rect">
            <a:avLst/>
          </a:prstGeom>
        </p:spPr>
      </p:pic>
      <p:sp>
        <p:nvSpPr>
          <p:cNvPr id="10" name="Rectangle 9">
            <a:extLst>
              <a:ext uri="{FF2B5EF4-FFF2-40B4-BE49-F238E27FC236}">
                <a16:creationId xmlns:a16="http://schemas.microsoft.com/office/drawing/2014/main" id="{76EBC988-29A7-925A-DD6D-AC58463DB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284F3F6-39C0-182F-9B48-0BF3D8DD914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dirty="0">
                <a:solidFill>
                  <a:schemeClr val="bg1"/>
                </a:solidFill>
                <a:latin typeface="+mj-lt"/>
                <a:ea typeface="+mj-ea"/>
                <a:cs typeface="+mj-cs"/>
              </a:rPr>
              <a:t>シミュレーション回路例</a:t>
            </a:r>
          </a:p>
        </p:txBody>
      </p:sp>
      <p:sp>
        <p:nvSpPr>
          <p:cNvPr id="9" name="正方形/長方形 8">
            <a:extLst>
              <a:ext uri="{FF2B5EF4-FFF2-40B4-BE49-F238E27FC236}">
                <a16:creationId xmlns:a16="http://schemas.microsoft.com/office/drawing/2014/main" id="{FAAEA0B9-C1BE-DE26-7CC5-A84DF979CFD6}"/>
              </a:ext>
            </a:extLst>
          </p:cNvPr>
          <p:cNvSpPr/>
          <p:nvPr/>
        </p:nvSpPr>
        <p:spPr>
          <a:xfrm>
            <a:off x="996042" y="3157003"/>
            <a:ext cx="3596369" cy="2970448"/>
          </a:xfrm>
          <a:prstGeom prst="rect">
            <a:avLst/>
          </a:prstGeom>
          <a:solidFill>
            <a:schemeClr val="accent3">
              <a:lumMod val="40000"/>
              <a:lumOff val="60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CE849C84-C99E-57B3-AE12-4C7E38AB1749}"/>
              </a:ext>
            </a:extLst>
          </p:cNvPr>
          <p:cNvSpPr/>
          <p:nvPr/>
        </p:nvSpPr>
        <p:spPr>
          <a:xfrm>
            <a:off x="5782713" y="3101019"/>
            <a:ext cx="3925789" cy="2895650"/>
          </a:xfrm>
          <a:prstGeom prst="rect">
            <a:avLst/>
          </a:prstGeom>
          <a:solidFill>
            <a:srgbClr val="F2AA84">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角を丸めた四角形 7">
            <a:extLst>
              <a:ext uri="{FF2B5EF4-FFF2-40B4-BE49-F238E27FC236}">
                <a16:creationId xmlns:a16="http://schemas.microsoft.com/office/drawing/2014/main" id="{A4759E6C-37EF-F8E9-B771-B4C8C1346B1F}"/>
              </a:ext>
            </a:extLst>
          </p:cNvPr>
          <p:cNvSpPr/>
          <p:nvPr/>
        </p:nvSpPr>
        <p:spPr>
          <a:xfrm>
            <a:off x="3973087" y="5767818"/>
            <a:ext cx="1860036" cy="702015"/>
          </a:xfrm>
          <a:prstGeom prst="wedgeRoundRectCallout">
            <a:avLst>
              <a:gd name="adj1" fmla="val -101893"/>
              <a:gd name="adj2" fmla="val 6287"/>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dirty="0" err="1"/>
              <a:t>LongL</a:t>
            </a:r>
            <a:endParaRPr kumimoji="1" lang="ja-JP" altLang="en-US" dirty="0"/>
          </a:p>
        </p:txBody>
      </p:sp>
      <p:sp>
        <p:nvSpPr>
          <p:cNvPr id="6" name="吹き出し: 角を丸めた四角形 5">
            <a:extLst>
              <a:ext uri="{FF2B5EF4-FFF2-40B4-BE49-F238E27FC236}">
                <a16:creationId xmlns:a16="http://schemas.microsoft.com/office/drawing/2014/main" id="{40F480B1-83C9-D8A9-9E7B-998766FFB662}"/>
              </a:ext>
            </a:extLst>
          </p:cNvPr>
          <p:cNvSpPr/>
          <p:nvPr/>
        </p:nvSpPr>
        <p:spPr>
          <a:xfrm>
            <a:off x="385076" y="2249713"/>
            <a:ext cx="1860036" cy="702015"/>
          </a:xfrm>
          <a:prstGeom prst="wedgeRoundRectCallout">
            <a:avLst>
              <a:gd name="adj1" fmla="val 60135"/>
              <a:gd name="adj2" fmla="val 107300"/>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dirty="0" err="1"/>
              <a:t>LongL</a:t>
            </a:r>
            <a:endParaRPr kumimoji="1" lang="ja-JP" altLang="en-US" dirty="0"/>
          </a:p>
        </p:txBody>
      </p:sp>
      <p:sp>
        <p:nvSpPr>
          <p:cNvPr id="11" name="吹き出し: 角を丸めた四角形 10">
            <a:extLst>
              <a:ext uri="{FF2B5EF4-FFF2-40B4-BE49-F238E27FC236}">
                <a16:creationId xmlns:a16="http://schemas.microsoft.com/office/drawing/2014/main" id="{880D0F6D-5DD6-8BD1-CDBB-9E49B927D0D2}"/>
              </a:ext>
            </a:extLst>
          </p:cNvPr>
          <p:cNvSpPr/>
          <p:nvPr/>
        </p:nvSpPr>
        <p:spPr>
          <a:xfrm>
            <a:off x="221661" y="4869695"/>
            <a:ext cx="1860036" cy="702015"/>
          </a:xfrm>
          <a:prstGeom prst="wedgeRoundRectCallout">
            <a:avLst>
              <a:gd name="adj1" fmla="val 48469"/>
              <a:gd name="adj2" fmla="val -8972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dirty="0"/>
              <a:t>入力段</a:t>
            </a:r>
            <a:endParaRPr kumimoji="1" lang="en-US" altLang="ja-JP" dirty="0"/>
          </a:p>
          <a:p>
            <a:pPr algn="ctr"/>
            <a:r>
              <a:rPr lang="en-US" altLang="ja-JP" dirty="0"/>
              <a:t>N Pair</a:t>
            </a:r>
            <a:endParaRPr kumimoji="1" lang="ja-JP" altLang="en-US" dirty="0"/>
          </a:p>
        </p:txBody>
      </p:sp>
      <p:sp>
        <p:nvSpPr>
          <p:cNvPr id="7" name="吹き出し: 角を丸めた四角形 6">
            <a:extLst>
              <a:ext uri="{FF2B5EF4-FFF2-40B4-BE49-F238E27FC236}">
                <a16:creationId xmlns:a16="http://schemas.microsoft.com/office/drawing/2014/main" id="{AF04664D-421A-27FA-DCED-6905BBFCB6EB}"/>
              </a:ext>
            </a:extLst>
          </p:cNvPr>
          <p:cNvSpPr/>
          <p:nvPr/>
        </p:nvSpPr>
        <p:spPr>
          <a:xfrm>
            <a:off x="9431626" y="2000637"/>
            <a:ext cx="1860036" cy="702015"/>
          </a:xfrm>
          <a:prstGeom prst="wedgeRoundRectCallout">
            <a:avLst>
              <a:gd name="adj1" fmla="val -43949"/>
              <a:gd name="adj2" fmla="val 142937"/>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dirty="0"/>
              <a:t>ラッチ部</a:t>
            </a:r>
          </a:p>
        </p:txBody>
      </p:sp>
      <p:sp>
        <p:nvSpPr>
          <p:cNvPr id="14" name="吹き出し: 角を丸めた四角形 13">
            <a:extLst>
              <a:ext uri="{FF2B5EF4-FFF2-40B4-BE49-F238E27FC236}">
                <a16:creationId xmlns:a16="http://schemas.microsoft.com/office/drawing/2014/main" id="{E990A002-7A56-195D-E3AA-FC8FB3831888}"/>
              </a:ext>
            </a:extLst>
          </p:cNvPr>
          <p:cNvSpPr/>
          <p:nvPr/>
        </p:nvSpPr>
        <p:spPr>
          <a:xfrm>
            <a:off x="3703474" y="2999018"/>
            <a:ext cx="1860036" cy="702015"/>
          </a:xfrm>
          <a:prstGeom prst="wedgeRoundRectCallout">
            <a:avLst>
              <a:gd name="adj1" fmla="val -152687"/>
              <a:gd name="adj2" fmla="val 8837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入力段</a:t>
            </a:r>
            <a:endParaRPr kumimoji="1" lang="en-US" altLang="ja-JP" dirty="0"/>
          </a:p>
          <a:p>
            <a:pPr algn="ctr"/>
            <a:r>
              <a:rPr lang="en-US" altLang="ja-JP" dirty="0"/>
              <a:t>P Pair</a:t>
            </a:r>
            <a:endParaRPr kumimoji="1" lang="ja-JP" altLang="en-US" dirty="0"/>
          </a:p>
        </p:txBody>
      </p:sp>
      <p:sp>
        <p:nvSpPr>
          <p:cNvPr id="15" name="吹き出し: 角を丸めた四角形 14">
            <a:extLst>
              <a:ext uri="{FF2B5EF4-FFF2-40B4-BE49-F238E27FC236}">
                <a16:creationId xmlns:a16="http://schemas.microsoft.com/office/drawing/2014/main" id="{8F78F954-64C1-A8CC-08F0-F35B65F0341D}"/>
              </a:ext>
            </a:extLst>
          </p:cNvPr>
          <p:cNvSpPr/>
          <p:nvPr/>
        </p:nvSpPr>
        <p:spPr>
          <a:xfrm>
            <a:off x="3703474" y="2999017"/>
            <a:ext cx="1860036" cy="702015"/>
          </a:xfrm>
          <a:prstGeom prst="wedgeRoundRectCallout">
            <a:avLst>
              <a:gd name="adj1" fmla="val -20004"/>
              <a:gd name="adj2" fmla="val 69767"/>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入力段</a:t>
            </a:r>
            <a:endParaRPr kumimoji="1" lang="en-US" altLang="ja-JP" dirty="0"/>
          </a:p>
          <a:p>
            <a:pPr algn="ctr"/>
            <a:r>
              <a:rPr lang="en-US" altLang="ja-JP" dirty="0"/>
              <a:t>PMOS Pair</a:t>
            </a:r>
            <a:endParaRPr kumimoji="1" lang="ja-JP" altLang="en-US" dirty="0"/>
          </a:p>
        </p:txBody>
      </p:sp>
      <p:sp>
        <p:nvSpPr>
          <p:cNvPr id="16" name="吹き出し: 角を丸めた四角形 15">
            <a:extLst>
              <a:ext uri="{FF2B5EF4-FFF2-40B4-BE49-F238E27FC236}">
                <a16:creationId xmlns:a16="http://schemas.microsoft.com/office/drawing/2014/main" id="{A06A9C7E-3A75-1468-E6A3-20948836845C}"/>
              </a:ext>
            </a:extLst>
          </p:cNvPr>
          <p:cNvSpPr/>
          <p:nvPr/>
        </p:nvSpPr>
        <p:spPr>
          <a:xfrm>
            <a:off x="214133" y="4869695"/>
            <a:ext cx="1860036" cy="702015"/>
          </a:xfrm>
          <a:prstGeom prst="wedgeRoundRectCallout">
            <a:avLst>
              <a:gd name="adj1" fmla="val 112177"/>
              <a:gd name="adj2" fmla="val -8441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dirty="0"/>
              <a:t>入力段</a:t>
            </a:r>
            <a:endParaRPr kumimoji="1" lang="en-US" altLang="ja-JP" dirty="0"/>
          </a:p>
          <a:p>
            <a:pPr algn="ctr"/>
            <a:r>
              <a:rPr lang="en-US" altLang="ja-JP" dirty="0"/>
              <a:t>NMOS Pair</a:t>
            </a:r>
            <a:endParaRPr kumimoji="1" lang="ja-JP" altLang="en-US" dirty="0"/>
          </a:p>
        </p:txBody>
      </p:sp>
      <p:sp>
        <p:nvSpPr>
          <p:cNvPr id="3" name="正方形/長方形 2">
            <a:extLst>
              <a:ext uri="{FF2B5EF4-FFF2-40B4-BE49-F238E27FC236}">
                <a16:creationId xmlns:a16="http://schemas.microsoft.com/office/drawing/2014/main" id="{BE57A76C-5814-ADE4-B9C3-C2DE7D264E6C}"/>
              </a:ext>
            </a:extLst>
          </p:cNvPr>
          <p:cNvSpPr/>
          <p:nvPr/>
        </p:nvSpPr>
        <p:spPr>
          <a:xfrm>
            <a:off x="8683028" y="33848"/>
            <a:ext cx="3467158" cy="6064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ファイル名：</a:t>
            </a:r>
            <a:r>
              <a:rPr lang="en-US" altLang="ja-JP" dirty="0" err="1"/>
              <a:t>comp.sch&amp;SR.sch</a:t>
            </a:r>
            <a:endParaRPr kumimoji="1" lang="ja-JP" altLang="en-US" dirty="0"/>
          </a:p>
        </p:txBody>
      </p:sp>
    </p:spTree>
    <p:extLst>
      <p:ext uri="{BB962C8B-B14F-4D97-AF65-F5344CB8AC3E}">
        <p14:creationId xmlns:p14="http://schemas.microsoft.com/office/powerpoint/2010/main" val="5576913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EB7FBBE-80F8-BF49-3671-004BC69807FA}"/>
              </a:ext>
            </a:extLst>
          </p:cNvPr>
          <p:cNvSpPr>
            <a:spLocks noGrp="1"/>
          </p:cNvSpPr>
          <p:nvPr>
            <p:ph type="title"/>
          </p:nvPr>
        </p:nvSpPr>
        <p:spPr>
          <a:xfrm>
            <a:off x="532014" y="4495568"/>
            <a:ext cx="4223471" cy="1905232"/>
          </a:xfrm>
        </p:spPr>
        <p:txBody>
          <a:bodyPr vert="horz" lIns="91440" tIns="45720" rIns="91440" bIns="45720" rtlCol="0" anchor="ctr">
            <a:normAutofit/>
          </a:bodyPr>
          <a:lstStyle/>
          <a:p>
            <a:r>
              <a:rPr kumimoji="1" lang="ja-JP" altLang="en-US" sz="3200" dirty="0"/>
              <a:t>入力段</a:t>
            </a:r>
            <a:r>
              <a:rPr lang="ja-JP" altLang="en-US" sz="3200" dirty="0"/>
              <a:t>：</a:t>
            </a:r>
            <a:br>
              <a:rPr lang="en-US" altLang="ja-JP" sz="3200" dirty="0"/>
            </a:br>
            <a:r>
              <a:rPr lang="en-US" altLang="ja-JP" sz="3200" dirty="0"/>
              <a:t>Rail-to-Rail</a:t>
            </a:r>
            <a:r>
              <a:rPr lang="ja-JP" altLang="en-US" sz="3200" dirty="0"/>
              <a:t>入力差動対</a:t>
            </a:r>
            <a:endParaRPr kumimoji="1" lang="ja-JP" altLang="en-US" sz="3200" dirty="0"/>
          </a:p>
        </p:txBody>
      </p:sp>
      <p:sp>
        <p:nvSpPr>
          <p:cNvPr id="16" name="Rectangle 15">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テキスト ボックス 7">
            <a:extLst>
              <a:ext uri="{FF2B5EF4-FFF2-40B4-BE49-F238E27FC236}">
                <a16:creationId xmlns:a16="http://schemas.microsoft.com/office/drawing/2014/main" id="{1AC256E0-550B-B272-AA91-E2A86B8CF04C}"/>
              </a:ext>
            </a:extLst>
          </p:cNvPr>
          <p:cNvSpPr txBox="1"/>
          <p:nvPr/>
        </p:nvSpPr>
        <p:spPr>
          <a:xfrm>
            <a:off x="5162719" y="4495568"/>
            <a:ext cx="6586915" cy="190523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ltLang="ja-JP" sz="1700" dirty="0"/>
              <a:t>SAR ADC</a:t>
            </a:r>
            <a:r>
              <a:rPr lang="ja-JP" altLang="en-US" sz="1700" dirty="0"/>
              <a:t>では、</a:t>
            </a:r>
            <a:r>
              <a:rPr lang="en-US" altLang="ja-JP" sz="1700" dirty="0"/>
              <a:t>CDAC</a:t>
            </a:r>
            <a:r>
              <a:rPr lang="ja-JP" altLang="en-US" sz="1700" dirty="0"/>
              <a:t>出力が広い電圧範囲を動く場合がある。</a:t>
            </a:r>
          </a:p>
          <a:p>
            <a:pPr indent="-228600">
              <a:lnSpc>
                <a:spcPct val="90000"/>
              </a:lnSpc>
              <a:spcAft>
                <a:spcPts val="600"/>
              </a:spcAft>
              <a:buFont typeface="Arial" panose="020B0604020202020204" pitchFamily="34" charset="0"/>
              <a:buChar char="•"/>
            </a:pPr>
            <a:r>
              <a:rPr lang="ja-JP" altLang="en-US" sz="1700" dirty="0"/>
              <a:t>そのため、</a:t>
            </a:r>
            <a:r>
              <a:rPr lang="en-US" altLang="ja-JP" sz="1700" dirty="0"/>
              <a:t>NMOS</a:t>
            </a:r>
            <a:r>
              <a:rPr lang="ja-JP" altLang="en-US" sz="1700" dirty="0"/>
              <a:t>入力差動対だけ、または</a:t>
            </a:r>
            <a:r>
              <a:rPr lang="en-US" altLang="ja-JP" sz="1700" dirty="0"/>
              <a:t>PMOS</a:t>
            </a:r>
            <a:r>
              <a:rPr lang="ja-JP" altLang="en-US" sz="1700" dirty="0"/>
              <a:t>入力差動対だけでは、入力範囲が不足することがある。</a:t>
            </a:r>
          </a:p>
          <a:p>
            <a:pPr indent="-228600">
              <a:lnSpc>
                <a:spcPct val="90000"/>
              </a:lnSpc>
              <a:spcAft>
                <a:spcPts val="600"/>
              </a:spcAft>
              <a:buFont typeface="Arial" panose="020B0604020202020204" pitchFamily="34" charset="0"/>
              <a:buChar char="•"/>
            </a:pPr>
            <a:r>
              <a:rPr lang="ja-JP" altLang="en-US" sz="1700" dirty="0"/>
              <a:t>そこで、</a:t>
            </a:r>
            <a:r>
              <a:rPr lang="en-US" altLang="ja-JP" sz="1700" dirty="0"/>
              <a:t>NMOS</a:t>
            </a:r>
            <a:r>
              <a:rPr lang="ja-JP" altLang="en-US" sz="1700" dirty="0"/>
              <a:t>入力差動対と</a:t>
            </a:r>
            <a:r>
              <a:rPr lang="en-US" altLang="ja-JP" sz="1700" dirty="0"/>
              <a:t>PMOS</a:t>
            </a:r>
            <a:r>
              <a:rPr lang="ja-JP" altLang="en-US" sz="1700" dirty="0"/>
              <a:t>入力差動対を組み合わせた</a:t>
            </a:r>
            <a:r>
              <a:rPr lang="en-US" altLang="ja-JP" sz="1700" dirty="0"/>
              <a:t>Rail-to-Rail</a:t>
            </a:r>
            <a:r>
              <a:rPr lang="ja-JP" altLang="en-US" sz="1700" dirty="0"/>
              <a:t>入力差動対を用いる。</a:t>
            </a:r>
          </a:p>
          <a:p>
            <a:pPr indent="-228600">
              <a:lnSpc>
                <a:spcPct val="90000"/>
              </a:lnSpc>
              <a:spcAft>
                <a:spcPts val="600"/>
              </a:spcAft>
              <a:buFont typeface="Arial" panose="020B0604020202020204" pitchFamily="34" charset="0"/>
              <a:buChar char="•"/>
            </a:pPr>
            <a:endParaRPr kumimoji="1" lang="en-US" altLang="ja-JP" sz="1700" dirty="0"/>
          </a:p>
        </p:txBody>
      </p:sp>
      <p:graphicFrame>
        <p:nvGraphicFramePr>
          <p:cNvPr id="9" name="表 8">
            <a:extLst>
              <a:ext uri="{FF2B5EF4-FFF2-40B4-BE49-F238E27FC236}">
                <a16:creationId xmlns:a16="http://schemas.microsoft.com/office/drawing/2014/main" id="{46C3626B-080C-0B79-D7E5-7A7728C65457}"/>
              </a:ext>
            </a:extLst>
          </p:cNvPr>
          <p:cNvGraphicFramePr>
            <a:graphicFrameLocks noGrp="1"/>
          </p:cNvGraphicFramePr>
          <p:nvPr>
            <p:extLst>
              <p:ext uri="{D42A27DB-BD31-4B8C-83A1-F6EECF244321}">
                <p14:modId xmlns:p14="http://schemas.microsoft.com/office/powerpoint/2010/main" val="599955761"/>
              </p:ext>
            </p:extLst>
          </p:nvPr>
        </p:nvGraphicFramePr>
        <p:xfrm>
          <a:off x="6297264" y="765220"/>
          <a:ext cx="5136796" cy="2624308"/>
        </p:xfrm>
        <a:graphic>
          <a:graphicData uri="http://schemas.openxmlformats.org/drawingml/2006/table">
            <a:tbl>
              <a:tblPr/>
              <a:tblGrid>
                <a:gridCol w="2529787">
                  <a:extLst>
                    <a:ext uri="{9D8B030D-6E8A-4147-A177-3AD203B41FA5}">
                      <a16:colId xmlns:a16="http://schemas.microsoft.com/office/drawing/2014/main" val="961362202"/>
                    </a:ext>
                  </a:extLst>
                </a:gridCol>
                <a:gridCol w="2607009">
                  <a:extLst>
                    <a:ext uri="{9D8B030D-6E8A-4147-A177-3AD203B41FA5}">
                      <a16:colId xmlns:a16="http://schemas.microsoft.com/office/drawing/2014/main" val="3336635535"/>
                    </a:ext>
                  </a:extLst>
                </a:gridCol>
              </a:tblGrid>
              <a:tr h="822876">
                <a:tc>
                  <a:txBody>
                    <a:bodyPr/>
                    <a:lstStyle/>
                    <a:p>
                      <a:pPr>
                        <a:buNone/>
                      </a:pPr>
                      <a:r>
                        <a:rPr lang="ja-JP" altLang="en-US" sz="2200"/>
                        <a:t>入力共通モード電圧</a:t>
                      </a:r>
                    </a:p>
                  </a:txBody>
                  <a:tcPr marL="111199" marR="111199" marT="55600" marB="55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buNone/>
                      </a:pPr>
                      <a:r>
                        <a:rPr lang="ja-JP" altLang="en-US" sz="2200"/>
                        <a:t>主に動作する入力対</a:t>
                      </a:r>
                    </a:p>
                  </a:txBody>
                  <a:tcPr marL="111199" marR="111199" marT="55600" marB="55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3940424"/>
                  </a:ext>
                </a:extLst>
              </a:tr>
              <a:tr h="489278">
                <a:tc>
                  <a:txBody>
                    <a:bodyPr/>
                    <a:lstStyle/>
                    <a:p>
                      <a:pPr>
                        <a:buNone/>
                      </a:pPr>
                      <a:r>
                        <a:rPr lang="ja-JP" altLang="en-US" sz="2200"/>
                        <a:t>低い領域</a:t>
                      </a:r>
                    </a:p>
                  </a:txBody>
                  <a:tcPr marL="111199" marR="111199" marT="55600" marB="55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buNone/>
                      </a:pPr>
                      <a:r>
                        <a:rPr lang="en-US" sz="2200"/>
                        <a:t>PMOS</a:t>
                      </a:r>
                      <a:r>
                        <a:rPr lang="ja-JP" altLang="en-US" sz="2200"/>
                        <a:t>入力差動対</a:t>
                      </a:r>
                    </a:p>
                  </a:txBody>
                  <a:tcPr marL="111199" marR="111199" marT="55600" marB="55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006077"/>
                  </a:ext>
                </a:extLst>
              </a:tr>
              <a:tr h="822876">
                <a:tc>
                  <a:txBody>
                    <a:bodyPr/>
                    <a:lstStyle/>
                    <a:p>
                      <a:pPr>
                        <a:buNone/>
                      </a:pPr>
                      <a:r>
                        <a:rPr lang="ja-JP" altLang="en-US" sz="2200"/>
                        <a:t>中間領域</a:t>
                      </a:r>
                    </a:p>
                  </a:txBody>
                  <a:tcPr marL="111199" marR="111199" marT="55600" marB="55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buNone/>
                      </a:pPr>
                      <a:r>
                        <a:rPr lang="en-US" sz="2200"/>
                        <a:t>NMOS + PMOS</a:t>
                      </a:r>
                      <a:r>
                        <a:rPr lang="ja-JP" altLang="en-US" sz="2200"/>
                        <a:t>入力差動対</a:t>
                      </a:r>
                    </a:p>
                  </a:txBody>
                  <a:tcPr marL="111199" marR="111199" marT="55600" marB="55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8259483"/>
                  </a:ext>
                </a:extLst>
              </a:tr>
              <a:tr h="489278">
                <a:tc>
                  <a:txBody>
                    <a:bodyPr/>
                    <a:lstStyle/>
                    <a:p>
                      <a:pPr>
                        <a:buNone/>
                      </a:pPr>
                      <a:r>
                        <a:rPr lang="ja-JP" altLang="en-US" sz="2200"/>
                        <a:t>高い領域</a:t>
                      </a:r>
                    </a:p>
                  </a:txBody>
                  <a:tcPr marL="111199" marR="111199" marT="55600" marB="55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buNone/>
                      </a:pPr>
                      <a:r>
                        <a:rPr lang="en-US" sz="2200"/>
                        <a:t>NMOS</a:t>
                      </a:r>
                      <a:r>
                        <a:rPr lang="ja-JP" altLang="en-US" sz="2200"/>
                        <a:t>入力差動対</a:t>
                      </a:r>
                    </a:p>
                  </a:txBody>
                  <a:tcPr marL="111199" marR="111199" marT="55600" marB="55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851769"/>
                  </a:ext>
                </a:extLst>
              </a:tr>
            </a:tbl>
          </a:graphicData>
        </a:graphic>
      </p:graphicFrame>
      <p:pic>
        <p:nvPicPr>
          <p:cNvPr id="5" name="図 4">
            <a:extLst>
              <a:ext uri="{FF2B5EF4-FFF2-40B4-BE49-F238E27FC236}">
                <a16:creationId xmlns:a16="http://schemas.microsoft.com/office/drawing/2014/main" id="{8B8CFFED-3A25-BF60-4186-9BF7F8F72B20}"/>
              </a:ext>
            </a:extLst>
          </p:cNvPr>
          <p:cNvPicPr>
            <a:picLocks noChangeAspect="1"/>
          </p:cNvPicPr>
          <p:nvPr/>
        </p:nvPicPr>
        <p:blipFill>
          <a:blip r:embed="rId2"/>
          <a:srcRect r="56899"/>
          <a:stretch>
            <a:fillRect/>
          </a:stretch>
        </p:blipFill>
        <p:spPr>
          <a:xfrm>
            <a:off x="929070" y="179231"/>
            <a:ext cx="4870280" cy="3847280"/>
          </a:xfrm>
          <a:prstGeom prst="rect">
            <a:avLst/>
          </a:prstGeom>
        </p:spPr>
      </p:pic>
    </p:spTree>
    <p:extLst>
      <p:ext uri="{BB962C8B-B14F-4D97-AF65-F5344CB8AC3E}">
        <p14:creationId xmlns:p14="http://schemas.microsoft.com/office/powerpoint/2010/main" val="42901595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3A745F-6543-F4B8-B542-6D0583DBB164}"/>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Arc 2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6CD4750F-3F51-29A9-E8EB-F8FB9E9AE54A}"/>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kumimoji="1" lang="ja-JP" altLang="en-US" kern="1200">
                <a:solidFill>
                  <a:schemeClr val="tx1"/>
                </a:solidFill>
                <a:latin typeface="+mj-lt"/>
                <a:ea typeface="+mj-ea"/>
                <a:cs typeface="+mj-cs"/>
              </a:rPr>
              <a:t>入力段：</a:t>
            </a:r>
            <a:r>
              <a:rPr kumimoji="1" lang="en-US" altLang="ja-JP" kern="1200">
                <a:solidFill>
                  <a:schemeClr val="tx1"/>
                </a:solidFill>
                <a:latin typeface="+mj-lt"/>
                <a:ea typeface="+mj-ea"/>
                <a:cs typeface="+mj-cs"/>
              </a:rPr>
              <a:t>LongL</a:t>
            </a:r>
          </a:p>
        </p:txBody>
      </p:sp>
      <p:sp>
        <p:nvSpPr>
          <p:cNvPr id="24" name="Freeform: Shape 2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図 6">
            <a:extLst>
              <a:ext uri="{FF2B5EF4-FFF2-40B4-BE49-F238E27FC236}">
                <a16:creationId xmlns:a16="http://schemas.microsoft.com/office/drawing/2014/main" id="{67C9F85C-AD86-86EB-716D-4F596BE7B2E4}"/>
              </a:ext>
            </a:extLst>
          </p:cNvPr>
          <p:cNvPicPr>
            <a:picLocks noChangeAspect="1"/>
          </p:cNvPicPr>
          <p:nvPr/>
        </p:nvPicPr>
        <p:blipFill>
          <a:blip r:embed="rId2"/>
          <a:stretch>
            <a:fillRect/>
          </a:stretch>
        </p:blipFill>
        <p:spPr>
          <a:xfrm>
            <a:off x="989315" y="511293"/>
            <a:ext cx="4205114"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2C49A7B-C797-FC4E-A09E-12FDF642CE0B}"/>
                  </a:ext>
                </a:extLst>
              </p:cNvPr>
              <p:cNvSpPr txBox="1"/>
              <p:nvPr/>
            </p:nvSpPr>
            <p:spPr>
              <a:xfrm>
                <a:off x="5894962" y="1984443"/>
                <a:ext cx="5458838" cy="4192520"/>
              </a:xfrm>
              <a:prstGeom prst="rect">
                <a:avLst/>
              </a:prstGeom>
            </p:spPr>
            <p:txBody>
              <a:bodyPr vert="horz" lIns="91440" tIns="45720" rIns="91440" bIns="45720" rtlCol="0">
                <a:normAutofit fontScale="92500"/>
              </a:bodyPr>
              <a:lstStyle/>
              <a:p>
                <a:pPr indent="-228600">
                  <a:lnSpc>
                    <a:spcPct val="90000"/>
                  </a:lnSpc>
                  <a:spcAft>
                    <a:spcPts val="600"/>
                  </a:spcAft>
                  <a:buFont typeface="Arial" panose="020B0604020202020204" pitchFamily="34" charset="0"/>
                  <a:buChar char="•"/>
                </a:pPr>
                <a:r>
                  <a:rPr lang="en-US" altLang="ja-JP" dirty="0"/>
                  <a:t>FET</a:t>
                </a:r>
                <a:r>
                  <a:rPr lang="ja-JP" altLang="en-US" dirty="0"/>
                  <a:t>の出力インピーダンスは</a:t>
                </a:r>
                <a14:m>
                  <m:oMath xmlns:m="http://schemas.openxmlformats.org/officeDocument/2006/math">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𝑟</m:t>
                        </m:r>
                      </m:e>
                      <m:sub>
                        <m:r>
                          <a:rPr lang="en-US" altLang="ja-JP" i="1" dirty="0">
                            <a:latin typeface="Cambria Math" panose="02040503050406030204" pitchFamily="18" charset="0"/>
                          </a:rPr>
                          <m:t>𝑜</m:t>
                        </m:r>
                      </m:sub>
                    </m:sSub>
                    <m:r>
                      <a:rPr lang="en-US" altLang="ja-JP" i="1" dirty="0">
                        <a:latin typeface="Cambria Math" panose="02040503050406030204" pitchFamily="18" charset="0"/>
                        <a:ea typeface="Cambria Math" panose="02040503050406030204" pitchFamily="18" charset="0"/>
                      </a:rPr>
                      <m:t>∝</m:t>
                    </m:r>
                    <m:r>
                      <a:rPr lang="en-US" altLang="ja-JP" i="1" dirty="0">
                        <a:latin typeface="Cambria Math" panose="02040503050406030204" pitchFamily="18" charset="0"/>
                        <a:ea typeface="Cambria Math" panose="02040503050406030204" pitchFamily="18" charset="0"/>
                      </a:rPr>
                      <m:t>𝐿</m:t>
                    </m:r>
                  </m:oMath>
                </a14:m>
                <a:r>
                  <a:rPr lang="ja-JP" altLang="en-US" dirty="0"/>
                  <a:t>であり、</a:t>
                </a:r>
                <a:r>
                  <a:rPr lang="en-US" altLang="ja-JP" dirty="0"/>
                  <a:t>L</a:t>
                </a:r>
                <a:r>
                  <a:rPr lang="ja-JP" altLang="en-US" dirty="0"/>
                  <a:t>が長いほど飽和領域での特性がフラットになる。よって、</a:t>
                </a:r>
                <a:endParaRPr lang="en-US" altLang="ja-JP" dirty="0"/>
              </a:p>
              <a:p>
                <a:pPr lvl="1" indent="-228600">
                  <a:lnSpc>
                    <a:spcPct val="90000"/>
                  </a:lnSpc>
                  <a:spcAft>
                    <a:spcPts val="600"/>
                  </a:spcAft>
                  <a:buFont typeface="Arial" panose="020B0604020202020204" pitchFamily="34" charset="0"/>
                  <a:buChar char="•"/>
                </a:pPr>
                <a:r>
                  <a:rPr lang="ja-JP" altLang="en-US" dirty="0"/>
                  <a:t>メリット</a:t>
                </a:r>
                <a:endParaRPr lang="en-US" altLang="ja-JP" dirty="0"/>
              </a:p>
              <a:p>
                <a:pPr lvl="2" indent="-228600">
                  <a:lnSpc>
                    <a:spcPct val="90000"/>
                  </a:lnSpc>
                  <a:spcAft>
                    <a:spcPts val="600"/>
                  </a:spcAft>
                  <a:buFont typeface="Arial" panose="020B0604020202020204" pitchFamily="34" charset="0"/>
                  <a:buChar char="•"/>
                </a:pPr>
                <a:r>
                  <a:rPr lang="ja-JP" altLang="en-US" dirty="0"/>
                  <a:t>しきい値ばらつきを抑えやすい </a:t>
                </a:r>
                <a:endParaRPr lang="en-US" altLang="ja-JP" dirty="0"/>
              </a:p>
              <a:p>
                <a:pPr lvl="2" indent="-228600">
                  <a:lnSpc>
                    <a:spcPct val="90000"/>
                  </a:lnSpc>
                  <a:spcAft>
                    <a:spcPts val="600"/>
                  </a:spcAft>
                  <a:buFont typeface="Arial" panose="020B0604020202020204" pitchFamily="34" charset="0"/>
                  <a:buChar char="•"/>
                </a:pPr>
                <a:r>
                  <a:rPr lang="ja-JP" altLang="en-US" dirty="0"/>
                  <a:t>入力換算オフセットを低減しやすい </a:t>
                </a:r>
                <a:endParaRPr lang="en-US" altLang="ja-JP" dirty="0"/>
              </a:p>
              <a:p>
                <a:pPr lvl="2" indent="-228600">
                  <a:lnSpc>
                    <a:spcPct val="90000"/>
                  </a:lnSpc>
                  <a:spcAft>
                    <a:spcPts val="600"/>
                  </a:spcAft>
                  <a:buFont typeface="Arial" panose="020B0604020202020204" pitchFamily="34" charset="0"/>
                  <a:buChar char="•"/>
                </a:pPr>
                <a:r>
                  <a:rPr lang="ja-JP" altLang="en-US" dirty="0"/>
                  <a:t>チャネル長変調が小さくなる </a:t>
                </a:r>
                <a:endParaRPr lang="en-US" altLang="ja-JP" dirty="0"/>
              </a:p>
              <a:p>
                <a:pPr lvl="2" indent="-228600">
                  <a:lnSpc>
                    <a:spcPct val="90000"/>
                  </a:lnSpc>
                  <a:spcAft>
                    <a:spcPts val="600"/>
                  </a:spcAft>
                  <a:buFont typeface="Arial" panose="020B0604020202020204" pitchFamily="34" charset="0"/>
                  <a:buChar char="•"/>
                </a:pPr>
                <a:r>
                  <a:rPr lang="ja-JP" altLang="en-US" dirty="0"/>
                  <a:t>アナログ特性が安定しやすい </a:t>
                </a:r>
                <a:endParaRPr lang="en-US" altLang="ja-JP" dirty="0"/>
              </a:p>
              <a:p>
                <a:pPr lvl="2" indent="-228600">
                  <a:lnSpc>
                    <a:spcPct val="90000"/>
                  </a:lnSpc>
                  <a:spcAft>
                    <a:spcPts val="600"/>
                  </a:spcAft>
                  <a:buFont typeface="Arial" panose="020B0604020202020204" pitchFamily="34" charset="0"/>
                  <a:buChar char="•"/>
                </a:pPr>
                <a:r>
                  <a:rPr lang="ja-JP" altLang="en-US" dirty="0"/>
                  <a:t>レイアウトばらつきの影響を抑えやすい</a:t>
                </a:r>
                <a:endParaRPr lang="en-US" altLang="ja-JP" dirty="0"/>
              </a:p>
              <a:p>
                <a:pPr lvl="1" indent="-228600">
                  <a:lnSpc>
                    <a:spcPct val="90000"/>
                  </a:lnSpc>
                  <a:spcAft>
                    <a:spcPts val="600"/>
                  </a:spcAft>
                  <a:buFont typeface="Arial" panose="020B0604020202020204" pitchFamily="34" charset="0"/>
                  <a:buChar char="•"/>
                </a:pPr>
                <a:r>
                  <a:rPr lang="ja-JP" altLang="en-US" dirty="0"/>
                  <a:t> デメリット</a:t>
                </a:r>
                <a:endParaRPr lang="en-US" altLang="ja-JP" dirty="0"/>
              </a:p>
              <a:p>
                <a:pPr lvl="2" indent="-228600">
                  <a:lnSpc>
                    <a:spcPct val="90000"/>
                  </a:lnSpc>
                  <a:spcAft>
                    <a:spcPts val="600"/>
                  </a:spcAft>
                  <a:buFont typeface="Arial" panose="020B0604020202020204" pitchFamily="34" charset="0"/>
                  <a:buChar char="•"/>
                </a:pPr>
                <a:r>
                  <a:rPr lang="ja-JP" altLang="en-US" dirty="0"/>
                  <a:t>ゲート容量が増え、速度は低下しやすい</a:t>
                </a:r>
                <a:endParaRPr lang="en-US" altLang="ja-JP" dirty="0"/>
              </a:p>
              <a:p>
                <a:pPr indent="-228600">
                  <a:lnSpc>
                    <a:spcPct val="90000"/>
                  </a:lnSpc>
                  <a:spcAft>
                    <a:spcPts val="600"/>
                  </a:spcAft>
                  <a:buFont typeface="Arial" panose="020B0604020202020204" pitchFamily="34" charset="0"/>
                  <a:buChar char="•"/>
                </a:pPr>
                <a:endParaRPr lang="en-US" altLang="ja-JP" dirty="0"/>
              </a:p>
              <a:p>
                <a:pPr indent="-228600">
                  <a:lnSpc>
                    <a:spcPct val="90000"/>
                  </a:lnSpc>
                  <a:spcAft>
                    <a:spcPts val="600"/>
                  </a:spcAft>
                  <a:buFont typeface="Arial" panose="020B0604020202020204" pitchFamily="34" charset="0"/>
                  <a:buChar char="•"/>
                </a:pPr>
                <a:r>
                  <a:rPr lang="ja-JP" altLang="en-US" dirty="0"/>
                  <a:t>したがって、入力段ではオフセットと速度のバランスを見ながら</a:t>
                </a:r>
                <a:r>
                  <a:rPr lang="en-US" altLang="ja-JP" dirty="0"/>
                  <a:t>L</a:t>
                </a:r>
                <a:r>
                  <a:rPr lang="ja-JP" altLang="en-US" dirty="0"/>
                  <a:t>を決める</a:t>
                </a:r>
              </a:p>
            </p:txBody>
          </p:sp>
        </mc:Choice>
        <mc:Fallback xmlns="">
          <p:sp>
            <p:nvSpPr>
              <p:cNvPr id="8" name="テキスト ボックス 7">
                <a:extLst>
                  <a:ext uri="{FF2B5EF4-FFF2-40B4-BE49-F238E27FC236}">
                    <a16:creationId xmlns:a16="http://schemas.microsoft.com/office/drawing/2014/main" id="{C2C49A7B-C797-FC4E-A09E-12FDF642CE0B}"/>
                  </a:ext>
                </a:extLst>
              </p:cNvPr>
              <p:cNvSpPr txBox="1">
                <a:spLocks noRot="1" noChangeAspect="1" noMove="1" noResize="1" noEditPoints="1" noAdjustHandles="1" noChangeArrowheads="1" noChangeShapeType="1" noTextEdit="1"/>
              </p:cNvSpPr>
              <p:nvPr/>
            </p:nvSpPr>
            <p:spPr>
              <a:xfrm>
                <a:off x="5894962" y="1984443"/>
                <a:ext cx="5458838" cy="4192520"/>
              </a:xfrm>
              <a:prstGeom prst="rect">
                <a:avLst/>
              </a:prstGeom>
              <a:blipFill>
                <a:blip r:embed="rId3"/>
                <a:stretch>
                  <a:fillRect l="-670" t="-101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542319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Arc 2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0946503F-3CA5-19FC-B00F-B927B3350AF5}"/>
              </a:ext>
            </a:extLst>
          </p:cNvPr>
          <p:cNvSpPr>
            <a:spLocks noGrp="1"/>
          </p:cNvSpPr>
          <p:nvPr>
            <p:ph type="title"/>
          </p:nvPr>
        </p:nvSpPr>
        <p:spPr>
          <a:xfrm>
            <a:off x="5894961" y="479493"/>
            <a:ext cx="5982907" cy="1325563"/>
          </a:xfrm>
        </p:spPr>
        <p:txBody>
          <a:bodyPr>
            <a:normAutofit/>
          </a:bodyPr>
          <a:lstStyle/>
          <a:p>
            <a:r>
              <a:rPr lang="ja-JP" altLang="en-US" dirty="0"/>
              <a:t>入力段：</a:t>
            </a:r>
            <a:r>
              <a:rPr lang="en-US" altLang="ja-JP" dirty="0"/>
              <a:t>Pair</a:t>
            </a:r>
            <a:r>
              <a:rPr lang="ja-JP" altLang="en-US" dirty="0"/>
              <a:t>の</a:t>
            </a:r>
            <a:r>
              <a:rPr lang="en-US" altLang="ja-JP" dirty="0"/>
              <a:t>L</a:t>
            </a:r>
            <a:r>
              <a:rPr lang="ja-JP" altLang="en-US" dirty="0"/>
              <a:t>の設計</a:t>
            </a:r>
            <a:endParaRPr kumimoji="1" lang="ja-JP" altLang="en-US" dirty="0"/>
          </a:p>
        </p:txBody>
      </p:sp>
      <p:sp>
        <p:nvSpPr>
          <p:cNvPr id="27" name="Freeform: Shape 2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図 3">
            <a:extLst>
              <a:ext uri="{FF2B5EF4-FFF2-40B4-BE49-F238E27FC236}">
                <a16:creationId xmlns:a16="http://schemas.microsoft.com/office/drawing/2014/main" id="{FDD69894-AD7C-67BE-6E5A-6E593D3E06F4}"/>
              </a:ext>
            </a:extLst>
          </p:cNvPr>
          <p:cNvPicPr>
            <a:picLocks noChangeAspect="1"/>
          </p:cNvPicPr>
          <p:nvPr/>
        </p:nvPicPr>
        <p:blipFill>
          <a:blip r:embed="rId2"/>
          <a:stretch>
            <a:fillRect/>
          </a:stretch>
        </p:blipFill>
        <p:spPr>
          <a:xfrm>
            <a:off x="989315" y="511293"/>
            <a:ext cx="4205114"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BEF29A7-F8EC-59BE-3804-026FF980BED0}"/>
                  </a:ext>
                </a:extLst>
              </p:cNvPr>
              <p:cNvSpPr>
                <a:spLocks noGrp="1"/>
              </p:cNvSpPr>
              <p:nvPr>
                <p:ph idx="1"/>
              </p:nvPr>
            </p:nvSpPr>
            <p:spPr>
              <a:xfrm>
                <a:off x="5894962" y="1984443"/>
                <a:ext cx="5458838" cy="4192520"/>
              </a:xfrm>
            </p:spPr>
            <p:txBody>
              <a:bodyPr>
                <a:normAutofit/>
              </a:bodyPr>
              <a:lstStyle/>
              <a:p>
                <a:r>
                  <a:rPr lang="ja-JP" altLang="en-US" sz="1600" dirty="0"/>
                  <a:t>基本的には速度を重視する場合は短めの</a:t>
                </a:r>
                <a:r>
                  <a:rPr lang="en-US" altLang="ja-JP" sz="1600" dirty="0"/>
                  <a:t>L</a:t>
                </a:r>
                <a:r>
                  <a:rPr lang="ja-JP" altLang="en-US" sz="1600" dirty="0"/>
                  <a:t>を用いる</a:t>
                </a:r>
              </a:p>
              <a:p>
                <a:pPr lvl="1"/>
                <a:r>
                  <a:rPr lang="ja-JP" altLang="en-US" sz="1600" dirty="0"/>
                  <a:t>入力差動対として</a:t>
                </a:r>
                <a:r>
                  <a:rPr lang="en-US" altLang="ja-JP" sz="1600" dirty="0"/>
                  <a:t>offset</a:t>
                </a:r>
                <a:r>
                  <a:rPr lang="ja-JP" altLang="en-US" sz="1600" dirty="0"/>
                  <a:t>や</a:t>
                </a:r>
                <a:r>
                  <a:rPr lang="en-US" altLang="ja-JP" sz="1600" dirty="0"/>
                  <a:t>matching</a:t>
                </a:r>
                <a:r>
                  <a:rPr lang="ja-JP" altLang="en-US" sz="1600" dirty="0"/>
                  <a:t>を改善したい場合は、少し長めの</a:t>
                </a:r>
                <a:r>
                  <a:rPr lang="en-US" altLang="ja-JP" sz="1600" dirty="0"/>
                  <a:t>L</a:t>
                </a:r>
                <a:r>
                  <a:rPr lang="ja-JP" altLang="en-US" sz="1600" dirty="0"/>
                  <a:t>を使う</a:t>
                </a:r>
                <a:endParaRPr lang="en-US" altLang="ja-JP" sz="1600" dirty="0"/>
              </a:p>
              <a:p>
                <a:pPr lvl="2"/>
                <a:r>
                  <a:rPr lang="en-US" altLang="ja-JP" sz="1200" dirty="0"/>
                  <a:t>Pair</a:t>
                </a:r>
                <a:r>
                  <a:rPr lang="ja-JP" altLang="en-US" sz="1200" dirty="0"/>
                  <a:t>を大きくしすぎたり、</a:t>
                </a:r>
                <a:r>
                  <a:rPr lang="en-US" altLang="ja-JP" sz="1200" dirty="0"/>
                  <a:t>L</a:t>
                </a:r>
                <a:r>
                  <a:rPr lang="ja-JP" altLang="en-US" sz="1200" dirty="0"/>
                  <a:t>を長くしすぎたりすると、寄生容量が増加して速度が低下する点に注意する</a:t>
                </a:r>
                <a:endParaRPr lang="ja-JP" altLang="en-US" sz="1600" dirty="0"/>
              </a:p>
              <a:p>
                <a:r>
                  <a:rPr lang="ja-JP" altLang="en-US" sz="1600" dirty="0"/>
                  <a:t>経験則的には下記のあたりから設計を始めるとよい</a:t>
                </a:r>
              </a:p>
              <a:p>
                <a:pPr lvl="1"/>
                <a14:m>
                  <m:oMath xmlns:m="http://schemas.openxmlformats.org/officeDocument/2006/math">
                    <m:r>
                      <a:rPr lang="ja-JP" altLang="en-US" sz="1600" i="1">
                        <a:latin typeface="Cambria Math" panose="02040503050406030204" pitchFamily="18" charset="0"/>
                      </a:rPr>
                      <m:t>𝐿</m:t>
                    </m:r>
                    <m:r>
                      <a:rPr lang="en-US" altLang="ja-JP" sz="1600">
                        <a:latin typeface="Cambria Math" panose="02040503050406030204" pitchFamily="18" charset="0"/>
                      </a:rPr>
                      <m:t>=</m:t>
                    </m:r>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𝐿</m:t>
                        </m:r>
                      </m:e>
                      <m:sub>
                        <m:r>
                          <a:rPr lang="ja-JP" altLang="en-US" sz="1600" i="1">
                            <a:latin typeface="Cambria Math" panose="02040503050406030204" pitchFamily="18" charset="0"/>
                          </a:rPr>
                          <m:t>𝑚𝑖𝑛</m:t>
                        </m:r>
                      </m:sub>
                    </m:sSub>
                    <m:r>
                      <a:rPr lang="ja-JP" altLang="en-US" sz="1600">
                        <a:latin typeface="Cambria Math" panose="02040503050406030204" pitchFamily="18" charset="0"/>
                      </a:rPr>
                      <m:t>∼</m:t>
                    </m:r>
                    <m:r>
                      <a:rPr lang="en-US" altLang="ja-JP" sz="1600">
                        <a:latin typeface="Cambria Math" panose="02040503050406030204" pitchFamily="18" charset="0"/>
                      </a:rPr>
                      <m:t>2</m:t>
                    </m:r>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𝐿</m:t>
                        </m:r>
                      </m:e>
                      <m:sub>
                        <m:r>
                          <a:rPr lang="ja-JP" altLang="en-US" sz="1600" i="1">
                            <a:latin typeface="Cambria Math" panose="02040503050406030204" pitchFamily="18" charset="0"/>
                          </a:rPr>
                          <m:t>𝑚𝑖𝑛</m:t>
                        </m:r>
                      </m:sub>
                    </m:sSub>
                  </m:oMath>
                </a14:m>
                <a:endParaRPr lang="ja-JP" altLang="en-US" sz="1600" dirty="0"/>
              </a:p>
              <a:p>
                <a:endParaRPr lang="en-US" altLang="ja-JP" sz="1600" dirty="0"/>
              </a:p>
              <a:p>
                <a:r>
                  <a:rPr lang="ja-JP" altLang="en-US" sz="1600" dirty="0"/>
                  <a:t>本設計では</a:t>
                </a:r>
                <a:r>
                  <a:rPr lang="en-US" altLang="ja-JP" sz="1600" dirty="0"/>
                  <a:t>offset</a:t>
                </a:r>
                <a:r>
                  <a:rPr lang="ja-JP" altLang="en-US" sz="1600" dirty="0"/>
                  <a:t>や</a:t>
                </a:r>
                <a:r>
                  <a:rPr lang="en-US" altLang="ja-JP" sz="1600" dirty="0"/>
                  <a:t>matching</a:t>
                </a:r>
                <a:r>
                  <a:rPr lang="ja-JP" altLang="en-US" sz="1600" dirty="0"/>
                  <a:t>を考慮し</a:t>
                </a:r>
                <a14:m>
                  <m:oMath xmlns:m="http://schemas.openxmlformats.org/officeDocument/2006/math">
                    <m:r>
                      <a:rPr lang="ja-JP" altLang="en-US" sz="1600" i="1">
                        <a:latin typeface="Cambria Math" panose="02040503050406030204" pitchFamily="18" charset="0"/>
                      </a:rPr>
                      <m:t>𝐿</m:t>
                    </m:r>
                    <m:r>
                      <a:rPr lang="ja-JP" altLang="en-US" sz="1600" i="1" smtClean="0">
                        <a:latin typeface="Cambria Math" panose="02040503050406030204" pitchFamily="18" charset="0"/>
                      </a:rPr>
                      <m:t>＝</m:t>
                    </m:r>
                  </m:oMath>
                </a14:m>
                <a:r>
                  <a:rPr lang="en-US" altLang="ja-JP" sz="1600" dirty="0"/>
                  <a:t>0.8</a:t>
                </a:r>
                <a:r>
                  <a:rPr lang="ja-JP" altLang="en-US" sz="1600" dirty="0"/>
                  <a:t>とする</a:t>
                </a:r>
                <a:endParaRPr lang="en-US" altLang="ja-JP" sz="1600" dirty="0"/>
              </a:p>
              <a:p>
                <a:pPr lvl="1"/>
                <a:r>
                  <a:rPr lang="ja-JP" altLang="en-US" sz="1600" dirty="0"/>
                  <a:t>設計幅が無いため決め打ちで問題無い</a:t>
                </a:r>
              </a:p>
            </p:txBody>
          </p:sp>
        </mc:Choice>
        <mc:Fallback xmlns="">
          <p:sp>
            <p:nvSpPr>
              <p:cNvPr id="3" name="コンテンツ プレースホルダー 2">
                <a:extLst>
                  <a:ext uri="{FF2B5EF4-FFF2-40B4-BE49-F238E27FC236}">
                    <a16:creationId xmlns:a16="http://schemas.microsoft.com/office/drawing/2014/main" id="{0BEF29A7-F8EC-59BE-3804-026FF980BED0}"/>
                  </a:ext>
                </a:extLst>
              </p:cNvPr>
              <p:cNvSpPr>
                <a:spLocks noGrp="1" noRot="1" noChangeAspect="1" noMove="1" noResize="1" noEditPoints="1" noAdjustHandles="1" noChangeArrowheads="1" noChangeShapeType="1" noTextEdit="1"/>
              </p:cNvSpPr>
              <p:nvPr>
                <p:ph idx="1"/>
              </p:nvPr>
            </p:nvSpPr>
            <p:spPr>
              <a:xfrm>
                <a:off x="5894962" y="1984443"/>
                <a:ext cx="5458838" cy="4192520"/>
              </a:xfrm>
              <a:blipFill>
                <a:blip r:embed="rId3"/>
                <a:stretch>
                  <a:fillRect l="-446" t="-1019"/>
                </a:stretch>
              </a:blipFill>
            </p:spPr>
            <p:txBody>
              <a:bodyPr/>
              <a:lstStyle/>
              <a:p>
                <a:r>
                  <a:rPr lang="ja-JP" altLang="en-US">
                    <a:noFill/>
                  </a:rPr>
                  <a:t> </a:t>
                </a:r>
              </a:p>
            </p:txBody>
          </p:sp>
        </mc:Fallback>
      </mc:AlternateContent>
      <p:sp>
        <p:nvSpPr>
          <p:cNvPr id="5" name="吹き出し: 角を丸めた四角形 4">
            <a:extLst>
              <a:ext uri="{FF2B5EF4-FFF2-40B4-BE49-F238E27FC236}">
                <a16:creationId xmlns:a16="http://schemas.microsoft.com/office/drawing/2014/main" id="{71402ABE-1FFB-9035-08D5-F22BA16A0442}"/>
              </a:ext>
            </a:extLst>
          </p:cNvPr>
          <p:cNvSpPr/>
          <p:nvPr/>
        </p:nvSpPr>
        <p:spPr>
          <a:xfrm>
            <a:off x="4847851" y="5221116"/>
            <a:ext cx="2905888" cy="745811"/>
          </a:xfrm>
          <a:prstGeom prst="wedgeRoundRectCallout">
            <a:avLst>
              <a:gd name="adj1" fmla="val 41020"/>
              <a:gd name="adj2" fmla="val -109791"/>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sz="1400" dirty="0" err="1"/>
              <a:t>LongL</a:t>
            </a:r>
            <a:r>
              <a:rPr kumimoji="1" lang="ja-JP" altLang="en-US" sz="1400" dirty="0"/>
              <a:t>より短い必要があるため</a:t>
            </a:r>
          </a:p>
        </p:txBody>
      </p:sp>
    </p:spTree>
    <p:extLst>
      <p:ext uri="{BB962C8B-B14F-4D97-AF65-F5344CB8AC3E}">
        <p14:creationId xmlns:p14="http://schemas.microsoft.com/office/powerpoint/2010/main" val="39700095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4BEAA9-B41A-248B-899E-69FC028DEE93}"/>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404F184-848D-12F3-B0E9-6570A2534489}"/>
              </a:ext>
            </a:extLst>
          </p:cNvPr>
          <p:cNvSpPr>
            <a:spLocks noGrp="1"/>
          </p:cNvSpPr>
          <p:nvPr>
            <p:ph type="title"/>
          </p:nvPr>
        </p:nvSpPr>
        <p:spPr>
          <a:xfrm>
            <a:off x="7239014" y="525982"/>
            <a:ext cx="4282983" cy="1200361"/>
          </a:xfrm>
        </p:spPr>
        <p:txBody>
          <a:bodyPr vert="horz" lIns="91440" tIns="45720" rIns="91440" bIns="45720" rtlCol="0" anchor="b">
            <a:normAutofit/>
          </a:bodyPr>
          <a:lstStyle/>
          <a:p>
            <a:r>
              <a:rPr kumimoji="1" lang="ja-JP" altLang="en-US" sz="3600" kern="1200" dirty="0">
                <a:solidFill>
                  <a:schemeClr val="tx1"/>
                </a:solidFill>
                <a:latin typeface="+mj-lt"/>
                <a:ea typeface="+mj-ea"/>
                <a:cs typeface="+mj-cs"/>
              </a:rPr>
              <a:t>入力段</a:t>
            </a:r>
            <a:r>
              <a:rPr lang="ja-JP" altLang="en-US" sz="3600" kern="1200" dirty="0">
                <a:solidFill>
                  <a:schemeClr val="tx1"/>
                </a:solidFill>
                <a:latin typeface="+mj-lt"/>
                <a:ea typeface="+mj-ea"/>
                <a:cs typeface="+mj-cs"/>
              </a:rPr>
              <a:t>：</a:t>
            </a:r>
            <a:br>
              <a:rPr lang="en-US" altLang="ja-JP" sz="3600" kern="1200" dirty="0">
                <a:solidFill>
                  <a:schemeClr val="tx1"/>
                </a:solidFill>
                <a:latin typeface="+mj-lt"/>
                <a:ea typeface="+mj-ea"/>
                <a:cs typeface="+mj-cs"/>
              </a:rPr>
            </a:br>
            <a:r>
              <a:rPr lang="en-US" altLang="ja-JP" sz="3600" kern="1200" dirty="0" err="1">
                <a:solidFill>
                  <a:schemeClr val="tx1"/>
                </a:solidFill>
                <a:latin typeface="+mj-lt"/>
                <a:ea typeface="+mj-ea"/>
                <a:cs typeface="+mj-cs"/>
              </a:rPr>
              <a:t>LongL</a:t>
            </a:r>
            <a:r>
              <a:rPr lang="ja-JP" altLang="en-US" sz="3600" kern="1200" dirty="0">
                <a:solidFill>
                  <a:schemeClr val="tx1"/>
                </a:solidFill>
                <a:latin typeface="+mj-lt"/>
                <a:ea typeface="+mj-ea"/>
                <a:cs typeface="+mj-cs"/>
              </a:rPr>
              <a:t>の</a:t>
            </a:r>
            <a:r>
              <a:rPr lang="en-US" altLang="ja-JP" sz="3600" kern="1200" dirty="0">
                <a:solidFill>
                  <a:schemeClr val="tx1"/>
                </a:solidFill>
                <a:latin typeface="+mj-lt"/>
                <a:ea typeface="+mj-ea"/>
                <a:cs typeface="+mj-cs"/>
              </a:rPr>
              <a:t>L</a:t>
            </a:r>
            <a:r>
              <a:rPr lang="ja-JP" altLang="en-US" sz="3600" kern="1200" dirty="0">
                <a:solidFill>
                  <a:schemeClr val="tx1"/>
                </a:solidFill>
                <a:latin typeface="+mj-lt"/>
                <a:ea typeface="+mj-ea"/>
                <a:cs typeface="+mj-cs"/>
              </a:rPr>
              <a:t>の設計</a:t>
            </a:r>
            <a:endParaRPr kumimoji="1" lang="en-US" altLang="ja-JP" sz="3600" kern="1200" dirty="0">
              <a:solidFill>
                <a:schemeClr val="tx1"/>
              </a:solidFill>
              <a:latin typeface="+mj-lt"/>
              <a:ea typeface="+mj-ea"/>
              <a:cs typeface="+mj-cs"/>
            </a:endParaRPr>
          </a:p>
        </p:txBody>
      </p:sp>
      <p:sp>
        <p:nvSpPr>
          <p:cNvPr id="20" name="Rectangle 19">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81B12034-D311-D873-C2C3-D8929F7C28A7}"/>
              </a:ext>
            </a:extLst>
          </p:cNvPr>
          <p:cNvPicPr>
            <a:picLocks noChangeAspect="1"/>
          </p:cNvPicPr>
          <p:nvPr/>
        </p:nvPicPr>
        <p:blipFill>
          <a:blip r:embed="rId2"/>
          <a:stretch>
            <a:fillRect/>
          </a:stretch>
        </p:blipFill>
        <p:spPr>
          <a:xfrm>
            <a:off x="1414438" y="650494"/>
            <a:ext cx="3951629" cy="5324142"/>
          </a:xfrm>
          <a:prstGeom prst="rect">
            <a:avLst/>
          </a:prstGeom>
        </p:spPr>
      </p:pic>
      <p:sp>
        <p:nvSpPr>
          <p:cNvPr id="24" name="Rectangle 2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0340D578-42FA-9B4C-BB46-384B64B23756}"/>
                  </a:ext>
                </a:extLst>
              </p:cNvPr>
              <p:cNvSpPr txBox="1"/>
              <p:nvPr/>
            </p:nvSpPr>
            <p:spPr>
              <a:xfrm>
                <a:off x="7239012"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ltLang="ja-JP" dirty="0"/>
                  <a:t>LongL</a:t>
                </a:r>
                <a:r>
                  <a:rPr lang="ja-JP" altLang="en-US" dirty="0"/>
                  <a:t>の</a:t>
                </a:r>
                <a:r>
                  <a:rPr lang="en-US" altLang="ja-JP" dirty="0"/>
                  <a:t>L</a:t>
                </a:r>
                <a:r>
                  <a:rPr lang="ja-JP" altLang="en-US" dirty="0"/>
                  <a:t>の値は、シミュレーション的に決定する</a:t>
                </a:r>
                <a:endParaRPr lang="en-US" altLang="ja-JP" dirty="0"/>
              </a:p>
              <a:p>
                <a:pPr indent="-228600">
                  <a:lnSpc>
                    <a:spcPct val="90000"/>
                  </a:lnSpc>
                  <a:spcAft>
                    <a:spcPts val="600"/>
                  </a:spcAft>
                  <a:buFont typeface="Arial" panose="020B0604020202020204" pitchFamily="34" charset="0"/>
                  <a:buChar char="•"/>
                </a:pPr>
                <a:r>
                  <a:rPr lang="ja-JP" altLang="en-US" dirty="0"/>
                  <a:t>そこで、経験則的には下記のあたりから設計を始めるとよい</a:t>
                </a:r>
              </a:p>
              <a:p>
                <a:pPr lvl="1" indent="-228600">
                  <a:lnSpc>
                    <a:spcPct val="90000"/>
                  </a:lnSpc>
                  <a:spcAft>
                    <a:spcPts val="600"/>
                  </a:spcAft>
                  <a:buFont typeface="Arial" panose="020B0604020202020204" pitchFamily="34" charset="0"/>
                  <a:buChar char="•"/>
                </a:pPr>
                <a14:m>
                  <m:oMath xmlns:m="http://schemas.openxmlformats.org/officeDocument/2006/math">
                    <m:r>
                      <a:rPr lang="en-US" altLang="ja-JP" b="0" i="1" smtClean="0">
                        <a:latin typeface="Cambria Math" panose="02040503050406030204" pitchFamily="18" charset="0"/>
                      </a:rPr>
                      <m:t>𝐿𝑜𝑛𝑔</m:t>
                    </m:r>
                    <m:r>
                      <a:rPr lang="ja-JP" altLang="en-US" i="1">
                        <a:latin typeface="Cambria Math" panose="02040503050406030204" pitchFamily="18" charset="0"/>
                      </a:rPr>
                      <m:t>𝐿</m:t>
                    </m:r>
                    <m:r>
                      <a:rPr lang="en-US" altLang="ja-JP">
                        <a:latin typeface="Cambria Math" panose="02040503050406030204" pitchFamily="18" charset="0"/>
                      </a:rPr>
                      <m:t>=3∼5×</m:t>
                    </m:r>
                    <m:r>
                      <m:rPr>
                        <m:sty m:val="p"/>
                      </m:rPr>
                      <a:rPr lang="en-US" altLang="ja-JP" b="0" i="0" smtClean="0">
                        <a:latin typeface="Cambria Math" panose="02040503050406030204" pitchFamily="18" charset="0"/>
                      </a:rPr>
                      <m:t>L</m:t>
                    </m:r>
                  </m:oMath>
                </a14:m>
                <a:endParaRPr lang="en-US" altLang="ja-JP" dirty="0"/>
              </a:p>
              <a:p>
                <a:pPr lvl="1" indent="-228600">
                  <a:lnSpc>
                    <a:spcPct val="90000"/>
                  </a:lnSpc>
                  <a:spcAft>
                    <a:spcPts val="600"/>
                  </a:spcAft>
                  <a:buFont typeface="Arial" panose="020B0604020202020204" pitchFamily="34" charset="0"/>
                  <a:buChar char="•"/>
                </a:pPr>
                <a:endParaRPr lang="en-US" altLang="ja-JP" dirty="0"/>
              </a:p>
              <a:p>
                <a:pPr indent="-228600">
                  <a:lnSpc>
                    <a:spcPct val="90000"/>
                  </a:lnSpc>
                  <a:spcAft>
                    <a:spcPts val="600"/>
                  </a:spcAft>
                  <a:buFont typeface="Arial" panose="020B0604020202020204" pitchFamily="34" charset="0"/>
                  <a:buChar char="•"/>
                </a:pPr>
                <a:r>
                  <a:rPr lang="ja-JP" altLang="en-US" dirty="0"/>
                  <a:t>本設計では</a:t>
                </a:r>
                <a:r>
                  <a:rPr lang="en-US" altLang="ja-JP" dirty="0"/>
                  <a:t>3</a:t>
                </a:r>
                <a:r>
                  <a:rPr lang="ja-JP" altLang="en-US" dirty="0"/>
                  <a:t>倍の</a:t>
                </a:r>
                <a:r>
                  <a:rPr lang="en-US" altLang="ja-JP" dirty="0"/>
                  <a:t>2.4u</a:t>
                </a:r>
                <a:r>
                  <a:rPr lang="ja-JP" altLang="en-US" dirty="0"/>
                  <a:t>とする</a:t>
                </a:r>
                <a:endParaRPr lang="en-US" altLang="ja-JP" dirty="0"/>
              </a:p>
              <a:p>
                <a:pPr lvl="1" indent="-228600">
                  <a:lnSpc>
                    <a:spcPct val="90000"/>
                  </a:lnSpc>
                  <a:spcAft>
                    <a:spcPts val="600"/>
                  </a:spcAft>
                  <a:buFont typeface="Arial" panose="020B0604020202020204" pitchFamily="34" charset="0"/>
                  <a:buChar char="•"/>
                </a:pPr>
                <a:r>
                  <a:rPr lang="ja-JP" altLang="en-US" sz="1600" dirty="0"/>
                  <a:t>ゲート容量低減のため最小とする</a:t>
                </a:r>
                <a:endParaRPr lang="en-US" altLang="ja-JP" sz="1600" dirty="0"/>
              </a:p>
            </p:txBody>
          </p:sp>
        </mc:Choice>
        <mc:Fallback xmlns="">
          <p:sp>
            <p:nvSpPr>
              <p:cNvPr id="8" name="テキスト ボックス 7">
                <a:extLst>
                  <a:ext uri="{FF2B5EF4-FFF2-40B4-BE49-F238E27FC236}">
                    <a16:creationId xmlns:a16="http://schemas.microsoft.com/office/drawing/2014/main" id="{0340D578-42FA-9B4C-BB46-384B64B23756}"/>
                  </a:ext>
                </a:extLst>
              </p:cNvPr>
              <p:cNvSpPr txBox="1">
                <a:spLocks noRot="1" noChangeAspect="1" noMove="1" noResize="1" noEditPoints="1" noAdjustHandles="1" noChangeArrowheads="1" noChangeShapeType="1" noTextEdit="1"/>
              </p:cNvSpPr>
              <p:nvPr/>
            </p:nvSpPr>
            <p:spPr>
              <a:xfrm>
                <a:off x="7239012" y="2031101"/>
                <a:ext cx="4282984" cy="3511943"/>
              </a:xfrm>
              <a:prstGeom prst="rect">
                <a:avLst/>
              </a:prstGeom>
              <a:blipFill>
                <a:blip r:embed="rId3"/>
                <a:stretch>
                  <a:fillRect l="-1282"/>
                </a:stretch>
              </a:blipFill>
            </p:spPr>
            <p:txBody>
              <a:bodyPr/>
              <a:lstStyle/>
              <a:p>
                <a:r>
                  <a:rPr lang="ja-JP" altLang="en-US">
                    <a:noFill/>
                  </a:rPr>
                  <a:t> </a:t>
                </a:r>
              </a:p>
            </p:txBody>
          </p:sp>
        </mc:Fallback>
      </mc:AlternateContent>
      <p:sp>
        <p:nvSpPr>
          <p:cNvPr id="26" name="Rectangle 2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吹き出し: 角を丸めた四角形 2">
            <a:extLst>
              <a:ext uri="{FF2B5EF4-FFF2-40B4-BE49-F238E27FC236}">
                <a16:creationId xmlns:a16="http://schemas.microsoft.com/office/drawing/2014/main" id="{6B04E9AE-8E9A-6A71-CBA9-14C3AF3122CB}"/>
              </a:ext>
            </a:extLst>
          </p:cNvPr>
          <p:cNvSpPr/>
          <p:nvPr/>
        </p:nvSpPr>
        <p:spPr>
          <a:xfrm>
            <a:off x="4893906" y="5050115"/>
            <a:ext cx="2584580" cy="1157391"/>
          </a:xfrm>
          <a:prstGeom prst="wedgeRoundRectCallout">
            <a:avLst>
              <a:gd name="adj1" fmla="val 54185"/>
              <a:gd name="adj2" fmla="val -81642"/>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sz="1400" dirty="0"/>
              <a:t>計算から求める手法もあるが、選択幅が小さいため</a:t>
            </a:r>
            <a:endParaRPr kumimoji="1" lang="en-US" altLang="ja-JP" sz="1400" dirty="0"/>
          </a:p>
          <a:p>
            <a:pPr algn="ctr"/>
            <a:r>
              <a:rPr kumimoji="1" lang="ja-JP" altLang="en-US" sz="1400" dirty="0"/>
              <a:t>シミュレーションによる調整が楽である</a:t>
            </a:r>
          </a:p>
        </p:txBody>
      </p:sp>
    </p:spTree>
    <p:extLst>
      <p:ext uri="{BB962C8B-B14F-4D97-AF65-F5344CB8AC3E}">
        <p14:creationId xmlns:p14="http://schemas.microsoft.com/office/powerpoint/2010/main" val="30508526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018612B5-D728-94AD-6602-C38E83BE1E09}"/>
                  </a:ext>
                </a:extLst>
              </p:cNvPr>
              <p:cNvSpPr>
                <a:spLocks noGrp="1"/>
              </p:cNvSpPr>
              <p:nvPr>
                <p:ph type="title"/>
              </p:nvPr>
            </p:nvSpPr>
            <p:spPr>
              <a:xfrm>
                <a:off x="1043631" y="809898"/>
                <a:ext cx="9942716" cy="1554480"/>
              </a:xfrm>
            </p:spPr>
            <p:txBody>
              <a:bodyPr anchor="ctr">
                <a:normAutofit/>
              </a:bodyPr>
              <a:lstStyle/>
              <a:p>
                <a:r>
                  <a:rPr kumimoji="1" lang="ja-JP" altLang="en-US" sz="4800" dirty="0"/>
                  <a:t>入力段：最小の</a:t>
                </a:r>
                <a14:m>
                  <m:oMath xmlns:m="http://schemas.openxmlformats.org/officeDocument/2006/math">
                    <m:sSub>
                      <m:sSubPr>
                        <m:ctrlPr>
                          <a:rPr kumimoji="1" lang="en-US" altLang="ja-JP" sz="4800" i="1" smtClean="0">
                            <a:latin typeface="Cambria Math" panose="02040503050406030204" pitchFamily="18" charset="0"/>
                          </a:rPr>
                        </m:ctrlPr>
                      </m:sSubPr>
                      <m:e>
                        <m:r>
                          <a:rPr kumimoji="1" lang="en-US" altLang="ja-JP" sz="4800" b="0" i="1" smtClean="0">
                            <a:latin typeface="Cambria Math" panose="02040503050406030204" pitchFamily="18" charset="0"/>
                          </a:rPr>
                          <m:t>𝐿</m:t>
                        </m:r>
                      </m:e>
                      <m:sub>
                        <m:r>
                          <a:rPr kumimoji="1" lang="en-US" altLang="ja-JP" sz="4800" b="0" i="1" smtClean="0">
                            <a:latin typeface="Cambria Math" panose="02040503050406030204" pitchFamily="18" charset="0"/>
                          </a:rPr>
                          <m:t>𝑚𝑖𝑛</m:t>
                        </m:r>
                      </m:sub>
                    </m:sSub>
                  </m:oMath>
                </a14:m>
                <a:r>
                  <a:rPr kumimoji="1" lang="ja-JP" altLang="en-US" sz="4800" dirty="0"/>
                  <a:t>の決定</a:t>
                </a:r>
              </a:p>
            </p:txBody>
          </p:sp>
        </mc:Choice>
        <mc:Fallback xmlns="">
          <p:sp>
            <p:nvSpPr>
              <p:cNvPr id="2" name="タイトル 1">
                <a:extLst>
                  <a:ext uri="{FF2B5EF4-FFF2-40B4-BE49-F238E27FC236}">
                    <a16:creationId xmlns:a16="http://schemas.microsoft.com/office/drawing/2014/main" id="{018612B5-D728-94AD-6602-C38E83BE1E09}"/>
                  </a:ext>
                </a:extLst>
              </p:cNvPr>
              <p:cNvSpPr>
                <a:spLocks noGrp="1" noRot="1" noChangeAspect="1" noMove="1" noResize="1" noEditPoints="1" noAdjustHandles="1" noChangeArrowheads="1" noChangeShapeType="1" noTextEdit="1"/>
              </p:cNvSpPr>
              <p:nvPr>
                <p:ph type="title"/>
              </p:nvPr>
            </p:nvSpPr>
            <p:spPr>
              <a:xfrm>
                <a:off x="1043631" y="809898"/>
                <a:ext cx="9942716" cy="1554480"/>
              </a:xfrm>
              <a:blipFill>
                <a:blip r:embed="rId2"/>
                <a:stretch>
                  <a:fillRect l="-275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9BE896F-9E57-8C9C-F7E4-99B758C20195}"/>
                  </a:ext>
                </a:extLst>
              </p:cNvPr>
              <p:cNvSpPr>
                <a:spLocks noGrp="1"/>
              </p:cNvSpPr>
              <p:nvPr>
                <p:ph idx="1"/>
              </p:nvPr>
            </p:nvSpPr>
            <p:spPr>
              <a:xfrm>
                <a:off x="1045028" y="3017521"/>
                <a:ext cx="9941319" cy="3373497"/>
              </a:xfrm>
            </p:spPr>
            <p:txBody>
              <a:bodyPr anchor="ctr">
                <a:normAutofit/>
              </a:bodyPr>
              <a:lstStyle/>
              <a:p>
                <a:r>
                  <a:rPr kumimoji="1" lang="ja-JP" altLang="en-US" sz="1500" dirty="0"/>
                  <a:t>入力段はアナログ的な動作をする</a:t>
                </a:r>
                <a:endParaRPr kumimoji="1" lang="en-US" altLang="ja-JP" sz="1500" dirty="0"/>
              </a:p>
              <a:p>
                <a:pPr lvl="1"/>
                <a:r>
                  <a:rPr kumimoji="1" lang="ja-JP" altLang="en-US" sz="1500" dirty="0"/>
                  <a:t>短チャネル効果やチャネル長変調を考慮</a:t>
                </a:r>
                <a:endParaRPr kumimoji="1" lang="en-US" altLang="ja-JP" sz="1500" dirty="0"/>
              </a:p>
              <a:p>
                <a:pPr lvl="2"/>
                <a:r>
                  <a:rPr lang="en-US" altLang="ja-JP" sz="1600" dirty="0"/>
                  <a:t>5.0V</a:t>
                </a:r>
                <a:r>
                  <a:rPr lang="ja-JP" altLang="en-US" sz="1600" dirty="0"/>
                  <a:t>素子の最小</a:t>
                </a:r>
                <a:r>
                  <a:rPr lang="en-US" altLang="ja-JP" sz="1600" dirty="0"/>
                  <a:t>L</a:t>
                </a:r>
                <a:r>
                  <a:rPr lang="ja-JP" altLang="en-US" sz="1600" dirty="0"/>
                  <a:t>は</a:t>
                </a:r>
                <a:r>
                  <a:rPr lang="en-US" altLang="ja-JP" sz="1600" dirty="0"/>
                  <a:t>0.5u</a:t>
                </a:r>
                <a:r>
                  <a:rPr lang="ja-JP" altLang="en-US" sz="1600" dirty="0"/>
                  <a:t>であり、本スペックではこのサイズで問題ない</a:t>
                </a:r>
                <a:endParaRPr kumimoji="1" lang="en-US" altLang="ja-JP" sz="1600" dirty="0"/>
              </a:p>
              <a:p>
                <a:pPr lvl="3"/>
                <a:r>
                  <a:rPr kumimoji="1" lang="ja-JP" altLang="en-US" sz="1600" dirty="0"/>
                  <a:t>設計方法は</a:t>
                </a:r>
                <a:r>
                  <a:rPr kumimoji="1" lang="en-US" altLang="ja-JP" sz="1600" dirty="0"/>
                  <a:t>OPAMP</a:t>
                </a:r>
                <a:r>
                  <a:rPr kumimoji="1" lang="ja-JP" altLang="en-US" sz="1600" dirty="0"/>
                  <a:t>ハンズオン資料を参照</a:t>
                </a:r>
                <a:endParaRPr kumimoji="1" lang="en-US" altLang="ja-JP" sz="1100" dirty="0"/>
              </a:p>
              <a:p>
                <a:r>
                  <a:rPr lang="en-US" altLang="ja-JP" sz="1500" dirty="0"/>
                  <a:t>1.8V</a:t>
                </a:r>
                <a:r>
                  <a:rPr lang="ja-JP" altLang="en-US" sz="1500" dirty="0"/>
                  <a:t>～</a:t>
                </a:r>
                <a:r>
                  <a:rPr lang="en-US" altLang="ja-JP" sz="1500" dirty="0"/>
                  <a:t>5.0V</a:t>
                </a:r>
                <a:r>
                  <a:rPr lang="ja-JP" altLang="en-US" sz="1500" dirty="0"/>
                  <a:t>までの入力を考慮</a:t>
                </a:r>
                <a:endParaRPr lang="en-US" altLang="ja-JP" sz="1500" dirty="0"/>
              </a:p>
              <a:p>
                <a:pPr lvl="1"/>
                <a:r>
                  <a:rPr lang="en-US" altLang="ja-JP" sz="1500" dirty="0"/>
                  <a:t>1.8V</a:t>
                </a:r>
                <a:r>
                  <a:rPr lang="ja-JP" altLang="en-US" sz="1500" dirty="0"/>
                  <a:t>の場合、</a:t>
                </a:r>
                <a:r>
                  <a:rPr lang="en-US" altLang="ja-JP" sz="1500" dirty="0"/>
                  <a:t>5.0V</a:t>
                </a:r>
                <a:r>
                  <a:rPr lang="ja-JP" altLang="en-US" sz="1500" dirty="0"/>
                  <a:t>時に比べ</a:t>
                </a:r>
                <a:r>
                  <a:rPr lang="en-US" altLang="ja-JP" sz="1500" dirty="0"/>
                  <a:t>LSB</a:t>
                </a:r>
                <a:r>
                  <a:rPr lang="ja-JP" altLang="en-US" sz="1500" dirty="0"/>
                  <a:t>が</a:t>
                </a:r>
                <a:r>
                  <a:rPr lang="en-US" altLang="ja-JP" sz="1500" dirty="0"/>
                  <a:t>1/3</a:t>
                </a:r>
                <a:r>
                  <a:rPr lang="ja-JP" altLang="en-US" sz="1500" dirty="0"/>
                  <a:t>まで小さくなる</a:t>
                </a:r>
                <a:endParaRPr lang="en-US" altLang="ja-JP" sz="1500" dirty="0"/>
              </a:p>
              <a:p>
                <a:pPr lvl="1"/>
                <a:r>
                  <a:rPr lang="ja-JP" altLang="en-US" sz="1500" dirty="0"/>
                  <a:t>誤差を減らすために、ペルグロムの法則（後述）より</a:t>
                </a:r>
                <a:r>
                  <a:rPr lang="en-US" altLang="ja-JP" sz="1500" dirty="0" err="1"/>
                  <a:t>WxL</a:t>
                </a:r>
                <a:r>
                  <a:rPr lang="ja-JP" altLang="en-US" sz="1500" dirty="0"/>
                  <a:t>の面積を増やす必要がある</a:t>
                </a:r>
                <a:endParaRPr lang="en-US" altLang="ja-JP" sz="1500" dirty="0"/>
              </a:p>
              <a:p>
                <a:pPr lvl="2"/>
                <a:r>
                  <a:rPr lang="en-US" altLang="ja-JP" sz="1500" dirty="0"/>
                  <a:t>FET</a:t>
                </a:r>
                <a:r>
                  <a:rPr lang="ja-JP" altLang="en-US" sz="1500" dirty="0"/>
                  <a:t>の性能は</a:t>
                </a:r>
                <a:r>
                  <a:rPr lang="en-US" altLang="ja-JP" sz="1500" dirty="0"/>
                  <a:t>W/L</a:t>
                </a:r>
                <a:r>
                  <a:rPr lang="ja-JP" altLang="en-US" sz="1500" dirty="0"/>
                  <a:t>で決めるため、</a:t>
                </a:r>
                <a:r>
                  <a:rPr lang="en-US" altLang="ja-JP" sz="1500" dirty="0"/>
                  <a:t>L</a:t>
                </a:r>
                <a:r>
                  <a:rPr lang="ja-JP" altLang="en-US" sz="1500" dirty="0"/>
                  <a:t>を大きくすると</a:t>
                </a:r>
                <a:r>
                  <a:rPr lang="en-US" altLang="ja-JP" sz="1500" dirty="0"/>
                  <a:t>W</a:t>
                </a:r>
                <a:r>
                  <a:rPr lang="ja-JP" altLang="en-US" sz="1500" dirty="0"/>
                  <a:t>も大きくなる点に注意</a:t>
                </a:r>
                <a:endParaRPr lang="en-US" altLang="ja-JP" sz="1500" dirty="0"/>
              </a:p>
              <a:p>
                <a:pPr lvl="1"/>
                <a:endParaRPr kumimoji="1" lang="en-US" altLang="ja-JP" sz="1500" dirty="0"/>
              </a:p>
              <a:p>
                <a:r>
                  <a:rPr kumimoji="1" lang="ja-JP" altLang="en-US" sz="1500" dirty="0"/>
                  <a:t>以上から最小の</a:t>
                </a:r>
                <a14:m>
                  <m:oMath xmlns:m="http://schemas.openxmlformats.org/officeDocument/2006/math">
                    <m:sSub>
                      <m:sSubPr>
                        <m:ctrlPr>
                          <a:rPr lang="en-US" altLang="ja-JP" sz="1500" i="1">
                            <a:latin typeface="Cambria Math" panose="02040503050406030204" pitchFamily="18" charset="0"/>
                          </a:rPr>
                        </m:ctrlPr>
                      </m:sSubPr>
                      <m:e>
                        <m:r>
                          <a:rPr lang="en-US" altLang="ja-JP" sz="1500" i="1">
                            <a:latin typeface="Cambria Math" panose="02040503050406030204" pitchFamily="18" charset="0"/>
                          </a:rPr>
                          <m:t>𝐿</m:t>
                        </m:r>
                      </m:e>
                      <m:sub>
                        <m:r>
                          <a:rPr lang="en-US" altLang="ja-JP" sz="1500" i="1">
                            <a:latin typeface="Cambria Math" panose="02040503050406030204" pitchFamily="18" charset="0"/>
                          </a:rPr>
                          <m:t>𝑚𝑖𝑛</m:t>
                        </m:r>
                      </m:sub>
                    </m:sSub>
                  </m:oMath>
                </a14:m>
                <a:r>
                  <a:rPr kumimoji="1" lang="ja-JP" altLang="en-US" sz="1500" dirty="0"/>
                  <a:t>は</a:t>
                </a:r>
                <a:r>
                  <a:rPr lang="ja-JP" altLang="en-US" sz="1500" dirty="0"/>
                  <a:t>、</a:t>
                </a:r>
                <a:r>
                  <a:rPr lang="en-US" altLang="ja-JP" sz="1500" dirty="0"/>
                  <a:t>5.0V</a:t>
                </a:r>
                <a:r>
                  <a:rPr lang="ja-JP" altLang="en-US" sz="1500" dirty="0"/>
                  <a:t>素子の最小単位の</a:t>
                </a:r>
                <a:r>
                  <a:rPr lang="en-US" altLang="ja-JP" sz="1500" dirty="0"/>
                  <a:t>0.5</a:t>
                </a:r>
                <a:r>
                  <a:rPr kumimoji="1" lang="en-US" altLang="ja-JP" sz="1500" dirty="0"/>
                  <a:t>u</a:t>
                </a:r>
                <a:r>
                  <a:rPr kumimoji="1" lang="ja-JP" altLang="en-US" sz="1500" dirty="0"/>
                  <a:t>とする</a:t>
                </a:r>
              </a:p>
            </p:txBody>
          </p:sp>
        </mc:Choice>
        <mc:Fallback xmlns="">
          <p:sp>
            <p:nvSpPr>
              <p:cNvPr id="3" name="コンテンツ プレースホルダー 2">
                <a:extLst>
                  <a:ext uri="{FF2B5EF4-FFF2-40B4-BE49-F238E27FC236}">
                    <a16:creationId xmlns:a16="http://schemas.microsoft.com/office/drawing/2014/main" id="{49BE896F-9E57-8C9C-F7E4-99B758C20195}"/>
                  </a:ext>
                </a:extLst>
              </p:cNvPr>
              <p:cNvSpPr>
                <a:spLocks noGrp="1" noRot="1" noChangeAspect="1" noMove="1" noResize="1" noEditPoints="1" noAdjustHandles="1" noChangeArrowheads="1" noChangeShapeType="1" noTextEdit="1"/>
              </p:cNvSpPr>
              <p:nvPr>
                <p:ph idx="1"/>
              </p:nvPr>
            </p:nvSpPr>
            <p:spPr>
              <a:xfrm>
                <a:off x="1045028" y="3017521"/>
                <a:ext cx="9941319" cy="3373497"/>
              </a:xfrm>
              <a:blipFill>
                <a:blip r:embed="rId3"/>
                <a:stretch>
                  <a:fillRect l="-184"/>
                </a:stretch>
              </a:blipFill>
            </p:spPr>
            <p:txBody>
              <a:bodyPr/>
              <a:lstStyle/>
              <a:p>
                <a:r>
                  <a:rPr lang="ja-JP" altLang="en-US">
                    <a:noFill/>
                  </a:rPr>
                  <a:t> </a:t>
                </a:r>
              </a:p>
            </p:txBody>
          </p:sp>
        </mc:Fallback>
      </mc:AlternateContent>
      <p:cxnSp>
        <p:nvCxnSpPr>
          <p:cNvPr id="31" name="Straight Connector 3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52036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B07A72-4C77-25D8-35F4-90751559DA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705859-6120-145F-B03C-0B99367B5407}"/>
              </a:ext>
            </a:extLst>
          </p:cNvPr>
          <p:cNvSpPr>
            <a:spLocks noGrp="1"/>
          </p:cNvSpPr>
          <p:nvPr>
            <p:ph type="title"/>
          </p:nvPr>
        </p:nvSpPr>
        <p:spPr>
          <a:xfrm>
            <a:off x="762000" y="1138265"/>
            <a:ext cx="5791199" cy="1401183"/>
          </a:xfrm>
        </p:spPr>
        <p:txBody>
          <a:bodyPr vert="horz" lIns="91440" tIns="45720" rIns="91440" bIns="45720" rtlCol="0" anchor="t">
            <a:normAutofit/>
          </a:bodyPr>
          <a:lstStyle/>
          <a:p>
            <a:r>
              <a:rPr kumimoji="1" lang="ja-JP" altLang="en-US" sz="3200" kern="1200" dirty="0">
                <a:solidFill>
                  <a:schemeClr val="tx1"/>
                </a:solidFill>
                <a:latin typeface="+mj-lt"/>
                <a:ea typeface="+mj-ea"/>
                <a:cs typeface="+mj-cs"/>
              </a:rPr>
              <a:t>入力段：</a:t>
            </a:r>
            <a:r>
              <a:rPr lang="en-US" altLang="ja-JP" sz="3200" dirty="0" err="1"/>
              <a:t>LongL</a:t>
            </a:r>
            <a:r>
              <a:rPr lang="ja-JP" altLang="en-US" sz="3200" dirty="0"/>
              <a:t>の</a:t>
            </a:r>
            <a:r>
              <a:rPr kumimoji="1" lang="en-US" altLang="ja-JP" sz="3200" kern="1200" dirty="0">
                <a:solidFill>
                  <a:schemeClr val="tx1"/>
                </a:solidFill>
                <a:latin typeface="+mj-lt"/>
                <a:ea typeface="+mj-ea"/>
                <a:cs typeface="+mj-cs"/>
              </a:rPr>
              <a:t>W</a:t>
            </a:r>
            <a:r>
              <a:rPr kumimoji="1" lang="ja-JP" altLang="en-US" sz="3200" kern="1200" dirty="0">
                <a:solidFill>
                  <a:schemeClr val="tx1"/>
                </a:solidFill>
                <a:latin typeface="+mj-lt"/>
                <a:ea typeface="+mj-ea"/>
                <a:cs typeface="+mj-cs"/>
              </a:rPr>
              <a:t>の設計</a:t>
            </a:r>
          </a:p>
        </p:txBody>
      </p:sp>
      <p:cxnSp>
        <p:nvCxnSpPr>
          <p:cNvPr id="13" name="Straight Connector 12">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04571B65-3974-DFCA-2664-4C9B4D2F7C5C}"/>
              </a:ext>
            </a:extLst>
          </p:cNvPr>
          <p:cNvSpPr txBox="1"/>
          <p:nvPr/>
        </p:nvSpPr>
        <p:spPr>
          <a:xfrm>
            <a:off x="762000" y="2551176"/>
            <a:ext cx="5791199" cy="3602935"/>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ltLang="ja-JP" sz="1700" b="1" dirty="0"/>
              <a:t>W</a:t>
            </a:r>
            <a:r>
              <a:rPr lang="en-US" altLang="ja-JP" sz="1700" dirty="0"/>
              <a:t> </a:t>
            </a:r>
            <a:r>
              <a:rPr lang="ja-JP" altLang="en-US" sz="1700" dirty="0"/>
              <a:t>は必要な動作電流を流せるサイズに設定する</a:t>
            </a:r>
            <a:endParaRPr lang="en-US" altLang="ja-JP" sz="1700" dirty="0"/>
          </a:p>
          <a:p>
            <a:pPr lvl="1" indent="-228600">
              <a:lnSpc>
                <a:spcPct val="90000"/>
              </a:lnSpc>
              <a:spcAft>
                <a:spcPts val="600"/>
              </a:spcAft>
              <a:buFont typeface="Arial" panose="020B0604020202020204" pitchFamily="34" charset="0"/>
              <a:buChar char="•"/>
            </a:pPr>
            <a:r>
              <a:rPr lang="ja-JP" altLang="en-US" sz="1700" dirty="0"/>
              <a:t>電流が小さすぎる場合</a:t>
            </a:r>
            <a:endParaRPr lang="en-US" altLang="ja-JP" sz="1700" dirty="0"/>
          </a:p>
          <a:p>
            <a:pPr lvl="2" indent="-228600">
              <a:lnSpc>
                <a:spcPct val="90000"/>
              </a:lnSpc>
              <a:spcAft>
                <a:spcPts val="600"/>
              </a:spcAft>
              <a:buFont typeface="Arial" panose="020B0604020202020204" pitchFamily="34" charset="0"/>
              <a:buChar char="•"/>
            </a:pPr>
            <a:r>
              <a:rPr lang="ja-JP" altLang="en-US" sz="1700" dirty="0"/>
              <a:t>入力差動対やラッチ部に十分な電流が供給されず、再生動作が遅くなる</a:t>
            </a:r>
          </a:p>
          <a:p>
            <a:pPr lvl="1" indent="-228600">
              <a:lnSpc>
                <a:spcPct val="90000"/>
              </a:lnSpc>
              <a:spcAft>
                <a:spcPts val="600"/>
              </a:spcAft>
              <a:buFont typeface="Arial" panose="020B0604020202020204" pitchFamily="34" charset="0"/>
              <a:buChar char="•"/>
            </a:pPr>
            <a:r>
              <a:rPr lang="ja-JP" altLang="en-US" sz="1700" dirty="0"/>
              <a:t>電流が大きすぎる場合</a:t>
            </a:r>
            <a:endParaRPr lang="en-US" altLang="ja-JP" sz="1700" dirty="0"/>
          </a:p>
          <a:p>
            <a:pPr lvl="2" indent="-228600">
              <a:lnSpc>
                <a:spcPct val="90000"/>
              </a:lnSpc>
              <a:spcAft>
                <a:spcPts val="600"/>
              </a:spcAft>
              <a:buFont typeface="Arial" panose="020B0604020202020204" pitchFamily="34" charset="0"/>
              <a:buChar char="•"/>
            </a:pPr>
            <a:r>
              <a:rPr lang="ja-JP" altLang="en-US" sz="1700" dirty="0"/>
              <a:t>消費電力が増加する</a:t>
            </a:r>
            <a:endParaRPr lang="en-US" altLang="ja-JP" sz="1700" dirty="0"/>
          </a:p>
          <a:p>
            <a:pPr lvl="2" indent="-228600">
              <a:lnSpc>
                <a:spcPct val="90000"/>
              </a:lnSpc>
              <a:spcAft>
                <a:spcPts val="600"/>
              </a:spcAft>
              <a:buFont typeface="Arial" panose="020B0604020202020204" pitchFamily="34" charset="0"/>
              <a:buChar char="•"/>
            </a:pPr>
            <a:r>
              <a:rPr lang="ja-JP" altLang="en-US" sz="1700" dirty="0"/>
              <a:t>ラッチ動作が強くなりすぎることで、入力側へ戻る </a:t>
            </a:r>
            <a:r>
              <a:rPr lang="en-US" altLang="ja-JP" sz="1700" b="1" dirty="0"/>
              <a:t>kickback noise</a:t>
            </a:r>
            <a:r>
              <a:rPr lang="en-US" altLang="ja-JP" sz="1700" dirty="0"/>
              <a:t> </a:t>
            </a:r>
            <a:r>
              <a:rPr lang="ja-JP" altLang="en-US" sz="1700" dirty="0"/>
              <a:t>が大きくなる</a:t>
            </a:r>
          </a:p>
          <a:p>
            <a:pPr indent="-228600">
              <a:lnSpc>
                <a:spcPct val="90000"/>
              </a:lnSpc>
              <a:spcAft>
                <a:spcPts val="600"/>
              </a:spcAft>
              <a:buFont typeface="Arial" panose="020B0604020202020204" pitchFamily="34" charset="0"/>
              <a:buChar char="•"/>
            </a:pPr>
            <a:r>
              <a:rPr lang="ja-JP" altLang="en-US" sz="1700" dirty="0"/>
              <a:t>したがって、</a:t>
            </a:r>
            <a:r>
              <a:rPr lang="en-US" altLang="ja-JP" sz="1700" dirty="0"/>
              <a:t>W</a:t>
            </a:r>
            <a:r>
              <a:rPr lang="ja-JP" altLang="en-US" sz="1700" dirty="0"/>
              <a:t>は </a:t>
            </a:r>
            <a:r>
              <a:rPr lang="ja-JP" altLang="en-US" sz="1700" b="1" dirty="0"/>
              <a:t>速度を満たす最小限の電流</a:t>
            </a:r>
            <a:r>
              <a:rPr lang="en-US" altLang="ja-JP" sz="1700" dirty="0"/>
              <a:t> </a:t>
            </a:r>
            <a:r>
              <a:rPr lang="ja-JP" altLang="en-US" sz="1700" dirty="0"/>
              <a:t>になるように調整する</a:t>
            </a:r>
            <a:endParaRPr lang="en-US" altLang="ja-JP" sz="1700" dirty="0"/>
          </a:p>
        </p:txBody>
      </p:sp>
      <p:sp>
        <p:nvSpPr>
          <p:cNvPr id="15" name="Rectangle 14">
            <a:extLst>
              <a:ext uri="{FF2B5EF4-FFF2-40B4-BE49-F238E27FC236}">
                <a16:creationId xmlns:a16="http://schemas.microsoft.com/office/drawing/2014/main" id="{DF8BC164-E230-753F-2C7E-B4EE7BA77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8086" y="0"/>
            <a:ext cx="4803913"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D1B78DBF-4BEC-C948-FC8D-4158F8B2919D}"/>
              </a:ext>
            </a:extLst>
          </p:cNvPr>
          <p:cNvPicPr>
            <a:picLocks noChangeAspect="1"/>
          </p:cNvPicPr>
          <p:nvPr/>
        </p:nvPicPr>
        <p:blipFill>
          <a:blip r:embed="rId2"/>
          <a:stretch>
            <a:fillRect/>
          </a:stretch>
        </p:blipFill>
        <p:spPr>
          <a:xfrm>
            <a:off x="8024191" y="1100725"/>
            <a:ext cx="3452192" cy="4651235"/>
          </a:xfrm>
          <a:prstGeom prst="rect">
            <a:avLst/>
          </a:prstGeom>
        </p:spPr>
      </p:pic>
    </p:spTree>
    <p:extLst>
      <p:ext uri="{BB962C8B-B14F-4D97-AF65-F5344CB8AC3E}">
        <p14:creationId xmlns:p14="http://schemas.microsoft.com/office/powerpoint/2010/main" val="5884937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454523-37B2-9AE8-896F-C17F5D6FCC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2C18E5-DA6C-7B7E-844C-54E427362151}"/>
              </a:ext>
            </a:extLst>
          </p:cNvPr>
          <p:cNvSpPr>
            <a:spLocks noGrp="1"/>
          </p:cNvSpPr>
          <p:nvPr>
            <p:ph type="title"/>
          </p:nvPr>
        </p:nvSpPr>
        <p:spPr>
          <a:xfrm>
            <a:off x="762000" y="1138265"/>
            <a:ext cx="5791199" cy="1401183"/>
          </a:xfrm>
        </p:spPr>
        <p:txBody>
          <a:bodyPr vert="horz" lIns="91440" tIns="45720" rIns="91440" bIns="45720" rtlCol="0" anchor="t">
            <a:normAutofit/>
          </a:bodyPr>
          <a:lstStyle/>
          <a:p>
            <a:r>
              <a:rPr kumimoji="1" lang="ja-JP" altLang="en-US" sz="3200" kern="1200" dirty="0">
                <a:solidFill>
                  <a:schemeClr val="tx1"/>
                </a:solidFill>
                <a:latin typeface="+mj-lt"/>
                <a:ea typeface="+mj-ea"/>
                <a:cs typeface="+mj-cs"/>
              </a:rPr>
              <a:t>入力段：</a:t>
            </a:r>
            <a:r>
              <a:rPr lang="en-US" altLang="ja-JP" sz="3200" dirty="0" err="1"/>
              <a:t>LongL</a:t>
            </a:r>
            <a:r>
              <a:rPr lang="ja-JP" altLang="en-US" sz="3200" dirty="0"/>
              <a:t>の</a:t>
            </a:r>
            <a:r>
              <a:rPr kumimoji="1" lang="en-US" altLang="ja-JP" sz="3200" kern="1200" dirty="0">
                <a:solidFill>
                  <a:schemeClr val="tx1"/>
                </a:solidFill>
                <a:latin typeface="+mj-lt"/>
                <a:ea typeface="+mj-ea"/>
                <a:cs typeface="+mj-cs"/>
              </a:rPr>
              <a:t>W</a:t>
            </a:r>
            <a:r>
              <a:rPr kumimoji="1" lang="ja-JP" altLang="en-US" sz="3200" kern="1200" dirty="0">
                <a:solidFill>
                  <a:schemeClr val="tx1"/>
                </a:solidFill>
                <a:latin typeface="+mj-lt"/>
                <a:ea typeface="+mj-ea"/>
                <a:cs typeface="+mj-cs"/>
              </a:rPr>
              <a:t>の設計</a:t>
            </a:r>
          </a:p>
        </p:txBody>
      </p:sp>
      <p:cxnSp>
        <p:nvCxnSpPr>
          <p:cNvPr id="13" name="Straight Connector 12">
            <a:extLst>
              <a:ext uri="{FF2B5EF4-FFF2-40B4-BE49-F238E27FC236}">
                <a16:creationId xmlns:a16="http://schemas.microsoft.com/office/drawing/2014/main" id="{77660879-C60E-E3D8-C928-7F4521FEEE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43DF2FC-A00D-A984-F320-A5F94AE83E93}"/>
                  </a:ext>
                </a:extLst>
              </p:cNvPr>
              <p:cNvSpPr txBox="1"/>
              <p:nvPr/>
            </p:nvSpPr>
            <p:spPr>
              <a:xfrm>
                <a:off x="762000" y="2551176"/>
                <a:ext cx="6709954" cy="3947595"/>
              </a:xfrm>
              <a:prstGeom prst="rect">
                <a:avLst/>
              </a:prstGeom>
            </p:spPr>
            <p:txBody>
              <a:bodyPr vert="horz" lIns="91440" tIns="45720" rIns="91440" bIns="45720" rtlCol="0">
                <a:normAutofit fontScale="92500" lnSpcReduction="20000"/>
              </a:bodyPr>
              <a:lstStyle/>
              <a:p>
                <a:pPr indent="-228600">
                  <a:lnSpc>
                    <a:spcPct val="90000"/>
                  </a:lnSpc>
                  <a:spcAft>
                    <a:spcPts val="600"/>
                  </a:spcAft>
                  <a:buFont typeface="Arial" panose="020B0604020202020204" pitchFamily="34" charset="0"/>
                  <a:buChar char="•"/>
                </a:pPr>
                <a:r>
                  <a:rPr lang="ja-JP" altLang="en-US" sz="1700" dirty="0"/>
                  <a:t>必要なテール電流</a:t>
                </a:r>
                <a14:m>
                  <m:oMath xmlns:m="http://schemas.openxmlformats.org/officeDocument/2006/math">
                    <m:sSub>
                      <m:sSubPr>
                        <m:ctrlPr>
                          <a:rPr lang="en-US" altLang="ja-JP" sz="1700" i="1">
                            <a:latin typeface="Cambria Math" panose="02040503050406030204" pitchFamily="18" charset="0"/>
                          </a:rPr>
                        </m:ctrlPr>
                      </m:sSubPr>
                      <m:e>
                        <m:r>
                          <a:rPr lang="en-US" altLang="ja-JP" sz="1700" i="1">
                            <a:latin typeface="Cambria Math" panose="02040503050406030204" pitchFamily="18" charset="0"/>
                          </a:rPr>
                          <m:t>𝐼</m:t>
                        </m:r>
                      </m:e>
                      <m:sub>
                        <m:r>
                          <a:rPr lang="en-US" altLang="ja-JP" sz="1700" i="1">
                            <a:latin typeface="Cambria Math" panose="02040503050406030204" pitchFamily="18" charset="0"/>
                          </a:rPr>
                          <m:t>𝑡𝑎𝑖𝑙</m:t>
                        </m:r>
                      </m:sub>
                    </m:sSub>
                  </m:oMath>
                </a14:m>
                <a:r>
                  <a:rPr lang="ja-JP" altLang="en-US" sz="1700" dirty="0"/>
                  <a:t>の設計</a:t>
                </a:r>
                <a:endParaRPr lang="en-US" altLang="ja-JP" sz="1700" dirty="0"/>
              </a:p>
              <a:p>
                <a:pPr lvl="1" indent="-228600">
                  <a:lnSpc>
                    <a:spcPct val="90000"/>
                  </a:lnSpc>
                  <a:spcAft>
                    <a:spcPts val="600"/>
                  </a:spcAft>
                  <a:buFont typeface="Arial" panose="020B0604020202020204" pitchFamily="34" charset="0"/>
                  <a:buChar char="•"/>
                </a:pPr>
                <a14:m>
                  <m:oMath xmlns:m="http://schemas.openxmlformats.org/officeDocument/2006/math">
                    <m:sSub>
                      <m:sSubPr>
                        <m:ctrlPr>
                          <a:rPr lang="en-US" altLang="ja-JP" sz="1700" i="1" smtClean="0">
                            <a:latin typeface="Cambria Math" panose="02040503050406030204" pitchFamily="18" charset="0"/>
                          </a:rPr>
                        </m:ctrlPr>
                      </m:sSubPr>
                      <m:e>
                        <m:r>
                          <a:rPr lang="en-US" altLang="ja-JP" sz="1700" b="0" i="1" smtClean="0">
                            <a:latin typeface="Cambria Math" panose="02040503050406030204" pitchFamily="18" charset="0"/>
                          </a:rPr>
                          <m:t>𝐼</m:t>
                        </m:r>
                      </m:e>
                      <m:sub>
                        <m:r>
                          <a:rPr lang="en-US" altLang="ja-JP" sz="1700" b="0" i="1" smtClean="0">
                            <a:latin typeface="Cambria Math" panose="02040503050406030204" pitchFamily="18" charset="0"/>
                          </a:rPr>
                          <m:t>𝑡𝑎𝑖𝑙</m:t>
                        </m:r>
                      </m:sub>
                    </m:sSub>
                    <m:r>
                      <a:rPr lang="en-US" altLang="ja-JP" sz="1700" i="1" smtClean="0">
                        <a:latin typeface="Cambria Math" panose="02040503050406030204" pitchFamily="18" charset="0"/>
                        <a:ea typeface="Cambria Math" panose="02040503050406030204" pitchFamily="18" charset="0"/>
                      </a:rPr>
                      <m:t>≈</m:t>
                    </m:r>
                    <m:sSub>
                      <m:sSubPr>
                        <m:ctrlPr>
                          <a:rPr lang="en-US" altLang="ja-JP" sz="1700" i="1" smtClean="0">
                            <a:latin typeface="Cambria Math" panose="02040503050406030204" pitchFamily="18" charset="0"/>
                            <a:ea typeface="Cambria Math" panose="02040503050406030204" pitchFamily="18" charset="0"/>
                          </a:rPr>
                        </m:ctrlPr>
                      </m:sSubPr>
                      <m:e>
                        <m:r>
                          <a:rPr lang="en-US" altLang="ja-JP" sz="1700" b="0" i="1" smtClean="0">
                            <a:latin typeface="Cambria Math" panose="02040503050406030204" pitchFamily="18" charset="0"/>
                            <a:ea typeface="Cambria Math" panose="02040503050406030204" pitchFamily="18" charset="0"/>
                          </a:rPr>
                          <m:t>𝐶</m:t>
                        </m:r>
                      </m:e>
                      <m:sub>
                        <m:r>
                          <a:rPr lang="en-US" altLang="ja-JP" sz="1700" b="0" i="1" smtClean="0">
                            <a:latin typeface="Cambria Math" panose="02040503050406030204" pitchFamily="18" charset="0"/>
                            <a:ea typeface="Cambria Math" panose="02040503050406030204" pitchFamily="18" charset="0"/>
                          </a:rPr>
                          <m:t>𝑡𝑜𝑡𝑎𝑙</m:t>
                        </m:r>
                      </m:sub>
                    </m:sSub>
                    <m:r>
                      <a:rPr lang="en-US" altLang="ja-JP" sz="1700" i="1" smtClean="0">
                        <a:latin typeface="Cambria Math" panose="02040503050406030204" pitchFamily="18" charset="0"/>
                        <a:ea typeface="Cambria Math" panose="02040503050406030204" pitchFamily="18" charset="0"/>
                      </a:rPr>
                      <m:t>×</m:t>
                    </m:r>
                    <m:f>
                      <m:fPr>
                        <m:ctrlPr>
                          <a:rPr lang="en-US" altLang="ja-JP" sz="1700" i="1" smtClean="0">
                            <a:latin typeface="Cambria Math" panose="02040503050406030204" pitchFamily="18" charset="0"/>
                            <a:ea typeface="Cambria Math" panose="02040503050406030204" pitchFamily="18" charset="0"/>
                          </a:rPr>
                        </m:ctrlPr>
                      </m:fPr>
                      <m:num>
                        <m:r>
                          <a:rPr lang="en-US" altLang="ja-JP" sz="1700" i="1" smtClean="0">
                            <a:latin typeface="Cambria Math" panose="02040503050406030204" pitchFamily="18" charset="0"/>
                            <a:ea typeface="Cambria Math" panose="02040503050406030204" pitchFamily="18" charset="0"/>
                          </a:rPr>
                          <m:t>∆</m:t>
                        </m:r>
                        <m:r>
                          <a:rPr lang="en-US" altLang="ja-JP" sz="1700" b="0" i="1" smtClean="0">
                            <a:latin typeface="Cambria Math" panose="02040503050406030204" pitchFamily="18" charset="0"/>
                            <a:ea typeface="Cambria Math" panose="02040503050406030204" pitchFamily="18" charset="0"/>
                          </a:rPr>
                          <m:t>𝑉</m:t>
                        </m:r>
                      </m:num>
                      <m:den>
                        <m:r>
                          <a:rPr lang="en-US" altLang="ja-JP" sz="1700" i="1" smtClean="0">
                            <a:latin typeface="Cambria Math" panose="02040503050406030204" pitchFamily="18" charset="0"/>
                            <a:ea typeface="Cambria Math" panose="02040503050406030204" pitchFamily="18" charset="0"/>
                          </a:rPr>
                          <m:t>∆</m:t>
                        </m:r>
                        <m:r>
                          <a:rPr lang="en-US" altLang="ja-JP" sz="1700" b="0" i="1" smtClean="0">
                            <a:latin typeface="Cambria Math" panose="02040503050406030204" pitchFamily="18" charset="0"/>
                            <a:ea typeface="Cambria Math" panose="02040503050406030204" pitchFamily="18" charset="0"/>
                          </a:rPr>
                          <m:t>𝑡</m:t>
                        </m:r>
                      </m:den>
                    </m:f>
                    <m:r>
                      <a:rPr lang="en-US" altLang="ja-JP" sz="1700" i="1" smtClean="0">
                        <a:latin typeface="Cambria Math" panose="02040503050406030204" pitchFamily="18" charset="0"/>
                        <a:ea typeface="Cambria Math" panose="02040503050406030204" pitchFamily="18" charset="0"/>
                      </a:rPr>
                      <m:t>=</m:t>
                    </m:r>
                    <m:r>
                      <a:rPr lang="en-US" altLang="ja-JP" sz="1700" b="0" i="1" smtClean="0">
                        <a:latin typeface="Cambria Math" panose="02040503050406030204" pitchFamily="18" charset="0"/>
                        <a:ea typeface="Cambria Math" panose="02040503050406030204" pitchFamily="18" charset="0"/>
                      </a:rPr>
                      <m:t>150</m:t>
                    </m:r>
                    <m:r>
                      <a:rPr lang="en-US" altLang="ja-JP" sz="1700" b="0" i="1" smtClean="0">
                        <a:latin typeface="Cambria Math" panose="02040503050406030204" pitchFamily="18" charset="0"/>
                        <a:ea typeface="Cambria Math" panose="02040503050406030204" pitchFamily="18" charset="0"/>
                      </a:rPr>
                      <m:t>𝑓𝐹</m:t>
                    </m:r>
                    <m:r>
                      <a:rPr lang="en-US" altLang="ja-JP" sz="1700" b="0" i="1" smtClean="0">
                        <a:latin typeface="Cambria Math" panose="02040503050406030204" pitchFamily="18" charset="0"/>
                        <a:ea typeface="Cambria Math" panose="02040503050406030204" pitchFamily="18" charset="0"/>
                      </a:rPr>
                      <m:t>×</m:t>
                    </m:r>
                    <m:f>
                      <m:fPr>
                        <m:ctrlPr>
                          <a:rPr lang="en-US" altLang="ja-JP" sz="1700" b="0" i="1" smtClean="0">
                            <a:latin typeface="Cambria Math" panose="02040503050406030204" pitchFamily="18" charset="0"/>
                            <a:ea typeface="Cambria Math" panose="02040503050406030204" pitchFamily="18" charset="0"/>
                          </a:rPr>
                        </m:ctrlPr>
                      </m:fPr>
                      <m:num>
                        <m:r>
                          <a:rPr lang="en-US" altLang="ja-JP" sz="1700" b="0" i="1" smtClean="0">
                            <a:latin typeface="Cambria Math" panose="02040503050406030204" pitchFamily="18" charset="0"/>
                            <a:ea typeface="Cambria Math" panose="02040503050406030204" pitchFamily="18" charset="0"/>
                          </a:rPr>
                          <m:t>5</m:t>
                        </m:r>
                        <m:r>
                          <a:rPr lang="en-US" altLang="ja-JP" sz="1700" b="0" i="1" smtClean="0">
                            <a:latin typeface="Cambria Math" panose="02040503050406030204" pitchFamily="18" charset="0"/>
                            <a:ea typeface="Cambria Math" panose="02040503050406030204" pitchFamily="18" charset="0"/>
                          </a:rPr>
                          <m:t>.</m:t>
                        </m:r>
                        <m:r>
                          <a:rPr lang="en-US" altLang="ja-JP" sz="1700" b="0" i="1" smtClean="0">
                            <a:latin typeface="Cambria Math" panose="02040503050406030204" pitchFamily="18" charset="0"/>
                            <a:ea typeface="Cambria Math" panose="02040503050406030204" pitchFamily="18" charset="0"/>
                          </a:rPr>
                          <m:t>0</m:t>
                        </m:r>
                        <m:r>
                          <a:rPr lang="en-US" altLang="ja-JP" sz="1700" b="0" i="1" smtClean="0">
                            <a:latin typeface="Cambria Math" panose="02040503050406030204" pitchFamily="18" charset="0"/>
                            <a:ea typeface="Cambria Math" panose="02040503050406030204" pitchFamily="18" charset="0"/>
                          </a:rPr>
                          <m:t>𝑉</m:t>
                        </m:r>
                      </m:num>
                      <m:den>
                        <m:r>
                          <a:rPr lang="en-US" altLang="ja-JP" sz="1700" b="0" i="1" smtClean="0">
                            <a:latin typeface="Cambria Math" panose="02040503050406030204" pitchFamily="18" charset="0"/>
                            <a:ea typeface="Cambria Math" panose="02040503050406030204" pitchFamily="18" charset="0"/>
                          </a:rPr>
                          <m:t>7</m:t>
                        </m:r>
                        <m:r>
                          <a:rPr lang="en-US" altLang="ja-JP" sz="1700" b="0" i="1" smtClean="0">
                            <a:latin typeface="Cambria Math" panose="02040503050406030204" pitchFamily="18" charset="0"/>
                            <a:ea typeface="Cambria Math" panose="02040503050406030204" pitchFamily="18" charset="0"/>
                          </a:rPr>
                          <m:t>.</m:t>
                        </m:r>
                        <m:r>
                          <a:rPr lang="en-US" altLang="ja-JP" sz="1700" b="0" i="1" smtClean="0">
                            <a:latin typeface="Cambria Math" panose="02040503050406030204" pitchFamily="18" charset="0"/>
                            <a:ea typeface="Cambria Math" panose="02040503050406030204" pitchFamily="18" charset="0"/>
                          </a:rPr>
                          <m:t>5</m:t>
                        </m:r>
                        <m:r>
                          <a:rPr lang="en-US" altLang="ja-JP" sz="1700" b="0" i="1" smtClean="0">
                            <a:latin typeface="Cambria Math" panose="02040503050406030204" pitchFamily="18" charset="0"/>
                            <a:ea typeface="Cambria Math" panose="02040503050406030204" pitchFamily="18" charset="0"/>
                          </a:rPr>
                          <m:t>𝑛𝑠</m:t>
                        </m:r>
                      </m:den>
                    </m:f>
                    <m:r>
                      <a:rPr lang="en-US" altLang="ja-JP" sz="1700" b="0" i="1" smtClean="0">
                        <a:latin typeface="Cambria Math" panose="02040503050406030204" pitchFamily="18" charset="0"/>
                        <a:ea typeface="Cambria Math" panose="02040503050406030204" pitchFamily="18" charset="0"/>
                      </a:rPr>
                      <m:t>=</m:t>
                    </m:r>
                    <m:r>
                      <a:rPr lang="en-US" altLang="ja-JP" sz="1700" b="0" i="1" smtClean="0">
                        <a:latin typeface="Cambria Math" panose="02040503050406030204" pitchFamily="18" charset="0"/>
                        <a:ea typeface="Cambria Math" panose="02040503050406030204" pitchFamily="18" charset="0"/>
                      </a:rPr>
                      <m:t>100</m:t>
                    </m:r>
                    <m:r>
                      <a:rPr lang="en-US" altLang="ja-JP" sz="1700" b="0" i="1" smtClean="0">
                        <a:latin typeface="Cambria Math" panose="02040503050406030204" pitchFamily="18" charset="0"/>
                        <a:ea typeface="Cambria Math" panose="02040503050406030204" pitchFamily="18" charset="0"/>
                      </a:rPr>
                      <m:t>𝑢𝐴</m:t>
                    </m:r>
                  </m:oMath>
                </a14:m>
                <a:endParaRPr lang="en-US" altLang="ja-JP" sz="1700" dirty="0"/>
              </a:p>
              <a:p>
                <a:pPr lvl="2" indent="-228600">
                  <a:lnSpc>
                    <a:spcPct val="90000"/>
                  </a:lnSpc>
                  <a:spcAft>
                    <a:spcPts val="600"/>
                  </a:spcAft>
                  <a:buFont typeface="Arial" panose="020B0604020202020204" pitchFamily="34" charset="0"/>
                  <a:buChar char="•"/>
                </a:pPr>
                <a14:m>
                  <m:oMath xmlns:m="http://schemas.openxmlformats.org/officeDocument/2006/math">
                    <m:sSub>
                      <m:sSubPr>
                        <m:ctrlPr>
                          <a:rPr lang="en-US" altLang="ja-JP" sz="1700" i="1">
                            <a:latin typeface="Cambria Math" panose="02040503050406030204" pitchFamily="18" charset="0"/>
                            <a:ea typeface="Cambria Math" panose="02040503050406030204" pitchFamily="18" charset="0"/>
                          </a:rPr>
                        </m:ctrlPr>
                      </m:sSubPr>
                      <m:e>
                        <m:r>
                          <a:rPr lang="en-US" altLang="ja-JP" sz="1700" i="1">
                            <a:latin typeface="Cambria Math" panose="02040503050406030204" pitchFamily="18" charset="0"/>
                            <a:ea typeface="Cambria Math" panose="02040503050406030204" pitchFamily="18" charset="0"/>
                          </a:rPr>
                          <m:t>𝐶</m:t>
                        </m:r>
                      </m:e>
                      <m:sub>
                        <m:r>
                          <a:rPr lang="en-US" altLang="ja-JP" sz="1700" i="1">
                            <a:latin typeface="Cambria Math" panose="02040503050406030204" pitchFamily="18" charset="0"/>
                            <a:ea typeface="Cambria Math" panose="02040503050406030204" pitchFamily="18" charset="0"/>
                          </a:rPr>
                          <m:t>𝑡𝑜𝑡𝑎𝑙</m:t>
                        </m:r>
                      </m:sub>
                    </m:sSub>
                    <m:r>
                      <a:rPr lang="en-US" altLang="ja-JP" sz="1700" b="0" i="1" smtClean="0">
                        <a:latin typeface="Cambria Math" panose="02040503050406030204" pitchFamily="18" charset="0"/>
                        <a:ea typeface="Cambria Math" panose="02040503050406030204" pitchFamily="18" charset="0"/>
                      </a:rPr>
                      <m:t>=</m:t>
                    </m:r>
                    <m:r>
                      <a:rPr lang="ja-JP" altLang="en-US" sz="1700" i="1">
                        <a:latin typeface="Cambria Math" panose="02040503050406030204" pitchFamily="18" charset="0"/>
                      </a:rPr>
                      <m:t>寄生容量</m:t>
                    </m:r>
                  </m:oMath>
                </a14:m>
                <a:endParaRPr lang="en-US" altLang="ja-JP" sz="1700" dirty="0">
                  <a:latin typeface="+mn-ea"/>
                </a:endParaRPr>
              </a:p>
              <a:p>
                <a:pPr lvl="3" indent="-228600">
                  <a:lnSpc>
                    <a:spcPct val="90000"/>
                  </a:lnSpc>
                  <a:spcAft>
                    <a:spcPts val="600"/>
                  </a:spcAft>
                  <a:buFont typeface="Arial" panose="020B0604020202020204" pitchFamily="34" charset="0"/>
                  <a:buChar char="•"/>
                </a:pPr>
                <a:r>
                  <a:rPr lang="en-US" altLang="ja-JP" sz="1700" b="0" dirty="0">
                    <a:latin typeface="+mn-ea"/>
                  </a:rPr>
                  <a:t>5.0V</a:t>
                </a:r>
                <a:r>
                  <a:rPr lang="ja-JP" altLang="en-US" sz="1700" b="0" dirty="0">
                    <a:latin typeface="+mn-ea"/>
                  </a:rPr>
                  <a:t>素子はゲート酸化膜が厚いため</a:t>
                </a:r>
                <a:r>
                  <a:rPr lang="en-US" altLang="ja-JP" sz="1700" dirty="0">
                    <a:latin typeface="+mn-ea"/>
                  </a:rPr>
                  <a:t>15</a:t>
                </a:r>
                <a:r>
                  <a:rPr lang="en-US" altLang="ja-JP" sz="1700" b="0" dirty="0">
                    <a:latin typeface="+mn-ea"/>
                  </a:rPr>
                  <a:t>0fF</a:t>
                </a:r>
                <a:r>
                  <a:rPr lang="ja-JP" altLang="en-US" sz="1700" b="0" dirty="0">
                    <a:latin typeface="+mn-ea"/>
                  </a:rPr>
                  <a:t>とした</a:t>
                </a:r>
                <a:endParaRPr lang="en-US" altLang="ja-JP" sz="1700" b="0" dirty="0">
                  <a:latin typeface="+mn-ea"/>
                </a:endParaRPr>
              </a:p>
              <a:p>
                <a:pPr lvl="2" indent="-228600">
                  <a:lnSpc>
                    <a:spcPct val="90000"/>
                  </a:lnSpc>
                  <a:spcAft>
                    <a:spcPts val="600"/>
                  </a:spcAft>
                  <a:buFont typeface="Arial" panose="020B0604020202020204" pitchFamily="34" charset="0"/>
                  <a:buChar char="•"/>
                </a:pPr>
                <a14:m>
                  <m:oMath xmlns:m="http://schemas.openxmlformats.org/officeDocument/2006/math">
                    <m:r>
                      <a:rPr lang="en-US" altLang="ja-JP" sz="1700" i="1">
                        <a:latin typeface="Cambria Math" panose="02040503050406030204" pitchFamily="18" charset="0"/>
                        <a:ea typeface="Cambria Math" panose="02040503050406030204" pitchFamily="18" charset="0"/>
                      </a:rPr>
                      <m:t>∆</m:t>
                    </m:r>
                    <m:r>
                      <a:rPr lang="en-US" altLang="ja-JP" sz="1700" i="1">
                        <a:latin typeface="Cambria Math" panose="02040503050406030204" pitchFamily="18" charset="0"/>
                        <a:ea typeface="Cambria Math" panose="02040503050406030204" pitchFamily="18" charset="0"/>
                      </a:rPr>
                      <m:t>𝑡</m:t>
                    </m:r>
                    <m:r>
                      <a:rPr lang="en-US" altLang="ja-JP" sz="1700" b="0" i="1" smtClean="0">
                        <a:latin typeface="Cambria Math" panose="02040503050406030204" pitchFamily="18" charset="0"/>
                        <a:ea typeface="Cambria Math" panose="02040503050406030204" pitchFamily="18" charset="0"/>
                      </a:rPr>
                      <m:t>= </m:t>
                    </m:r>
                    <m:r>
                      <a:rPr lang="ja-JP" altLang="en-US" sz="1700" i="1">
                        <a:latin typeface="Cambria Math" panose="02040503050406030204" pitchFamily="18" charset="0"/>
                        <a:ea typeface="Cambria Math" panose="02040503050406030204" pitchFamily="18" charset="0"/>
                      </a:rPr>
                      <m:t>評価相</m:t>
                    </m:r>
                    <m:r>
                      <a:rPr lang="ja-JP" altLang="en-US" sz="1700" i="1">
                        <a:latin typeface="Cambria Math" panose="02040503050406030204" pitchFamily="18" charset="0"/>
                        <a:ea typeface="Cambria Math" panose="02040503050406030204" pitchFamily="18" charset="0"/>
                      </a:rPr>
                      <m:t>での</m:t>
                    </m:r>
                    <m:r>
                      <a:rPr lang="ja-JP" altLang="en-US" sz="1700" i="1">
                        <a:latin typeface="Cambria Math" panose="02040503050406030204" pitchFamily="18" charset="0"/>
                        <a:ea typeface="Cambria Math" panose="02040503050406030204" pitchFamily="18" charset="0"/>
                      </a:rPr>
                      <m:t>判定時間</m:t>
                    </m:r>
                  </m:oMath>
                </a14:m>
                <a:endParaRPr lang="en-US" altLang="ja-JP" sz="1700" dirty="0"/>
              </a:p>
              <a:p>
                <a:pPr lvl="3" indent="-228600">
                  <a:lnSpc>
                    <a:spcPct val="90000"/>
                  </a:lnSpc>
                  <a:spcAft>
                    <a:spcPts val="600"/>
                  </a:spcAft>
                  <a:buFont typeface="Arial" panose="020B0604020202020204" pitchFamily="34" charset="0"/>
                  <a:buChar char="•"/>
                </a:pPr>
                <a:r>
                  <a:rPr lang="en-US" altLang="ja-JP" sz="1600" dirty="0"/>
                  <a:t>1.2MHz(</a:t>
                </a:r>
                <a:r>
                  <a:rPr lang="ja-JP" altLang="ja-JP" sz="1600" dirty="0"/>
                  <a:t>約416ns</a:t>
                </a:r>
                <a:r>
                  <a:rPr lang="en-US" altLang="ja-JP" sz="1600" dirty="0"/>
                  <a:t>)</a:t>
                </a:r>
                <a:r>
                  <a:rPr lang="ja-JP" altLang="en-US" sz="1600" dirty="0"/>
                  <a:t>の</a:t>
                </a:r>
                <a:r>
                  <a:rPr lang="en-US" altLang="ja-JP" sz="1600" dirty="0"/>
                  <a:t>1/100</a:t>
                </a:r>
                <a:r>
                  <a:rPr lang="ja-JP" altLang="en-US" sz="1600" dirty="0"/>
                  <a:t>で計算のしやすさで</a:t>
                </a:r>
                <a:r>
                  <a:rPr lang="en-US" altLang="ja-JP" sz="1600" dirty="0"/>
                  <a:t>7.5ns</a:t>
                </a:r>
                <a:endParaRPr lang="ja-JP" altLang="en-US" sz="1700" dirty="0"/>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altLang="ja-JP" sz="1700" i="1" smtClean="0">
                            <a:latin typeface="Cambria Math" panose="02040503050406030204" pitchFamily="18" charset="0"/>
                          </a:rPr>
                        </m:ctrlPr>
                      </m:sSubPr>
                      <m:e>
                        <m:r>
                          <a:rPr lang="en-US" altLang="ja-JP" sz="1700" b="0" i="1" smtClean="0">
                            <a:latin typeface="Cambria Math" panose="02040503050406030204" pitchFamily="18" charset="0"/>
                          </a:rPr>
                          <m:t>𝑊</m:t>
                        </m:r>
                      </m:e>
                      <m:sub>
                        <m:r>
                          <a:rPr lang="en-US" altLang="ja-JP" sz="1700" b="0" i="1" smtClean="0">
                            <a:latin typeface="Cambria Math" panose="02040503050406030204" pitchFamily="18" charset="0"/>
                          </a:rPr>
                          <m:t>𝑛</m:t>
                        </m:r>
                      </m:sub>
                    </m:sSub>
                    <m:r>
                      <a:rPr lang="ja-JP" altLang="en-US" sz="1700" i="1">
                        <a:latin typeface="Cambria Math" panose="02040503050406030204" pitchFamily="18" charset="0"/>
                      </a:rPr>
                      <m:t>の</m:t>
                    </m:r>
                  </m:oMath>
                </a14:m>
                <a:r>
                  <a:rPr lang="ja-JP" altLang="en-US" sz="1700" dirty="0"/>
                  <a:t>設計</a:t>
                </a:r>
                <a:endParaRPr lang="en-US" altLang="ja-JP" sz="1700" dirty="0"/>
              </a:p>
              <a:p>
                <a:pPr lvl="1" indent="-228600">
                  <a:lnSpc>
                    <a:spcPct val="90000"/>
                  </a:lnSpc>
                  <a:spcAft>
                    <a:spcPts val="600"/>
                  </a:spcAft>
                  <a:buFont typeface="Arial" panose="020B0604020202020204" pitchFamily="34" charset="0"/>
                  <a:buChar char="•"/>
                </a:pPr>
                <a14:m>
                  <m:oMath xmlns:m="http://schemas.openxmlformats.org/officeDocument/2006/math">
                    <m:sSub>
                      <m:sSubPr>
                        <m:ctrlPr>
                          <a:rPr lang="en-US" altLang="ja-JP" sz="1700" i="1">
                            <a:latin typeface="Cambria Math" panose="02040503050406030204" pitchFamily="18" charset="0"/>
                          </a:rPr>
                        </m:ctrlPr>
                      </m:sSubPr>
                      <m:e>
                        <m:r>
                          <a:rPr lang="en-US" altLang="ja-JP" sz="1700" i="1">
                            <a:latin typeface="Cambria Math" panose="02040503050406030204" pitchFamily="18" charset="0"/>
                          </a:rPr>
                          <m:t>𝐼</m:t>
                        </m:r>
                      </m:e>
                      <m:sub>
                        <m:r>
                          <a:rPr lang="en-US" altLang="ja-JP" sz="1700" i="1">
                            <a:latin typeface="Cambria Math" panose="02040503050406030204" pitchFamily="18" charset="0"/>
                          </a:rPr>
                          <m:t>𝑡𝑎𝑖𝑙</m:t>
                        </m:r>
                      </m:sub>
                    </m:sSub>
                    <m:r>
                      <a:rPr lang="en-US" altLang="ja-JP" sz="1700" i="1" smtClean="0">
                        <a:latin typeface="Cambria Math" panose="02040503050406030204" pitchFamily="18" charset="0"/>
                        <a:ea typeface="Cambria Math" panose="02040503050406030204" pitchFamily="18" charset="0"/>
                      </a:rPr>
                      <m:t>=</m:t>
                    </m:r>
                    <m:f>
                      <m:fPr>
                        <m:ctrlPr>
                          <a:rPr lang="en-US" altLang="ja-JP" sz="1700" i="1" smtClean="0">
                            <a:latin typeface="Cambria Math" panose="02040503050406030204" pitchFamily="18" charset="0"/>
                            <a:ea typeface="Cambria Math" panose="02040503050406030204" pitchFamily="18" charset="0"/>
                          </a:rPr>
                        </m:ctrlPr>
                      </m:fPr>
                      <m:num>
                        <m:r>
                          <a:rPr lang="en-US" altLang="ja-JP" sz="1700" b="0" i="1" smtClean="0">
                            <a:latin typeface="Cambria Math" panose="02040503050406030204" pitchFamily="18" charset="0"/>
                            <a:ea typeface="Cambria Math" panose="02040503050406030204" pitchFamily="18" charset="0"/>
                          </a:rPr>
                          <m:t>1</m:t>
                        </m:r>
                      </m:num>
                      <m:den>
                        <m:r>
                          <a:rPr lang="en-US" altLang="ja-JP" sz="1700" b="0" i="1" smtClean="0">
                            <a:latin typeface="Cambria Math" panose="02040503050406030204" pitchFamily="18" charset="0"/>
                            <a:ea typeface="Cambria Math" panose="02040503050406030204" pitchFamily="18" charset="0"/>
                          </a:rPr>
                          <m:t>2</m:t>
                        </m:r>
                      </m:den>
                    </m:f>
                    <m:r>
                      <a:rPr lang="ja-JP" altLang="en-US" sz="1700" i="1" smtClean="0">
                        <a:latin typeface="Cambria Math" panose="02040503050406030204" pitchFamily="18" charset="0"/>
                        <a:ea typeface="Cambria Math" panose="02040503050406030204" pitchFamily="18" charset="0"/>
                      </a:rPr>
                      <m:t>𝜇</m:t>
                    </m:r>
                    <m:sSub>
                      <m:sSubPr>
                        <m:ctrlPr>
                          <a:rPr lang="en-US" altLang="ja-JP" sz="1700" i="1" smtClean="0">
                            <a:latin typeface="Cambria Math" panose="02040503050406030204" pitchFamily="18" charset="0"/>
                            <a:ea typeface="Cambria Math" panose="02040503050406030204" pitchFamily="18" charset="0"/>
                          </a:rPr>
                        </m:ctrlPr>
                      </m:sSubPr>
                      <m:e>
                        <m:r>
                          <a:rPr lang="en-US" altLang="ja-JP" sz="1700" b="0" i="1" smtClean="0">
                            <a:latin typeface="Cambria Math" panose="02040503050406030204" pitchFamily="18" charset="0"/>
                            <a:ea typeface="Cambria Math" panose="02040503050406030204" pitchFamily="18" charset="0"/>
                          </a:rPr>
                          <m:t>𝐶</m:t>
                        </m:r>
                      </m:e>
                      <m:sub>
                        <m:r>
                          <a:rPr lang="en-US" altLang="ja-JP" sz="1700" b="0" i="1" smtClean="0">
                            <a:latin typeface="Cambria Math" panose="02040503050406030204" pitchFamily="18" charset="0"/>
                            <a:ea typeface="Cambria Math" panose="02040503050406030204" pitchFamily="18" charset="0"/>
                          </a:rPr>
                          <m:t>𝑜𝑥</m:t>
                        </m:r>
                      </m:sub>
                    </m:sSub>
                    <m:f>
                      <m:fPr>
                        <m:ctrlPr>
                          <a:rPr lang="en-US" altLang="ja-JP" sz="1700" i="1" smtClean="0">
                            <a:latin typeface="Cambria Math" panose="02040503050406030204" pitchFamily="18" charset="0"/>
                            <a:ea typeface="Cambria Math" panose="02040503050406030204" pitchFamily="18" charset="0"/>
                          </a:rPr>
                        </m:ctrlPr>
                      </m:fPr>
                      <m:num>
                        <m:r>
                          <a:rPr lang="en-US" altLang="ja-JP" sz="1700" b="0" i="1" smtClean="0">
                            <a:latin typeface="Cambria Math" panose="02040503050406030204" pitchFamily="18" charset="0"/>
                            <a:ea typeface="Cambria Math" panose="02040503050406030204" pitchFamily="18" charset="0"/>
                          </a:rPr>
                          <m:t>𝑊</m:t>
                        </m:r>
                      </m:num>
                      <m:den>
                        <m:r>
                          <a:rPr lang="en-US" altLang="ja-JP" sz="1700" b="0" i="1" smtClean="0">
                            <a:latin typeface="Cambria Math" panose="02040503050406030204" pitchFamily="18" charset="0"/>
                            <a:ea typeface="Cambria Math" panose="02040503050406030204" pitchFamily="18" charset="0"/>
                          </a:rPr>
                          <m:t>𝐿</m:t>
                        </m:r>
                      </m:den>
                    </m:f>
                    <m:sSubSup>
                      <m:sSubSupPr>
                        <m:ctrlPr>
                          <a:rPr lang="en-US" altLang="ja-JP" sz="1700" i="1" smtClean="0">
                            <a:latin typeface="Cambria Math" panose="02040503050406030204" pitchFamily="18" charset="0"/>
                            <a:ea typeface="Cambria Math" panose="02040503050406030204" pitchFamily="18" charset="0"/>
                          </a:rPr>
                        </m:ctrlPr>
                      </m:sSubSupPr>
                      <m:e>
                        <m:r>
                          <a:rPr lang="en-US" altLang="ja-JP" sz="1700" b="0" i="1" smtClean="0">
                            <a:latin typeface="Cambria Math" panose="02040503050406030204" pitchFamily="18" charset="0"/>
                            <a:ea typeface="Cambria Math" panose="02040503050406030204" pitchFamily="18" charset="0"/>
                          </a:rPr>
                          <m:t>𝑉</m:t>
                        </m:r>
                      </m:e>
                      <m:sub>
                        <m:r>
                          <a:rPr lang="en-US" altLang="ja-JP" sz="1700" b="0" i="1" smtClean="0">
                            <a:latin typeface="Cambria Math" panose="02040503050406030204" pitchFamily="18" charset="0"/>
                            <a:ea typeface="Cambria Math" panose="02040503050406030204" pitchFamily="18" charset="0"/>
                          </a:rPr>
                          <m:t>𝑂𝑉</m:t>
                        </m:r>
                      </m:sub>
                      <m:sup>
                        <m:r>
                          <a:rPr lang="en-US" altLang="ja-JP" sz="1700" b="0" i="1" smtClean="0">
                            <a:latin typeface="Cambria Math" panose="02040503050406030204" pitchFamily="18" charset="0"/>
                            <a:ea typeface="Cambria Math" panose="02040503050406030204" pitchFamily="18" charset="0"/>
                          </a:rPr>
                          <m:t>2</m:t>
                        </m:r>
                      </m:sup>
                    </m:sSubSup>
                  </m:oMath>
                </a14:m>
                <a:endParaRPr lang="en-US" altLang="ja-JP" sz="1700" dirty="0"/>
              </a:p>
              <a:p>
                <a:pPr lvl="2" indent="-228600">
                  <a:lnSpc>
                    <a:spcPct val="90000"/>
                  </a:lnSpc>
                  <a:spcAft>
                    <a:spcPts val="600"/>
                  </a:spcAft>
                  <a:buFont typeface="Arial" panose="020B0604020202020204" pitchFamily="34" charset="0"/>
                  <a:buChar char="•"/>
                </a:pPr>
                <a:r>
                  <a:rPr lang="en-US" altLang="ja-JP" sz="1700" dirty="0">
                    <a:ea typeface="Cambria Math" panose="02040503050406030204" pitchFamily="18" charset="0"/>
                  </a:rPr>
                  <a:t>NMOS</a:t>
                </a:r>
                <a:r>
                  <a:rPr lang="ja-JP" altLang="en-US" sz="1700" dirty="0">
                    <a:ea typeface="Cambria Math" panose="02040503050406030204" pitchFamily="18" charset="0"/>
                  </a:rPr>
                  <a:t>の </a:t>
                </a:r>
                <a14:m>
                  <m:oMath xmlns:m="http://schemas.openxmlformats.org/officeDocument/2006/math">
                    <m:r>
                      <a:rPr lang="ja-JP" altLang="en-US" sz="1700" i="1">
                        <a:latin typeface="Cambria Math" panose="02040503050406030204" pitchFamily="18" charset="0"/>
                        <a:ea typeface="Cambria Math" panose="02040503050406030204" pitchFamily="18" charset="0"/>
                      </a:rPr>
                      <m:t>𝜇</m:t>
                    </m:r>
                    <m:sSub>
                      <m:sSubPr>
                        <m:ctrlPr>
                          <a:rPr lang="en-US" altLang="ja-JP" sz="1700" i="1">
                            <a:latin typeface="Cambria Math" panose="02040503050406030204" pitchFamily="18" charset="0"/>
                            <a:ea typeface="Cambria Math" panose="02040503050406030204" pitchFamily="18" charset="0"/>
                          </a:rPr>
                        </m:ctrlPr>
                      </m:sSubPr>
                      <m:e>
                        <m:r>
                          <a:rPr lang="en-US" altLang="ja-JP" sz="1700" i="1">
                            <a:latin typeface="Cambria Math" panose="02040503050406030204" pitchFamily="18" charset="0"/>
                            <a:ea typeface="Cambria Math" panose="02040503050406030204" pitchFamily="18" charset="0"/>
                          </a:rPr>
                          <m:t>𝐶</m:t>
                        </m:r>
                      </m:e>
                      <m:sub>
                        <m:r>
                          <a:rPr lang="en-US" altLang="ja-JP" sz="1700" i="1">
                            <a:latin typeface="Cambria Math" panose="02040503050406030204" pitchFamily="18" charset="0"/>
                            <a:ea typeface="Cambria Math" panose="02040503050406030204" pitchFamily="18" charset="0"/>
                          </a:rPr>
                          <m:t>𝑜𝑥</m:t>
                        </m:r>
                      </m:sub>
                    </m:sSub>
                    <m:r>
                      <a:rPr lang="en-US" altLang="ja-JP" sz="1700" b="0" i="1" smtClean="0">
                        <a:latin typeface="Cambria Math" panose="02040503050406030204" pitchFamily="18" charset="0"/>
                        <a:ea typeface="Cambria Math" panose="02040503050406030204" pitchFamily="18" charset="0"/>
                      </a:rPr>
                      <m:t>=</m:t>
                    </m:r>
                  </m:oMath>
                </a14:m>
                <a:r>
                  <a:rPr lang="en-US" altLang="ja-JP" sz="1700" dirty="0"/>
                  <a:t>60</a:t>
                </a:r>
                <a14:m>
                  <m:oMath xmlns:m="http://schemas.openxmlformats.org/officeDocument/2006/math">
                    <m:f>
                      <m:fPr>
                        <m:ctrlPr>
                          <a:rPr lang="en-US" altLang="ja-JP" sz="1700" b="0" i="1" dirty="0" smtClean="0">
                            <a:latin typeface="Cambria Math" panose="02040503050406030204" pitchFamily="18" charset="0"/>
                          </a:rPr>
                        </m:ctrlPr>
                      </m:fPr>
                      <m:num>
                        <m:r>
                          <a:rPr lang="ja-JP" altLang="en-US" sz="1700" i="1" dirty="0" smtClean="0">
                            <a:latin typeface="Cambria Math" panose="02040503050406030204" pitchFamily="18" charset="0"/>
                          </a:rPr>
                          <m:t>𝜇</m:t>
                        </m:r>
                        <m:r>
                          <a:rPr lang="en-US" altLang="ja-JP" sz="1700" b="0" i="1" dirty="0" smtClean="0">
                            <a:latin typeface="Cambria Math" panose="02040503050406030204" pitchFamily="18" charset="0"/>
                          </a:rPr>
                          <m:t>𝐴</m:t>
                        </m:r>
                      </m:num>
                      <m:den>
                        <m:sSup>
                          <m:sSupPr>
                            <m:ctrlPr>
                              <a:rPr lang="ja-JP" altLang="en-US" sz="1700" b="0" i="1" dirty="0" smtClean="0">
                                <a:latin typeface="Cambria Math" panose="02040503050406030204" pitchFamily="18" charset="0"/>
                              </a:rPr>
                            </m:ctrlPr>
                          </m:sSupPr>
                          <m:e>
                            <m:r>
                              <a:rPr lang="en-US" altLang="ja-JP" sz="1700" b="0" i="1" dirty="0" smtClean="0">
                                <a:latin typeface="Cambria Math" panose="02040503050406030204" pitchFamily="18" charset="0"/>
                              </a:rPr>
                              <m:t>𝑉</m:t>
                            </m:r>
                          </m:e>
                          <m:sup>
                            <m:r>
                              <a:rPr lang="en-US" altLang="ja-JP" sz="1700" b="0" i="1" dirty="0" smtClean="0">
                                <a:latin typeface="Cambria Math" panose="02040503050406030204" pitchFamily="18" charset="0"/>
                              </a:rPr>
                              <m:t>2</m:t>
                            </m:r>
                          </m:sup>
                        </m:sSup>
                      </m:den>
                    </m:f>
                  </m:oMath>
                </a14:m>
                <a:r>
                  <a:rPr lang="ja-JP" altLang="en-US" sz="1700" b="0" dirty="0"/>
                  <a:t> 、</a:t>
                </a:r>
                <a14:m>
                  <m:oMath xmlns:m="http://schemas.openxmlformats.org/officeDocument/2006/math">
                    <m:sSub>
                      <m:sSubPr>
                        <m:ctrlPr>
                          <a:rPr lang="en-US" altLang="ja-JP" sz="1700" b="0" i="1" dirty="0" smtClean="0">
                            <a:latin typeface="Cambria Math" panose="02040503050406030204" pitchFamily="18" charset="0"/>
                          </a:rPr>
                        </m:ctrlPr>
                      </m:sSubPr>
                      <m:e>
                        <m:r>
                          <a:rPr lang="en-US" altLang="ja-JP" sz="1700" b="0" i="1" dirty="0" smtClean="0">
                            <a:latin typeface="Cambria Math" panose="02040503050406030204" pitchFamily="18" charset="0"/>
                          </a:rPr>
                          <m:t>𝑉</m:t>
                        </m:r>
                      </m:e>
                      <m:sub>
                        <m:r>
                          <a:rPr lang="en-US" altLang="ja-JP" sz="1700" b="0" i="1" dirty="0" smtClean="0">
                            <a:latin typeface="Cambria Math" panose="02040503050406030204" pitchFamily="18" charset="0"/>
                          </a:rPr>
                          <m:t>𝑂𝑋</m:t>
                        </m:r>
                      </m:sub>
                    </m:sSub>
                    <m:r>
                      <a:rPr lang="en-US" altLang="ja-JP" sz="1700" b="0" i="1" dirty="0" smtClean="0">
                        <a:latin typeface="Cambria Math" panose="02040503050406030204" pitchFamily="18" charset="0"/>
                        <a:ea typeface="Cambria Math" panose="02040503050406030204" pitchFamily="18" charset="0"/>
                      </a:rPr>
                      <m:t>=</m:t>
                    </m:r>
                  </m:oMath>
                </a14:m>
                <a:r>
                  <a:rPr lang="en-US" altLang="ja-JP" sz="1700" b="0" dirty="0"/>
                  <a:t>0.4V</a:t>
                </a:r>
              </a:p>
              <a:p>
                <a:pPr lvl="3" indent="-228600">
                  <a:lnSpc>
                    <a:spcPct val="90000"/>
                  </a:lnSpc>
                  <a:spcAft>
                    <a:spcPts val="600"/>
                  </a:spcAft>
                  <a:buFont typeface="Arial" panose="020B0604020202020204" pitchFamily="34" charset="0"/>
                  <a:buChar char="•"/>
                </a:pPr>
                <a:r>
                  <a:rPr lang="en-US" altLang="ja-JP" sz="1600" dirty="0" err="1"/>
                  <a:t>ngspice</a:t>
                </a:r>
                <a:r>
                  <a:rPr lang="ja-JP" altLang="en-US" sz="1600" dirty="0"/>
                  <a:t>のモデルから求める方法は</a:t>
                </a:r>
                <a:r>
                  <a:rPr lang="en-US" altLang="ja-JP" sz="1600" dirty="0"/>
                  <a:t>OPAMP</a:t>
                </a:r>
                <a:r>
                  <a:rPr lang="ja-JP" altLang="en-US" sz="1600" dirty="0"/>
                  <a:t>ハンズオン参照</a:t>
                </a:r>
                <a:endParaRPr lang="en-US" altLang="ja-JP" sz="1600" dirty="0"/>
              </a:p>
              <a:p>
                <a:pPr lvl="1" indent="-228600">
                  <a:lnSpc>
                    <a:spcPct val="90000"/>
                  </a:lnSpc>
                  <a:spcAft>
                    <a:spcPts val="600"/>
                  </a:spcAft>
                  <a:buFont typeface="Arial" panose="020B0604020202020204" pitchFamily="34" charset="0"/>
                  <a:buChar char="•"/>
                </a:pPr>
                <a14:m>
                  <m:oMath xmlns:m="http://schemas.openxmlformats.org/officeDocument/2006/math">
                    <m:sSub>
                      <m:sSubPr>
                        <m:ctrlPr>
                          <a:rPr lang="en-US" altLang="ja-JP" sz="1700" i="1">
                            <a:latin typeface="Cambria Math" panose="02040503050406030204" pitchFamily="18" charset="0"/>
                          </a:rPr>
                        </m:ctrlPr>
                      </m:sSubPr>
                      <m:e>
                        <m:r>
                          <a:rPr lang="en-US" altLang="ja-JP" sz="1700" i="1">
                            <a:latin typeface="Cambria Math" panose="02040503050406030204" pitchFamily="18" charset="0"/>
                          </a:rPr>
                          <m:t>𝑊</m:t>
                        </m:r>
                      </m:e>
                      <m:sub>
                        <m:r>
                          <a:rPr lang="en-US" altLang="ja-JP" sz="1700" i="1">
                            <a:latin typeface="Cambria Math" panose="02040503050406030204" pitchFamily="18" charset="0"/>
                          </a:rPr>
                          <m:t>𝑛</m:t>
                        </m:r>
                      </m:sub>
                    </m:sSub>
                    <m:r>
                      <a:rPr lang="en-US" altLang="ja-JP" sz="1700" i="1" smtClean="0">
                        <a:latin typeface="Cambria Math" panose="02040503050406030204" pitchFamily="18" charset="0"/>
                        <a:ea typeface="Cambria Math" panose="02040503050406030204" pitchFamily="18" charset="0"/>
                      </a:rPr>
                      <m:t>=</m:t>
                    </m:r>
                    <m:f>
                      <m:fPr>
                        <m:ctrlPr>
                          <a:rPr lang="en-US" altLang="ja-JP" sz="1700" b="0" i="1" smtClean="0">
                            <a:latin typeface="Cambria Math" panose="02040503050406030204" pitchFamily="18" charset="0"/>
                            <a:ea typeface="Cambria Math" panose="02040503050406030204" pitchFamily="18" charset="0"/>
                          </a:rPr>
                        </m:ctrlPr>
                      </m:fPr>
                      <m:num>
                        <m:r>
                          <a:rPr lang="en-US" altLang="ja-JP" sz="1700" b="0" i="1" smtClean="0">
                            <a:latin typeface="Cambria Math" panose="02040503050406030204" pitchFamily="18" charset="0"/>
                            <a:ea typeface="Cambria Math" panose="02040503050406030204" pitchFamily="18" charset="0"/>
                          </a:rPr>
                          <m:t>2</m:t>
                        </m:r>
                        <m:sSub>
                          <m:sSubPr>
                            <m:ctrlPr>
                              <a:rPr lang="en-US" altLang="ja-JP" sz="1700" i="1">
                                <a:latin typeface="Cambria Math" panose="02040503050406030204" pitchFamily="18" charset="0"/>
                              </a:rPr>
                            </m:ctrlPr>
                          </m:sSubPr>
                          <m:e>
                            <m:r>
                              <a:rPr lang="en-US" altLang="ja-JP" sz="1700" i="1">
                                <a:latin typeface="Cambria Math" panose="02040503050406030204" pitchFamily="18" charset="0"/>
                              </a:rPr>
                              <m:t>𝐼</m:t>
                            </m:r>
                          </m:e>
                          <m:sub>
                            <m:r>
                              <a:rPr lang="en-US" altLang="ja-JP" sz="1700" i="1">
                                <a:latin typeface="Cambria Math" panose="02040503050406030204" pitchFamily="18" charset="0"/>
                              </a:rPr>
                              <m:t>𝑡𝑎𝑖𝑙</m:t>
                            </m:r>
                          </m:sub>
                        </m:sSub>
                        <m:r>
                          <a:rPr lang="en-US" altLang="ja-JP" sz="1700" b="0" i="1" smtClean="0">
                            <a:latin typeface="Cambria Math" panose="02040503050406030204" pitchFamily="18" charset="0"/>
                          </a:rPr>
                          <m:t>𝐿</m:t>
                        </m:r>
                      </m:num>
                      <m:den>
                        <m:r>
                          <a:rPr lang="ja-JP" altLang="en-US" sz="1700" i="1">
                            <a:latin typeface="Cambria Math" panose="02040503050406030204" pitchFamily="18" charset="0"/>
                            <a:ea typeface="Cambria Math" panose="02040503050406030204" pitchFamily="18" charset="0"/>
                          </a:rPr>
                          <m:t>𝜇</m:t>
                        </m:r>
                        <m:sSub>
                          <m:sSubPr>
                            <m:ctrlPr>
                              <a:rPr lang="en-US" altLang="ja-JP" sz="1700" i="1">
                                <a:latin typeface="Cambria Math" panose="02040503050406030204" pitchFamily="18" charset="0"/>
                                <a:ea typeface="Cambria Math" panose="02040503050406030204" pitchFamily="18" charset="0"/>
                              </a:rPr>
                            </m:ctrlPr>
                          </m:sSubPr>
                          <m:e>
                            <m:r>
                              <a:rPr lang="en-US" altLang="ja-JP" sz="1700" i="1">
                                <a:latin typeface="Cambria Math" panose="02040503050406030204" pitchFamily="18" charset="0"/>
                                <a:ea typeface="Cambria Math" panose="02040503050406030204" pitchFamily="18" charset="0"/>
                              </a:rPr>
                              <m:t>𝐶</m:t>
                            </m:r>
                          </m:e>
                          <m:sub>
                            <m:r>
                              <a:rPr lang="en-US" altLang="ja-JP" sz="1700" i="1">
                                <a:latin typeface="Cambria Math" panose="02040503050406030204" pitchFamily="18" charset="0"/>
                                <a:ea typeface="Cambria Math" panose="02040503050406030204" pitchFamily="18" charset="0"/>
                              </a:rPr>
                              <m:t>𝑜𝑥</m:t>
                            </m:r>
                          </m:sub>
                        </m:sSub>
                        <m:sSubSup>
                          <m:sSubSupPr>
                            <m:ctrlPr>
                              <a:rPr lang="en-US" altLang="ja-JP" sz="1700" i="1">
                                <a:latin typeface="Cambria Math" panose="02040503050406030204" pitchFamily="18" charset="0"/>
                                <a:ea typeface="Cambria Math" panose="02040503050406030204" pitchFamily="18" charset="0"/>
                              </a:rPr>
                            </m:ctrlPr>
                          </m:sSubSupPr>
                          <m:e>
                            <m:r>
                              <a:rPr lang="en-US" altLang="ja-JP" sz="1700" i="1">
                                <a:latin typeface="Cambria Math" panose="02040503050406030204" pitchFamily="18" charset="0"/>
                                <a:ea typeface="Cambria Math" panose="02040503050406030204" pitchFamily="18" charset="0"/>
                              </a:rPr>
                              <m:t>𝑉</m:t>
                            </m:r>
                          </m:e>
                          <m:sub>
                            <m:r>
                              <a:rPr lang="en-US" altLang="ja-JP" sz="1700" i="1">
                                <a:latin typeface="Cambria Math" panose="02040503050406030204" pitchFamily="18" charset="0"/>
                                <a:ea typeface="Cambria Math" panose="02040503050406030204" pitchFamily="18" charset="0"/>
                              </a:rPr>
                              <m:t>𝑂𝑉</m:t>
                            </m:r>
                          </m:sub>
                          <m:sup>
                            <m:r>
                              <a:rPr lang="en-US" altLang="ja-JP" sz="1700" i="1">
                                <a:latin typeface="Cambria Math" panose="02040503050406030204" pitchFamily="18" charset="0"/>
                                <a:ea typeface="Cambria Math" panose="02040503050406030204" pitchFamily="18" charset="0"/>
                              </a:rPr>
                              <m:t>2</m:t>
                            </m:r>
                          </m:sup>
                        </m:sSubSup>
                      </m:den>
                    </m:f>
                    <m:r>
                      <a:rPr lang="en-US" altLang="ja-JP" sz="1700" b="0" i="1" smtClean="0">
                        <a:latin typeface="Cambria Math" panose="02040503050406030204" pitchFamily="18" charset="0"/>
                        <a:ea typeface="Cambria Math" panose="02040503050406030204" pitchFamily="18" charset="0"/>
                      </a:rPr>
                      <m:t>=</m:t>
                    </m:r>
                    <m:r>
                      <a:rPr lang="en-US" altLang="ja-JP" sz="1700" b="0" i="1" smtClean="0">
                        <a:latin typeface="Cambria Math" panose="02040503050406030204" pitchFamily="18" charset="0"/>
                        <a:ea typeface="Cambria Math" panose="02040503050406030204" pitchFamily="18" charset="0"/>
                      </a:rPr>
                      <m:t>50</m:t>
                    </m:r>
                    <m:r>
                      <a:rPr lang="en-US" altLang="ja-JP" sz="1700" b="0" i="1" smtClean="0">
                        <a:latin typeface="Cambria Math" panose="02040503050406030204" pitchFamily="18" charset="0"/>
                        <a:ea typeface="Cambria Math" panose="02040503050406030204" pitchFamily="18" charset="0"/>
                      </a:rPr>
                      <m:t>.</m:t>
                    </m:r>
                    <m:r>
                      <a:rPr lang="en-US" altLang="ja-JP" sz="1700" b="0" i="1" smtClean="0">
                        <a:latin typeface="Cambria Math" panose="02040503050406030204" pitchFamily="18" charset="0"/>
                        <a:ea typeface="Cambria Math" panose="02040503050406030204" pitchFamily="18" charset="0"/>
                      </a:rPr>
                      <m:t>0</m:t>
                    </m:r>
                    <m:r>
                      <a:rPr lang="en-US" altLang="ja-JP" sz="1700" b="0" i="1" smtClean="0">
                        <a:latin typeface="Cambria Math" panose="02040503050406030204" pitchFamily="18" charset="0"/>
                        <a:ea typeface="Cambria Math" panose="02040503050406030204" pitchFamily="18" charset="0"/>
                      </a:rPr>
                      <m:t>𝑢𝑚</m:t>
                    </m:r>
                  </m:oMath>
                </a14:m>
                <a:endParaRPr lang="en-US" altLang="ja-JP" sz="1700" dirty="0"/>
              </a:p>
              <a:p>
                <a:pPr lvl="1" indent="-228600">
                  <a:lnSpc>
                    <a:spcPct val="90000"/>
                  </a:lnSpc>
                  <a:spcAft>
                    <a:spcPts val="600"/>
                  </a:spcAft>
                  <a:buFont typeface="Arial" panose="020B0604020202020204" pitchFamily="34" charset="0"/>
                  <a:buChar char="•"/>
                </a:pPr>
                <a:endParaRPr lang="en-US" altLang="ja-JP" sz="1700" dirty="0"/>
              </a:p>
              <a:p>
                <a:pPr indent="-228600">
                  <a:lnSpc>
                    <a:spcPct val="90000"/>
                  </a:lnSpc>
                  <a:spcAft>
                    <a:spcPts val="600"/>
                  </a:spcAft>
                  <a:buFont typeface="Arial" panose="020B0604020202020204" pitchFamily="34" charset="0"/>
                  <a:buChar char="•"/>
                </a:pPr>
                <a:r>
                  <a:rPr lang="ja-JP" altLang="en-US" sz="1700" dirty="0"/>
                  <a:t>よって、本設計では</a:t>
                </a:r>
                <a14:m>
                  <m:oMath xmlns:m="http://schemas.openxmlformats.org/officeDocument/2006/math">
                    <m:sSub>
                      <m:sSubPr>
                        <m:ctrlPr>
                          <a:rPr lang="en-US" altLang="ja-JP" sz="1700" i="1">
                            <a:latin typeface="Cambria Math" panose="02040503050406030204" pitchFamily="18" charset="0"/>
                          </a:rPr>
                        </m:ctrlPr>
                      </m:sSubPr>
                      <m:e>
                        <m:r>
                          <a:rPr lang="en-US" altLang="ja-JP" sz="1700" i="1">
                            <a:latin typeface="Cambria Math" panose="02040503050406030204" pitchFamily="18" charset="0"/>
                          </a:rPr>
                          <m:t>𝑊</m:t>
                        </m:r>
                      </m:e>
                      <m:sub>
                        <m:r>
                          <a:rPr lang="en-US" altLang="ja-JP" sz="1700" i="1">
                            <a:latin typeface="Cambria Math" panose="02040503050406030204" pitchFamily="18" charset="0"/>
                          </a:rPr>
                          <m:t>𝑛</m:t>
                        </m:r>
                      </m:sub>
                    </m:sSub>
                    <m:r>
                      <a:rPr lang="en-US" altLang="ja-JP" sz="1700" b="0" i="1" smtClean="0">
                        <a:latin typeface="Cambria Math" panose="02040503050406030204" pitchFamily="18" charset="0"/>
                      </a:rPr>
                      <m:t>=</m:t>
                    </m:r>
                    <m:r>
                      <a:rPr lang="en-US" altLang="ja-JP" sz="1700" b="0" i="1" smtClean="0">
                        <a:latin typeface="Cambria Math" panose="02040503050406030204" pitchFamily="18" charset="0"/>
                      </a:rPr>
                      <m:t>50</m:t>
                    </m:r>
                    <m:r>
                      <a:rPr lang="en-US" altLang="ja-JP" sz="1700" i="1">
                        <a:latin typeface="Cambria Math" panose="02040503050406030204" pitchFamily="18" charset="0"/>
                        <a:ea typeface="Cambria Math" panose="02040503050406030204" pitchFamily="18" charset="0"/>
                      </a:rPr>
                      <m:t>𝑢𝑚</m:t>
                    </m:r>
                  </m:oMath>
                </a14:m>
                <a:r>
                  <a:rPr lang="en-US" altLang="ja-JP" sz="1700" dirty="0"/>
                  <a:t>, </a:t>
                </a:r>
                <a14:m>
                  <m:oMath xmlns:m="http://schemas.openxmlformats.org/officeDocument/2006/math">
                    <m:sSub>
                      <m:sSubPr>
                        <m:ctrlPr>
                          <a:rPr lang="en-US" altLang="ja-JP" sz="1700" i="1">
                            <a:latin typeface="Cambria Math" panose="02040503050406030204" pitchFamily="18" charset="0"/>
                          </a:rPr>
                        </m:ctrlPr>
                      </m:sSubPr>
                      <m:e>
                        <m:r>
                          <a:rPr lang="en-US" altLang="ja-JP" sz="1700" i="1">
                            <a:latin typeface="Cambria Math" panose="02040503050406030204" pitchFamily="18" charset="0"/>
                          </a:rPr>
                          <m:t>𝑊</m:t>
                        </m:r>
                      </m:e>
                      <m:sub>
                        <m:r>
                          <a:rPr lang="en-US" altLang="ja-JP" sz="1700" b="0" i="1" smtClean="0">
                            <a:latin typeface="Cambria Math" panose="02040503050406030204" pitchFamily="18" charset="0"/>
                          </a:rPr>
                          <m:t>𝑝</m:t>
                        </m:r>
                      </m:sub>
                    </m:sSub>
                    <m:r>
                      <a:rPr lang="en-US" altLang="ja-JP" sz="1700" i="1">
                        <a:latin typeface="Cambria Math" panose="02040503050406030204" pitchFamily="18" charset="0"/>
                      </a:rPr>
                      <m:t>=</m:t>
                    </m:r>
                    <m:r>
                      <m:rPr>
                        <m:nor/>
                      </m:rPr>
                      <a:rPr lang="en-US" altLang="ja-JP" sz="1700" b="0" i="0" smtClean="0">
                        <a:latin typeface="Cambria Math" panose="02040503050406030204" pitchFamily="18" charset="0"/>
                      </a:rPr>
                      <m:t>150</m:t>
                    </m:r>
                    <m:r>
                      <a:rPr lang="en-US" altLang="ja-JP" sz="1700" i="1">
                        <a:latin typeface="Cambria Math" panose="02040503050406030204" pitchFamily="18" charset="0"/>
                        <a:ea typeface="Cambria Math" panose="02040503050406030204" pitchFamily="18" charset="0"/>
                      </a:rPr>
                      <m:t>𝑢𝑚</m:t>
                    </m:r>
                    <m:r>
                      <a:rPr lang="ja-JP" altLang="en-US" sz="1700" i="1" dirty="0">
                        <a:latin typeface="Cambria Math" panose="02040503050406030204" pitchFamily="18" charset="0"/>
                      </a:rPr>
                      <m:t>と</m:t>
                    </m:r>
                  </m:oMath>
                </a14:m>
                <a:r>
                  <a:rPr lang="ja-JP" altLang="en-US" sz="1700" dirty="0"/>
                  <a:t>する</a:t>
                </a:r>
                <a:endParaRPr lang="en-US" altLang="ja-JP" sz="1700" dirty="0"/>
              </a:p>
              <a:p>
                <a:pPr lvl="1" indent="-228600">
                  <a:lnSpc>
                    <a:spcPct val="90000"/>
                  </a:lnSpc>
                  <a:spcAft>
                    <a:spcPts val="600"/>
                  </a:spcAft>
                  <a:buFont typeface="Arial" panose="020B0604020202020204" pitchFamily="34" charset="0"/>
                  <a:buChar char="•"/>
                </a:pPr>
                <a:r>
                  <a:rPr lang="en-US" altLang="ja-JP" sz="1700" dirty="0"/>
                  <a:t> </a:t>
                </a:r>
                <a14:m>
                  <m:oMath xmlns:m="http://schemas.openxmlformats.org/officeDocument/2006/math">
                    <m:r>
                      <a:rPr lang="ja-JP" altLang="en-US" sz="1700" i="1" dirty="0">
                        <a:latin typeface="Cambria Math" panose="02040503050406030204" pitchFamily="18" charset="0"/>
                      </a:rPr>
                      <m:t>電子</m:t>
                    </m:r>
                    <m:r>
                      <a:rPr lang="ja-JP" altLang="en-US" sz="1700" i="1" dirty="0">
                        <a:latin typeface="Cambria Math" panose="02040503050406030204" pitchFamily="18" charset="0"/>
                      </a:rPr>
                      <m:t>の</m:t>
                    </m:r>
                    <m:r>
                      <a:rPr lang="ja-JP" altLang="en-US" sz="1700" i="1" dirty="0">
                        <a:latin typeface="Cambria Math" panose="02040503050406030204" pitchFamily="18" charset="0"/>
                      </a:rPr>
                      <m:t>移動速度</m:t>
                    </m:r>
                    <m:r>
                      <a:rPr lang="ja-JP" altLang="en-US" sz="1700" i="1" dirty="0">
                        <a:latin typeface="Cambria Math" panose="02040503050406030204" pitchFamily="18" charset="0"/>
                      </a:rPr>
                      <m:t>の</m:t>
                    </m:r>
                    <m:r>
                      <a:rPr lang="ja-JP" altLang="en-US" sz="1700" i="1" dirty="0" smtClean="0">
                        <a:latin typeface="Cambria Math" panose="02040503050406030204" pitchFamily="18" charset="0"/>
                      </a:rPr>
                      <m:t>違</m:t>
                    </m:r>
                    <m:r>
                      <a:rPr lang="ja-JP" altLang="en-US" sz="1700" i="1" dirty="0" smtClean="0">
                        <a:latin typeface="Cambria Math" panose="02040503050406030204" pitchFamily="18" charset="0"/>
                      </a:rPr>
                      <m:t>いより</m:t>
                    </m:r>
                    <m:r>
                      <a:rPr lang="ja-JP" altLang="en-US" sz="1700" i="1" dirty="0" smtClean="0">
                        <a:latin typeface="Cambria Math" panose="02040503050406030204" pitchFamily="18" charset="0"/>
                      </a:rPr>
                      <m:t>、</m:t>
                    </m:r>
                    <m:sSub>
                      <m:sSubPr>
                        <m:ctrlPr>
                          <a:rPr lang="en-US" altLang="ja-JP" sz="1700" i="1">
                            <a:latin typeface="Cambria Math" panose="02040503050406030204" pitchFamily="18" charset="0"/>
                          </a:rPr>
                        </m:ctrlPr>
                      </m:sSubPr>
                      <m:e>
                        <m:r>
                          <a:rPr lang="en-US" altLang="ja-JP" sz="1700" i="1">
                            <a:latin typeface="Cambria Math" panose="02040503050406030204" pitchFamily="18" charset="0"/>
                          </a:rPr>
                          <m:t>𝑊</m:t>
                        </m:r>
                      </m:e>
                      <m:sub>
                        <m:r>
                          <a:rPr lang="en-US" altLang="ja-JP" sz="1700" i="1">
                            <a:latin typeface="Cambria Math" panose="02040503050406030204" pitchFamily="18" charset="0"/>
                          </a:rPr>
                          <m:t>𝑝</m:t>
                        </m:r>
                      </m:sub>
                    </m:sSub>
                    <m:r>
                      <a:rPr lang="en-US" altLang="ja-JP" sz="1700" b="0" i="1" smtClean="0">
                        <a:latin typeface="Cambria Math" panose="02040503050406030204" pitchFamily="18" charset="0"/>
                      </a:rPr>
                      <m:t>:</m:t>
                    </m:r>
                    <m:sSub>
                      <m:sSubPr>
                        <m:ctrlPr>
                          <a:rPr lang="en-US" altLang="ja-JP" sz="1700" i="1">
                            <a:latin typeface="Cambria Math" panose="02040503050406030204" pitchFamily="18" charset="0"/>
                          </a:rPr>
                        </m:ctrlPr>
                      </m:sSubPr>
                      <m:e>
                        <m:r>
                          <a:rPr lang="en-US" altLang="ja-JP" sz="1700" i="1">
                            <a:latin typeface="Cambria Math" panose="02040503050406030204" pitchFamily="18" charset="0"/>
                          </a:rPr>
                          <m:t>𝑊</m:t>
                        </m:r>
                      </m:e>
                      <m:sub>
                        <m:r>
                          <a:rPr lang="en-US" altLang="ja-JP" sz="1700" i="1">
                            <a:latin typeface="Cambria Math" panose="02040503050406030204" pitchFamily="18" charset="0"/>
                          </a:rPr>
                          <m:t>𝑛</m:t>
                        </m:r>
                      </m:sub>
                    </m:sSub>
                    <m:r>
                      <a:rPr lang="ja-JP" altLang="en-US" sz="1700" i="1">
                        <a:latin typeface="Cambria Math" panose="02040503050406030204" pitchFamily="18" charset="0"/>
                      </a:rPr>
                      <m:t>≒</m:t>
                    </m:r>
                  </m:oMath>
                </a14:m>
                <a:r>
                  <a:rPr lang="ja-JP" altLang="en-US" sz="1700" dirty="0"/>
                  <a:t> </a:t>
                </a:r>
                <a:r>
                  <a:rPr lang="en-US" altLang="ja-JP" sz="1700" dirty="0"/>
                  <a:t>3:1</a:t>
                </a:r>
                <a:endParaRPr lang="ja-JP" altLang="en-US" sz="1700" dirty="0"/>
              </a:p>
              <a:p>
                <a:pPr lvl="1" indent="-228600">
                  <a:lnSpc>
                    <a:spcPct val="90000"/>
                  </a:lnSpc>
                  <a:spcAft>
                    <a:spcPts val="600"/>
                  </a:spcAft>
                  <a:buFont typeface="Arial" panose="020B0604020202020204" pitchFamily="34" charset="0"/>
                  <a:buChar char="•"/>
                </a:pPr>
                <a:endParaRPr lang="en-US" altLang="ja-JP" sz="1700" dirty="0"/>
              </a:p>
            </p:txBody>
          </p:sp>
        </mc:Choice>
        <mc:Fallback xmlns="">
          <p:sp>
            <p:nvSpPr>
              <p:cNvPr id="8" name="テキスト ボックス 7">
                <a:extLst>
                  <a:ext uri="{FF2B5EF4-FFF2-40B4-BE49-F238E27FC236}">
                    <a16:creationId xmlns:a16="http://schemas.microsoft.com/office/drawing/2014/main" id="{E43DF2FC-A00D-A984-F320-A5F94AE83E93}"/>
                  </a:ext>
                </a:extLst>
              </p:cNvPr>
              <p:cNvSpPr txBox="1">
                <a:spLocks noRot="1" noChangeAspect="1" noMove="1" noResize="1" noEditPoints="1" noAdjustHandles="1" noChangeArrowheads="1" noChangeShapeType="1" noTextEdit="1"/>
              </p:cNvSpPr>
              <p:nvPr/>
            </p:nvSpPr>
            <p:spPr>
              <a:xfrm>
                <a:off x="762000" y="2551176"/>
                <a:ext cx="6709954" cy="3947595"/>
              </a:xfrm>
              <a:prstGeom prst="rect">
                <a:avLst/>
              </a:prstGeom>
              <a:blipFill>
                <a:blip r:embed="rId2"/>
                <a:stretch>
                  <a:fillRect l="-363" t="-2009"/>
                </a:stretch>
              </a:blipFill>
            </p:spPr>
            <p:txBody>
              <a:bodyPr/>
              <a:lstStyle/>
              <a:p>
                <a:r>
                  <a:rPr lang="ja-JP" altLang="en-US">
                    <a:noFill/>
                  </a:rPr>
                  <a:t> </a:t>
                </a:r>
              </a:p>
            </p:txBody>
          </p:sp>
        </mc:Fallback>
      </mc:AlternateContent>
      <p:sp>
        <p:nvSpPr>
          <p:cNvPr id="15" name="Rectangle 14">
            <a:extLst>
              <a:ext uri="{FF2B5EF4-FFF2-40B4-BE49-F238E27FC236}">
                <a16:creationId xmlns:a16="http://schemas.microsoft.com/office/drawing/2014/main" id="{265F8625-ECA8-3CB9-7B28-70AFBD4AAA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8086" y="0"/>
            <a:ext cx="4803913"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16EEA702-C018-85AD-C9E0-D4C5C80C9803}"/>
              </a:ext>
            </a:extLst>
          </p:cNvPr>
          <p:cNvPicPr>
            <a:picLocks noChangeAspect="1"/>
          </p:cNvPicPr>
          <p:nvPr/>
        </p:nvPicPr>
        <p:blipFill>
          <a:blip r:embed="rId3"/>
          <a:stretch>
            <a:fillRect/>
          </a:stretch>
        </p:blipFill>
        <p:spPr>
          <a:xfrm>
            <a:off x="8024191" y="1100725"/>
            <a:ext cx="3452192" cy="4651235"/>
          </a:xfrm>
          <a:prstGeom prst="rect">
            <a:avLst/>
          </a:prstGeom>
        </p:spPr>
      </p:pic>
    </p:spTree>
    <p:extLst>
      <p:ext uri="{BB962C8B-B14F-4D97-AF65-F5344CB8AC3E}">
        <p14:creationId xmlns:p14="http://schemas.microsoft.com/office/powerpoint/2010/main" val="34037428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BACEBF-5D14-A57C-1C22-6E3E268670FC}"/>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図 3">
            <a:extLst>
              <a:ext uri="{FF2B5EF4-FFF2-40B4-BE49-F238E27FC236}">
                <a16:creationId xmlns:a16="http://schemas.microsoft.com/office/drawing/2014/main" id="{04B0F752-85C2-BE4C-14F6-9647CCC2DFCD}"/>
              </a:ext>
            </a:extLst>
          </p:cNvPr>
          <p:cNvPicPr>
            <a:picLocks noChangeAspect="1"/>
          </p:cNvPicPr>
          <p:nvPr/>
        </p:nvPicPr>
        <p:blipFill>
          <a:blip r:embed="rId2"/>
          <a:stretch>
            <a:fillRect/>
          </a:stretch>
        </p:blipFill>
        <p:spPr>
          <a:xfrm>
            <a:off x="7796535" y="528406"/>
            <a:ext cx="4188878" cy="564379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6" name="Arc 35">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438C25EE-87EF-1B11-8B07-D1E278F40BA3}"/>
              </a:ext>
            </a:extLst>
          </p:cNvPr>
          <p:cNvSpPr>
            <a:spLocks noGrp="1"/>
          </p:cNvSpPr>
          <p:nvPr>
            <p:ph type="title"/>
          </p:nvPr>
        </p:nvSpPr>
        <p:spPr>
          <a:xfrm>
            <a:off x="838199" y="860424"/>
            <a:ext cx="5257800" cy="1325563"/>
          </a:xfrm>
        </p:spPr>
        <p:txBody>
          <a:bodyPr>
            <a:normAutofit/>
          </a:bodyPr>
          <a:lstStyle/>
          <a:p>
            <a:r>
              <a:rPr lang="ja-JP" altLang="en-US" sz="3700" dirty="0"/>
              <a:t>入力段：</a:t>
            </a:r>
            <a:r>
              <a:rPr lang="en-US" altLang="ja-JP" sz="3700" dirty="0"/>
              <a:t>Pair</a:t>
            </a:r>
            <a:r>
              <a:rPr lang="ja-JP" altLang="en-US" sz="3700" dirty="0"/>
              <a:t>の</a:t>
            </a:r>
            <a:r>
              <a:rPr lang="en-US" altLang="ja-JP" sz="3700" dirty="0"/>
              <a:t>W</a:t>
            </a:r>
            <a:r>
              <a:rPr lang="ja-JP" altLang="en-US" sz="3700" dirty="0"/>
              <a:t>の設計</a:t>
            </a:r>
            <a:br>
              <a:rPr lang="en-US" altLang="ja-JP" sz="3700" dirty="0"/>
            </a:br>
            <a:r>
              <a:rPr lang="ja-JP" altLang="en-US" sz="3700" dirty="0"/>
              <a:t>周波数から求める</a:t>
            </a:r>
            <a:endParaRPr kumimoji="1" lang="ja-JP" altLang="en-US" sz="37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FF3EDD1-F7D7-EDED-FD59-3CEAB760320E}"/>
                  </a:ext>
                </a:extLst>
              </p:cNvPr>
              <p:cNvSpPr>
                <a:spLocks noGrp="1"/>
              </p:cNvSpPr>
              <p:nvPr>
                <p:ph idx="1"/>
              </p:nvPr>
            </p:nvSpPr>
            <p:spPr>
              <a:xfrm>
                <a:off x="332137" y="2185987"/>
                <a:ext cx="7837713" cy="4192520"/>
              </a:xfrm>
            </p:spPr>
            <p:txBody>
              <a:bodyPr>
                <a:normAutofit fontScale="85000" lnSpcReduction="10000"/>
              </a:bodyPr>
              <a:lstStyle/>
              <a:p>
                <a:r>
                  <a:rPr lang="ja-JP" altLang="en-US" dirty="0"/>
                  <a:t>起動までの時間（遅延時間≒</a:t>
                </a:r>
                <a:r>
                  <a:rPr lang="en-US" altLang="ja-JP" dirty="0"/>
                  <a:t>1/</a:t>
                </a:r>
                <a:r>
                  <a:rPr lang="ja-JP" altLang="en-US" dirty="0"/>
                  <a:t>周波数）</a:t>
                </a:r>
                <a14:m>
                  <m:oMath xmlns:m="http://schemas.openxmlformats.org/officeDocument/2006/math">
                    <m:sSub>
                      <m:sSubPr>
                        <m:ctrlPr>
                          <a:rPr lang="ja-JP" altLang="en-US"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𝑑𝑒𝑙𝑎𝑦</m:t>
                        </m:r>
                      </m:sub>
                    </m:sSub>
                    <m:r>
                      <a:rPr lang="ja-JP" altLang="en-US" i="1">
                        <a:latin typeface="Cambria Math" panose="02040503050406030204" pitchFamily="18" charset="0"/>
                      </a:rPr>
                      <m:t>∝</m:t>
                    </m:r>
                    <m:f>
                      <m:fPr>
                        <m:ctrlPr>
                          <a:rPr lang="ja-JP" altLang="en-US" i="1">
                            <a:latin typeface="Cambria Math" panose="02040503050406030204" pitchFamily="18" charset="0"/>
                          </a:rPr>
                        </m:ctrlPr>
                      </m:fPr>
                      <m:num>
                        <m:sSub>
                          <m:sSubPr>
                            <m:ctrlPr>
                              <a:rPr lang="ja-JP" altLang="en-US" i="1">
                                <a:latin typeface="Cambria Math" panose="02040503050406030204" pitchFamily="18" charset="0"/>
                              </a:rPr>
                            </m:ctrlPr>
                          </m:sSubPr>
                          <m:e>
                            <m:r>
                              <a:rPr lang="en-US" altLang="ja-JP" i="1">
                                <a:latin typeface="Cambria Math" panose="02040503050406030204" pitchFamily="18" charset="0"/>
                              </a:rPr>
                              <m:t>𝐶</m:t>
                            </m:r>
                          </m:e>
                          <m:sub>
                            <m:r>
                              <a:rPr lang="en-US" altLang="ja-JP" i="1">
                                <a:latin typeface="Cambria Math" panose="02040503050406030204" pitchFamily="18" charset="0"/>
                              </a:rPr>
                              <m:t>𝑙𝑜𝑎𝑑</m:t>
                            </m:r>
                          </m:sub>
                        </m:sSub>
                      </m:num>
                      <m:den>
                        <m:sSub>
                          <m:sSubPr>
                            <m:ctrlPr>
                              <a:rPr lang="ja-JP" altLang="en-US" i="1">
                                <a:latin typeface="Cambria Math" panose="02040503050406030204" pitchFamily="18" charset="0"/>
                              </a:rPr>
                            </m:ctrlPr>
                          </m:sSubPr>
                          <m:e>
                            <m:r>
                              <a:rPr lang="en-US" altLang="ja-JP" i="1">
                                <a:latin typeface="Cambria Math" panose="02040503050406030204" pitchFamily="18" charset="0"/>
                              </a:rPr>
                              <m:t>𝑔</m:t>
                            </m:r>
                          </m:e>
                          <m:sub>
                            <m:r>
                              <a:rPr lang="en-US" altLang="ja-JP" i="1">
                                <a:latin typeface="Cambria Math" panose="02040503050406030204" pitchFamily="18" charset="0"/>
                              </a:rPr>
                              <m:t>𝑚</m:t>
                            </m:r>
                          </m:sub>
                        </m:sSub>
                      </m:den>
                    </m:f>
                  </m:oMath>
                </a14:m>
                <a:endParaRPr lang="en-US" altLang="ja-JP" dirty="0"/>
              </a:p>
              <a:p>
                <a:pPr lvl="1"/>
                <a14:m>
                  <m:oMath xmlns:m="http://schemas.openxmlformats.org/officeDocument/2006/math">
                    <m:sSub>
                      <m:sSubPr>
                        <m:ctrlPr>
                          <a:rPr lang="ja-JP" altLang="en-US" i="1">
                            <a:latin typeface="Cambria Math" panose="02040503050406030204" pitchFamily="18" charset="0"/>
                          </a:rPr>
                        </m:ctrlPr>
                      </m:sSubPr>
                      <m:e>
                        <m:r>
                          <a:rPr lang="en-US" altLang="ja-JP" i="1">
                            <a:latin typeface="Cambria Math" panose="02040503050406030204" pitchFamily="18" charset="0"/>
                          </a:rPr>
                          <m:t>𝐶</m:t>
                        </m:r>
                      </m:e>
                      <m:sub>
                        <m:r>
                          <a:rPr lang="en-US" altLang="ja-JP" i="1">
                            <a:latin typeface="Cambria Math" panose="02040503050406030204" pitchFamily="18" charset="0"/>
                          </a:rPr>
                          <m:t>𝑙𝑜𝑎𝑑</m:t>
                        </m:r>
                      </m:sub>
                    </m:sSub>
                    <m:r>
                      <a:rPr lang="en-US" altLang="ja-JP" i="1">
                        <a:latin typeface="Cambria Math" panose="02040503050406030204" pitchFamily="18" charset="0"/>
                      </a:rPr>
                      <m:t>=</m:t>
                    </m:r>
                    <m:r>
                      <a:rPr lang="ja-JP" altLang="en-US" i="1">
                        <a:latin typeface="Cambria Math" panose="02040503050406030204" pitchFamily="18" charset="0"/>
                      </a:rPr>
                      <m:t>内部寄生容量</m:t>
                    </m:r>
                    <m:r>
                      <a:rPr lang="en-US" altLang="ja-JP" i="1">
                        <a:latin typeface="Cambria Math" panose="02040503050406030204" pitchFamily="18" charset="0"/>
                      </a:rPr>
                      <m:t>,  </m:t>
                    </m:r>
                    <m:sSub>
                      <m:sSubPr>
                        <m:ctrlPr>
                          <a:rPr lang="ja-JP" altLang="en-US" i="1">
                            <a:latin typeface="Cambria Math" panose="02040503050406030204" pitchFamily="18" charset="0"/>
                          </a:rPr>
                        </m:ctrlPr>
                      </m:sSubPr>
                      <m:e>
                        <m:r>
                          <a:rPr lang="en-US" altLang="ja-JP" i="1">
                            <a:latin typeface="Cambria Math" panose="02040503050406030204" pitchFamily="18" charset="0"/>
                          </a:rPr>
                          <m:t>𝑔</m:t>
                        </m:r>
                      </m:e>
                      <m:sub>
                        <m:r>
                          <a:rPr lang="en-US" altLang="ja-JP" i="1">
                            <a:latin typeface="Cambria Math" panose="02040503050406030204" pitchFamily="18" charset="0"/>
                          </a:rPr>
                          <m:t>𝑚</m:t>
                        </m:r>
                      </m:sub>
                    </m:sSub>
                    <m:r>
                      <a:rPr lang="en-US" altLang="ja-JP" i="1">
                        <a:latin typeface="Cambria Math" panose="02040503050406030204" pitchFamily="18" charset="0"/>
                        <a:ea typeface="Cambria Math" panose="02040503050406030204" pitchFamily="18" charset="0"/>
                      </a:rPr>
                      <m:t>=</m:t>
                    </m:r>
                    <m:rad>
                      <m:radPr>
                        <m:degHide m:val="on"/>
                        <m:ctrlPr>
                          <a:rPr lang="ja-JP" altLang="en-US" i="1">
                            <a:latin typeface="Cambria Math" panose="02040503050406030204" pitchFamily="18" charset="0"/>
                            <a:ea typeface="Cambria Math" panose="02040503050406030204" pitchFamily="18" charset="0"/>
                          </a:rPr>
                        </m:ctrlPr>
                      </m:radPr>
                      <m:deg/>
                      <m:e>
                        <m:r>
                          <a:rPr lang="en-US" altLang="ja-JP" i="1">
                            <a:latin typeface="Cambria Math" panose="02040503050406030204" pitchFamily="18" charset="0"/>
                            <a:ea typeface="Cambria Math" panose="02040503050406030204" pitchFamily="18" charset="0"/>
                          </a:rPr>
                          <m:t>2</m:t>
                        </m:r>
                        <m:r>
                          <a:rPr lang="ja-JP" altLang="en-US" i="1">
                            <a:latin typeface="Cambria Math" panose="02040503050406030204" pitchFamily="18" charset="0"/>
                            <a:ea typeface="Cambria Math" panose="02040503050406030204" pitchFamily="18" charset="0"/>
                          </a:rPr>
                          <m:t>𝜇</m:t>
                        </m:r>
                        <m:sSub>
                          <m:sSubPr>
                            <m:ctrlPr>
                              <a:rPr lang="ja-JP" altLang="en-US"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𝐶</m:t>
                            </m:r>
                          </m:e>
                          <m:sub>
                            <m:r>
                              <a:rPr lang="en-US" altLang="ja-JP" i="1">
                                <a:latin typeface="Cambria Math" panose="02040503050406030204" pitchFamily="18" charset="0"/>
                                <a:ea typeface="Cambria Math" panose="02040503050406030204" pitchFamily="18" charset="0"/>
                              </a:rPr>
                              <m:t>𝑜𝑥</m:t>
                            </m:r>
                          </m:sub>
                        </m:sSub>
                        <m:f>
                          <m:fPr>
                            <m:ctrlPr>
                              <a:rPr lang="ja-JP" altLang="en-US"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𝑊</m:t>
                            </m:r>
                          </m:num>
                          <m:den>
                            <m:r>
                              <a:rPr lang="en-US" altLang="ja-JP" i="1">
                                <a:latin typeface="Cambria Math" panose="02040503050406030204" pitchFamily="18" charset="0"/>
                                <a:ea typeface="Cambria Math" panose="02040503050406030204" pitchFamily="18" charset="0"/>
                              </a:rPr>
                              <m:t>𝐿</m:t>
                            </m:r>
                          </m:den>
                        </m:f>
                        <m:sSub>
                          <m:sSubPr>
                            <m:ctrlPr>
                              <a:rPr lang="ja-JP" altLang="en-US"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𝐼</m:t>
                            </m:r>
                          </m:e>
                          <m:sub>
                            <m:r>
                              <a:rPr lang="en-US" altLang="ja-JP" i="1">
                                <a:latin typeface="Cambria Math" panose="02040503050406030204" pitchFamily="18" charset="0"/>
                                <a:ea typeface="Cambria Math" panose="02040503050406030204" pitchFamily="18" charset="0"/>
                              </a:rPr>
                              <m:t>𝐷</m:t>
                            </m:r>
                          </m:sub>
                        </m:sSub>
                      </m:e>
                    </m:rad>
                  </m:oMath>
                </a14:m>
                <a:r>
                  <a:rPr lang="en-US" altLang="ja-JP" dirty="0"/>
                  <a:t>,  </a:t>
                </a:r>
                <a14:m>
                  <m:oMath xmlns:m="http://schemas.openxmlformats.org/officeDocument/2006/math">
                    <m:sSub>
                      <m:sSubPr>
                        <m:ctrlPr>
                          <a:rPr lang="ja-JP" altLang="en-US"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𝐼</m:t>
                        </m:r>
                      </m:e>
                      <m:sub>
                        <m:r>
                          <a:rPr lang="en-US" altLang="ja-JP" i="1">
                            <a:latin typeface="Cambria Math" panose="02040503050406030204" pitchFamily="18" charset="0"/>
                            <a:ea typeface="Cambria Math" panose="02040503050406030204" pitchFamily="18" charset="0"/>
                          </a:rPr>
                          <m:t>𝐷</m:t>
                        </m:r>
                      </m:sub>
                    </m:sSub>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𝐼</m:t>
                            </m:r>
                          </m:e>
                          <m:sub>
                            <m:r>
                              <a:rPr lang="en-US" altLang="ja-JP" i="1">
                                <a:latin typeface="Cambria Math" panose="02040503050406030204" pitchFamily="18" charset="0"/>
                                <a:ea typeface="Cambria Math" panose="02040503050406030204" pitchFamily="18" charset="0"/>
                              </a:rPr>
                              <m:t>𝑡𝑎𝑖𝑙</m:t>
                            </m:r>
                          </m:sub>
                        </m:sSub>
                      </m:num>
                      <m:den>
                        <m:r>
                          <a:rPr lang="en-US" altLang="ja-JP" i="1">
                            <a:latin typeface="Cambria Math" panose="02040503050406030204" pitchFamily="18" charset="0"/>
                            <a:ea typeface="Cambria Math" panose="02040503050406030204" pitchFamily="18" charset="0"/>
                          </a:rPr>
                          <m:t>2</m:t>
                        </m:r>
                      </m:den>
                    </m:f>
                  </m:oMath>
                </a14:m>
                <a:endParaRPr lang="en-US" altLang="ja-JP" dirty="0"/>
              </a:p>
              <a:p>
                <a:pPr lvl="2"/>
                <a:r>
                  <a:rPr lang="ja-JP" altLang="en-US" dirty="0"/>
                  <a:t>近似式 </a:t>
                </a:r>
                <a14:m>
                  <m:oMath xmlns:m="http://schemas.openxmlformats.org/officeDocument/2006/math">
                    <m:sSub>
                      <m:sSubPr>
                        <m:ctrlPr>
                          <a:rPr lang="ja-JP" altLang="en-US" i="1">
                            <a:latin typeface="Cambria Math" panose="02040503050406030204" pitchFamily="18" charset="0"/>
                          </a:rPr>
                        </m:ctrlPr>
                      </m:sSubPr>
                      <m:e>
                        <m:r>
                          <a:rPr lang="en-US" altLang="ja-JP" i="1">
                            <a:latin typeface="Cambria Math" panose="02040503050406030204" pitchFamily="18" charset="0"/>
                          </a:rPr>
                          <m:t>𝑔</m:t>
                        </m:r>
                      </m:e>
                      <m:sub>
                        <m:r>
                          <a:rPr lang="en-US" altLang="ja-JP" i="1">
                            <a:latin typeface="Cambria Math" panose="02040503050406030204" pitchFamily="18" charset="0"/>
                          </a:rPr>
                          <m:t>𝑚</m:t>
                        </m:r>
                      </m:sub>
                    </m:sSub>
                    <m:r>
                      <a:rPr lang="ja-JP" altLang="en-US" i="1">
                        <a:latin typeface="Cambria Math" panose="02040503050406030204" pitchFamily="18" charset="0"/>
                      </a:rPr>
                      <m:t>≈</m:t>
                    </m:r>
                    <m:f>
                      <m:fPr>
                        <m:ctrlPr>
                          <a:rPr lang="ja-JP" altLang="en-US" i="1">
                            <a:latin typeface="Cambria Math" panose="02040503050406030204" pitchFamily="18" charset="0"/>
                          </a:rPr>
                        </m:ctrlPr>
                      </m:fPr>
                      <m:num>
                        <m:sSub>
                          <m:sSubPr>
                            <m:ctrlPr>
                              <a:rPr lang="ja-JP" altLang="en-US" i="1">
                                <a:latin typeface="Cambria Math" panose="02040503050406030204" pitchFamily="18" charset="0"/>
                              </a:rPr>
                            </m:ctrlPr>
                          </m:sSubPr>
                          <m:e>
                            <m:r>
                              <a:rPr lang="en-US" altLang="ja-JP" i="1">
                                <a:latin typeface="Cambria Math" panose="02040503050406030204" pitchFamily="18" charset="0"/>
                              </a:rPr>
                              <m:t>𝐶</m:t>
                            </m:r>
                          </m:e>
                          <m:sub>
                            <m:r>
                              <a:rPr lang="en-US" altLang="ja-JP" i="1">
                                <a:latin typeface="Cambria Math" panose="02040503050406030204" pitchFamily="18" charset="0"/>
                              </a:rPr>
                              <m:t>𝑙𝑜𝑎𝑑</m:t>
                            </m:r>
                          </m:sub>
                        </m:sSub>
                      </m:num>
                      <m:den>
                        <m:sSub>
                          <m:sSubPr>
                            <m:ctrlPr>
                              <a:rPr lang="ja-JP" altLang="en-US"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𝑑𝑒𝑙𝑎𝑦</m:t>
                            </m:r>
                          </m:sub>
                        </m:sSub>
                      </m:den>
                    </m:f>
                    <m:r>
                      <a:rPr lang="ja-JP" altLang="en-US" i="1">
                        <a:latin typeface="Cambria Math" panose="02040503050406030204" pitchFamily="18" charset="0"/>
                      </a:rPr>
                      <m:t> </m:t>
                    </m:r>
                    <m:r>
                      <a:rPr lang="en-US" altLang="ja-JP" dirty="0">
                        <a:latin typeface="Cambria Math" panose="02040503050406030204" pitchFamily="18" charset="0"/>
                        <a:ea typeface="Cambria Math" panose="02040503050406030204" pitchFamily="18" charset="0"/>
                      </a:rPr>
                      <m:t>≈</m:t>
                    </m:r>
                    <m:f>
                      <m:fPr>
                        <m:ctrlPr>
                          <a:rPr lang="en-US" altLang="ja-JP" i="1" dirty="0">
                            <a:latin typeface="Cambria Math" panose="02040503050406030204" pitchFamily="18" charset="0"/>
                            <a:ea typeface="Cambria Math" panose="02040503050406030204" pitchFamily="18" charset="0"/>
                          </a:rPr>
                        </m:ctrlPr>
                      </m:fPr>
                      <m:num>
                        <m:r>
                          <a:rPr lang="en-US" altLang="ja-JP" i="1" dirty="0">
                            <a:latin typeface="Cambria Math" panose="02040503050406030204" pitchFamily="18" charset="0"/>
                            <a:ea typeface="Cambria Math" panose="02040503050406030204" pitchFamily="18" charset="0"/>
                          </a:rPr>
                          <m:t>200</m:t>
                        </m:r>
                        <m:r>
                          <a:rPr lang="en-US" altLang="ja-JP" i="1" dirty="0">
                            <a:latin typeface="Cambria Math" panose="02040503050406030204" pitchFamily="18" charset="0"/>
                            <a:ea typeface="Cambria Math" panose="02040503050406030204" pitchFamily="18" charset="0"/>
                          </a:rPr>
                          <m:t>𝑓𝐹</m:t>
                        </m:r>
                      </m:num>
                      <m:den>
                        <m:r>
                          <a:rPr lang="en-US" altLang="ja-JP" i="1" dirty="0">
                            <a:latin typeface="Cambria Math" panose="02040503050406030204" pitchFamily="18" charset="0"/>
                            <a:ea typeface="Cambria Math" panose="02040503050406030204" pitchFamily="18" charset="0"/>
                          </a:rPr>
                          <m:t>4</m:t>
                        </m:r>
                        <m:r>
                          <a:rPr lang="en-US" altLang="ja-JP" i="1" dirty="0">
                            <a:latin typeface="Cambria Math" panose="02040503050406030204" pitchFamily="18" charset="0"/>
                            <a:ea typeface="Cambria Math" panose="02040503050406030204" pitchFamily="18" charset="0"/>
                          </a:rPr>
                          <m:t>𝑛𝑠</m:t>
                        </m:r>
                      </m:den>
                    </m:f>
                    <m:r>
                      <a:rPr lang="en-US" altLang="ja-JP" i="1" dirty="0">
                        <a:latin typeface="Cambria Math" panose="02040503050406030204" pitchFamily="18" charset="0"/>
                        <a:ea typeface="Cambria Math" panose="02040503050406030204" pitchFamily="18" charset="0"/>
                      </a:rPr>
                      <m:t>=50</m:t>
                    </m:r>
                    <m:r>
                      <a:rPr lang="en-US" altLang="ja-JP" i="1" dirty="0">
                        <a:latin typeface="Cambria Math" panose="02040503050406030204" pitchFamily="18" charset="0"/>
                        <a:ea typeface="Cambria Math" panose="02040503050406030204" pitchFamily="18" charset="0"/>
                      </a:rPr>
                      <m:t>𝑢𝑆</m:t>
                    </m:r>
                  </m:oMath>
                </a14:m>
                <a:endParaRPr lang="en-US" altLang="ja-JP" dirty="0">
                  <a:ea typeface="Cambria Math" panose="02040503050406030204" pitchFamily="18" charset="0"/>
                </a:endParaRPr>
              </a:p>
              <a:p>
                <a:pPr lvl="3"/>
                <a:r>
                  <a:rPr lang="en-US" altLang="ja-JP" dirty="0"/>
                  <a:t>1.2MHz</a:t>
                </a:r>
                <a:r>
                  <a:rPr lang="ja-JP" altLang="en-US" dirty="0"/>
                  <a:t>（周期</a:t>
                </a:r>
                <a:r>
                  <a:rPr lang="en-US" altLang="ja-JP" dirty="0"/>
                  <a:t>833ns</a:t>
                </a:r>
                <a:r>
                  <a:rPr lang="ja-JP" altLang="en-US" dirty="0"/>
                  <a:t>）の評価相</a:t>
                </a:r>
                <a:r>
                  <a:rPr lang="en-US" altLang="ja-JP" dirty="0"/>
                  <a:t>416ns</a:t>
                </a:r>
                <a:r>
                  <a:rPr lang="ja-JP" altLang="en-US" dirty="0"/>
                  <a:t>の</a:t>
                </a:r>
                <a:r>
                  <a:rPr lang="en-US" altLang="ja-JP" dirty="0"/>
                  <a:t>1/100</a:t>
                </a:r>
                <a:r>
                  <a:rPr lang="ja-JP" altLang="en-US" dirty="0"/>
                  <a:t>を目標値とした</a:t>
                </a:r>
                <a:endParaRPr lang="en-US" altLang="ja-JP" dirty="0">
                  <a:ea typeface="Cambria Math" panose="02040503050406030204" pitchFamily="18" charset="0"/>
                </a:endParaRPr>
              </a:p>
              <a:p>
                <a14:m>
                  <m:oMath xmlns:m="http://schemas.openxmlformats.org/officeDocument/2006/math">
                    <m:r>
                      <a:rPr lang="en-US" altLang="ja-JP" i="1">
                        <a:latin typeface="Cambria Math" panose="02040503050406030204" pitchFamily="18" charset="0"/>
                      </a:rPr>
                      <m:t>𝑊</m:t>
                    </m:r>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𝐿</m:t>
                        </m:r>
                        <m:sSubSup>
                          <m:sSubSupPr>
                            <m:ctrlPr>
                              <a:rPr lang="en-US" altLang="ja-JP" i="1">
                                <a:latin typeface="Cambria Math" panose="02040503050406030204" pitchFamily="18" charset="0"/>
                                <a:ea typeface="Cambria Math" panose="02040503050406030204" pitchFamily="18" charset="0"/>
                              </a:rPr>
                            </m:ctrlPr>
                          </m:sSubSupPr>
                          <m:e>
                            <m:r>
                              <a:rPr lang="en-US" altLang="ja-JP" i="1">
                                <a:latin typeface="Cambria Math" panose="02040503050406030204" pitchFamily="18" charset="0"/>
                                <a:ea typeface="Cambria Math" panose="02040503050406030204" pitchFamily="18" charset="0"/>
                              </a:rPr>
                              <m:t>𝑔</m:t>
                            </m:r>
                          </m:e>
                          <m:sub>
                            <m:r>
                              <a:rPr lang="en-US" altLang="ja-JP" i="1">
                                <a:latin typeface="Cambria Math" panose="02040503050406030204" pitchFamily="18" charset="0"/>
                                <a:ea typeface="Cambria Math" panose="02040503050406030204" pitchFamily="18" charset="0"/>
                              </a:rPr>
                              <m:t>𝑚</m:t>
                            </m:r>
                          </m:sub>
                          <m:sup>
                            <m:r>
                              <a:rPr lang="en-US" altLang="ja-JP" i="1">
                                <a:latin typeface="Cambria Math" panose="02040503050406030204" pitchFamily="18" charset="0"/>
                                <a:ea typeface="Cambria Math" panose="02040503050406030204" pitchFamily="18" charset="0"/>
                              </a:rPr>
                              <m:t>2</m:t>
                            </m:r>
                          </m:sup>
                        </m:sSubSup>
                      </m:num>
                      <m:den>
                        <m:r>
                          <a:rPr lang="ja-JP" altLang="en-US" i="1">
                            <a:latin typeface="Cambria Math" panose="02040503050406030204" pitchFamily="18" charset="0"/>
                            <a:ea typeface="Cambria Math" panose="02040503050406030204" pitchFamily="18" charset="0"/>
                          </a:rPr>
                          <m:t>𝜇</m:t>
                        </m:r>
                        <m:sSub>
                          <m:sSubPr>
                            <m:ctrlPr>
                              <a:rPr lang="ja-JP" altLang="en-US"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𝐶</m:t>
                            </m:r>
                          </m:e>
                          <m:sub>
                            <m:r>
                              <a:rPr lang="en-US" altLang="ja-JP" i="1">
                                <a:latin typeface="Cambria Math" panose="02040503050406030204" pitchFamily="18" charset="0"/>
                                <a:ea typeface="Cambria Math" panose="02040503050406030204" pitchFamily="18" charset="0"/>
                              </a:rPr>
                              <m:t>𝑜𝑥</m:t>
                            </m:r>
                          </m:sub>
                        </m:sSub>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𝐼</m:t>
                            </m:r>
                          </m:e>
                          <m:sub>
                            <m:r>
                              <a:rPr lang="en-US" altLang="ja-JP" i="1">
                                <a:latin typeface="Cambria Math" panose="02040503050406030204" pitchFamily="18" charset="0"/>
                                <a:ea typeface="Cambria Math" panose="02040503050406030204" pitchFamily="18" charset="0"/>
                              </a:rPr>
                              <m:t>𝑡𝑎𝑖𝑙</m:t>
                            </m:r>
                          </m:sub>
                        </m:sSub>
                      </m:den>
                    </m:f>
                  </m:oMath>
                </a14:m>
                <a:endParaRPr lang="en-US" altLang="ja-JP" dirty="0"/>
              </a:p>
              <a:p>
                <a:pPr lvl="1"/>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𝑊</m:t>
                        </m:r>
                      </m:e>
                      <m:sub>
                        <m:r>
                          <a:rPr lang="en-US" altLang="ja-JP" i="1">
                            <a:latin typeface="Cambria Math" panose="02040503050406030204" pitchFamily="18" charset="0"/>
                          </a:rPr>
                          <m:t>𝑛</m:t>
                        </m:r>
                      </m:sub>
                    </m:sSub>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𝐿</m:t>
                        </m:r>
                        <m:sSubSup>
                          <m:sSubSupPr>
                            <m:ctrlPr>
                              <a:rPr lang="en-US" altLang="ja-JP" i="1">
                                <a:latin typeface="Cambria Math" panose="02040503050406030204" pitchFamily="18" charset="0"/>
                                <a:ea typeface="Cambria Math" panose="02040503050406030204" pitchFamily="18" charset="0"/>
                              </a:rPr>
                            </m:ctrlPr>
                          </m:sSubSupPr>
                          <m:e>
                            <m:r>
                              <a:rPr lang="en-US" altLang="ja-JP" i="1">
                                <a:latin typeface="Cambria Math" panose="02040503050406030204" pitchFamily="18" charset="0"/>
                                <a:ea typeface="Cambria Math" panose="02040503050406030204" pitchFamily="18" charset="0"/>
                              </a:rPr>
                              <m:t>𝑔</m:t>
                            </m:r>
                          </m:e>
                          <m:sub>
                            <m:r>
                              <a:rPr lang="en-US" altLang="ja-JP" i="1">
                                <a:latin typeface="Cambria Math" panose="02040503050406030204" pitchFamily="18" charset="0"/>
                                <a:ea typeface="Cambria Math" panose="02040503050406030204" pitchFamily="18" charset="0"/>
                              </a:rPr>
                              <m:t>𝑚</m:t>
                            </m:r>
                          </m:sub>
                          <m:sup>
                            <m:r>
                              <a:rPr lang="en-US" altLang="ja-JP" i="1">
                                <a:latin typeface="Cambria Math" panose="02040503050406030204" pitchFamily="18" charset="0"/>
                                <a:ea typeface="Cambria Math" panose="02040503050406030204" pitchFamily="18" charset="0"/>
                              </a:rPr>
                              <m:t>2</m:t>
                            </m:r>
                          </m:sup>
                        </m:sSubSup>
                      </m:num>
                      <m:den>
                        <m:r>
                          <a:rPr lang="ja-JP" altLang="en-US" i="1">
                            <a:latin typeface="Cambria Math" panose="02040503050406030204" pitchFamily="18" charset="0"/>
                            <a:ea typeface="Cambria Math" panose="02040503050406030204" pitchFamily="18" charset="0"/>
                          </a:rPr>
                          <m:t>𝜇</m:t>
                        </m:r>
                        <m:sSub>
                          <m:sSubPr>
                            <m:ctrlPr>
                              <a:rPr lang="ja-JP" altLang="en-US"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𝐶</m:t>
                            </m:r>
                          </m:e>
                          <m:sub>
                            <m:r>
                              <a:rPr lang="en-US" altLang="ja-JP" i="1">
                                <a:latin typeface="Cambria Math" panose="02040503050406030204" pitchFamily="18" charset="0"/>
                                <a:ea typeface="Cambria Math" panose="02040503050406030204" pitchFamily="18" charset="0"/>
                              </a:rPr>
                              <m:t>𝑜𝑥</m:t>
                            </m:r>
                          </m:sub>
                        </m:sSub>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𝐼</m:t>
                            </m:r>
                          </m:e>
                          <m:sub>
                            <m:r>
                              <a:rPr lang="en-US" altLang="ja-JP" i="1">
                                <a:latin typeface="Cambria Math" panose="02040503050406030204" pitchFamily="18" charset="0"/>
                                <a:ea typeface="Cambria Math" panose="02040503050406030204" pitchFamily="18" charset="0"/>
                              </a:rPr>
                              <m:t>𝑡𝑎𝑖𝑙</m:t>
                            </m:r>
                          </m:sub>
                        </m:sSub>
                      </m:den>
                    </m:f>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0.8×</m:t>
                        </m:r>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50</m:t>
                            </m:r>
                            <m:r>
                              <a:rPr lang="en-US" altLang="ja-JP" i="1">
                                <a:latin typeface="Cambria Math" panose="02040503050406030204" pitchFamily="18" charset="0"/>
                                <a:ea typeface="Cambria Math" panose="02040503050406030204" pitchFamily="18" charset="0"/>
                              </a:rPr>
                              <m:t>𝑢</m:t>
                            </m:r>
                          </m:e>
                          <m:sup>
                            <m:r>
                              <a:rPr lang="en-US" altLang="ja-JP" i="1">
                                <a:latin typeface="Cambria Math" panose="02040503050406030204" pitchFamily="18" charset="0"/>
                                <a:ea typeface="Cambria Math" panose="02040503050406030204" pitchFamily="18" charset="0"/>
                              </a:rPr>
                              <m:t>2</m:t>
                            </m:r>
                          </m:sup>
                        </m:sSup>
                      </m:num>
                      <m:den>
                        <m:r>
                          <a:rPr lang="en-US" altLang="ja-JP" i="1">
                            <a:latin typeface="Cambria Math" panose="02040503050406030204" pitchFamily="18" charset="0"/>
                            <a:ea typeface="Cambria Math" panose="02040503050406030204" pitchFamily="18" charset="0"/>
                          </a:rPr>
                          <m:t>60</m:t>
                        </m:r>
                        <m:r>
                          <a:rPr lang="en-US" altLang="ja-JP" i="1">
                            <a:latin typeface="Cambria Math" panose="02040503050406030204" pitchFamily="18" charset="0"/>
                            <a:ea typeface="Cambria Math" panose="02040503050406030204" pitchFamily="18" charset="0"/>
                          </a:rPr>
                          <m:t>𝑢</m:t>
                        </m:r>
                        <m:r>
                          <a:rPr lang="en-US" altLang="ja-JP" i="1">
                            <a:latin typeface="Cambria Math" panose="02040503050406030204" pitchFamily="18" charset="0"/>
                            <a:ea typeface="Cambria Math" panose="02040503050406030204" pitchFamily="18" charset="0"/>
                          </a:rPr>
                          <m:t>×100</m:t>
                        </m:r>
                        <m:r>
                          <a:rPr lang="en-US" altLang="ja-JP" i="1">
                            <a:latin typeface="Cambria Math" panose="02040503050406030204" pitchFamily="18" charset="0"/>
                            <a:ea typeface="Cambria Math" panose="02040503050406030204" pitchFamily="18" charset="0"/>
                          </a:rPr>
                          <m:t>𝑢</m:t>
                        </m:r>
                      </m:den>
                    </m:f>
                    <m:r>
                      <a:rPr lang="en-US" altLang="ja-JP" i="1">
                        <a:latin typeface="Cambria Math" panose="02040503050406030204" pitchFamily="18" charset="0"/>
                        <a:ea typeface="Cambria Math" panose="02040503050406030204" pitchFamily="18" charset="0"/>
                      </a:rPr>
                      <m:t>=0.33</m:t>
                    </m:r>
                    <m:r>
                      <a:rPr lang="en-US" altLang="ja-JP" i="1">
                        <a:latin typeface="Cambria Math" panose="02040503050406030204" pitchFamily="18" charset="0"/>
                        <a:ea typeface="Cambria Math" panose="02040503050406030204" pitchFamily="18" charset="0"/>
                      </a:rPr>
                      <m:t>𝑢𝑚</m:t>
                    </m:r>
                  </m:oMath>
                </a14:m>
                <a:endParaRPr lang="en-US" altLang="ja-JP" dirty="0">
                  <a:ea typeface="Cambria Math" panose="02040503050406030204" pitchFamily="18" charset="0"/>
                </a:endParaRPr>
              </a:p>
              <a:p>
                <a:pPr lvl="2"/>
                <a:endParaRPr lang="en-US" altLang="ja-JP" dirty="0"/>
              </a:p>
              <a:p>
                <a:r>
                  <a:rPr lang="ja-JP" altLang="en-US" dirty="0"/>
                  <a:t>以上から、最小単位より小さいのでこのクロックにおいては考慮の必要はない</a:t>
                </a:r>
                <a:endParaRPr lang="en-US" altLang="ja-JP" dirty="0"/>
              </a:p>
            </p:txBody>
          </p:sp>
        </mc:Choice>
        <mc:Fallback xmlns="">
          <p:sp>
            <p:nvSpPr>
              <p:cNvPr id="3" name="コンテンツ プレースホルダー 2">
                <a:extLst>
                  <a:ext uri="{FF2B5EF4-FFF2-40B4-BE49-F238E27FC236}">
                    <a16:creationId xmlns:a16="http://schemas.microsoft.com/office/drawing/2014/main" id="{5FF3EDD1-F7D7-EDED-FD59-3CEAB760320E}"/>
                  </a:ext>
                </a:extLst>
              </p:cNvPr>
              <p:cNvSpPr>
                <a:spLocks noGrp="1" noRot="1" noChangeAspect="1" noMove="1" noResize="1" noEditPoints="1" noAdjustHandles="1" noChangeArrowheads="1" noChangeShapeType="1" noTextEdit="1"/>
              </p:cNvSpPr>
              <p:nvPr>
                <p:ph idx="1"/>
              </p:nvPr>
            </p:nvSpPr>
            <p:spPr>
              <a:xfrm>
                <a:off x="332137" y="2185987"/>
                <a:ext cx="7837713" cy="4192520"/>
              </a:xfrm>
              <a:blipFill>
                <a:blip r:embed="rId3"/>
                <a:stretch>
                  <a:fillRect l="-1011" t="-116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265146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6537D5-B3B0-9E35-4282-FC5C9E1A5DEE}"/>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8686FA1-CBD5-932D-4923-C107BB357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BE156BAA-8DC9-B28D-8939-DAD8CD92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図 3">
            <a:extLst>
              <a:ext uri="{FF2B5EF4-FFF2-40B4-BE49-F238E27FC236}">
                <a16:creationId xmlns:a16="http://schemas.microsoft.com/office/drawing/2014/main" id="{AFAB008A-D832-DC13-E8D2-915DDD674E04}"/>
              </a:ext>
            </a:extLst>
          </p:cNvPr>
          <p:cNvPicPr>
            <a:picLocks noChangeAspect="1"/>
          </p:cNvPicPr>
          <p:nvPr/>
        </p:nvPicPr>
        <p:blipFill>
          <a:blip r:embed="rId2"/>
          <a:stretch>
            <a:fillRect/>
          </a:stretch>
        </p:blipFill>
        <p:spPr>
          <a:xfrm>
            <a:off x="7796535" y="528406"/>
            <a:ext cx="4188878" cy="564379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6" name="Arc 35">
            <a:extLst>
              <a:ext uri="{FF2B5EF4-FFF2-40B4-BE49-F238E27FC236}">
                <a16:creationId xmlns:a16="http://schemas.microsoft.com/office/drawing/2014/main" id="{4C195634-74BF-CEE3-13A9-029CA605D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803EC448-9976-71C2-4B57-730DF917D8EB}"/>
              </a:ext>
            </a:extLst>
          </p:cNvPr>
          <p:cNvSpPr>
            <a:spLocks noGrp="1"/>
          </p:cNvSpPr>
          <p:nvPr>
            <p:ph type="title"/>
          </p:nvPr>
        </p:nvSpPr>
        <p:spPr>
          <a:xfrm>
            <a:off x="838199" y="860424"/>
            <a:ext cx="5257800" cy="1325563"/>
          </a:xfrm>
        </p:spPr>
        <p:txBody>
          <a:bodyPr>
            <a:normAutofit fontScale="90000"/>
          </a:bodyPr>
          <a:lstStyle/>
          <a:p>
            <a:r>
              <a:rPr lang="ja-JP" altLang="en-US" sz="4000" dirty="0"/>
              <a:t>入力段：</a:t>
            </a:r>
            <a:r>
              <a:rPr lang="en-US" altLang="ja-JP" sz="4000" dirty="0"/>
              <a:t>Pair</a:t>
            </a:r>
            <a:r>
              <a:rPr lang="ja-JP" altLang="en-US" sz="4000" dirty="0"/>
              <a:t>の</a:t>
            </a:r>
            <a:r>
              <a:rPr lang="en-US" altLang="ja-JP" sz="4000" dirty="0"/>
              <a:t>W</a:t>
            </a:r>
            <a:r>
              <a:rPr lang="ja-JP" altLang="en-US" sz="4000" dirty="0"/>
              <a:t>の設計</a:t>
            </a:r>
            <a:br>
              <a:rPr lang="en-US" altLang="ja-JP" sz="4000" dirty="0"/>
            </a:br>
            <a:r>
              <a:rPr lang="ja-JP" altLang="en-US" sz="4000" dirty="0"/>
              <a:t>精度から求める</a:t>
            </a:r>
            <a:endParaRPr kumimoji="1" lang="ja-JP" altLang="en-US" sz="37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C7180B1-E9EB-3ABB-F984-B6958466ADFD}"/>
                  </a:ext>
                </a:extLst>
              </p:cNvPr>
              <p:cNvSpPr>
                <a:spLocks noGrp="1"/>
              </p:cNvSpPr>
              <p:nvPr>
                <p:ph idx="1"/>
              </p:nvPr>
            </p:nvSpPr>
            <p:spPr>
              <a:xfrm>
                <a:off x="332137" y="2185987"/>
                <a:ext cx="8023426" cy="4192520"/>
              </a:xfrm>
            </p:spPr>
            <p:txBody>
              <a:bodyPr>
                <a:normAutofit fontScale="77500" lnSpcReduction="20000"/>
              </a:bodyPr>
              <a:lstStyle/>
              <a:p>
                <a:r>
                  <a:rPr lang="ja-JP" altLang="en-US" dirty="0"/>
                  <a:t>ペルグロムの法則 </a:t>
                </a:r>
                <a14:m>
                  <m:oMath xmlns:m="http://schemas.openxmlformats.org/officeDocument/2006/math">
                    <m:r>
                      <m:rPr>
                        <m:sty m:val="p"/>
                      </m:rPr>
                      <a:rPr lang="en-US" altLang="ja-JP" i="1" dirty="0">
                        <a:latin typeface="Cambria Math" panose="02040503050406030204" pitchFamily="18" charset="0"/>
                      </a:rPr>
                      <m:t>W</m:t>
                    </m:r>
                    <m:r>
                      <a:rPr lang="en-US" altLang="ja-JP" i="1" dirty="0">
                        <a:latin typeface="Cambria Math" panose="02040503050406030204" pitchFamily="18" charset="0"/>
                      </a:rPr>
                      <m:t>=</m:t>
                    </m:r>
                    <m:f>
                      <m:fPr>
                        <m:ctrlPr>
                          <a:rPr lang="ja-JP" altLang="en-US" i="1" dirty="0">
                            <a:latin typeface="Cambria Math" panose="02040503050406030204" pitchFamily="18" charset="0"/>
                          </a:rPr>
                        </m:ctrlPr>
                      </m:fPr>
                      <m:num>
                        <m:sSubSup>
                          <m:sSubSupPr>
                            <m:ctrlPr>
                              <a:rPr lang="ja-JP" altLang="en-US" i="1" dirty="0">
                                <a:latin typeface="Cambria Math" panose="02040503050406030204" pitchFamily="18" charset="0"/>
                              </a:rPr>
                            </m:ctrlPr>
                          </m:sSubSupPr>
                          <m:e>
                            <m:r>
                              <a:rPr lang="en-US" altLang="ja-JP" i="1" dirty="0">
                                <a:latin typeface="Cambria Math" panose="02040503050406030204" pitchFamily="18" charset="0"/>
                              </a:rPr>
                              <m:t>𝐴</m:t>
                            </m:r>
                          </m:e>
                          <m:sub>
                            <m:sSub>
                              <m:sSubPr>
                                <m:ctrlPr>
                                  <a:rPr lang="ja-JP" altLang="en-US" i="1" dirty="0">
                                    <a:latin typeface="Cambria Math" panose="02040503050406030204" pitchFamily="18" charset="0"/>
                                  </a:rPr>
                                </m:ctrlPr>
                              </m:sSubPr>
                              <m:e>
                                <m:r>
                                  <a:rPr lang="en-US" altLang="ja-JP" i="1" dirty="0">
                                    <a:latin typeface="Cambria Math" panose="02040503050406030204" pitchFamily="18" charset="0"/>
                                  </a:rPr>
                                  <m:t>𝑉</m:t>
                                </m:r>
                              </m:e>
                              <m:sub>
                                <m:r>
                                  <a:rPr lang="en-US" altLang="ja-JP" i="1" dirty="0">
                                    <a:latin typeface="Cambria Math" panose="02040503050406030204" pitchFamily="18" charset="0"/>
                                  </a:rPr>
                                  <m:t>𝑡h</m:t>
                                </m:r>
                              </m:sub>
                            </m:sSub>
                          </m:sub>
                          <m:sup>
                            <m:r>
                              <a:rPr lang="en-US" altLang="ja-JP" i="1" dirty="0">
                                <a:latin typeface="Cambria Math" panose="02040503050406030204" pitchFamily="18" charset="0"/>
                              </a:rPr>
                              <m:t>2</m:t>
                            </m:r>
                          </m:sup>
                        </m:sSubSup>
                      </m:num>
                      <m:den>
                        <m:r>
                          <a:rPr lang="en-US" altLang="ja-JP" i="1" dirty="0">
                            <a:latin typeface="Cambria Math" panose="02040503050406030204" pitchFamily="18" charset="0"/>
                          </a:rPr>
                          <m:t>𝐿</m:t>
                        </m:r>
                        <m:sSubSup>
                          <m:sSubSupPr>
                            <m:ctrlPr>
                              <a:rPr lang="ja-JP" altLang="en-US" i="1" dirty="0">
                                <a:latin typeface="Cambria Math" panose="02040503050406030204" pitchFamily="18" charset="0"/>
                              </a:rPr>
                            </m:ctrlPr>
                          </m:sSubSupPr>
                          <m:e>
                            <m:r>
                              <a:rPr lang="ja-JP" altLang="en-US" i="1" dirty="0">
                                <a:latin typeface="Cambria Math" panose="02040503050406030204" pitchFamily="18" charset="0"/>
                              </a:rPr>
                              <m:t>𝜎</m:t>
                            </m:r>
                          </m:e>
                          <m:sub>
                            <m:r>
                              <a:rPr lang="en-US" altLang="ja-JP" i="1" dirty="0">
                                <a:latin typeface="Cambria Math" panose="02040503050406030204" pitchFamily="18" charset="0"/>
                              </a:rPr>
                              <m:t>𝑜𝑓𝑓</m:t>
                            </m:r>
                          </m:sub>
                          <m:sup>
                            <m:r>
                              <a:rPr lang="en-US" altLang="ja-JP" i="1" dirty="0">
                                <a:latin typeface="Cambria Math" panose="02040503050406030204" pitchFamily="18" charset="0"/>
                              </a:rPr>
                              <m:t>2</m:t>
                            </m:r>
                          </m:sup>
                        </m:sSubSup>
                      </m:den>
                    </m:f>
                  </m:oMath>
                </a14:m>
                <a:endParaRPr lang="en-US" altLang="ja-JP" dirty="0"/>
              </a:p>
              <a:p>
                <a:pPr lvl="1"/>
                <a14:m>
                  <m:oMath xmlns:m="http://schemas.openxmlformats.org/officeDocument/2006/math">
                    <m:sSub>
                      <m:sSubPr>
                        <m:ctrlPr>
                          <a:rPr lang="ja-JP" altLang="en-US" i="1" dirty="0">
                            <a:latin typeface="Cambria Math" panose="02040503050406030204" pitchFamily="18" charset="0"/>
                          </a:rPr>
                        </m:ctrlPr>
                      </m:sSubPr>
                      <m:e>
                        <m:r>
                          <a:rPr lang="en-US" altLang="ja-JP" i="1" dirty="0">
                            <a:latin typeface="Cambria Math" panose="02040503050406030204" pitchFamily="18" charset="0"/>
                          </a:rPr>
                          <m:t>𝐴</m:t>
                        </m:r>
                      </m:e>
                      <m:sub>
                        <m:sSub>
                          <m:sSubPr>
                            <m:ctrlPr>
                              <a:rPr lang="ja-JP" altLang="en-US" i="1" dirty="0">
                                <a:latin typeface="Cambria Math" panose="02040503050406030204" pitchFamily="18" charset="0"/>
                              </a:rPr>
                            </m:ctrlPr>
                          </m:sSubPr>
                          <m:e>
                            <m:r>
                              <a:rPr lang="en-US" altLang="ja-JP" i="1" dirty="0">
                                <a:latin typeface="Cambria Math" panose="02040503050406030204" pitchFamily="18" charset="0"/>
                              </a:rPr>
                              <m:t>𝑉</m:t>
                            </m:r>
                          </m:e>
                          <m:sub>
                            <m:r>
                              <a:rPr lang="en-US" altLang="ja-JP" i="1" dirty="0">
                                <a:latin typeface="Cambria Math" panose="02040503050406030204" pitchFamily="18" charset="0"/>
                              </a:rPr>
                              <m:t>𝑡h</m:t>
                            </m:r>
                          </m:sub>
                        </m:sSub>
                      </m:sub>
                    </m:sSub>
                    <m:r>
                      <a:rPr lang="en-US" altLang="ja-JP" i="1" dirty="0">
                        <a:latin typeface="Cambria Math" panose="02040503050406030204" pitchFamily="18" charset="0"/>
                      </a:rPr>
                      <m:t>=</m:t>
                    </m:r>
                  </m:oMath>
                </a14:m>
                <a:r>
                  <a:rPr lang="ja-JP" altLang="en-US" dirty="0"/>
                  <a:t>プロセス固有のミスマッチ係数（</a:t>
                </a:r>
                <a:r>
                  <a:rPr lang="en-US" altLang="ja-JP" dirty="0"/>
                  <a:t>PDK</a:t>
                </a:r>
                <a:r>
                  <a:rPr lang="ja-JP" altLang="en-US" dirty="0"/>
                  <a:t>記載）</a:t>
                </a:r>
                <a:endParaRPr lang="en-US" altLang="ja-JP" dirty="0"/>
              </a:p>
              <a:p>
                <a:pPr lvl="2"/>
                <a:r>
                  <a:rPr lang="en-US" altLang="ja-JP" dirty="0"/>
                  <a:t>5.0V NMOS</a:t>
                </a:r>
                <a:r>
                  <a:rPr lang="ja-JP" altLang="en-US" dirty="0"/>
                  <a:t>の</a:t>
                </a:r>
                <a14:m>
                  <m:oMath xmlns:m="http://schemas.openxmlformats.org/officeDocument/2006/math">
                    <m:sSub>
                      <m:sSubPr>
                        <m:ctrlPr>
                          <a:rPr lang="ja-JP" altLang="en-US" i="1" dirty="0">
                            <a:latin typeface="Cambria Math" panose="02040503050406030204" pitchFamily="18" charset="0"/>
                          </a:rPr>
                        </m:ctrlPr>
                      </m:sSubPr>
                      <m:e>
                        <m:r>
                          <a:rPr lang="en-US" altLang="ja-JP" i="1" dirty="0">
                            <a:latin typeface="Cambria Math" panose="02040503050406030204" pitchFamily="18" charset="0"/>
                          </a:rPr>
                          <m:t>𝐴</m:t>
                        </m:r>
                      </m:e>
                      <m:sub>
                        <m:sSub>
                          <m:sSubPr>
                            <m:ctrlPr>
                              <a:rPr lang="ja-JP" altLang="en-US" i="1" dirty="0">
                                <a:latin typeface="Cambria Math" panose="02040503050406030204" pitchFamily="18" charset="0"/>
                              </a:rPr>
                            </m:ctrlPr>
                          </m:sSubPr>
                          <m:e>
                            <m:r>
                              <a:rPr lang="en-US" altLang="ja-JP" i="1" dirty="0">
                                <a:latin typeface="Cambria Math" panose="02040503050406030204" pitchFamily="18" charset="0"/>
                              </a:rPr>
                              <m:t>𝑉</m:t>
                            </m:r>
                          </m:e>
                          <m:sub>
                            <m:r>
                              <a:rPr lang="en-US" altLang="ja-JP" i="1" dirty="0">
                                <a:latin typeface="Cambria Math" panose="02040503050406030204" pitchFamily="18" charset="0"/>
                              </a:rPr>
                              <m:t>𝑡h</m:t>
                            </m:r>
                          </m:sub>
                        </m:sSub>
                      </m:sub>
                    </m:sSub>
                    <m:r>
                      <a:rPr lang="en-US" altLang="ja-JP" i="1" dirty="0">
                        <a:latin typeface="Cambria Math" panose="02040503050406030204" pitchFamily="18" charset="0"/>
                      </a:rPr>
                      <m:t>=15</m:t>
                    </m:r>
                    <m:r>
                      <a:rPr lang="en-US" altLang="ja-JP" i="1" dirty="0">
                        <a:latin typeface="Cambria Math" panose="02040503050406030204" pitchFamily="18" charset="0"/>
                      </a:rPr>
                      <m:t>𝑚𝑉</m:t>
                    </m:r>
                    <m:r>
                      <a:rPr lang="ja-JP" altLang="en-US" i="1" dirty="0">
                        <a:latin typeface="Cambria Math" panose="02040503050406030204" pitchFamily="18" charset="0"/>
                      </a:rPr>
                      <m:t>∙</m:t>
                    </m:r>
                    <m:r>
                      <a:rPr lang="en-US" altLang="ja-JP" i="1" dirty="0">
                        <a:latin typeface="Cambria Math" panose="02040503050406030204" pitchFamily="18" charset="0"/>
                      </a:rPr>
                      <m:t>𝑢𝑚</m:t>
                    </m:r>
                  </m:oMath>
                </a14:m>
                <a:r>
                  <a:rPr lang="ja-JP" altLang="en-US" dirty="0"/>
                  <a:t> （</a:t>
                </a:r>
                <a:r>
                  <a:rPr lang="en-US" altLang="ja-JP" dirty="0"/>
                  <a:t>1.8V</a:t>
                </a:r>
                <a:r>
                  <a:rPr lang="ja-JP" altLang="en-US" dirty="0"/>
                  <a:t>は</a:t>
                </a:r>
                <a14:m>
                  <m:oMath xmlns:m="http://schemas.openxmlformats.org/officeDocument/2006/math">
                    <m:r>
                      <a:rPr lang="en-US" altLang="ja-JP" i="1" dirty="0">
                        <a:latin typeface="Cambria Math" panose="02040503050406030204" pitchFamily="18" charset="0"/>
                      </a:rPr>
                      <m:t>4.5</m:t>
                    </m:r>
                    <m:r>
                      <a:rPr lang="en-US" altLang="ja-JP" i="1" dirty="0">
                        <a:latin typeface="Cambria Math" panose="02040503050406030204" pitchFamily="18" charset="0"/>
                      </a:rPr>
                      <m:t>𝑚𝑉</m:t>
                    </m:r>
                    <m:r>
                      <a:rPr lang="ja-JP" altLang="en-US" i="1" dirty="0">
                        <a:latin typeface="Cambria Math" panose="02040503050406030204" pitchFamily="18" charset="0"/>
                      </a:rPr>
                      <m:t>∙</m:t>
                    </m:r>
                    <m:r>
                      <a:rPr lang="en-US" altLang="ja-JP" i="1" dirty="0">
                        <a:latin typeface="Cambria Math" panose="02040503050406030204" pitchFamily="18" charset="0"/>
                      </a:rPr>
                      <m:t>𝑢𝑚</m:t>
                    </m:r>
                    <m:r>
                      <a:rPr lang="en-US" altLang="ja-JP" i="1" dirty="0">
                        <a:latin typeface="Cambria Math" panose="02040503050406030204" pitchFamily="18" charset="0"/>
                      </a:rPr>
                      <m:t> </m:t>
                    </m:r>
                  </m:oMath>
                </a14:m>
                <a:r>
                  <a:rPr lang="ja-JP" altLang="en-US" dirty="0"/>
                  <a:t>のため</a:t>
                </a:r>
                <a:r>
                  <a:rPr lang="en-US" altLang="ja-JP" dirty="0"/>
                  <a:t>5.0V</a:t>
                </a:r>
                <a:r>
                  <a:rPr lang="ja-JP" altLang="en-US" dirty="0"/>
                  <a:t>を採用）</a:t>
                </a:r>
                <a:endParaRPr lang="en-US" altLang="ja-JP" dirty="0"/>
              </a:p>
              <a:p>
                <a:pPr lvl="1"/>
                <a14:m>
                  <m:oMath xmlns:m="http://schemas.openxmlformats.org/officeDocument/2006/math">
                    <m:sSub>
                      <m:sSubPr>
                        <m:ctrlPr>
                          <a:rPr lang="en-US" altLang="ja-JP" i="1">
                            <a:latin typeface="Cambria Math" panose="02040503050406030204" pitchFamily="18" charset="0"/>
                          </a:rPr>
                        </m:ctrlPr>
                      </m:sSubPr>
                      <m:e>
                        <m:r>
                          <a:rPr lang="ja-JP" altLang="en-US" i="1">
                            <a:latin typeface="Cambria Math" panose="02040503050406030204" pitchFamily="18" charset="0"/>
                          </a:rPr>
                          <m:t>𝜎</m:t>
                        </m:r>
                      </m:e>
                      <m:sub>
                        <m:r>
                          <a:rPr lang="en-US" altLang="ja-JP" i="1">
                            <a:latin typeface="Cambria Math" panose="02040503050406030204" pitchFamily="18" charset="0"/>
                          </a:rPr>
                          <m:t>𝑜𝑓𝑓</m:t>
                        </m:r>
                      </m:sub>
                    </m:sSub>
                    <m:r>
                      <a:rPr lang="en-US" altLang="ja-JP">
                        <a:latin typeface="Cambria Math" panose="02040503050406030204" pitchFamily="18" charset="0"/>
                      </a:rPr>
                      <m:t>=</m:t>
                    </m:r>
                    <m:r>
                      <a:rPr lang="ja-JP" altLang="en-US" i="1">
                        <a:latin typeface="Cambria Math" panose="02040503050406030204" pitchFamily="18" charset="0"/>
                      </a:rPr>
                      <m:t>許容</m:t>
                    </m:r>
                  </m:oMath>
                </a14:m>
                <a:r>
                  <a:rPr lang="ja-JP" altLang="en-US" dirty="0"/>
                  <a:t>出来るオフセット電圧の標準偏差</a:t>
                </a:r>
                <a:endParaRPr lang="en-US" altLang="ja-JP" dirty="0"/>
              </a:p>
              <a:p>
                <a:pPr lvl="2"/>
                <a:r>
                  <a:rPr lang="en-US" altLang="ja-JP" dirty="0"/>
                  <a:t>1LSB(1.8V)=</a:t>
                </a:r>
                <a14:m>
                  <m:oMath xmlns:m="http://schemas.openxmlformats.org/officeDocument/2006/math">
                    <m:f>
                      <m:fPr>
                        <m:ctrlPr>
                          <a:rPr lang="en-US" altLang="ja-JP" i="1">
                            <a:latin typeface="Cambria Math" panose="02040503050406030204" pitchFamily="18" charset="0"/>
                          </a:rPr>
                        </m:ctrlPr>
                      </m:fPr>
                      <m:num>
                        <m:r>
                          <a:rPr lang="en-US" altLang="ja-JP" i="1">
                            <a:latin typeface="Cambria Math" panose="02040503050406030204" pitchFamily="18" charset="0"/>
                          </a:rPr>
                          <m:t>1.8</m:t>
                        </m:r>
                        <m:r>
                          <a:rPr lang="en-US" altLang="ja-JP" i="1">
                            <a:latin typeface="Cambria Math" panose="02040503050406030204" pitchFamily="18" charset="0"/>
                          </a:rPr>
                          <m:t>𝑉</m:t>
                        </m:r>
                      </m:num>
                      <m:den>
                        <m:sSup>
                          <m:sSupPr>
                            <m:ctrlPr>
                              <a:rPr lang="en-US" altLang="ja-JP" i="1">
                                <a:latin typeface="Cambria Math" panose="02040503050406030204" pitchFamily="18" charset="0"/>
                              </a:rPr>
                            </m:ctrlPr>
                          </m:sSupPr>
                          <m:e>
                            <m:r>
                              <a:rPr lang="en-US" altLang="ja-JP" i="1">
                                <a:latin typeface="Cambria Math" panose="02040503050406030204" pitchFamily="18" charset="0"/>
                              </a:rPr>
                              <m:t>2</m:t>
                            </m:r>
                          </m:e>
                          <m:sup>
                            <m:r>
                              <a:rPr lang="en-US" altLang="ja-JP" i="1">
                                <a:latin typeface="Cambria Math" panose="02040503050406030204" pitchFamily="18" charset="0"/>
                              </a:rPr>
                              <m:t>6</m:t>
                            </m:r>
                          </m:sup>
                        </m:sSup>
                      </m:den>
                    </m:f>
                    <m:r>
                      <a:rPr lang="en-US" altLang="ja-JP" i="1">
                        <a:latin typeface="Cambria Math" panose="02040503050406030204" pitchFamily="18" charset="0"/>
                      </a:rPr>
                      <m:t>=28.1</m:t>
                    </m:r>
                    <m:r>
                      <a:rPr lang="en-US" altLang="ja-JP" i="1">
                        <a:latin typeface="Cambria Math" panose="02040503050406030204" pitchFamily="18" charset="0"/>
                      </a:rPr>
                      <m:t>𝑚𝑉</m:t>
                    </m:r>
                    <m:r>
                      <a:rPr lang="en-US" altLang="ja-JP" i="1">
                        <a:latin typeface="Cambria Math" panose="02040503050406030204" pitchFamily="18" charset="0"/>
                      </a:rPr>
                      <m:t>,  3</m:t>
                    </m:r>
                    <m:sSub>
                      <m:sSubPr>
                        <m:ctrlPr>
                          <a:rPr lang="en-US" altLang="ja-JP" i="1">
                            <a:latin typeface="Cambria Math" panose="02040503050406030204" pitchFamily="18" charset="0"/>
                          </a:rPr>
                        </m:ctrlPr>
                      </m:sSubPr>
                      <m:e>
                        <m:r>
                          <a:rPr lang="ja-JP" altLang="en-US" i="1">
                            <a:latin typeface="Cambria Math" panose="02040503050406030204" pitchFamily="18" charset="0"/>
                          </a:rPr>
                          <m:t>𝜎</m:t>
                        </m:r>
                      </m:e>
                      <m:sub>
                        <m:r>
                          <a:rPr lang="en-US" altLang="ja-JP" i="1">
                            <a:latin typeface="Cambria Math" panose="02040503050406030204" pitchFamily="18" charset="0"/>
                          </a:rPr>
                          <m:t>𝑜𝑓𝑓</m:t>
                        </m:r>
                      </m:sub>
                    </m:sSub>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en-US" altLang="ja-JP" i="1">
                            <a:latin typeface="Cambria Math" panose="02040503050406030204" pitchFamily="18" charset="0"/>
                          </a:rPr>
                          <m:t>1</m:t>
                        </m:r>
                      </m:num>
                      <m:den>
                        <m:r>
                          <a:rPr lang="en-US" altLang="ja-JP" i="1">
                            <a:latin typeface="Cambria Math" panose="02040503050406030204" pitchFamily="18" charset="0"/>
                          </a:rPr>
                          <m:t>2</m:t>
                        </m:r>
                      </m:den>
                    </m:f>
                    <m:r>
                      <a:rPr lang="en-US" altLang="ja-JP" i="1">
                        <a:latin typeface="Cambria Math" panose="02040503050406030204" pitchFamily="18" charset="0"/>
                      </a:rPr>
                      <m:t>𝐿𝑆𝐵</m:t>
                    </m:r>
                    <m:r>
                      <a:rPr lang="en-US" altLang="ja-JP" i="1">
                        <a:latin typeface="Cambria Math" panose="02040503050406030204" pitchFamily="18" charset="0"/>
                      </a:rPr>
                      <m:t>=14.05</m:t>
                    </m:r>
                    <m:r>
                      <a:rPr lang="en-US" altLang="ja-JP" i="1">
                        <a:latin typeface="Cambria Math" panose="02040503050406030204" pitchFamily="18" charset="0"/>
                      </a:rPr>
                      <m:t>𝑚𝑉</m:t>
                    </m:r>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ja-JP" altLang="en-US" i="1">
                            <a:latin typeface="Cambria Math" panose="02040503050406030204" pitchFamily="18" charset="0"/>
                          </a:rPr>
                          <m:t>𝜎</m:t>
                        </m:r>
                      </m:e>
                      <m:sub>
                        <m:r>
                          <a:rPr lang="en-US" altLang="ja-JP" i="1">
                            <a:latin typeface="Cambria Math" panose="02040503050406030204" pitchFamily="18" charset="0"/>
                          </a:rPr>
                          <m:t>𝑜𝑓𝑓</m:t>
                        </m:r>
                      </m:sub>
                    </m:sSub>
                    <m:r>
                      <a:rPr lang="en-US" altLang="ja-JP" i="1">
                        <a:latin typeface="Cambria Math" panose="02040503050406030204" pitchFamily="18" charset="0"/>
                      </a:rPr>
                      <m:t>=4.68</m:t>
                    </m:r>
                    <m:r>
                      <a:rPr lang="en-US" altLang="ja-JP" i="1">
                        <a:latin typeface="Cambria Math" panose="02040503050406030204" pitchFamily="18" charset="0"/>
                      </a:rPr>
                      <m:t>𝑚𝑉</m:t>
                    </m:r>
                  </m:oMath>
                </a14:m>
                <a:endParaRPr lang="en-US" altLang="ja-JP" dirty="0"/>
              </a:p>
              <a:p>
                <a:pPr lvl="2"/>
                <a:endParaRPr lang="en-US" altLang="ja-JP" dirty="0"/>
              </a:p>
              <a:p>
                <a:pPr lvl="1"/>
                <a14:m>
                  <m:oMath xmlns:m="http://schemas.openxmlformats.org/officeDocument/2006/math">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𝑊</m:t>
                        </m:r>
                      </m:e>
                      <m:sub>
                        <m:r>
                          <a:rPr lang="en-US" altLang="ja-JP" i="1" dirty="0">
                            <a:latin typeface="Cambria Math" panose="02040503050406030204" pitchFamily="18" charset="0"/>
                          </a:rPr>
                          <m:t>𝑛</m:t>
                        </m:r>
                      </m:sub>
                    </m:sSub>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0.015</m:t>
                            </m:r>
                          </m:e>
                          <m:sup>
                            <m:r>
                              <a:rPr lang="en-US" altLang="ja-JP" i="1" dirty="0">
                                <a:latin typeface="Cambria Math" panose="02040503050406030204" pitchFamily="18" charset="0"/>
                              </a:rPr>
                              <m:t>2</m:t>
                            </m:r>
                          </m:sup>
                        </m:sSup>
                      </m:num>
                      <m:den>
                        <m:r>
                          <a:rPr lang="en-US" altLang="ja-JP" i="1" dirty="0">
                            <a:latin typeface="Cambria Math" panose="02040503050406030204" pitchFamily="18" charset="0"/>
                          </a:rPr>
                          <m:t>0.8</m:t>
                        </m:r>
                        <m:r>
                          <a:rPr lang="en-US" altLang="ja-JP" i="1" dirty="0">
                            <a:latin typeface="Cambria Math" panose="02040503050406030204" pitchFamily="18" charset="0"/>
                            <a:ea typeface="Cambria Math" panose="02040503050406030204" pitchFamily="18" charset="0"/>
                          </a:rPr>
                          <m:t>×</m:t>
                        </m:r>
                        <m:sSup>
                          <m:sSupPr>
                            <m:ctrlPr>
                              <a:rPr lang="en-US" altLang="ja-JP" i="1" dirty="0">
                                <a:latin typeface="Cambria Math" panose="02040503050406030204" pitchFamily="18" charset="0"/>
                                <a:ea typeface="Cambria Math" panose="02040503050406030204" pitchFamily="18" charset="0"/>
                              </a:rPr>
                            </m:ctrlPr>
                          </m:sSupPr>
                          <m:e>
                            <m:r>
                              <a:rPr lang="en-US" altLang="ja-JP" i="1" dirty="0">
                                <a:latin typeface="Cambria Math" panose="02040503050406030204" pitchFamily="18" charset="0"/>
                                <a:ea typeface="Cambria Math" panose="02040503050406030204" pitchFamily="18" charset="0"/>
                              </a:rPr>
                              <m:t>0.00468</m:t>
                            </m:r>
                          </m:e>
                          <m:sup>
                            <m:r>
                              <a:rPr lang="en-US" altLang="ja-JP" i="1" dirty="0">
                                <a:latin typeface="Cambria Math" panose="02040503050406030204" pitchFamily="18" charset="0"/>
                                <a:ea typeface="Cambria Math" panose="02040503050406030204" pitchFamily="18" charset="0"/>
                              </a:rPr>
                              <m:t>2</m:t>
                            </m:r>
                          </m:sup>
                        </m:sSup>
                      </m:den>
                    </m:f>
                    <m:r>
                      <a:rPr lang="en-US" altLang="ja-JP" i="1" dirty="0">
                        <a:latin typeface="Cambria Math" panose="02040503050406030204" pitchFamily="18" charset="0"/>
                        <a:ea typeface="Cambria Math" panose="02040503050406030204" pitchFamily="18" charset="0"/>
                      </a:rPr>
                      <m:t>≈12.84</m:t>
                    </m:r>
                    <m:r>
                      <a:rPr lang="en-US" altLang="ja-JP" i="1" dirty="0">
                        <a:latin typeface="Cambria Math" panose="02040503050406030204" pitchFamily="18" charset="0"/>
                        <a:ea typeface="Cambria Math" panose="02040503050406030204" pitchFamily="18" charset="0"/>
                      </a:rPr>
                      <m:t>𝑢𝑚</m:t>
                    </m:r>
                  </m:oMath>
                </a14:m>
                <a:endParaRPr lang="en-US" altLang="ja-JP" dirty="0"/>
              </a:p>
              <a:p>
                <a:pPr lvl="1"/>
                <a:endParaRPr lang="en-US" altLang="ja-JP" dirty="0"/>
              </a:p>
              <a:p>
                <a:pPr lvl="1"/>
                <a:r>
                  <a:rPr lang="en-US" altLang="ja-JP" dirty="0" err="1"/>
                  <a:t>LongL</a:t>
                </a:r>
                <a:r>
                  <a:rPr lang="en-US" altLang="ja-JP" dirty="0"/>
                  <a:t> L</a:t>
                </a:r>
                <a:r>
                  <a:rPr lang="ja-JP" altLang="en-US" dirty="0"/>
                  <a:t>の</a:t>
                </a:r>
                <a:r>
                  <a:rPr lang="en-US" altLang="ja-JP" dirty="0"/>
                  <a:t>W</a:t>
                </a:r>
                <a:r>
                  <a:rPr lang="ja-JP" altLang="en-US" dirty="0"/>
                  <a:t>＞ </a:t>
                </a:r>
                <a:r>
                  <a:rPr lang="en-US" altLang="ja-JP" dirty="0"/>
                  <a:t>Pair</a:t>
                </a:r>
                <a:r>
                  <a:rPr lang="ja-JP" altLang="en-US" dirty="0"/>
                  <a:t>の</a:t>
                </a:r>
                <a:r>
                  <a:rPr lang="en-US" altLang="ja-JP" dirty="0"/>
                  <a:t>W </a:t>
                </a:r>
                <a:r>
                  <a:rPr lang="ja-JP" altLang="en-US" dirty="0"/>
                  <a:t>とする必要がある</a:t>
                </a:r>
                <a:endParaRPr lang="en-US" altLang="ja-JP" dirty="0"/>
              </a:p>
              <a:p>
                <a:pPr lvl="1"/>
                <a14:m>
                  <m:oMath xmlns:m="http://schemas.openxmlformats.org/officeDocument/2006/math">
                    <m:r>
                      <a:rPr lang="ja-JP" altLang="en-US" i="1" dirty="0">
                        <a:latin typeface="Cambria Math" panose="02040503050406030204" pitchFamily="18" charset="0"/>
                      </a:rPr>
                      <m:t>電子の移動速度の違いより、</m:t>
                    </m:r>
                    <m:sSub>
                      <m:sSubPr>
                        <m:ctrlPr>
                          <a:rPr lang="en-US" altLang="ja-JP" i="1">
                            <a:latin typeface="Cambria Math" panose="02040503050406030204" pitchFamily="18" charset="0"/>
                          </a:rPr>
                        </m:ctrlPr>
                      </m:sSubPr>
                      <m:e>
                        <m:r>
                          <a:rPr lang="en-US" altLang="ja-JP" i="1">
                            <a:latin typeface="Cambria Math" panose="02040503050406030204" pitchFamily="18" charset="0"/>
                          </a:rPr>
                          <m:t>𝑊</m:t>
                        </m:r>
                      </m:e>
                      <m:sub>
                        <m:r>
                          <a:rPr lang="en-US" altLang="ja-JP" i="1">
                            <a:latin typeface="Cambria Math" panose="02040503050406030204" pitchFamily="18" charset="0"/>
                          </a:rPr>
                          <m:t>𝑝</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𝑊</m:t>
                        </m:r>
                      </m:e>
                      <m:sub>
                        <m:r>
                          <a:rPr lang="en-US" altLang="ja-JP" i="1">
                            <a:latin typeface="Cambria Math" panose="02040503050406030204" pitchFamily="18" charset="0"/>
                          </a:rPr>
                          <m:t>𝑛</m:t>
                        </m:r>
                      </m:sub>
                    </m:sSub>
                    <m:r>
                      <a:rPr lang="ja-JP" altLang="en-US" i="1">
                        <a:latin typeface="Cambria Math" panose="02040503050406030204" pitchFamily="18" charset="0"/>
                      </a:rPr>
                      <m:t>≒</m:t>
                    </m:r>
                  </m:oMath>
                </a14:m>
                <a:r>
                  <a:rPr lang="ja-JP" altLang="en-US" dirty="0"/>
                  <a:t> </a:t>
                </a:r>
                <a:r>
                  <a:rPr lang="en-US" altLang="ja-JP" dirty="0"/>
                  <a:t>3:1</a:t>
                </a:r>
              </a:p>
              <a:p>
                <a:pPr lvl="1"/>
                <a:endParaRPr lang="en-US" altLang="ja-JP" dirty="0"/>
              </a:p>
              <a:p>
                <a:pPr lvl="1"/>
                <a:r>
                  <a:rPr lang="ja-JP" altLang="en-US" dirty="0"/>
                  <a:t>以上から、 </a:t>
                </a:r>
                <a14:m>
                  <m:oMath xmlns:m="http://schemas.openxmlformats.org/officeDocument/2006/math">
                    <m:r>
                      <a:rPr lang="en-US" altLang="ja-JP" b="0" i="0" dirty="0" smtClean="0">
                        <a:latin typeface="Cambria Math" panose="02040503050406030204" pitchFamily="18" charset="0"/>
                      </a:rPr>
                      <m:t>3</m:t>
                    </m:r>
                    <m:r>
                      <a:rPr lang="ja-JP" altLang="en-US" i="1" dirty="0">
                        <a:latin typeface="Cambria Math" panose="02040503050406030204" pitchFamily="18" charset="0"/>
                      </a:rPr>
                      <m:t>倍</m:t>
                    </m:r>
                    <m:r>
                      <a:rPr lang="ja-JP" altLang="en-US" i="1" dirty="0" smtClean="0">
                        <a:latin typeface="Cambria Math" panose="02040503050406030204" pitchFamily="18" charset="0"/>
                      </a:rPr>
                      <m:t>の余裕を見て</m:t>
                    </m:r>
                    <m:r>
                      <a:rPr lang="ja-JP" altLang="en-US" i="1" dirty="0">
                        <a:latin typeface="Cambria Math" panose="02040503050406030204" pitchFamily="18" charset="0"/>
                      </a:rPr>
                      <m:t> </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𝑊</m:t>
                        </m:r>
                      </m:e>
                      <m:sub>
                        <m:r>
                          <a:rPr lang="en-US" altLang="ja-JP" i="1" dirty="0">
                            <a:latin typeface="Cambria Math" panose="02040503050406030204" pitchFamily="18" charset="0"/>
                          </a:rPr>
                          <m:t>𝑛</m:t>
                        </m:r>
                      </m:sub>
                    </m:sSub>
                    <m:r>
                      <a:rPr lang="en-US" altLang="ja-JP" i="1" dirty="0">
                        <a:latin typeface="Cambria Math" panose="02040503050406030204" pitchFamily="18" charset="0"/>
                      </a:rPr>
                      <m:t>=</m:t>
                    </m:r>
                    <m:r>
                      <a:rPr lang="en-US" altLang="ja-JP" b="0" i="1" dirty="0" smtClean="0">
                        <a:latin typeface="Cambria Math" panose="02040503050406030204" pitchFamily="18" charset="0"/>
                      </a:rPr>
                      <m:t>40</m:t>
                    </m:r>
                    <m:r>
                      <a:rPr lang="en-US" altLang="ja-JP" i="1" dirty="0">
                        <a:latin typeface="Cambria Math" panose="02040503050406030204" pitchFamily="18" charset="0"/>
                      </a:rPr>
                      <m:t>𝑢𝑚</m:t>
                    </m:r>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𝑊</m:t>
                        </m:r>
                      </m:e>
                      <m:sub>
                        <m:r>
                          <a:rPr lang="en-US" altLang="ja-JP" i="1" dirty="0">
                            <a:latin typeface="Cambria Math" panose="02040503050406030204" pitchFamily="18" charset="0"/>
                          </a:rPr>
                          <m:t>𝑝</m:t>
                        </m:r>
                      </m:sub>
                    </m:sSub>
                    <m:r>
                      <a:rPr lang="en-US" altLang="ja-JP" i="1" dirty="0">
                        <a:latin typeface="Cambria Math" panose="02040503050406030204" pitchFamily="18" charset="0"/>
                      </a:rPr>
                      <m:t>=</m:t>
                    </m:r>
                    <m:r>
                      <a:rPr lang="en-US" altLang="ja-JP" b="0" i="1" dirty="0" smtClean="0">
                        <a:latin typeface="Cambria Math" panose="02040503050406030204" pitchFamily="18" charset="0"/>
                      </a:rPr>
                      <m:t>120</m:t>
                    </m:r>
                    <m:r>
                      <a:rPr lang="en-US" altLang="ja-JP" i="1" dirty="0">
                        <a:latin typeface="Cambria Math" panose="02040503050406030204" pitchFamily="18" charset="0"/>
                      </a:rPr>
                      <m:t>𝑢𝑚</m:t>
                    </m:r>
                  </m:oMath>
                </a14:m>
                <a:r>
                  <a:rPr lang="ja-JP" altLang="en-US" dirty="0"/>
                  <a:t> とする</a:t>
                </a:r>
                <a:endParaRPr lang="en-US" altLang="ja-JP" dirty="0"/>
              </a:p>
              <a:p>
                <a:pPr marL="914400" lvl="2" indent="0">
                  <a:buNone/>
                </a:pPr>
                <a:endParaRPr lang="en-US" altLang="ja-JP" dirty="0"/>
              </a:p>
            </p:txBody>
          </p:sp>
        </mc:Choice>
        <mc:Fallback xmlns="">
          <p:sp>
            <p:nvSpPr>
              <p:cNvPr id="3" name="コンテンツ プレースホルダー 2">
                <a:extLst>
                  <a:ext uri="{FF2B5EF4-FFF2-40B4-BE49-F238E27FC236}">
                    <a16:creationId xmlns:a16="http://schemas.microsoft.com/office/drawing/2014/main" id="{EC7180B1-E9EB-3ABB-F984-B6958466ADFD}"/>
                  </a:ext>
                </a:extLst>
              </p:cNvPr>
              <p:cNvSpPr>
                <a:spLocks noGrp="1" noRot="1" noChangeAspect="1" noMove="1" noResize="1" noEditPoints="1" noAdjustHandles="1" noChangeArrowheads="1" noChangeShapeType="1" noTextEdit="1"/>
              </p:cNvSpPr>
              <p:nvPr>
                <p:ph idx="1"/>
              </p:nvPr>
            </p:nvSpPr>
            <p:spPr>
              <a:xfrm>
                <a:off x="332137" y="2185987"/>
                <a:ext cx="8023426" cy="4192520"/>
              </a:xfrm>
              <a:blipFill>
                <a:blip r:embed="rId3"/>
                <a:stretch>
                  <a:fillRect l="-835" t="-174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168596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590F64-9D2C-AEA7-6DD4-2360871E7AB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FD667A-4DAE-F9A1-3C90-80ECA137E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26B0662A-8C4A-D73D-8255-8E5AF6BEF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0C9D9EAA-63A2-54F9-C273-EBCCD8224623}"/>
              </a:ext>
            </a:extLst>
          </p:cNvPr>
          <p:cNvSpPr>
            <a:spLocks noGrp="1"/>
          </p:cNvSpPr>
          <p:nvPr>
            <p:ph type="title"/>
          </p:nvPr>
        </p:nvSpPr>
        <p:spPr>
          <a:xfrm>
            <a:off x="5894962" y="479493"/>
            <a:ext cx="5458838" cy="1325563"/>
          </a:xfrm>
        </p:spPr>
        <p:txBody>
          <a:bodyPr>
            <a:normAutofit/>
          </a:bodyPr>
          <a:lstStyle/>
          <a:p>
            <a:r>
              <a:rPr lang="ja-JP" altLang="en-US" dirty="0"/>
              <a:t>ラッチ部：</a:t>
            </a:r>
            <a:r>
              <a:rPr lang="en-US" altLang="ja-JP" dirty="0"/>
              <a:t>L</a:t>
            </a:r>
            <a:r>
              <a:rPr lang="ja-JP" altLang="en-US" dirty="0"/>
              <a:t>の設計</a:t>
            </a:r>
            <a:endParaRPr kumimoji="1" lang="ja-JP" altLang="en-US" dirty="0"/>
          </a:p>
        </p:txBody>
      </p:sp>
      <p:sp>
        <p:nvSpPr>
          <p:cNvPr id="13" name="Freeform: Shape 12">
            <a:extLst>
              <a:ext uri="{FF2B5EF4-FFF2-40B4-BE49-F238E27FC236}">
                <a16:creationId xmlns:a16="http://schemas.microsoft.com/office/drawing/2014/main" id="{88B647BF-7A48-62DC-F739-F35E13E639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図 3">
            <a:extLst>
              <a:ext uri="{FF2B5EF4-FFF2-40B4-BE49-F238E27FC236}">
                <a16:creationId xmlns:a16="http://schemas.microsoft.com/office/drawing/2014/main" id="{E5EF79C5-7DBD-5436-59C7-201EE4362638}"/>
              </a:ext>
            </a:extLst>
          </p:cNvPr>
          <p:cNvPicPr>
            <a:picLocks noChangeAspect="1"/>
          </p:cNvPicPr>
          <p:nvPr/>
        </p:nvPicPr>
        <p:blipFill>
          <a:blip r:embed="rId2"/>
          <a:stretch>
            <a:fillRect/>
          </a:stretch>
        </p:blipFill>
        <p:spPr>
          <a:xfrm>
            <a:off x="348620" y="847168"/>
            <a:ext cx="4777381" cy="499392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コンテンツ プレースホルダー 2">
            <a:extLst>
              <a:ext uri="{FF2B5EF4-FFF2-40B4-BE49-F238E27FC236}">
                <a16:creationId xmlns:a16="http://schemas.microsoft.com/office/drawing/2014/main" id="{8599BD07-BCA2-1AE4-F30B-026D06904450}"/>
              </a:ext>
            </a:extLst>
          </p:cNvPr>
          <p:cNvSpPr>
            <a:spLocks noGrp="1"/>
          </p:cNvSpPr>
          <p:nvPr>
            <p:ph idx="1"/>
          </p:nvPr>
        </p:nvSpPr>
        <p:spPr>
          <a:xfrm>
            <a:off x="5894962" y="1984443"/>
            <a:ext cx="5458838" cy="4192520"/>
          </a:xfrm>
        </p:spPr>
        <p:txBody>
          <a:bodyPr>
            <a:normAutofit/>
          </a:bodyPr>
          <a:lstStyle/>
          <a:p>
            <a:r>
              <a:rPr lang="ja-JP" altLang="en-US" sz="1800" dirty="0"/>
              <a:t>ラッチ部の基本構造は「クロス結合インバータ」であり、ロジック回路的な動作をする</a:t>
            </a:r>
            <a:endParaRPr lang="en-US" altLang="ja-JP" sz="1800" dirty="0"/>
          </a:p>
          <a:p>
            <a:r>
              <a:rPr lang="ja-JP" altLang="en-US" sz="1800" dirty="0"/>
              <a:t>そのため、</a:t>
            </a:r>
            <a:r>
              <a:rPr lang="en-US" altLang="ja-JP" sz="1800" dirty="0"/>
              <a:t>L</a:t>
            </a:r>
            <a:r>
              <a:rPr lang="ja-JP" altLang="en-US" sz="1800" dirty="0"/>
              <a:t>は最小値とする</a:t>
            </a:r>
            <a:endParaRPr lang="en-US" altLang="ja-JP" sz="1800" dirty="0"/>
          </a:p>
          <a:p>
            <a:pPr lvl="1"/>
            <a:r>
              <a:rPr lang="en-US" altLang="ja-JP" sz="1800" dirty="0"/>
              <a:t>L=0.5um</a:t>
            </a:r>
            <a:endParaRPr lang="ja-JP" altLang="en-US" sz="1800" dirty="0"/>
          </a:p>
        </p:txBody>
      </p:sp>
      <p:pic>
        <p:nvPicPr>
          <p:cNvPr id="6" name="図 5">
            <a:extLst>
              <a:ext uri="{FF2B5EF4-FFF2-40B4-BE49-F238E27FC236}">
                <a16:creationId xmlns:a16="http://schemas.microsoft.com/office/drawing/2014/main" id="{ACF97111-572C-2657-B9E3-26919F48D092}"/>
              </a:ext>
            </a:extLst>
          </p:cNvPr>
          <p:cNvPicPr>
            <a:picLocks noChangeAspect="1"/>
          </p:cNvPicPr>
          <p:nvPr/>
        </p:nvPicPr>
        <p:blipFill>
          <a:blip r:embed="rId3"/>
          <a:srcRect l="41431" r="18904"/>
          <a:stretch>
            <a:fillRect/>
          </a:stretch>
        </p:blipFill>
        <p:spPr>
          <a:xfrm>
            <a:off x="7154736" y="3274336"/>
            <a:ext cx="4199064" cy="3604318"/>
          </a:xfrm>
          <a:prstGeom prst="rect">
            <a:avLst/>
          </a:prstGeom>
        </p:spPr>
      </p:pic>
    </p:spTree>
    <p:extLst>
      <p:ext uri="{BB962C8B-B14F-4D97-AF65-F5344CB8AC3E}">
        <p14:creationId xmlns:p14="http://schemas.microsoft.com/office/powerpoint/2010/main" val="17299149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2564D0-6090-0811-D6FA-A7B6EDCB2B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043309-78A3-B848-87DC-4CB6C4F13AC9}"/>
              </a:ext>
            </a:extLst>
          </p:cNvPr>
          <p:cNvSpPr>
            <a:spLocks noGrp="1"/>
          </p:cNvSpPr>
          <p:nvPr>
            <p:ph type="title"/>
          </p:nvPr>
        </p:nvSpPr>
        <p:spPr>
          <a:xfrm>
            <a:off x="761839" y="1138265"/>
            <a:ext cx="5051131" cy="1401183"/>
          </a:xfrm>
        </p:spPr>
        <p:txBody>
          <a:bodyPr anchor="t">
            <a:normAutofit/>
          </a:bodyPr>
          <a:lstStyle/>
          <a:p>
            <a:r>
              <a:rPr lang="ja-JP" altLang="en-US" sz="3200" dirty="0"/>
              <a:t>ラッチ部：</a:t>
            </a:r>
            <a:br>
              <a:rPr lang="en-US" altLang="ja-JP" sz="3200" dirty="0"/>
            </a:br>
            <a:r>
              <a:rPr lang="ja-JP" altLang="en-US" sz="3200" dirty="0"/>
              <a:t>クロス結合部の</a:t>
            </a:r>
            <a:r>
              <a:rPr lang="en-US" altLang="ja-JP" sz="3200" dirty="0"/>
              <a:t>W</a:t>
            </a:r>
            <a:r>
              <a:rPr lang="ja-JP" altLang="en-US" sz="3200" dirty="0"/>
              <a:t>の設計</a:t>
            </a:r>
            <a:endParaRPr kumimoji="1" lang="ja-JP" altLang="en-US" sz="3200" dirty="0"/>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64EB48B-DF22-1EBD-A6AF-AFD318631B61}"/>
                  </a:ext>
                </a:extLst>
              </p:cNvPr>
              <p:cNvSpPr>
                <a:spLocks noGrp="1"/>
              </p:cNvSpPr>
              <p:nvPr>
                <p:ph idx="1"/>
              </p:nvPr>
            </p:nvSpPr>
            <p:spPr>
              <a:xfrm>
                <a:off x="761839" y="2080727"/>
                <a:ext cx="5382369" cy="4641979"/>
              </a:xfrm>
            </p:spPr>
            <p:txBody>
              <a:bodyPr>
                <a:normAutofit/>
              </a:bodyPr>
              <a:lstStyle/>
              <a:p>
                <a:r>
                  <a:rPr lang="ja-JP" altLang="en-US" sz="1600" dirty="0"/>
                  <a:t>全体</a:t>
                </a:r>
                <a:endParaRPr lang="en-US" altLang="ja-JP" sz="1600" dirty="0"/>
              </a:p>
              <a:p>
                <a:pPr lvl="1"/>
                <a:r>
                  <a:rPr lang="en-US" altLang="ja-JP" sz="1400" dirty="0"/>
                  <a:t>W</a:t>
                </a:r>
                <a:r>
                  <a:rPr lang="ja-JP" altLang="en-US" sz="1400" dirty="0"/>
                  <a:t>を大きくすると </a:t>
                </a:r>
                <a14:m>
                  <m:oMath xmlns:m="http://schemas.openxmlformats.org/officeDocument/2006/math">
                    <m:sSub>
                      <m:sSubPr>
                        <m:ctrlPr>
                          <a:rPr lang="ja-JP" altLang="en-US" sz="1400" i="1">
                            <a:latin typeface="Cambria Math" panose="02040503050406030204" pitchFamily="18" charset="0"/>
                          </a:rPr>
                        </m:ctrlPr>
                      </m:sSubPr>
                      <m:e>
                        <m:r>
                          <a:rPr lang="ja-JP" altLang="en-US" sz="1400" i="1">
                            <a:latin typeface="Cambria Math" panose="02040503050406030204" pitchFamily="18" charset="0"/>
                          </a:rPr>
                          <m:t>𝑔</m:t>
                        </m:r>
                      </m:e>
                      <m:sub>
                        <m:r>
                          <a:rPr lang="ja-JP" altLang="en-US" sz="1400" i="1">
                            <a:latin typeface="Cambria Math" panose="02040503050406030204" pitchFamily="18" charset="0"/>
                          </a:rPr>
                          <m:t>𝑚</m:t>
                        </m:r>
                      </m:sub>
                    </m:sSub>
                  </m:oMath>
                </a14:m>
                <a:r>
                  <a:rPr lang="ja-JP" altLang="en-US" sz="1400" dirty="0"/>
                  <a:t>が増加し、動作速度は向上する。しかし、</a:t>
                </a:r>
                <a:r>
                  <a:rPr lang="en-US" altLang="ja-JP" sz="1400" dirty="0"/>
                  <a:t>W</a:t>
                </a:r>
                <a:r>
                  <a:rPr lang="ja-JP" altLang="en-US" sz="1400" dirty="0"/>
                  <a:t>を大きくしすぎると内部ノード容量、消費電力、</a:t>
                </a:r>
                <a:r>
                  <a:rPr lang="en-US" altLang="ja-JP" sz="1400" dirty="0"/>
                  <a:t>kickback noise</a:t>
                </a:r>
                <a:r>
                  <a:rPr lang="ja-JP" altLang="en-US" sz="1400" dirty="0"/>
                  <a:t>が増加する。</a:t>
                </a:r>
                <a:endParaRPr lang="en-US" altLang="ja-JP" sz="1400" dirty="0"/>
              </a:p>
              <a:p>
                <a:pPr lvl="1"/>
                <a:r>
                  <a:rPr lang="ja-JP" altLang="en-US" sz="1400" dirty="0"/>
                  <a:t>左右のバランスが崩れると、</a:t>
                </a:r>
                <a:r>
                  <a:rPr lang="en-US" altLang="ja-JP" sz="1400" dirty="0"/>
                  <a:t>offset</a:t>
                </a:r>
                <a:r>
                  <a:rPr lang="ja-JP" altLang="en-US" sz="1400" dirty="0"/>
                  <a:t>や判定非対称性の原因になる。</a:t>
                </a:r>
                <a:endParaRPr lang="en-US" altLang="ja-JP" sz="1400" dirty="0"/>
              </a:p>
              <a:p>
                <a:r>
                  <a:rPr lang="ja-JP" altLang="en-US" sz="1600" dirty="0"/>
                  <a:t>下側</a:t>
                </a:r>
                <a:r>
                  <a:rPr lang="en-US" altLang="ja-JP" sz="1600" dirty="0"/>
                  <a:t>NMOS</a:t>
                </a:r>
              </a:p>
              <a:p>
                <a:pPr lvl="1"/>
                <a:r>
                  <a:rPr lang="ja-JP" altLang="en-US" sz="1400" dirty="0"/>
                  <a:t>小さすぎると、放電速度が遅くなり、ラッチ再生が始まるまでに時間がかかる。</a:t>
                </a:r>
                <a:endParaRPr lang="en-US" altLang="ja-JP" sz="1400" dirty="0"/>
              </a:p>
              <a:p>
                <a:pPr lvl="1"/>
                <a:endParaRPr lang="ja-JP" altLang="en-US" sz="1200" dirty="0"/>
              </a:p>
              <a:p>
                <a:r>
                  <a:rPr lang="ja-JP" altLang="en-US" sz="1600" dirty="0"/>
                  <a:t>設計</a:t>
                </a:r>
                <a:endParaRPr lang="en-US" altLang="ja-JP" sz="1600" dirty="0"/>
              </a:p>
              <a:p>
                <a:pPr lvl="1"/>
                <a:r>
                  <a:rPr lang="en-US" altLang="ja-JP" sz="1400" dirty="0" err="1"/>
                  <a:t>LongL</a:t>
                </a:r>
                <a:r>
                  <a:rPr lang="ja-JP" altLang="en-US" sz="1400" dirty="0"/>
                  <a:t>の</a:t>
                </a:r>
                <a:r>
                  <a:rPr lang="en-US" altLang="ja-JP" sz="1400" dirty="0"/>
                  <a:t>0.5</a:t>
                </a:r>
                <a:r>
                  <a:rPr lang="ja-JP" altLang="en-US" sz="1400" dirty="0"/>
                  <a:t>～</a:t>
                </a:r>
                <a:r>
                  <a:rPr lang="en-US" altLang="ja-JP" sz="1400" dirty="0"/>
                  <a:t>0.8</a:t>
                </a:r>
                <a:r>
                  <a:rPr lang="ja-JP" altLang="en-US" sz="1400" dirty="0"/>
                  <a:t>倍サイズがあれば十分だと考えらえる。</a:t>
                </a:r>
                <a:endParaRPr lang="en-US" altLang="ja-JP" sz="1400" dirty="0"/>
              </a:p>
              <a:p>
                <a:pPr lvl="2"/>
                <a:r>
                  <a:rPr lang="en-US" altLang="ja-JP" sz="1000" dirty="0"/>
                  <a:t>L</a:t>
                </a:r>
                <a:r>
                  <a:rPr lang="ja-JP" altLang="en-US" sz="1000" dirty="0"/>
                  <a:t>のサイズが違うことに注意</a:t>
                </a:r>
                <a:endParaRPr lang="en-US" altLang="ja-JP" sz="1000" dirty="0"/>
              </a:p>
              <a:p>
                <a:pPr lvl="1"/>
                <a:r>
                  <a:rPr lang="ja-JP" altLang="en-US" sz="1400" dirty="0"/>
                  <a:t>今回は、</a:t>
                </a:r>
                <a14:m>
                  <m:oMath xmlns:m="http://schemas.openxmlformats.org/officeDocument/2006/math">
                    <m:sSub>
                      <m:sSubPr>
                        <m:ctrlPr>
                          <a:rPr lang="en-US" altLang="ja-JP" sz="1400" i="1" dirty="0">
                            <a:latin typeface="Cambria Math" panose="02040503050406030204" pitchFamily="18" charset="0"/>
                          </a:rPr>
                        </m:ctrlPr>
                      </m:sSubPr>
                      <m:e>
                        <m:r>
                          <a:rPr lang="en-US" altLang="ja-JP" sz="1400" i="1" dirty="0">
                            <a:latin typeface="Cambria Math" panose="02040503050406030204" pitchFamily="18" charset="0"/>
                          </a:rPr>
                          <m:t>𝑊</m:t>
                        </m:r>
                      </m:e>
                      <m:sub>
                        <m:r>
                          <a:rPr lang="en-US" altLang="ja-JP" sz="1400" i="1" dirty="0">
                            <a:latin typeface="Cambria Math" panose="02040503050406030204" pitchFamily="18" charset="0"/>
                          </a:rPr>
                          <m:t>𝑛</m:t>
                        </m:r>
                      </m:sub>
                    </m:sSub>
                    <m:r>
                      <a:rPr lang="en-US" altLang="ja-JP" sz="1400" i="1" dirty="0">
                        <a:latin typeface="Cambria Math" panose="02040503050406030204" pitchFamily="18" charset="0"/>
                      </a:rPr>
                      <m:t>=</m:t>
                    </m:r>
                    <m:r>
                      <a:rPr lang="en-US" altLang="ja-JP" sz="1400" b="0" i="1" dirty="0" smtClean="0">
                        <a:latin typeface="Cambria Math" panose="02040503050406030204" pitchFamily="18" charset="0"/>
                      </a:rPr>
                      <m:t>20</m:t>
                    </m:r>
                    <m:r>
                      <a:rPr lang="en-US" altLang="ja-JP" sz="1400" i="1" dirty="0">
                        <a:latin typeface="Cambria Math" panose="02040503050406030204" pitchFamily="18" charset="0"/>
                      </a:rPr>
                      <m:t>𝑢𝑚</m:t>
                    </m:r>
                    <m:r>
                      <a:rPr lang="en-US" altLang="ja-JP" sz="1400" b="0" i="1" dirty="0" smtClean="0">
                        <a:latin typeface="Cambria Math" panose="02040503050406030204" pitchFamily="18" charset="0"/>
                      </a:rPr>
                      <m:t>,</m:t>
                    </m:r>
                    <m:sSub>
                      <m:sSubPr>
                        <m:ctrlPr>
                          <a:rPr lang="en-US" altLang="ja-JP" sz="1400" i="1" dirty="0">
                            <a:latin typeface="Cambria Math" panose="02040503050406030204" pitchFamily="18" charset="0"/>
                          </a:rPr>
                        </m:ctrlPr>
                      </m:sSubPr>
                      <m:e>
                        <m:r>
                          <a:rPr lang="en-US" altLang="ja-JP" sz="1400" i="1" dirty="0">
                            <a:latin typeface="Cambria Math" panose="02040503050406030204" pitchFamily="18" charset="0"/>
                          </a:rPr>
                          <m:t>𝑊</m:t>
                        </m:r>
                      </m:e>
                      <m:sub>
                        <m:r>
                          <a:rPr lang="en-US" altLang="ja-JP" sz="1400" i="1" dirty="0">
                            <a:latin typeface="Cambria Math" panose="02040503050406030204" pitchFamily="18" charset="0"/>
                          </a:rPr>
                          <m:t>𝑝</m:t>
                        </m:r>
                      </m:sub>
                    </m:sSub>
                    <m:r>
                      <a:rPr lang="en-US" altLang="ja-JP" sz="1400" i="1" dirty="0">
                        <a:latin typeface="Cambria Math" panose="02040503050406030204" pitchFamily="18" charset="0"/>
                      </a:rPr>
                      <m:t>=</m:t>
                    </m:r>
                    <m:r>
                      <a:rPr lang="en-US" altLang="ja-JP" sz="1400" b="0" i="1" dirty="0" smtClean="0">
                        <a:latin typeface="Cambria Math" panose="02040503050406030204" pitchFamily="18" charset="0"/>
                      </a:rPr>
                      <m:t>6</m:t>
                    </m:r>
                    <m:r>
                      <a:rPr lang="en-US" altLang="ja-JP" sz="1400" i="1" dirty="0">
                        <a:latin typeface="Cambria Math" panose="02040503050406030204" pitchFamily="18" charset="0"/>
                      </a:rPr>
                      <m:t>0</m:t>
                    </m:r>
                    <m:r>
                      <a:rPr lang="en-US" altLang="ja-JP" sz="1400" i="1" dirty="0">
                        <a:latin typeface="Cambria Math" panose="02040503050406030204" pitchFamily="18" charset="0"/>
                      </a:rPr>
                      <m:t>𝑢𝑚</m:t>
                    </m:r>
                    <m:r>
                      <a:rPr lang="ja-JP" altLang="en-US" sz="1400" i="1" dirty="0">
                        <a:latin typeface="Cambria Math" panose="02040503050406030204" pitchFamily="18" charset="0"/>
                      </a:rPr>
                      <m:t>とする</m:t>
                    </m:r>
                  </m:oMath>
                </a14:m>
                <a:endParaRPr kumimoji="1" lang="en-US" altLang="ja-JP" sz="1400" dirty="0"/>
              </a:p>
              <a:p>
                <a:pPr lvl="2"/>
                <a14:m>
                  <m:oMath xmlns:m="http://schemas.openxmlformats.org/officeDocument/2006/math">
                    <m:r>
                      <a:rPr lang="ja-JP" altLang="en-US" sz="1000" i="1" dirty="0">
                        <a:latin typeface="Cambria Math" panose="02040503050406030204" pitchFamily="18" charset="0"/>
                      </a:rPr>
                      <m:t>電子</m:t>
                    </m:r>
                    <m:r>
                      <a:rPr lang="ja-JP" altLang="en-US" sz="1000" i="1" dirty="0">
                        <a:latin typeface="Cambria Math" panose="02040503050406030204" pitchFamily="18" charset="0"/>
                      </a:rPr>
                      <m:t>の</m:t>
                    </m:r>
                    <m:r>
                      <a:rPr lang="ja-JP" altLang="en-US" sz="1000" i="1" dirty="0">
                        <a:latin typeface="Cambria Math" panose="02040503050406030204" pitchFamily="18" charset="0"/>
                      </a:rPr>
                      <m:t>移動速度</m:t>
                    </m:r>
                    <m:r>
                      <a:rPr lang="ja-JP" altLang="en-US" sz="1000" i="1" dirty="0">
                        <a:latin typeface="Cambria Math" panose="02040503050406030204" pitchFamily="18" charset="0"/>
                      </a:rPr>
                      <m:t>の</m:t>
                    </m:r>
                    <m:r>
                      <a:rPr lang="ja-JP" altLang="en-US" sz="1000" i="1" dirty="0">
                        <a:latin typeface="Cambria Math" panose="02040503050406030204" pitchFamily="18" charset="0"/>
                      </a:rPr>
                      <m:t>違</m:t>
                    </m:r>
                    <m:r>
                      <a:rPr lang="ja-JP" altLang="en-US" sz="1000" i="1" dirty="0">
                        <a:latin typeface="Cambria Math" panose="02040503050406030204" pitchFamily="18" charset="0"/>
                      </a:rPr>
                      <m:t>いより</m:t>
                    </m:r>
                    <m:r>
                      <a:rPr lang="ja-JP" altLang="en-US" sz="1000" i="1" dirty="0">
                        <a:latin typeface="Cambria Math" panose="02040503050406030204" pitchFamily="18" charset="0"/>
                      </a:rPr>
                      <m:t>、</m:t>
                    </m:r>
                    <m:sSub>
                      <m:sSubPr>
                        <m:ctrlPr>
                          <a:rPr lang="en-US" altLang="ja-JP" sz="1000" i="1">
                            <a:latin typeface="Cambria Math" panose="02040503050406030204" pitchFamily="18" charset="0"/>
                          </a:rPr>
                        </m:ctrlPr>
                      </m:sSubPr>
                      <m:e>
                        <m:r>
                          <a:rPr lang="en-US" altLang="ja-JP" sz="1000" i="1">
                            <a:latin typeface="Cambria Math" panose="02040503050406030204" pitchFamily="18" charset="0"/>
                          </a:rPr>
                          <m:t>𝑊</m:t>
                        </m:r>
                      </m:e>
                      <m:sub>
                        <m:r>
                          <a:rPr lang="en-US" altLang="ja-JP" sz="1000" i="1">
                            <a:latin typeface="Cambria Math" panose="02040503050406030204" pitchFamily="18" charset="0"/>
                          </a:rPr>
                          <m:t>𝑝</m:t>
                        </m:r>
                      </m:sub>
                    </m:sSub>
                    <m:r>
                      <a:rPr lang="en-US" altLang="ja-JP" sz="1000" i="1">
                        <a:latin typeface="Cambria Math" panose="02040503050406030204" pitchFamily="18" charset="0"/>
                      </a:rPr>
                      <m:t>:</m:t>
                    </m:r>
                    <m:sSub>
                      <m:sSubPr>
                        <m:ctrlPr>
                          <a:rPr lang="en-US" altLang="ja-JP" sz="1000" i="1">
                            <a:latin typeface="Cambria Math" panose="02040503050406030204" pitchFamily="18" charset="0"/>
                          </a:rPr>
                        </m:ctrlPr>
                      </m:sSubPr>
                      <m:e>
                        <m:r>
                          <a:rPr lang="en-US" altLang="ja-JP" sz="1000" i="1">
                            <a:latin typeface="Cambria Math" panose="02040503050406030204" pitchFamily="18" charset="0"/>
                          </a:rPr>
                          <m:t>𝑊</m:t>
                        </m:r>
                      </m:e>
                      <m:sub>
                        <m:r>
                          <a:rPr lang="en-US" altLang="ja-JP" sz="1000" i="1">
                            <a:latin typeface="Cambria Math" panose="02040503050406030204" pitchFamily="18" charset="0"/>
                          </a:rPr>
                          <m:t>𝑛</m:t>
                        </m:r>
                      </m:sub>
                    </m:sSub>
                    <m:r>
                      <a:rPr lang="ja-JP" altLang="en-US" sz="1000" i="1">
                        <a:latin typeface="Cambria Math" panose="02040503050406030204" pitchFamily="18" charset="0"/>
                      </a:rPr>
                      <m:t>≒</m:t>
                    </m:r>
                  </m:oMath>
                </a14:m>
                <a:r>
                  <a:rPr lang="ja-JP" altLang="en-US" sz="1000" dirty="0"/>
                  <a:t> </a:t>
                </a:r>
                <a:r>
                  <a:rPr lang="en-US" altLang="ja-JP" sz="1000" dirty="0"/>
                  <a:t>3:1</a:t>
                </a:r>
              </a:p>
              <a:p>
                <a:pPr lvl="1"/>
                <a:endParaRPr lang="ja-JP" altLang="en-US" sz="1400" dirty="0"/>
              </a:p>
            </p:txBody>
          </p:sp>
        </mc:Choice>
        <mc:Fallback xmlns="">
          <p:sp>
            <p:nvSpPr>
              <p:cNvPr id="3" name="コンテンツ プレースホルダー 2">
                <a:extLst>
                  <a:ext uri="{FF2B5EF4-FFF2-40B4-BE49-F238E27FC236}">
                    <a16:creationId xmlns:a16="http://schemas.microsoft.com/office/drawing/2014/main" id="{864EB48B-DF22-1EBD-A6AF-AFD318631B61}"/>
                  </a:ext>
                </a:extLst>
              </p:cNvPr>
              <p:cNvSpPr>
                <a:spLocks noGrp="1" noRot="1" noChangeAspect="1" noMove="1" noResize="1" noEditPoints="1" noAdjustHandles="1" noChangeArrowheads="1" noChangeShapeType="1" noTextEdit="1"/>
              </p:cNvSpPr>
              <p:nvPr>
                <p:ph idx="1"/>
              </p:nvPr>
            </p:nvSpPr>
            <p:spPr>
              <a:xfrm>
                <a:off x="761839" y="2080727"/>
                <a:ext cx="5382369" cy="4641979"/>
              </a:xfrm>
              <a:blipFill>
                <a:blip r:embed="rId2"/>
                <a:stretch>
                  <a:fillRect l="-453" t="-919" r="-1133"/>
                </a:stretch>
              </a:blipFill>
            </p:spPr>
            <p:txBody>
              <a:bodyPr/>
              <a:lstStyle/>
              <a:p>
                <a:r>
                  <a:rPr lang="ja-JP" altLang="en-US">
                    <a:noFill/>
                  </a:rPr>
                  <a:t> </a:t>
                </a:r>
              </a:p>
            </p:txBody>
          </p:sp>
        </mc:Fallback>
      </mc:AlternateContent>
      <p:grpSp>
        <p:nvGrpSpPr>
          <p:cNvPr id="7" name="グループ化 6">
            <a:extLst>
              <a:ext uri="{FF2B5EF4-FFF2-40B4-BE49-F238E27FC236}">
                <a16:creationId xmlns:a16="http://schemas.microsoft.com/office/drawing/2014/main" id="{5292EFF7-093B-CF8F-1D69-CA1C0C2D8EE0}"/>
              </a:ext>
            </a:extLst>
          </p:cNvPr>
          <p:cNvGrpSpPr/>
          <p:nvPr/>
        </p:nvGrpSpPr>
        <p:grpSpPr>
          <a:xfrm>
            <a:off x="6207035" y="41988"/>
            <a:ext cx="5085585" cy="6045860"/>
            <a:chOff x="6207035" y="41988"/>
            <a:chExt cx="5085585" cy="6045860"/>
          </a:xfrm>
        </p:grpSpPr>
        <p:pic>
          <p:nvPicPr>
            <p:cNvPr id="5" name="図 4">
              <a:extLst>
                <a:ext uri="{FF2B5EF4-FFF2-40B4-BE49-F238E27FC236}">
                  <a16:creationId xmlns:a16="http://schemas.microsoft.com/office/drawing/2014/main" id="{8A41D090-2E85-2234-AACA-1943C839AD2E}"/>
                </a:ext>
              </a:extLst>
            </p:cNvPr>
            <p:cNvPicPr>
              <a:picLocks noChangeAspect="1"/>
            </p:cNvPicPr>
            <p:nvPr/>
          </p:nvPicPr>
          <p:blipFill>
            <a:blip r:embed="rId3"/>
            <a:stretch>
              <a:fillRect/>
            </a:stretch>
          </p:blipFill>
          <p:spPr>
            <a:xfrm>
              <a:off x="6207035" y="771753"/>
              <a:ext cx="5085585" cy="5316095"/>
            </a:xfrm>
            <a:prstGeom prst="rect">
              <a:avLst/>
            </a:prstGeom>
          </p:spPr>
        </p:pic>
        <p:sp>
          <p:nvSpPr>
            <p:cNvPr id="4" name="正方形/長方形 3">
              <a:extLst>
                <a:ext uri="{FF2B5EF4-FFF2-40B4-BE49-F238E27FC236}">
                  <a16:creationId xmlns:a16="http://schemas.microsoft.com/office/drawing/2014/main" id="{035A03AD-254C-EE6C-E0C6-974537A18064}"/>
                </a:ext>
              </a:extLst>
            </p:cNvPr>
            <p:cNvSpPr/>
            <p:nvPr/>
          </p:nvSpPr>
          <p:spPr>
            <a:xfrm>
              <a:off x="7590453" y="1352939"/>
              <a:ext cx="2174033" cy="3979506"/>
            </a:xfrm>
            <a:prstGeom prst="rect">
              <a:avLst/>
            </a:prstGeom>
            <a:solidFill>
              <a:srgbClr val="8ED973">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吹き出し: 角を丸めた四角形 5">
              <a:extLst>
                <a:ext uri="{FF2B5EF4-FFF2-40B4-BE49-F238E27FC236}">
                  <a16:creationId xmlns:a16="http://schemas.microsoft.com/office/drawing/2014/main" id="{BF721532-B40F-70AE-8B5A-84D7AC9125D7}"/>
                </a:ext>
              </a:extLst>
            </p:cNvPr>
            <p:cNvSpPr/>
            <p:nvPr/>
          </p:nvSpPr>
          <p:spPr>
            <a:xfrm>
              <a:off x="8425543" y="41988"/>
              <a:ext cx="2867077" cy="956387"/>
            </a:xfrm>
            <a:prstGeom prst="wedgeRoundRectCallout">
              <a:avLst>
                <a:gd name="adj1" fmla="val -37919"/>
                <a:gd name="adj2" fmla="val 9372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クロス結合インバータ部</a:t>
              </a:r>
            </a:p>
          </p:txBody>
        </p:sp>
      </p:grpSp>
    </p:spTree>
    <p:extLst>
      <p:ext uri="{BB962C8B-B14F-4D97-AF65-F5344CB8AC3E}">
        <p14:creationId xmlns:p14="http://schemas.microsoft.com/office/powerpoint/2010/main" val="21845617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388358A1-75EE-8B7D-C656-C876257DFCA7}"/>
              </a:ext>
            </a:extLst>
          </p:cNvPr>
          <p:cNvSpPr>
            <a:spLocks noGrp="1"/>
          </p:cNvSpPr>
          <p:nvPr>
            <p:ph type="title"/>
          </p:nvPr>
        </p:nvSpPr>
        <p:spPr>
          <a:xfrm>
            <a:off x="5894962" y="479493"/>
            <a:ext cx="5458838" cy="1325563"/>
          </a:xfrm>
        </p:spPr>
        <p:txBody>
          <a:bodyPr>
            <a:normAutofit fontScale="90000"/>
          </a:bodyPr>
          <a:lstStyle/>
          <a:p>
            <a:r>
              <a:rPr lang="ja-JP" altLang="en-US" dirty="0"/>
              <a:t>ラッチ部：</a:t>
            </a:r>
            <a:br>
              <a:rPr lang="en-US" altLang="ja-JP" dirty="0"/>
            </a:br>
            <a:r>
              <a:rPr lang="ja-JP" altLang="en-US" dirty="0"/>
              <a:t>プリチャージ部の設計</a:t>
            </a:r>
            <a:endParaRPr kumimoji="1" lang="ja-JP" altLang="en-US" dirty="0"/>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コンテンツ プレースホルダー 2">
            <a:extLst>
              <a:ext uri="{FF2B5EF4-FFF2-40B4-BE49-F238E27FC236}">
                <a16:creationId xmlns:a16="http://schemas.microsoft.com/office/drawing/2014/main" id="{643A6BEB-C282-A305-47C7-6176C15EB81C}"/>
              </a:ext>
            </a:extLst>
          </p:cNvPr>
          <p:cNvSpPr>
            <a:spLocks noGrp="1"/>
          </p:cNvSpPr>
          <p:nvPr>
            <p:ph idx="1"/>
          </p:nvPr>
        </p:nvSpPr>
        <p:spPr>
          <a:xfrm>
            <a:off x="5894962" y="1984443"/>
            <a:ext cx="5458838" cy="4192520"/>
          </a:xfrm>
        </p:spPr>
        <p:txBody>
          <a:bodyPr>
            <a:normAutofit/>
          </a:bodyPr>
          <a:lstStyle/>
          <a:p>
            <a:r>
              <a:rPr lang="ja-JP" altLang="en-US" sz="1800" dirty="0"/>
              <a:t>クロックドコンパレータのプリチャージと同じ</a:t>
            </a:r>
            <a:endParaRPr lang="en-US" altLang="ja-JP" sz="1800" dirty="0"/>
          </a:p>
          <a:p>
            <a:pPr lvl="1"/>
            <a:r>
              <a:rPr lang="ja-JP" altLang="en-US" sz="1600" dirty="0"/>
              <a:t>プリチャージが不十分だと、前回の比較結果が内部ノードに残り、次の判定に影響する。その結果、オフセット増加、判定誤り、メタスタビリティ、左右非対称動作の原因となる</a:t>
            </a:r>
          </a:p>
          <a:p>
            <a:pPr lvl="1"/>
            <a:r>
              <a:rPr lang="ja-JP" altLang="en-US" sz="1600" dirty="0"/>
              <a:t>プリチャージ</a:t>
            </a:r>
            <a:r>
              <a:rPr lang="en-US" altLang="ja-JP" sz="1600" dirty="0"/>
              <a:t>PMOS</a:t>
            </a:r>
            <a:r>
              <a:rPr lang="ja-JP" altLang="en-US" sz="1600" dirty="0"/>
              <a:t>を大きくしすぎると、内部ノード容量が増加し、評価時の放電速度が低下する。また、クロックに同期した電荷注入や</a:t>
            </a:r>
            <a:r>
              <a:rPr lang="en-US" altLang="ja-JP" sz="1600" dirty="0"/>
              <a:t>kickback noise</a:t>
            </a:r>
            <a:r>
              <a:rPr lang="ja-JP" altLang="en-US" sz="1600" dirty="0"/>
              <a:t>が増える可能性がある</a:t>
            </a:r>
          </a:p>
          <a:p>
            <a:r>
              <a:rPr lang="ja-JP" altLang="en-US" sz="1800" dirty="0"/>
              <a:t>したがって、プリチャージ</a:t>
            </a:r>
            <a:r>
              <a:rPr lang="en-US" altLang="ja-JP" sz="1800" dirty="0"/>
              <a:t>PMOS</a:t>
            </a:r>
            <a:r>
              <a:rPr lang="ja-JP" altLang="en-US" sz="1800" dirty="0"/>
              <a:t>は、評価開始前に内部ノードを十分に</a:t>
            </a:r>
            <a:r>
              <a:rPr lang="en-US" altLang="ja-JP" sz="1800" dirty="0"/>
              <a:t>VDD</a:t>
            </a:r>
            <a:r>
              <a:rPr lang="ja-JP" altLang="en-US" sz="1800" dirty="0"/>
              <a:t>へ戻せる範囲で、必要最小限のサイズにする</a:t>
            </a:r>
          </a:p>
        </p:txBody>
      </p:sp>
      <p:grpSp>
        <p:nvGrpSpPr>
          <p:cNvPr id="8" name="グループ化 7">
            <a:extLst>
              <a:ext uri="{FF2B5EF4-FFF2-40B4-BE49-F238E27FC236}">
                <a16:creationId xmlns:a16="http://schemas.microsoft.com/office/drawing/2014/main" id="{11217AAA-7ECB-7CE9-6A82-79020EA8B909}"/>
              </a:ext>
            </a:extLst>
          </p:cNvPr>
          <p:cNvGrpSpPr/>
          <p:nvPr/>
        </p:nvGrpSpPr>
        <p:grpSpPr>
          <a:xfrm>
            <a:off x="348620" y="97973"/>
            <a:ext cx="4777381" cy="5743115"/>
            <a:chOff x="348620" y="97973"/>
            <a:chExt cx="4777381" cy="5743115"/>
          </a:xfrm>
        </p:grpSpPr>
        <p:pic>
          <p:nvPicPr>
            <p:cNvPr id="4" name="図 3">
              <a:extLst>
                <a:ext uri="{FF2B5EF4-FFF2-40B4-BE49-F238E27FC236}">
                  <a16:creationId xmlns:a16="http://schemas.microsoft.com/office/drawing/2014/main" id="{10D91C84-BB88-72E3-927A-9610CCCCD008}"/>
                </a:ext>
              </a:extLst>
            </p:cNvPr>
            <p:cNvPicPr>
              <a:picLocks noChangeAspect="1"/>
            </p:cNvPicPr>
            <p:nvPr/>
          </p:nvPicPr>
          <p:blipFill>
            <a:blip r:embed="rId2"/>
            <a:stretch>
              <a:fillRect/>
            </a:stretch>
          </p:blipFill>
          <p:spPr>
            <a:xfrm>
              <a:off x="348620" y="847168"/>
              <a:ext cx="4777381" cy="499392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5" name="吹き出し: 四角形 4">
              <a:extLst>
                <a:ext uri="{FF2B5EF4-FFF2-40B4-BE49-F238E27FC236}">
                  <a16:creationId xmlns:a16="http://schemas.microsoft.com/office/drawing/2014/main" id="{2F910E16-A7C0-403C-59B6-A21A0C90EE6E}"/>
                </a:ext>
              </a:extLst>
            </p:cNvPr>
            <p:cNvSpPr/>
            <p:nvPr/>
          </p:nvSpPr>
          <p:spPr>
            <a:xfrm>
              <a:off x="1334278" y="97973"/>
              <a:ext cx="2920482" cy="844420"/>
            </a:xfrm>
            <a:prstGeom prst="wedgeRectCallout">
              <a:avLst>
                <a:gd name="adj1" fmla="val -52347"/>
                <a:gd name="adj2" fmla="val 11838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a:t>CLK</a:t>
              </a:r>
              <a:r>
                <a:rPr lang="ja-JP" altLang="en-US"/>
                <a:t>につながる</a:t>
              </a:r>
              <a:endParaRPr lang="en-US" altLang="ja-JP"/>
            </a:p>
            <a:p>
              <a:pPr algn="ctr"/>
              <a:r>
                <a:rPr lang="en-US" altLang="ja-JP"/>
                <a:t>2</a:t>
              </a:r>
              <a:r>
                <a:rPr lang="ja-JP" altLang="en-US"/>
                <a:t>つの</a:t>
              </a:r>
              <a:r>
                <a:rPr lang="en-US" altLang="ja-JP"/>
                <a:t>PMOS</a:t>
              </a:r>
              <a:r>
                <a:rPr lang="ja-JP" altLang="en-US"/>
                <a:t>が</a:t>
              </a:r>
              <a:endParaRPr lang="en-US" altLang="ja-JP"/>
            </a:p>
            <a:p>
              <a:pPr algn="ctr"/>
              <a:r>
                <a:rPr lang="ja-JP" altLang="en-US"/>
                <a:t>プリチャージ部</a:t>
              </a:r>
              <a:endParaRPr lang="ja-JP" altLang="en-US" dirty="0"/>
            </a:p>
          </p:txBody>
        </p:sp>
        <p:sp>
          <p:nvSpPr>
            <p:cNvPr id="7" name="吹き出し: 四角形 6">
              <a:extLst>
                <a:ext uri="{FF2B5EF4-FFF2-40B4-BE49-F238E27FC236}">
                  <a16:creationId xmlns:a16="http://schemas.microsoft.com/office/drawing/2014/main" id="{8C0F743D-48ED-C673-366F-6B35F4436338}"/>
                </a:ext>
              </a:extLst>
            </p:cNvPr>
            <p:cNvSpPr/>
            <p:nvPr/>
          </p:nvSpPr>
          <p:spPr>
            <a:xfrm>
              <a:off x="1334280" y="97973"/>
              <a:ext cx="2920482" cy="844420"/>
            </a:xfrm>
            <a:prstGeom prst="wedgeRectCallout">
              <a:avLst>
                <a:gd name="adj1" fmla="val 44139"/>
                <a:gd name="adj2" fmla="val 120038"/>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t>CLK</a:t>
              </a:r>
              <a:r>
                <a:rPr lang="ja-JP" altLang="en-US" dirty="0"/>
                <a:t>につながる</a:t>
              </a:r>
              <a:endParaRPr lang="en-US" altLang="ja-JP" dirty="0"/>
            </a:p>
            <a:p>
              <a:pPr algn="ctr"/>
              <a:r>
                <a:rPr lang="en-US" altLang="ja-JP" dirty="0"/>
                <a:t>2</a:t>
              </a:r>
              <a:r>
                <a:rPr lang="ja-JP" altLang="en-US" dirty="0"/>
                <a:t>つの</a:t>
              </a:r>
              <a:r>
                <a:rPr lang="en-US" altLang="ja-JP" dirty="0"/>
                <a:t>PMOS</a:t>
              </a:r>
              <a:r>
                <a:rPr lang="ja-JP" altLang="en-US" dirty="0"/>
                <a:t>が</a:t>
              </a:r>
              <a:endParaRPr lang="en-US" altLang="ja-JP" dirty="0"/>
            </a:p>
            <a:p>
              <a:pPr algn="ctr"/>
              <a:r>
                <a:rPr lang="ja-JP" altLang="en-US" dirty="0"/>
                <a:t>プリチャージ部</a:t>
              </a:r>
            </a:p>
          </p:txBody>
        </p:sp>
      </p:grpSp>
    </p:spTree>
    <p:extLst>
      <p:ext uri="{BB962C8B-B14F-4D97-AF65-F5344CB8AC3E}">
        <p14:creationId xmlns:p14="http://schemas.microsoft.com/office/powerpoint/2010/main" val="10202993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51D214-84E5-0A8F-43F4-303160CFAB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DB818B-420F-A389-2311-8F1E10CA8A02}"/>
              </a:ext>
            </a:extLst>
          </p:cNvPr>
          <p:cNvSpPr>
            <a:spLocks noGrp="1"/>
          </p:cNvSpPr>
          <p:nvPr>
            <p:ph type="title"/>
          </p:nvPr>
        </p:nvSpPr>
        <p:spPr>
          <a:xfrm>
            <a:off x="761840" y="1138265"/>
            <a:ext cx="5334160" cy="1401183"/>
          </a:xfrm>
        </p:spPr>
        <p:txBody>
          <a:bodyPr anchor="t">
            <a:normAutofit/>
          </a:bodyPr>
          <a:lstStyle/>
          <a:p>
            <a:r>
              <a:rPr lang="ja-JP" altLang="en-US" sz="3200" dirty="0"/>
              <a:t>ラッチ部：</a:t>
            </a:r>
            <a:br>
              <a:rPr lang="en-US" altLang="ja-JP" sz="3200" dirty="0"/>
            </a:br>
            <a:r>
              <a:rPr lang="ja-JP" altLang="en-US" sz="3200" dirty="0"/>
              <a:t>プリチャージ部の</a:t>
            </a:r>
            <a:r>
              <a:rPr lang="en-US" altLang="ja-JP" sz="3200" dirty="0"/>
              <a:t>W</a:t>
            </a:r>
            <a:r>
              <a:rPr lang="ja-JP" altLang="en-US" sz="3200" dirty="0"/>
              <a:t>の設計</a:t>
            </a:r>
            <a:endParaRPr kumimoji="1" lang="ja-JP" altLang="en-US" sz="3200" dirty="0"/>
          </a:p>
        </p:txBody>
      </p:sp>
      <p:cxnSp>
        <p:nvCxnSpPr>
          <p:cNvPr id="10" name="Straight Connector 9">
            <a:extLst>
              <a:ext uri="{FF2B5EF4-FFF2-40B4-BE49-F238E27FC236}">
                <a16:creationId xmlns:a16="http://schemas.microsoft.com/office/drawing/2014/main" id="{D2B5300C-1283-F27C-4E67-41B4579C8D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CE92FEA-AD8B-8267-12AB-45CE7D2B0D23}"/>
                  </a:ext>
                </a:extLst>
              </p:cNvPr>
              <p:cNvSpPr>
                <a:spLocks noGrp="1"/>
              </p:cNvSpPr>
              <p:nvPr>
                <p:ph idx="1"/>
              </p:nvPr>
            </p:nvSpPr>
            <p:spPr>
              <a:xfrm>
                <a:off x="761840" y="2551176"/>
                <a:ext cx="4544762" cy="3602935"/>
              </a:xfrm>
            </p:spPr>
            <p:txBody>
              <a:bodyPr>
                <a:normAutofit/>
              </a:bodyPr>
              <a:lstStyle/>
              <a:p>
                <a:r>
                  <a:rPr lang="ja-JP" altLang="en-US" sz="1400" dirty="0"/>
                  <a:t>全体をチャージできる最小サイズの</a:t>
                </a:r>
                <a:r>
                  <a:rPr lang="en-US" altLang="ja-JP" sz="1400" dirty="0"/>
                  <a:t>W</a:t>
                </a:r>
                <a:r>
                  <a:rPr lang="ja-JP" altLang="en-US" sz="1400" dirty="0"/>
                  <a:t>でよいため、倍のサイズの</a:t>
                </a:r>
                <a:r>
                  <a:rPr lang="en-US" altLang="ja-JP" sz="1600" dirty="0"/>
                  <a:t> </a:t>
                </a:r>
                <a14:m>
                  <m:oMath xmlns:m="http://schemas.openxmlformats.org/officeDocument/2006/math">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𝑊</m:t>
                        </m:r>
                      </m:e>
                      <m:sub>
                        <m:r>
                          <a:rPr lang="en-US" altLang="ja-JP" sz="1600" i="1" dirty="0">
                            <a:latin typeface="Cambria Math" panose="02040503050406030204" pitchFamily="18" charset="0"/>
                          </a:rPr>
                          <m:t>𝑝</m:t>
                        </m:r>
                      </m:sub>
                    </m:sSub>
                    <m:r>
                      <a:rPr lang="en-US" altLang="ja-JP" sz="1600" i="1" dirty="0">
                        <a:latin typeface="Cambria Math" panose="02040503050406030204" pitchFamily="18" charset="0"/>
                      </a:rPr>
                      <m:t>=</m:t>
                    </m:r>
                    <m:r>
                      <a:rPr lang="en-US" altLang="ja-JP" sz="1600" b="0" i="1" dirty="0" smtClean="0">
                        <a:latin typeface="Cambria Math" panose="02040503050406030204" pitchFamily="18" charset="0"/>
                      </a:rPr>
                      <m:t>120</m:t>
                    </m:r>
                    <m:r>
                      <a:rPr lang="en-US" altLang="ja-JP" sz="1600" i="1" dirty="0">
                        <a:latin typeface="Cambria Math" panose="02040503050406030204" pitchFamily="18" charset="0"/>
                      </a:rPr>
                      <m:t>𝑢𝑚</m:t>
                    </m:r>
                    <m:r>
                      <a:rPr lang="ja-JP" altLang="en-US" sz="1600" i="1" dirty="0">
                        <a:latin typeface="Cambria Math" panose="02040503050406030204" pitchFamily="18" charset="0"/>
                      </a:rPr>
                      <m:t> </m:t>
                    </m:r>
                  </m:oMath>
                </a14:m>
                <a:r>
                  <a:rPr lang="ja-JP" altLang="en-US" sz="1600" dirty="0"/>
                  <a:t>とした。</a:t>
                </a:r>
                <a:endParaRPr lang="en-US" altLang="ja-JP" sz="1600" dirty="0"/>
              </a:p>
              <a:p>
                <a:pPr lvl="1"/>
                <a:r>
                  <a:rPr lang="ja-JP" altLang="en-US" sz="1200" dirty="0"/>
                  <a:t>正確に求めるならすべての消費電流を計算して求めるべきであるが、さほどのズレは無いと考えてこの値とする</a:t>
                </a:r>
                <a:endParaRPr lang="en-US" altLang="ja-JP" sz="1200" dirty="0"/>
              </a:p>
            </p:txBody>
          </p:sp>
        </mc:Choice>
        <mc:Fallback xmlns="">
          <p:sp>
            <p:nvSpPr>
              <p:cNvPr id="3" name="コンテンツ プレースホルダー 2">
                <a:extLst>
                  <a:ext uri="{FF2B5EF4-FFF2-40B4-BE49-F238E27FC236}">
                    <a16:creationId xmlns:a16="http://schemas.microsoft.com/office/drawing/2014/main" id="{6CE92FEA-AD8B-8267-12AB-45CE7D2B0D23}"/>
                  </a:ext>
                </a:extLst>
              </p:cNvPr>
              <p:cNvSpPr>
                <a:spLocks noGrp="1" noRot="1" noChangeAspect="1" noMove="1" noResize="1" noEditPoints="1" noAdjustHandles="1" noChangeArrowheads="1" noChangeShapeType="1" noTextEdit="1"/>
              </p:cNvSpPr>
              <p:nvPr>
                <p:ph idx="1"/>
              </p:nvPr>
            </p:nvSpPr>
            <p:spPr>
              <a:xfrm>
                <a:off x="761840" y="2551176"/>
                <a:ext cx="4544762" cy="3602935"/>
              </a:xfrm>
              <a:blipFill>
                <a:blip r:embed="rId2"/>
                <a:stretch>
                  <a:fillRect l="-268" t="-846"/>
                </a:stretch>
              </a:blipFill>
            </p:spPr>
            <p:txBody>
              <a:bodyPr/>
              <a:lstStyle/>
              <a:p>
                <a:r>
                  <a:rPr lang="ja-JP" altLang="en-US">
                    <a:noFill/>
                  </a:rPr>
                  <a:t> </a:t>
                </a:r>
              </a:p>
            </p:txBody>
          </p:sp>
        </mc:Fallback>
      </mc:AlternateContent>
      <p:grpSp>
        <p:nvGrpSpPr>
          <p:cNvPr id="4" name="グループ化 3">
            <a:extLst>
              <a:ext uri="{FF2B5EF4-FFF2-40B4-BE49-F238E27FC236}">
                <a16:creationId xmlns:a16="http://schemas.microsoft.com/office/drawing/2014/main" id="{0205AABE-A905-0211-40E9-315CDFDAEF3B}"/>
              </a:ext>
            </a:extLst>
          </p:cNvPr>
          <p:cNvGrpSpPr/>
          <p:nvPr/>
        </p:nvGrpSpPr>
        <p:grpSpPr>
          <a:xfrm>
            <a:off x="6702767" y="557442"/>
            <a:ext cx="4777381" cy="5743115"/>
            <a:chOff x="348620" y="97973"/>
            <a:chExt cx="4777381" cy="5743115"/>
          </a:xfrm>
        </p:grpSpPr>
        <p:pic>
          <p:nvPicPr>
            <p:cNvPr id="6" name="図 5">
              <a:extLst>
                <a:ext uri="{FF2B5EF4-FFF2-40B4-BE49-F238E27FC236}">
                  <a16:creationId xmlns:a16="http://schemas.microsoft.com/office/drawing/2014/main" id="{1AA0D0FA-3EF2-B4C9-59D1-EEBDEDAC2088}"/>
                </a:ext>
              </a:extLst>
            </p:cNvPr>
            <p:cNvPicPr>
              <a:picLocks noChangeAspect="1"/>
            </p:cNvPicPr>
            <p:nvPr/>
          </p:nvPicPr>
          <p:blipFill>
            <a:blip r:embed="rId3"/>
            <a:stretch>
              <a:fillRect/>
            </a:stretch>
          </p:blipFill>
          <p:spPr>
            <a:xfrm>
              <a:off x="348620" y="847168"/>
              <a:ext cx="4777381" cy="499392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7" name="吹き出し: 四角形 6">
              <a:extLst>
                <a:ext uri="{FF2B5EF4-FFF2-40B4-BE49-F238E27FC236}">
                  <a16:creationId xmlns:a16="http://schemas.microsoft.com/office/drawing/2014/main" id="{9D358547-6B93-F936-57EC-FFF79744CB85}"/>
                </a:ext>
              </a:extLst>
            </p:cNvPr>
            <p:cNvSpPr/>
            <p:nvPr/>
          </p:nvSpPr>
          <p:spPr>
            <a:xfrm>
              <a:off x="1334278" y="97973"/>
              <a:ext cx="2920482" cy="844420"/>
            </a:xfrm>
            <a:prstGeom prst="wedgeRectCallout">
              <a:avLst>
                <a:gd name="adj1" fmla="val -52347"/>
                <a:gd name="adj2" fmla="val 11838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a:t>CLK</a:t>
              </a:r>
              <a:r>
                <a:rPr lang="ja-JP" altLang="en-US"/>
                <a:t>につながる</a:t>
              </a:r>
              <a:endParaRPr lang="en-US" altLang="ja-JP"/>
            </a:p>
            <a:p>
              <a:pPr algn="ctr"/>
              <a:r>
                <a:rPr lang="en-US" altLang="ja-JP"/>
                <a:t>2</a:t>
              </a:r>
              <a:r>
                <a:rPr lang="ja-JP" altLang="en-US"/>
                <a:t>つの</a:t>
              </a:r>
              <a:r>
                <a:rPr lang="en-US" altLang="ja-JP"/>
                <a:t>PMOS</a:t>
              </a:r>
              <a:r>
                <a:rPr lang="ja-JP" altLang="en-US"/>
                <a:t>が</a:t>
              </a:r>
              <a:endParaRPr lang="en-US" altLang="ja-JP"/>
            </a:p>
            <a:p>
              <a:pPr algn="ctr"/>
              <a:r>
                <a:rPr lang="ja-JP" altLang="en-US"/>
                <a:t>プリチャージ部</a:t>
              </a:r>
              <a:endParaRPr lang="ja-JP" altLang="en-US" dirty="0"/>
            </a:p>
          </p:txBody>
        </p:sp>
        <p:sp>
          <p:nvSpPr>
            <p:cNvPr id="8" name="吹き出し: 四角形 7">
              <a:extLst>
                <a:ext uri="{FF2B5EF4-FFF2-40B4-BE49-F238E27FC236}">
                  <a16:creationId xmlns:a16="http://schemas.microsoft.com/office/drawing/2014/main" id="{BA0DA75C-5F94-5095-AE6E-6F63248ABB43}"/>
                </a:ext>
              </a:extLst>
            </p:cNvPr>
            <p:cNvSpPr/>
            <p:nvPr/>
          </p:nvSpPr>
          <p:spPr>
            <a:xfrm>
              <a:off x="1334280" y="97973"/>
              <a:ext cx="2920482" cy="844420"/>
            </a:xfrm>
            <a:prstGeom prst="wedgeRectCallout">
              <a:avLst>
                <a:gd name="adj1" fmla="val 44139"/>
                <a:gd name="adj2" fmla="val 120038"/>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t>CLK</a:t>
              </a:r>
              <a:r>
                <a:rPr lang="ja-JP" altLang="en-US" dirty="0"/>
                <a:t>につながる</a:t>
              </a:r>
              <a:endParaRPr lang="en-US" altLang="ja-JP" dirty="0"/>
            </a:p>
            <a:p>
              <a:pPr algn="ctr"/>
              <a:r>
                <a:rPr lang="en-US" altLang="ja-JP" dirty="0"/>
                <a:t>2</a:t>
              </a:r>
              <a:r>
                <a:rPr lang="ja-JP" altLang="en-US" dirty="0"/>
                <a:t>つの</a:t>
              </a:r>
              <a:r>
                <a:rPr lang="en-US" altLang="ja-JP" dirty="0"/>
                <a:t>PMOS</a:t>
              </a:r>
              <a:r>
                <a:rPr lang="ja-JP" altLang="en-US" dirty="0"/>
                <a:t>が</a:t>
              </a:r>
              <a:endParaRPr lang="en-US" altLang="ja-JP" dirty="0"/>
            </a:p>
            <a:p>
              <a:pPr algn="ctr"/>
              <a:r>
                <a:rPr lang="ja-JP" altLang="en-US" dirty="0"/>
                <a:t>プリチャージ部</a:t>
              </a:r>
            </a:p>
          </p:txBody>
        </p:sp>
      </p:grpSp>
    </p:spTree>
    <p:extLst>
      <p:ext uri="{BB962C8B-B14F-4D97-AF65-F5344CB8AC3E}">
        <p14:creationId xmlns:p14="http://schemas.microsoft.com/office/powerpoint/2010/main" val="19575077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C112276-5D97-763F-07F0-FA288E2467C4}"/>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3E7B0972-31F9-EC2E-6FDD-5D926E91F2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319A3E79-FB60-5CCE-9802-ABE9177CDBC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2B5DEF7E-3A15-E4A7-EEE0-6EB414F32C1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32A460E9-67C3-868A-DB10-965BE729587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1B1277F8-A2D9-8604-02D9-883868787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47746037-1027-3A41-AFE8-EF429970364C}"/>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Rail-to-Rail OPAMP</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703182608"/>
      </p:ext>
    </p:extLst>
  </p:cSld>
  <p:clrMapOvr>
    <a:overrideClrMapping bg1="dk1" tx1="lt1" bg2="dk2" tx2="lt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8" name="Rectangle 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54CBBD7-A9EF-590F-71AA-18C88297B2A4}"/>
              </a:ext>
            </a:extLst>
          </p:cNvPr>
          <p:cNvSpPr>
            <a:spLocks noGrp="1"/>
          </p:cNvSpPr>
          <p:nvPr>
            <p:ph type="title"/>
          </p:nvPr>
        </p:nvSpPr>
        <p:spPr>
          <a:xfrm>
            <a:off x="1043631" y="873940"/>
            <a:ext cx="5052369" cy="1035781"/>
          </a:xfrm>
        </p:spPr>
        <p:txBody>
          <a:bodyPr anchor="ctr">
            <a:normAutofit/>
          </a:bodyPr>
          <a:lstStyle/>
          <a:p>
            <a:r>
              <a:rPr kumimoji="1" lang="ja-JP" altLang="en-US" sz="3600"/>
              <a:t>カスコード接続</a:t>
            </a:r>
          </a:p>
        </p:txBody>
      </p:sp>
      <p:sp>
        <p:nvSpPr>
          <p:cNvPr id="3" name="コンテンツ プレースホルダー 2">
            <a:extLst>
              <a:ext uri="{FF2B5EF4-FFF2-40B4-BE49-F238E27FC236}">
                <a16:creationId xmlns:a16="http://schemas.microsoft.com/office/drawing/2014/main" id="{27A2960C-FD41-0143-850D-FD47B3CB5F9C}"/>
              </a:ext>
            </a:extLst>
          </p:cNvPr>
          <p:cNvSpPr>
            <a:spLocks noGrp="1"/>
          </p:cNvSpPr>
          <p:nvPr>
            <p:ph idx="1"/>
          </p:nvPr>
        </p:nvSpPr>
        <p:spPr>
          <a:xfrm>
            <a:off x="1045029" y="2524721"/>
            <a:ext cx="5611190" cy="3677123"/>
          </a:xfrm>
        </p:spPr>
        <p:txBody>
          <a:bodyPr anchor="ctr">
            <a:normAutofit/>
          </a:bodyPr>
          <a:lstStyle/>
          <a:p>
            <a:r>
              <a:rPr lang="ja-JP" altLang="en-US" sz="2000"/>
              <a:t>構成</a:t>
            </a:r>
            <a:endParaRPr lang="en-US" altLang="ja-JP" sz="2000"/>
          </a:p>
          <a:p>
            <a:pPr lvl="1"/>
            <a:r>
              <a:rPr lang="en-US" altLang="ja-JP" sz="2000"/>
              <a:t>2</a:t>
            </a:r>
            <a:r>
              <a:rPr lang="ja-JP" altLang="en-US" sz="2000"/>
              <a:t>つのトランジスタを直列に接続し、単一のトランジスタでは実現が難しい優れた性能を得るための回路</a:t>
            </a:r>
            <a:endParaRPr lang="en-US" altLang="ja-JP" sz="2000"/>
          </a:p>
          <a:p>
            <a:r>
              <a:rPr lang="ja-JP" altLang="en-US" sz="2000"/>
              <a:t>原理</a:t>
            </a:r>
            <a:endParaRPr lang="en-US" altLang="ja-JP" sz="2000"/>
          </a:p>
          <a:p>
            <a:pPr lvl="1"/>
            <a:r>
              <a:rPr lang="en-US" altLang="ja-JP" sz="2000"/>
              <a:t>M2</a:t>
            </a:r>
            <a:r>
              <a:rPr lang="ja-JP" altLang="en-US" sz="2000"/>
              <a:t>が</a:t>
            </a:r>
            <a:r>
              <a:rPr lang="en-US" altLang="ja-JP" sz="2000"/>
              <a:t>M1</a:t>
            </a:r>
            <a:r>
              <a:rPr lang="ja-JP" altLang="en-US" sz="2000"/>
              <a:t>に対して「</a:t>
            </a:r>
            <a:r>
              <a:rPr lang="ja-JP" altLang="en-US" sz="2000" b="1"/>
              <a:t>電圧スタビライザ</a:t>
            </a:r>
            <a:r>
              <a:rPr lang="ja-JP" altLang="en-US" sz="2000"/>
              <a:t>」および「</a:t>
            </a:r>
            <a:r>
              <a:rPr lang="ja-JP" altLang="en-US" sz="2000" b="1"/>
              <a:t>電流ブースター</a:t>
            </a:r>
            <a:r>
              <a:rPr lang="ja-JP" altLang="en-US" sz="2000"/>
              <a:t>」として機能</a:t>
            </a:r>
            <a:endParaRPr lang="en-US" altLang="ja-JP" sz="2000"/>
          </a:p>
          <a:p>
            <a:pPr lvl="2"/>
            <a:r>
              <a:rPr lang="en-US" altLang="ja-JP" sz="1200"/>
              <a:t>M1 (</a:t>
            </a:r>
            <a:r>
              <a:rPr lang="ja-JP" altLang="en-US" sz="1200"/>
              <a:t>下段、コモンソース</a:t>
            </a:r>
            <a:r>
              <a:rPr lang="en-US" altLang="ja-JP" sz="1200"/>
              <a:t>)</a:t>
            </a:r>
          </a:p>
          <a:p>
            <a:pPr lvl="3"/>
            <a:r>
              <a:rPr lang="ja-JP" altLang="en-US" sz="1050"/>
              <a:t>役割</a:t>
            </a:r>
            <a:r>
              <a:rPr lang="en-US" altLang="ja-JP" sz="1050"/>
              <a:t>: </a:t>
            </a:r>
            <a:r>
              <a:rPr lang="ja-JP" altLang="en-US" sz="1050"/>
              <a:t>入力電圧</a:t>
            </a:r>
            <a:r>
              <a:rPr lang="en-US" altLang="ja-JP" sz="1050"/>
              <a:t>(Vin)</a:t>
            </a:r>
            <a:r>
              <a:rPr lang="ja-JP" altLang="en-US" sz="1050"/>
              <a:t>を電流変化に変換する。基本的な増幅動作の起点。</a:t>
            </a:r>
          </a:p>
          <a:p>
            <a:pPr lvl="2"/>
            <a:r>
              <a:rPr lang="en-US" altLang="ja-JP" sz="1200"/>
              <a:t>M2 (</a:t>
            </a:r>
            <a:r>
              <a:rPr lang="ja-JP" altLang="en-US" sz="1200"/>
              <a:t>上段、コモンゲート</a:t>
            </a:r>
            <a:r>
              <a:rPr lang="en-US" altLang="ja-JP" sz="1200"/>
              <a:t>)</a:t>
            </a:r>
          </a:p>
          <a:p>
            <a:pPr lvl="3"/>
            <a:r>
              <a:rPr lang="ja-JP" altLang="en-US" sz="1050"/>
              <a:t>ゲート</a:t>
            </a:r>
            <a:r>
              <a:rPr lang="en-US" altLang="ja-JP" sz="1050"/>
              <a:t>: </a:t>
            </a:r>
            <a:r>
              <a:rPr lang="ja-JP" altLang="en-US" sz="1050"/>
              <a:t>固定バイアス電圧</a:t>
            </a:r>
            <a:r>
              <a:rPr lang="en-US" altLang="ja-JP" sz="1050"/>
              <a:t>(Vb) - M2</a:t>
            </a:r>
            <a:r>
              <a:rPr lang="ja-JP" altLang="en-US" sz="1050"/>
              <a:t>の動作点を決める</a:t>
            </a:r>
          </a:p>
          <a:p>
            <a:pPr lvl="3"/>
            <a:r>
              <a:rPr lang="ja-JP" altLang="en-US" sz="1050"/>
              <a:t>役割</a:t>
            </a:r>
            <a:r>
              <a:rPr lang="en-US" altLang="ja-JP" sz="1050"/>
              <a:t>: M1</a:t>
            </a:r>
            <a:r>
              <a:rPr lang="ja-JP" altLang="en-US" sz="1050"/>
              <a:t>のドレイン電圧を安定させる</a:t>
            </a:r>
            <a:endParaRPr lang="en-US" altLang="ja-JP" sz="1050"/>
          </a:p>
        </p:txBody>
      </p:sp>
      <p:sp>
        <p:nvSpPr>
          <p:cNvPr id="34" name="Rectangle 33">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F92B6613-EADD-5947-4182-B3F4515EA97E}"/>
              </a:ext>
            </a:extLst>
          </p:cNvPr>
          <p:cNvPicPr>
            <a:picLocks noChangeAspect="1"/>
          </p:cNvPicPr>
          <p:nvPr/>
        </p:nvPicPr>
        <p:blipFill>
          <a:blip r:embed="rId2"/>
          <a:stretch>
            <a:fillRect/>
          </a:stretch>
        </p:blipFill>
        <p:spPr>
          <a:xfrm>
            <a:off x="6930493" y="1112891"/>
            <a:ext cx="4223252" cy="4692502"/>
          </a:xfrm>
          <a:prstGeom prst="rect">
            <a:avLst/>
          </a:prstGeom>
        </p:spPr>
      </p:pic>
      <p:cxnSp>
        <p:nvCxnSpPr>
          <p:cNvPr id="36" name="Straight Connector 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B004D1B-411A-3AF6-79FA-5B787A0B0597}"/>
              </a:ext>
            </a:extLst>
          </p:cNvPr>
          <p:cNvSpPr txBox="1"/>
          <p:nvPr/>
        </p:nvSpPr>
        <p:spPr>
          <a:xfrm>
            <a:off x="9042118" y="5745109"/>
            <a:ext cx="2438061" cy="215444"/>
          </a:xfrm>
          <a:prstGeom prst="rect">
            <a:avLst/>
          </a:prstGeom>
          <a:noFill/>
        </p:spPr>
        <p:txBody>
          <a:bodyPr wrap="square" rtlCol="0">
            <a:spAutoFit/>
          </a:bodyPr>
          <a:lstStyle/>
          <a:p>
            <a:r>
              <a:rPr kumimoji="1" lang="ja-JP" altLang="en-US" sz="800"/>
              <a:t>出典：アナログ</a:t>
            </a:r>
            <a:r>
              <a:rPr kumimoji="1" lang="en-US" altLang="ja-JP" sz="800"/>
              <a:t>CMOS</a:t>
            </a:r>
            <a:r>
              <a:rPr kumimoji="1" lang="ja-JP" altLang="en-US" sz="800"/>
              <a:t>集積回路の設計・基礎編</a:t>
            </a:r>
          </a:p>
        </p:txBody>
      </p:sp>
    </p:spTree>
    <p:extLst>
      <p:ext uri="{BB962C8B-B14F-4D97-AF65-F5344CB8AC3E}">
        <p14:creationId xmlns:p14="http://schemas.microsoft.com/office/powerpoint/2010/main" val="4178440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2493A15-F9BA-7C79-45A4-498513CDB613}"/>
              </a:ext>
            </a:extLst>
          </p:cNvPr>
          <p:cNvSpPr>
            <a:spLocks noGrp="1"/>
          </p:cNvSpPr>
          <p:nvPr>
            <p:ph type="title"/>
          </p:nvPr>
        </p:nvSpPr>
        <p:spPr>
          <a:xfrm>
            <a:off x="793662" y="386930"/>
            <a:ext cx="10066122" cy="1298448"/>
          </a:xfrm>
        </p:spPr>
        <p:txBody>
          <a:bodyPr anchor="b">
            <a:normAutofit/>
          </a:bodyPr>
          <a:lstStyle/>
          <a:p>
            <a:r>
              <a:rPr kumimoji="1" lang="ja-JP" altLang="en-US" sz="4800"/>
              <a:t>利点：短チャネル効果の改善</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EF28942-3A7C-B947-3AB0-D197762182F6}"/>
              </a:ext>
            </a:extLst>
          </p:cNvPr>
          <p:cNvSpPr>
            <a:spLocks noGrp="1"/>
          </p:cNvSpPr>
          <p:nvPr>
            <p:ph idx="1"/>
          </p:nvPr>
        </p:nvSpPr>
        <p:spPr>
          <a:xfrm>
            <a:off x="793661" y="2599509"/>
            <a:ext cx="2761771" cy="3639450"/>
          </a:xfrm>
        </p:spPr>
        <p:txBody>
          <a:bodyPr anchor="ctr">
            <a:normAutofit/>
          </a:bodyPr>
          <a:lstStyle/>
          <a:p>
            <a:r>
              <a:rPr lang="ja-JP" altLang="en-US" sz="2000"/>
              <a:t>原理</a:t>
            </a:r>
            <a:endParaRPr lang="en-US" altLang="ja-JP" sz="2000"/>
          </a:p>
          <a:p>
            <a:pPr lvl="1"/>
            <a:r>
              <a:rPr lang="ja-JP" altLang="en-US" sz="1600"/>
              <a:t>下段トランジスタのドレイン電圧がほぼ一定に保たれることを利用</a:t>
            </a:r>
            <a:endParaRPr lang="en-US" altLang="ja-JP" sz="1600"/>
          </a:p>
          <a:p>
            <a:pPr lvl="2"/>
            <a:r>
              <a:rPr lang="en-US" altLang="ja-JP" sz="1200"/>
              <a:t>c</a:t>
            </a:r>
            <a:r>
              <a:rPr kumimoji="1" lang="en-US" altLang="ja-JP" sz="1200"/>
              <a:t>ascode.sch</a:t>
            </a:r>
            <a:endParaRPr kumimoji="1" lang="ja-JP" altLang="en-US" sz="1200"/>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8015F6DD-F7AF-C7E1-9975-226EEF6ACC5A}"/>
              </a:ext>
            </a:extLst>
          </p:cNvPr>
          <p:cNvPicPr>
            <a:picLocks noChangeAspect="1"/>
          </p:cNvPicPr>
          <p:nvPr/>
        </p:nvPicPr>
        <p:blipFill>
          <a:blip r:embed="rId2"/>
          <a:stretch>
            <a:fillRect/>
          </a:stretch>
        </p:blipFill>
        <p:spPr>
          <a:xfrm>
            <a:off x="3607124" y="2599509"/>
            <a:ext cx="8584876" cy="3748120"/>
          </a:xfrm>
          <a:prstGeom prst="rect">
            <a:avLst/>
          </a:prstGeom>
        </p:spPr>
      </p:pic>
    </p:spTree>
    <p:extLst>
      <p:ext uri="{BB962C8B-B14F-4D97-AF65-F5344CB8AC3E}">
        <p14:creationId xmlns:p14="http://schemas.microsoft.com/office/powerpoint/2010/main" val="18574910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66" name="Rectangle 1065">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1B2ED28-53E7-8CDB-D704-BEA9ABECDE4F}"/>
              </a:ext>
            </a:extLst>
          </p:cNvPr>
          <p:cNvSpPr>
            <a:spLocks noGrp="1"/>
          </p:cNvSpPr>
          <p:nvPr>
            <p:ph type="title"/>
          </p:nvPr>
        </p:nvSpPr>
        <p:spPr>
          <a:xfrm>
            <a:off x="7239014" y="525982"/>
            <a:ext cx="4282983" cy="1200361"/>
          </a:xfrm>
        </p:spPr>
        <p:txBody>
          <a:bodyPr anchor="b">
            <a:normAutofit/>
          </a:bodyPr>
          <a:lstStyle/>
          <a:p>
            <a:r>
              <a:rPr lang="ja-JP" altLang="en-US" sz="3600"/>
              <a:t>応用：</a:t>
            </a:r>
            <a:r>
              <a:rPr lang="en-US" altLang="ja-JP" sz="3600"/>
              <a:t>Rail-to-Rail</a:t>
            </a:r>
            <a:endParaRPr kumimoji="1" lang="ja-JP" altLang="en-US" sz="3600"/>
          </a:p>
        </p:txBody>
      </p:sp>
      <p:sp>
        <p:nvSpPr>
          <p:cNvPr id="1068" name="Rectangle 106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図-3　Rail to railオペアンプ　入力簡易等価回路">
            <a:extLst>
              <a:ext uri="{FF2B5EF4-FFF2-40B4-BE49-F238E27FC236}">
                <a16:creationId xmlns:a16="http://schemas.microsoft.com/office/drawing/2014/main" id="{B0C9C8A3-F3AC-8090-187B-2240781513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6244" y="934126"/>
            <a:ext cx="5628018" cy="4756878"/>
          </a:xfrm>
          <a:prstGeom prst="rect">
            <a:avLst/>
          </a:prstGeom>
          <a:noFill/>
          <a:extLst>
            <a:ext uri="{909E8E84-426E-40DD-AFC4-6F175D3DCCD1}">
              <a14:hiddenFill xmlns:a14="http://schemas.microsoft.com/office/drawing/2010/main">
                <a:solidFill>
                  <a:srgbClr val="FFFFFF"/>
                </a:solidFill>
              </a14:hiddenFill>
            </a:ext>
          </a:extLst>
        </p:spPr>
      </p:pic>
      <p:sp>
        <p:nvSpPr>
          <p:cNvPr id="1072" name="Rectangle 107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コンテンツ プレースホルダー 2">
            <a:extLst>
              <a:ext uri="{FF2B5EF4-FFF2-40B4-BE49-F238E27FC236}">
                <a16:creationId xmlns:a16="http://schemas.microsoft.com/office/drawing/2014/main" id="{3C7F52E6-2BE2-3616-42CC-33F34755C5C4}"/>
              </a:ext>
            </a:extLst>
          </p:cNvPr>
          <p:cNvSpPr>
            <a:spLocks noGrp="1"/>
          </p:cNvSpPr>
          <p:nvPr>
            <p:ph idx="1"/>
          </p:nvPr>
        </p:nvSpPr>
        <p:spPr>
          <a:xfrm>
            <a:off x="7239012" y="2031101"/>
            <a:ext cx="4282984" cy="3511943"/>
          </a:xfrm>
        </p:spPr>
        <p:txBody>
          <a:bodyPr anchor="ctr">
            <a:normAutofit/>
          </a:bodyPr>
          <a:lstStyle/>
          <a:p>
            <a:r>
              <a:rPr kumimoji="1" lang="ja-JP" altLang="en-US" sz="1700"/>
              <a:t>構成</a:t>
            </a:r>
            <a:endParaRPr kumimoji="1" lang="en-US" altLang="ja-JP" sz="1700"/>
          </a:p>
          <a:p>
            <a:pPr lvl="1"/>
            <a:r>
              <a:rPr lang="ja-JP" altLang="en-US" sz="1700"/>
              <a:t>コンプリメンタリ差動対</a:t>
            </a:r>
            <a:endParaRPr lang="en-US" altLang="ja-JP" sz="1700"/>
          </a:p>
          <a:p>
            <a:pPr lvl="1"/>
            <a:r>
              <a:rPr lang="ja-JP" altLang="en-US" sz="1700"/>
              <a:t>フォールデッドカスコード</a:t>
            </a:r>
          </a:p>
          <a:p>
            <a:pPr lvl="1"/>
            <a:r>
              <a:rPr lang="ja-JP" altLang="en-US" sz="1700"/>
              <a:t>プッシュプル構成</a:t>
            </a:r>
            <a:endParaRPr kumimoji="1" lang="en-US" altLang="ja-JP" sz="1700"/>
          </a:p>
          <a:p>
            <a:r>
              <a:rPr kumimoji="1" lang="ja-JP" altLang="en-US" sz="1700"/>
              <a:t>内容</a:t>
            </a:r>
            <a:endParaRPr kumimoji="1" lang="en-US" altLang="ja-JP" sz="1700"/>
          </a:p>
          <a:p>
            <a:pPr lvl="1"/>
            <a:r>
              <a:rPr kumimoji="1" lang="en-US" altLang="ja-JP" sz="1700"/>
              <a:t>VDD-VSS</a:t>
            </a:r>
            <a:r>
              <a:rPr kumimoji="1" lang="ja-JP" altLang="en-US" sz="1700"/>
              <a:t>までフルレンジで出力させる</a:t>
            </a:r>
            <a:endParaRPr kumimoji="1" lang="en-US" altLang="ja-JP" sz="1700"/>
          </a:p>
          <a:p>
            <a:r>
              <a:rPr kumimoji="1" lang="ja-JP" altLang="en-US" sz="1700"/>
              <a:t>構造</a:t>
            </a:r>
            <a:endParaRPr kumimoji="1" lang="en-US" altLang="ja-JP" sz="1700"/>
          </a:p>
          <a:p>
            <a:pPr lvl="1"/>
            <a:r>
              <a:rPr kumimoji="1" lang="ja-JP" altLang="en-US" sz="1700"/>
              <a:t>差動対を</a:t>
            </a:r>
            <a:r>
              <a:rPr kumimoji="1" lang="en-US" altLang="ja-JP" sz="1700"/>
              <a:t>pMOS,nMOS</a:t>
            </a:r>
            <a:r>
              <a:rPr kumimoji="1" lang="ja-JP" altLang="en-US" sz="1700"/>
              <a:t>構造にする</a:t>
            </a:r>
            <a:endParaRPr kumimoji="1" lang="en-US" altLang="ja-JP" sz="1700"/>
          </a:p>
          <a:p>
            <a:pPr lvl="1"/>
            <a:r>
              <a:rPr kumimoji="1" lang="ja-JP" altLang="en-US" sz="1700"/>
              <a:t>カレントミラーをカスコード接続する</a:t>
            </a:r>
            <a:endParaRPr kumimoji="1" lang="en-US" altLang="ja-JP" sz="1700"/>
          </a:p>
        </p:txBody>
      </p:sp>
      <p:sp>
        <p:nvSpPr>
          <p:cNvPr id="1074" name="Rectangle 107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テキスト ボックス 3">
            <a:extLst>
              <a:ext uri="{FF2B5EF4-FFF2-40B4-BE49-F238E27FC236}">
                <a16:creationId xmlns:a16="http://schemas.microsoft.com/office/drawing/2014/main" id="{6A7203E2-1FDA-C3CD-F330-A693F197292A}"/>
              </a:ext>
            </a:extLst>
          </p:cNvPr>
          <p:cNvSpPr txBox="1"/>
          <p:nvPr/>
        </p:nvSpPr>
        <p:spPr>
          <a:xfrm>
            <a:off x="310234" y="5923874"/>
            <a:ext cx="6353983" cy="215444"/>
          </a:xfrm>
          <a:prstGeom prst="rect">
            <a:avLst/>
          </a:prstGeom>
          <a:noFill/>
        </p:spPr>
        <p:txBody>
          <a:bodyPr wrap="square" rtlCol="0">
            <a:spAutoFit/>
          </a:bodyPr>
          <a:lstStyle/>
          <a:p>
            <a:r>
              <a:rPr kumimoji="1" lang="ja-JP" altLang="en-US" sz="800"/>
              <a:t>出典：</a:t>
            </a:r>
            <a:r>
              <a:rPr lang="en-US" altLang="ja-JP" sz="800"/>
              <a:t>https://toshiba.semicon-storage.com/jp/semiconductor/knowledge/faq/linear_opamp/what-does-rail-to-rail-mean.html</a:t>
            </a:r>
            <a:endParaRPr kumimoji="1" lang="ja-JP" altLang="en-US" sz="800"/>
          </a:p>
        </p:txBody>
      </p:sp>
    </p:spTree>
    <p:extLst>
      <p:ext uri="{BB962C8B-B14F-4D97-AF65-F5344CB8AC3E}">
        <p14:creationId xmlns:p14="http://schemas.microsoft.com/office/powerpoint/2010/main" val="16514056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11EB1C8F-3704-94EE-2B6C-E9E880E777DA}"/>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C1D976DE-BBFD-A03E-8439-1B2D7A125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BDD5354-3F2A-EF67-635F-4B7E5011BCB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491DF834-DAAA-5C13-D146-175968CF87A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2F5B747C-2BEA-444A-0809-88FCACC7832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8DBB988-FEAA-F093-99F8-13D9D4CC1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1778EFD-3F21-FB54-87C0-CBADC6CE9D0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Rail-to-Rail OPAMP</a:t>
            </a:r>
            <a:r>
              <a:rPr lang="ja-JP" altLang="en-US" sz="4000">
                <a:solidFill>
                  <a:schemeClr val="bg2"/>
                </a:solidFill>
              </a:rPr>
              <a:t>型</a:t>
            </a:r>
            <a:r>
              <a:rPr kumimoji="1" lang="ja-JP" altLang="en-US" sz="4000" kern="1200">
                <a:solidFill>
                  <a:schemeClr val="bg2"/>
                </a:solidFill>
                <a:latin typeface="+mj-lt"/>
                <a:ea typeface="+mj-ea"/>
                <a:cs typeface="+mj-cs"/>
              </a:rPr>
              <a:t>コンパレータ</a:t>
            </a:r>
          </a:p>
        </p:txBody>
      </p:sp>
    </p:spTree>
    <p:extLst>
      <p:ext uri="{BB962C8B-B14F-4D97-AF65-F5344CB8AC3E}">
        <p14:creationId xmlns:p14="http://schemas.microsoft.com/office/powerpoint/2010/main" val="4038606766"/>
      </p:ext>
    </p:extLst>
  </p:cSld>
  <p:clrMapOvr>
    <a:overrideClrMapping bg1="dk1" tx1="lt1" bg2="dk2" tx2="lt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02593BD-04EF-868C-571F-AB97CBEF87C6}"/>
              </a:ext>
            </a:extLst>
          </p:cNvPr>
          <p:cNvSpPr>
            <a:spLocks noGrp="1"/>
          </p:cNvSpPr>
          <p:nvPr>
            <p:ph type="title"/>
          </p:nvPr>
        </p:nvSpPr>
        <p:spPr>
          <a:xfrm>
            <a:off x="793662" y="386930"/>
            <a:ext cx="10066122" cy="1298448"/>
          </a:xfrm>
        </p:spPr>
        <p:txBody>
          <a:bodyPr anchor="b">
            <a:normAutofit/>
          </a:bodyPr>
          <a:lstStyle/>
          <a:p>
            <a:r>
              <a:rPr kumimoji="1" lang="en-US" altLang="ja-JP" sz="4800"/>
              <a:t>Rail-to-Rail </a:t>
            </a:r>
            <a:r>
              <a:rPr lang="en-US" altLang="ja-JP" sz="4800"/>
              <a:t>OPAMP</a:t>
            </a:r>
            <a:r>
              <a:rPr lang="ja-JP" altLang="en-US" sz="4800"/>
              <a:t>型コンパレータ</a:t>
            </a:r>
            <a:endParaRPr kumimoji="1" lang="ja-JP" altLang="en-US" sz="4800"/>
          </a:p>
        </p:txBody>
      </p:sp>
      <p:sp>
        <p:nvSpPr>
          <p:cNvPr id="26"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図 7">
            <a:extLst>
              <a:ext uri="{FF2B5EF4-FFF2-40B4-BE49-F238E27FC236}">
                <a16:creationId xmlns:a16="http://schemas.microsoft.com/office/drawing/2014/main" id="{796D5554-A098-609C-C9DE-AF71684CF9E2}"/>
              </a:ext>
            </a:extLst>
          </p:cNvPr>
          <p:cNvPicPr>
            <a:picLocks noChangeAspect="1"/>
          </p:cNvPicPr>
          <p:nvPr/>
        </p:nvPicPr>
        <p:blipFill>
          <a:blip r:embed="rId2"/>
          <a:stretch>
            <a:fillRect/>
          </a:stretch>
        </p:blipFill>
        <p:spPr>
          <a:xfrm>
            <a:off x="1503106" y="2203078"/>
            <a:ext cx="8822019" cy="4267991"/>
          </a:xfrm>
          <a:prstGeom prst="rect">
            <a:avLst/>
          </a:prstGeom>
        </p:spPr>
      </p:pic>
      <p:sp>
        <p:nvSpPr>
          <p:cNvPr id="24" name="フローチャート: 代替処理 23">
            <a:extLst>
              <a:ext uri="{FF2B5EF4-FFF2-40B4-BE49-F238E27FC236}">
                <a16:creationId xmlns:a16="http://schemas.microsoft.com/office/drawing/2014/main" id="{EAD15F8D-AE11-787B-590E-04B7C056C341}"/>
              </a:ext>
            </a:extLst>
          </p:cNvPr>
          <p:cNvSpPr/>
          <p:nvPr/>
        </p:nvSpPr>
        <p:spPr>
          <a:xfrm>
            <a:off x="9770301" y="153603"/>
            <a:ext cx="2098110" cy="582460"/>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a:t>参考</a:t>
            </a:r>
          </a:p>
        </p:txBody>
      </p:sp>
    </p:spTree>
    <p:extLst>
      <p:ext uri="{BB962C8B-B14F-4D97-AF65-F5344CB8AC3E}">
        <p14:creationId xmlns:p14="http://schemas.microsoft.com/office/powerpoint/2010/main" val="7031307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598D7C39-84FE-73D3-A490-548CB9CC9A2F}"/>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ja-JP" altLang="en-US" kern="1200">
                <a:solidFill>
                  <a:schemeClr val="tx1"/>
                </a:solidFill>
                <a:latin typeface="+mj-lt"/>
                <a:ea typeface="+mj-ea"/>
                <a:cs typeface="+mj-cs"/>
              </a:rPr>
              <a:t>基板バイアス効果 </a:t>
            </a:r>
            <a:r>
              <a:rPr lang="en-US" altLang="ja-JP" kern="1200">
                <a:solidFill>
                  <a:schemeClr val="tx1"/>
                </a:solidFill>
                <a:latin typeface="+mj-lt"/>
                <a:ea typeface="+mj-ea"/>
                <a:cs typeface="+mj-cs"/>
              </a:rPr>
              <a:t>(body effect)</a:t>
            </a:r>
            <a:endParaRPr kumimoji="1" lang="en-US" altLang="ja-JP" kern="1200">
              <a:solidFill>
                <a:schemeClr val="tx1"/>
              </a:solidFill>
              <a:latin typeface="+mj-lt"/>
              <a:ea typeface="+mj-ea"/>
              <a:cs typeface="+mj-cs"/>
            </a:endParaRP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9D201A1-D7F4-A035-8B21-57A4FE1A30D9}"/>
              </a:ext>
            </a:extLst>
          </p:cNvPr>
          <p:cNvSpPr>
            <a:spLocks noGrp="1"/>
          </p:cNvSpPr>
          <p:nvPr>
            <p:ph sz="quarter" idx="13"/>
          </p:nvPr>
        </p:nvSpPr>
        <p:spPr>
          <a:xfrm>
            <a:off x="838200" y="1825625"/>
            <a:ext cx="10515600" cy="4351338"/>
          </a:xfrm>
        </p:spPr>
        <p:txBody>
          <a:bodyPr vert="horz" lIns="91440" tIns="45720" rIns="91440" bIns="45720" rtlCol="0">
            <a:normAutofit/>
          </a:bodyPr>
          <a:lstStyle/>
          <a:p>
            <a:r>
              <a:rPr kumimoji="1" lang="ja-JP" altLang="en-US"/>
              <a:t>ボディにかかるバイアス電圧によってトランジスタの動作が変化する</a:t>
            </a:r>
            <a:endParaRPr kumimoji="1" lang="en-US" altLang="ja-JP"/>
          </a:p>
          <a:p>
            <a:pPr lvl="1"/>
            <a:r>
              <a:rPr lang="ja-JP" altLang="en-US"/>
              <a:t>スレッショルド電圧（</a:t>
            </a:r>
            <a:r>
              <a:rPr lang="en-US" altLang="ja-JP"/>
              <a:t>Vth</a:t>
            </a:r>
            <a:r>
              <a:rPr lang="ja-JP" altLang="en-US"/>
              <a:t>）が変化</a:t>
            </a:r>
            <a:endParaRPr lang="en-US" altLang="ja-JP"/>
          </a:p>
          <a:p>
            <a:pPr lvl="1"/>
            <a:r>
              <a:rPr lang="ja-JP" altLang="en-US"/>
              <a:t>ゲート電圧を固定して比較した時、</a:t>
            </a:r>
            <a:r>
              <a:rPr kumimoji="1" lang="ja-JP" altLang="en-US"/>
              <a:t>ドレイン・ソース間電流</a:t>
            </a:r>
            <a:r>
              <a:rPr kumimoji="1" lang="en-US" altLang="ja-JP"/>
              <a:t>(Ids)</a:t>
            </a:r>
            <a:r>
              <a:rPr kumimoji="1" lang="ja-JP" altLang="en-US"/>
              <a:t>が変化</a:t>
            </a:r>
            <a:endParaRPr kumimoji="1" lang="en-US" altLang="ja-JP"/>
          </a:p>
          <a:p>
            <a:endParaRPr lang="en-US" altLang="ja-JP"/>
          </a:p>
        </p:txBody>
      </p:sp>
      <p:sp>
        <p:nvSpPr>
          <p:cNvPr id="6" name="スライド番号プレースホルダー 5">
            <a:extLst>
              <a:ext uri="{FF2B5EF4-FFF2-40B4-BE49-F238E27FC236}">
                <a16:creationId xmlns:a16="http://schemas.microsoft.com/office/drawing/2014/main" id="{D8FC046F-ACA6-60FB-12C5-4A64F0FD0B8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spcAft>
                <a:spcPts val="600"/>
              </a:spcAft>
            </a:pPr>
            <a:fld id="{66E89953-8AEA-4BDF-A508-664B12926AB4}" type="slidenum">
              <a:rPr kumimoji="1" lang="en-US" altLang="ja-JP" smtClean="0">
                <a:solidFill>
                  <a:schemeClr val="tx1">
                    <a:tint val="75000"/>
                  </a:schemeClr>
                </a:solidFill>
              </a:rPr>
              <a:pPr algn="r" defTabSz="914400">
                <a:spcAft>
                  <a:spcPts val="600"/>
                </a:spcAft>
              </a:pPr>
              <a:t>92</a:t>
            </a:fld>
            <a:endParaRPr kumimoji="1" lang="en-US" altLang="ja-JP">
              <a:solidFill>
                <a:schemeClr val="tx1">
                  <a:tint val="75000"/>
                </a:schemeClr>
              </a:solidFill>
            </a:endParaRPr>
          </a:p>
        </p:txBody>
      </p:sp>
    </p:spTree>
    <p:extLst>
      <p:ext uri="{BB962C8B-B14F-4D97-AF65-F5344CB8AC3E}">
        <p14:creationId xmlns:p14="http://schemas.microsoft.com/office/powerpoint/2010/main" val="31820178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DEBE549-0EA2-90B1-468F-C6A1DB2F9BF1}"/>
              </a:ext>
            </a:extLst>
          </p:cNvPr>
          <p:cNvSpPr>
            <a:spLocks noGrp="1"/>
          </p:cNvSpPr>
          <p:nvPr>
            <p:ph sz="quarter" idx="13"/>
          </p:nvPr>
        </p:nvSpPr>
        <p:spPr>
          <a:xfrm>
            <a:off x="1524000" y="5514052"/>
            <a:ext cx="9144000" cy="651910"/>
          </a:xfrm>
        </p:spPr>
        <p:txBody>
          <a:bodyPr vert="horz" lIns="91440" tIns="45720" rIns="91440" bIns="45720" rtlCol="0" anchor="ctr">
            <a:normAutofit/>
          </a:bodyPr>
          <a:lstStyle/>
          <a:p>
            <a:pPr marL="0" indent="0" algn="ctr">
              <a:buNone/>
            </a:pPr>
            <a:r>
              <a:rPr lang="ja-JP" altLang="en-US" sz="2400"/>
              <a:t>プレーナ型</a:t>
            </a:r>
            <a:r>
              <a:rPr lang="en-US" altLang="ja-JP" sz="2400" err="1"/>
              <a:t>pMOS</a:t>
            </a:r>
            <a:r>
              <a:rPr lang="ja-JP" altLang="en-US" sz="2400"/>
              <a:t>トランジスタ（トリプルウェル）</a:t>
            </a:r>
            <a:endParaRPr kumimoji="1" lang="ja-JP" altLang="en-US" sz="2400" kern="1200">
              <a:solidFill>
                <a:schemeClr val="tx1"/>
              </a:solidFill>
              <a:latin typeface="+mn-lt"/>
              <a:ea typeface="+mn-ea"/>
              <a:cs typeface="+mn-cs"/>
            </a:endParaRP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グラフィックス 5">
            <a:extLst>
              <a:ext uri="{FF2B5EF4-FFF2-40B4-BE49-F238E27FC236}">
                <a16:creationId xmlns:a16="http://schemas.microsoft.com/office/drawing/2014/main" id="{FC7BA969-3168-686F-C2D6-3722B9F19C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13690" y="1546250"/>
            <a:ext cx="5611343" cy="2866335"/>
          </a:xfrm>
          <a:prstGeom prst="rect">
            <a:avLst/>
          </a:prstGeom>
        </p:spPr>
      </p:pic>
      <p:sp>
        <p:nvSpPr>
          <p:cNvPr id="7" name="テキスト ボックス 6">
            <a:extLst>
              <a:ext uri="{FF2B5EF4-FFF2-40B4-BE49-F238E27FC236}">
                <a16:creationId xmlns:a16="http://schemas.microsoft.com/office/drawing/2014/main" id="{149A0120-2479-CCC9-92BF-3A203E49788B}"/>
              </a:ext>
            </a:extLst>
          </p:cNvPr>
          <p:cNvSpPr txBox="1"/>
          <p:nvPr/>
        </p:nvSpPr>
        <p:spPr>
          <a:xfrm>
            <a:off x="6553200" y="1508988"/>
            <a:ext cx="2686050" cy="369332"/>
          </a:xfrm>
          <a:prstGeom prst="rect">
            <a:avLst/>
          </a:prstGeom>
          <a:noFill/>
        </p:spPr>
        <p:txBody>
          <a:bodyPr wrap="square" rtlCol="0">
            <a:spAutoFit/>
          </a:bodyPr>
          <a:lstStyle/>
          <a:p>
            <a:r>
              <a:rPr kumimoji="1" lang="ja-JP" altLang="en-US">
                <a:solidFill>
                  <a:schemeClr val="accent1"/>
                </a:solidFill>
              </a:rPr>
              <a:t>ポリ</a:t>
            </a:r>
            <a:r>
              <a:rPr kumimoji="1" lang="en-US" altLang="ja-JP">
                <a:solidFill>
                  <a:schemeClr val="accent1"/>
                </a:solidFill>
              </a:rPr>
              <a:t>(</a:t>
            </a:r>
            <a:r>
              <a:rPr kumimoji="1" lang="ja-JP" altLang="en-US">
                <a:solidFill>
                  <a:schemeClr val="accent1"/>
                </a:solidFill>
              </a:rPr>
              <a:t>多結晶</a:t>
            </a:r>
            <a:r>
              <a:rPr kumimoji="1" lang="en-US" altLang="ja-JP">
                <a:solidFill>
                  <a:schemeClr val="accent1"/>
                </a:solidFill>
              </a:rPr>
              <a:t>)</a:t>
            </a:r>
            <a:r>
              <a:rPr kumimoji="1" lang="ja-JP" altLang="en-US">
                <a:solidFill>
                  <a:schemeClr val="accent1"/>
                </a:solidFill>
              </a:rPr>
              <a:t>シリコン</a:t>
            </a:r>
          </a:p>
        </p:txBody>
      </p:sp>
      <p:sp>
        <p:nvSpPr>
          <p:cNvPr id="9" name="テキスト ボックス 8">
            <a:extLst>
              <a:ext uri="{FF2B5EF4-FFF2-40B4-BE49-F238E27FC236}">
                <a16:creationId xmlns:a16="http://schemas.microsoft.com/office/drawing/2014/main" id="{4A16DF41-7297-6E30-65E2-7F1D8503EF33}"/>
              </a:ext>
            </a:extLst>
          </p:cNvPr>
          <p:cNvSpPr txBox="1"/>
          <p:nvPr/>
        </p:nvSpPr>
        <p:spPr>
          <a:xfrm>
            <a:off x="6553200" y="3407221"/>
            <a:ext cx="5467341" cy="369332"/>
          </a:xfrm>
          <a:prstGeom prst="rect">
            <a:avLst/>
          </a:prstGeom>
          <a:noFill/>
        </p:spPr>
        <p:txBody>
          <a:bodyPr wrap="square" rtlCol="0">
            <a:spAutoFit/>
          </a:bodyPr>
          <a:lstStyle/>
          <a:p>
            <a:r>
              <a:rPr kumimoji="1" lang="en-US" altLang="ja-JP"/>
              <a:t>Deep N-well</a:t>
            </a:r>
            <a:endParaRPr kumimoji="1" lang="ja-JP" altLang="en-US"/>
          </a:p>
        </p:txBody>
      </p:sp>
      <p:sp>
        <p:nvSpPr>
          <p:cNvPr id="16" name="テキスト ボックス 15">
            <a:extLst>
              <a:ext uri="{FF2B5EF4-FFF2-40B4-BE49-F238E27FC236}">
                <a16:creationId xmlns:a16="http://schemas.microsoft.com/office/drawing/2014/main" id="{622B32D9-5F33-11B3-270F-CCE60D49AE82}"/>
              </a:ext>
            </a:extLst>
          </p:cNvPr>
          <p:cNvSpPr txBox="1"/>
          <p:nvPr/>
        </p:nvSpPr>
        <p:spPr>
          <a:xfrm>
            <a:off x="6553200" y="2734460"/>
            <a:ext cx="788549" cy="369332"/>
          </a:xfrm>
          <a:prstGeom prst="rect">
            <a:avLst/>
          </a:prstGeom>
          <a:noFill/>
        </p:spPr>
        <p:txBody>
          <a:bodyPr wrap="none" rtlCol="0">
            <a:spAutoFit/>
          </a:bodyPr>
          <a:lstStyle/>
          <a:p>
            <a:r>
              <a:rPr kumimoji="1" lang="en-US" altLang="ja-JP">
                <a:solidFill>
                  <a:schemeClr val="accent1"/>
                </a:solidFill>
              </a:rPr>
              <a:t>N-well</a:t>
            </a:r>
            <a:endParaRPr kumimoji="1" lang="ja-JP" altLang="en-US">
              <a:solidFill>
                <a:schemeClr val="accent1"/>
              </a:solidFill>
            </a:endParaRPr>
          </a:p>
        </p:txBody>
      </p:sp>
      <p:cxnSp>
        <p:nvCxnSpPr>
          <p:cNvPr id="18" name="直線矢印コネクタ 17">
            <a:extLst>
              <a:ext uri="{FF2B5EF4-FFF2-40B4-BE49-F238E27FC236}">
                <a16:creationId xmlns:a16="http://schemas.microsoft.com/office/drawing/2014/main" id="{A0136449-2E7A-1296-9493-AF3E7352A5B0}"/>
              </a:ext>
            </a:extLst>
          </p:cNvPr>
          <p:cNvCxnSpPr>
            <a:cxnSpLocks/>
          </p:cNvCxnSpPr>
          <p:nvPr/>
        </p:nvCxnSpPr>
        <p:spPr>
          <a:xfrm flipH="1">
            <a:off x="5391150" y="2520833"/>
            <a:ext cx="1162050" cy="3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7A32E3BA-6602-A9F9-A56B-F810D48D8BF6}"/>
              </a:ext>
            </a:extLst>
          </p:cNvPr>
          <p:cNvCxnSpPr>
            <a:cxnSpLocks/>
            <a:stCxn id="7" idx="1"/>
          </p:cNvCxnSpPr>
          <p:nvPr/>
        </p:nvCxnSpPr>
        <p:spPr>
          <a:xfrm flipH="1">
            <a:off x="3505200" y="1693654"/>
            <a:ext cx="3048000" cy="358153"/>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23" name="テキスト ボックス 22">
            <a:extLst>
              <a:ext uri="{FF2B5EF4-FFF2-40B4-BE49-F238E27FC236}">
                <a16:creationId xmlns:a16="http://schemas.microsoft.com/office/drawing/2014/main" id="{3A35F08E-161A-EB2B-1924-8113C75A8DF3}"/>
              </a:ext>
            </a:extLst>
          </p:cNvPr>
          <p:cNvSpPr txBox="1"/>
          <p:nvPr/>
        </p:nvSpPr>
        <p:spPr>
          <a:xfrm>
            <a:off x="1814221" y="692038"/>
            <a:ext cx="3019425" cy="369332"/>
          </a:xfrm>
          <a:prstGeom prst="rect">
            <a:avLst/>
          </a:prstGeom>
          <a:noFill/>
          <a:ln>
            <a:noFill/>
          </a:ln>
        </p:spPr>
        <p:txBody>
          <a:bodyPr wrap="square" rtlCol="0">
            <a:spAutoFit/>
          </a:bodyPr>
          <a:lstStyle/>
          <a:p>
            <a:pPr algn="ctr"/>
            <a:r>
              <a:rPr kumimoji="1" lang="en-US" altLang="ja-JP">
                <a:solidFill>
                  <a:schemeClr val="accent1"/>
                </a:solidFill>
              </a:rPr>
              <a:t>P+ </a:t>
            </a:r>
            <a:r>
              <a:rPr kumimoji="1" lang="ja-JP" altLang="en-US">
                <a:solidFill>
                  <a:schemeClr val="accent1"/>
                </a:solidFill>
              </a:rPr>
              <a:t>層</a:t>
            </a:r>
          </a:p>
        </p:txBody>
      </p:sp>
      <p:cxnSp>
        <p:nvCxnSpPr>
          <p:cNvPr id="24" name="直線矢印コネクタ 23">
            <a:extLst>
              <a:ext uri="{FF2B5EF4-FFF2-40B4-BE49-F238E27FC236}">
                <a16:creationId xmlns:a16="http://schemas.microsoft.com/office/drawing/2014/main" id="{FB52A2F1-E1CF-4A50-0F92-5CAC182A9D5E}"/>
              </a:ext>
            </a:extLst>
          </p:cNvPr>
          <p:cNvCxnSpPr>
            <a:stCxn id="23" idx="2"/>
          </p:cNvCxnSpPr>
          <p:nvPr/>
        </p:nvCxnSpPr>
        <p:spPr>
          <a:xfrm flipH="1">
            <a:off x="1714500" y="1061370"/>
            <a:ext cx="1609434" cy="120864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593131BF-3B15-D8C6-BDEF-620394EF812A}"/>
              </a:ext>
            </a:extLst>
          </p:cNvPr>
          <p:cNvCxnSpPr>
            <a:cxnSpLocks/>
            <a:stCxn id="23" idx="2"/>
          </p:cNvCxnSpPr>
          <p:nvPr/>
        </p:nvCxnSpPr>
        <p:spPr>
          <a:xfrm>
            <a:off x="3323934" y="1061370"/>
            <a:ext cx="1609433" cy="120864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AD8A44DE-7001-2169-445D-4C6A53C974F0}"/>
              </a:ext>
            </a:extLst>
          </p:cNvPr>
          <p:cNvCxnSpPr>
            <a:cxnSpLocks/>
            <a:stCxn id="16" idx="1"/>
          </p:cNvCxnSpPr>
          <p:nvPr/>
        </p:nvCxnSpPr>
        <p:spPr>
          <a:xfrm flipH="1">
            <a:off x="3505200" y="2919126"/>
            <a:ext cx="3048000" cy="26365"/>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F7C476F5-2546-266E-22F9-85A4901CB6E9}"/>
              </a:ext>
            </a:extLst>
          </p:cNvPr>
          <p:cNvSpPr txBox="1"/>
          <p:nvPr/>
        </p:nvSpPr>
        <p:spPr>
          <a:xfrm>
            <a:off x="6553200" y="2041569"/>
            <a:ext cx="5324475" cy="369332"/>
          </a:xfrm>
          <a:prstGeom prst="rect">
            <a:avLst/>
          </a:prstGeom>
          <a:noFill/>
        </p:spPr>
        <p:txBody>
          <a:bodyPr wrap="square" rtlCol="0">
            <a:spAutoFit/>
          </a:bodyPr>
          <a:lstStyle/>
          <a:p>
            <a:r>
              <a:rPr lang="ja-JP" altLang="en-US">
                <a:solidFill>
                  <a:schemeClr val="accent1"/>
                </a:solidFill>
              </a:rPr>
              <a:t>酸化膜絶縁層</a:t>
            </a:r>
          </a:p>
        </p:txBody>
      </p:sp>
      <p:cxnSp>
        <p:nvCxnSpPr>
          <p:cNvPr id="28" name="直線矢印コネクタ 27">
            <a:extLst>
              <a:ext uri="{FF2B5EF4-FFF2-40B4-BE49-F238E27FC236}">
                <a16:creationId xmlns:a16="http://schemas.microsoft.com/office/drawing/2014/main" id="{22AD1EAB-4E39-139A-B9BF-5D04DCA11CA8}"/>
              </a:ext>
            </a:extLst>
          </p:cNvPr>
          <p:cNvCxnSpPr>
            <a:cxnSpLocks/>
          </p:cNvCxnSpPr>
          <p:nvPr/>
        </p:nvCxnSpPr>
        <p:spPr>
          <a:xfrm flipH="1">
            <a:off x="5743575" y="2253938"/>
            <a:ext cx="809625" cy="0"/>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29" name="直線矢印コネクタ 28">
            <a:extLst>
              <a:ext uri="{FF2B5EF4-FFF2-40B4-BE49-F238E27FC236}">
                <a16:creationId xmlns:a16="http://schemas.microsoft.com/office/drawing/2014/main" id="{832EDE3A-E315-F208-65A1-C6EB1A2CB90F}"/>
              </a:ext>
            </a:extLst>
          </p:cNvPr>
          <p:cNvCxnSpPr>
            <a:cxnSpLocks/>
          </p:cNvCxnSpPr>
          <p:nvPr/>
        </p:nvCxnSpPr>
        <p:spPr>
          <a:xfrm flipH="1">
            <a:off x="5638801" y="1142931"/>
            <a:ext cx="904000" cy="5327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2B8983E8-0053-AC66-D7C4-A3C8C87E6779}"/>
              </a:ext>
            </a:extLst>
          </p:cNvPr>
          <p:cNvSpPr txBox="1"/>
          <p:nvPr/>
        </p:nvSpPr>
        <p:spPr>
          <a:xfrm>
            <a:off x="6542801" y="947212"/>
            <a:ext cx="5324475" cy="369332"/>
          </a:xfrm>
          <a:prstGeom prst="rect">
            <a:avLst/>
          </a:prstGeom>
          <a:noFill/>
        </p:spPr>
        <p:txBody>
          <a:bodyPr wrap="square" rtlCol="0">
            <a:spAutoFit/>
          </a:bodyPr>
          <a:lstStyle/>
          <a:p>
            <a:r>
              <a:rPr lang="ja-JP" altLang="en-US"/>
              <a:t>リン</a:t>
            </a:r>
            <a:r>
              <a:rPr lang="en-US" altLang="ja-JP"/>
              <a:t>-</a:t>
            </a:r>
            <a:r>
              <a:rPr lang="ja-JP" altLang="en-US"/>
              <a:t>ケイ酸ガラス</a:t>
            </a:r>
            <a:r>
              <a:rPr lang="en-US" altLang="ja-JP"/>
              <a:t>; </a:t>
            </a:r>
            <a:r>
              <a:rPr lang="ja-JP" altLang="en-US"/>
              <a:t>レイヤ間を埋める絶縁物質</a:t>
            </a:r>
          </a:p>
        </p:txBody>
      </p:sp>
      <p:sp>
        <p:nvSpPr>
          <p:cNvPr id="31" name="テキスト ボックス 30">
            <a:extLst>
              <a:ext uri="{FF2B5EF4-FFF2-40B4-BE49-F238E27FC236}">
                <a16:creationId xmlns:a16="http://schemas.microsoft.com/office/drawing/2014/main" id="{42E87119-9913-24E6-FD71-30502D1E5476}"/>
              </a:ext>
            </a:extLst>
          </p:cNvPr>
          <p:cNvSpPr txBox="1"/>
          <p:nvPr/>
        </p:nvSpPr>
        <p:spPr>
          <a:xfrm>
            <a:off x="6553200" y="3915446"/>
            <a:ext cx="4953579" cy="369332"/>
          </a:xfrm>
          <a:prstGeom prst="rect">
            <a:avLst/>
          </a:prstGeom>
          <a:noFill/>
        </p:spPr>
        <p:txBody>
          <a:bodyPr wrap="square" rtlCol="0">
            <a:spAutoFit/>
          </a:bodyPr>
          <a:lstStyle/>
          <a:p>
            <a:r>
              <a:rPr kumimoji="1" lang="en-US" altLang="ja-JP"/>
              <a:t>p-</a:t>
            </a:r>
            <a:r>
              <a:rPr kumimoji="1" lang="ja-JP" altLang="en-US"/>
              <a:t>サブストレート</a:t>
            </a:r>
            <a:r>
              <a:rPr kumimoji="1" lang="en-US" altLang="ja-JP"/>
              <a:t>, </a:t>
            </a:r>
            <a:r>
              <a:rPr kumimoji="1" lang="ja-JP" altLang="en-US"/>
              <a:t>基板</a:t>
            </a:r>
          </a:p>
        </p:txBody>
      </p:sp>
      <p:sp>
        <p:nvSpPr>
          <p:cNvPr id="32" name="テキスト ボックス 31">
            <a:extLst>
              <a:ext uri="{FF2B5EF4-FFF2-40B4-BE49-F238E27FC236}">
                <a16:creationId xmlns:a16="http://schemas.microsoft.com/office/drawing/2014/main" id="{11E740EF-0B33-6F47-923F-6F7CEDCE2806}"/>
              </a:ext>
            </a:extLst>
          </p:cNvPr>
          <p:cNvSpPr txBox="1"/>
          <p:nvPr/>
        </p:nvSpPr>
        <p:spPr>
          <a:xfrm>
            <a:off x="6553199" y="2339733"/>
            <a:ext cx="5314077" cy="369332"/>
          </a:xfrm>
          <a:prstGeom prst="rect">
            <a:avLst/>
          </a:prstGeom>
          <a:noFill/>
        </p:spPr>
        <p:txBody>
          <a:bodyPr wrap="square" rtlCol="0">
            <a:spAutoFit/>
          </a:bodyPr>
          <a:lstStyle/>
          <a:p>
            <a:r>
              <a:rPr lang="ja-JP" altLang="en-US"/>
              <a:t>シャロートレンチアイソレーション</a:t>
            </a:r>
          </a:p>
        </p:txBody>
      </p:sp>
      <p:sp>
        <p:nvSpPr>
          <p:cNvPr id="33" name="テキスト ボックス 32">
            <a:extLst>
              <a:ext uri="{FF2B5EF4-FFF2-40B4-BE49-F238E27FC236}">
                <a16:creationId xmlns:a16="http://schemas.microsoft.com/office/drawing/2014/main" id="{65D4F7EC-8D3D-7399-1338-DA47BEBD1DD3}"/>
              </a:ext>
            </a:extLst>
          </p:cNvPr>
          <p:cNvSpPr txBox="1"/>
          <p:nvPr/>
        </p:nvSpPr>
        <p:spPr>
          <a:xfrm>
            <a:off x="7802913" y="2688293"/>
            <a:ext cx="4005126" cy="830997"/>
          </a:xfrm>
          <a:prstGeom prst="rect">
            <a:avLst/>
          </a:prstGeom>
          <a:noFill/>
        </p:spPr>
        <p:txBody>
          <a:bodyPr wrap="square" rtlCol="0">
            <a:spAutoFit/>
          </a:bodyPr>
          <a:lstStyle/>
          <a:p>
            <a:r>
              <a:rPr kumimoji="1" lang="en-US" altLang="ja-JP" sz="1600"/>
              <a:t>STI</a:t>
            </a:r>
            <a:r>
              <a:rPr kumimoji="1" lang="ja-JP" altLang="en-US" sz="1600"/>
              <a:t>はリーク電流を回避するための構造</a:t>
            </a:r>
            <a:endParaRPr kumimoji="1" lang="en-US" altLang="ja-JP" sz="1600"/>
          </a:p>
          <a:p>
            <a:r>
              <a:rPr kumimoji="1" lang="ja-JP" altLang="en-US" sz="1600"/>
              <a:t>・耐圧向上</a:t>
            </a:r>
            <a:endParaRPr kumimoji="1" lang="en-US" altLang="ja-JP" sz="1600"/>
          </a:p>
          <a:p>
            <a:r>
              <a:rPr kumimoji="1" lang="ja-JP" altLang="en-US" sz="1600"/>
              <a:t>・</a:t>
            </a:r>
            <a:r>
              <a:rPr kumimoji="1" lang="en-US" altLang="ja-JP" sz="1600"/>
              <a:t>(PNPN</a:t>
            </a:r>
            <a:r>
              <a:rPr kumimoji="1" lang="ja-JP" altLang="en-US" sz="1600"/>
              <a:t>で発生する</a:t>
            </a:r>
            <a:r>
              <a:rPr kumimoji="1" lang="en-US" altLang="ja-JP" sz="1600"/>
              <a:t>)</a:t>
            </a:r>
            <a:r>
              <a:rPr kumimoji="1" lang="ja-JP" altLang="en-US" sz="1600"/>
              <a:t>ラッチアップ回避</a:t>
            </a:r>
            <a:endParaRPr kumimoji="1" lang="en-US" altLang="ja-JP" sz="1600"/>
          </a:p>
        </p:txBody>
      </p:sp>
    </p:spTree>
    <p:extLst>
      <p:ext uri="{BB962C8B-B14F-4D97-AF65-F5344CB8AC3E}">
        <p14:creationId xmlns:p14="http://schemas.microsoft.com/office/powerpoint/2010/main" val="3077262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723B0C-4412-E215-21FC-8763454EB3DF}"/>
            </a:ext>
          </a:extLst>
        </p:cNvPr>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7AC35822-A4EA-6045-A04D-C154BB344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9">
            <a:extLst>
              <a:ext uri="{FF2B5EF4-FFF2-40B4-BE49-F238E27FC236}">
                <a16:creationId xmlns:a16="http://schemas.microsoft.com/office/drawing/2014/main" id="{55819F4F-A5AD-1B84-CCDC-EC255809E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A2EEAD1C-ECB4-560E-72DA-09ADFA7976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4DD773C-0F74-242F-7252-171BDA2CA02C}"/>
              </a:ext>
            </a:extLst>
          </p:cNvPr>
          <p:cNvSpPr>
            <a:spLocks noGrp="1"/>
          </p:cNvSpPr>
          <p:nvPr>
            <p:ph sz="quarter" idx="13"/>
          </p:nvPr>
        </p:nvSpPr>
        <p:spPr>
          <a:xfrm>
            <a:off x="1524000" y="5514052"/>
            <a:ext cx="9144000" cy="651910"/>
          </a:xfrm>
        </p:spPr>
        <p:txBody>
          <a:bodyPr vert="horz" lIns="91440" tIns="45720" rIns="91440" bIns="45720" rtlCol="0" anchor="ctr">
            <a:normAutofit/>
          </a:bodyPr>
          <a:lstStyle/>
          <a:p>
            <a:pPr marL="0" indent="0" algn="ctr">
              <a:buNone/>
            </a:pPr>
            <a:r>
              <a:rPr lang="ja-JP" altLang="en-US" sz="2400"/>
              <a:t>プレーナ型</a:t>
            </a:r>
            <a:r>
              <a:rPr lang="en-US" altLang="ja-JP" sz="2400" err="1"/>
              <a:t>nMOS</a:t>
            </a:r>
            <a:r>
              <a:rPr lang="ja-JP" altLang="en-US" sz="2400"/>
              <a:t>トランジスタ（トリプルウェル）</a:t>
            </a:r>
            <a:endParaRPr kumimoji="1" lang="ja-JP" altLang="en-US" sz="2400" kern="1200">
              <a:solidFill>
                <a:schemeClr val="tx1"/>
              </a:solidFill>
              <a:latin typeface="+mn-lt"/>
              <a:ea typeface="+mn-ea"/>
              <a:cs typeface="+mn-cs"/>
            </a:endParaRPr>
          </a:p>
        </p:txBody>
      </p:sp>
      <p:cxnSp>
        <p:nvCxnSpPr>
          <p:cNvPr id="14" name="Straight Connector 13">
            <a:extLst>
              <a:ext uri="{FF2B5EF4-FFF2-40B4-BE49-F238E27FC236}">
                <a16:creationId xmlns:a16="http://schemas.microsoft.com/office/drawing/2014/main" id="{BB671A6E-2A06-8B60-AD0F-EC833CE46C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グラフィックス 5">
            <a:extLst>
              <a:ext uri="{FF2B5EF4-FFF2-40B4-BE49-F238E27FC236}">
                <a16:creationId xmlns:a16="http://schemas.microsoft.com/office/drawing/2014/main" id="{C1BBC080-1900-7EAE-0C82-57594839CF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5314" y="1648291"/>
            <a:ext cx="5587047" cy="2889758"/>
          </a:xfrm>
          <a:prstGeom prst="rect">
            <a:avLst/>
          </a:prstGeom>
        </p:spPr>
      </p:pic>
      <p:sp>
        <p:nvSpPr>
          <p:cNvPr id="7" name="テキスト ボックス 6">
            <a:extLst>
              <a:ext uri="{FF2B5EF4-FFF2-40B4-BE49-F238E27FC236}">
                <a16:creationId xmlns:a16="http://schemas.microsoft.com/office/drawing/2014/main" id="{ED503D77-D62C-BC22-459F-497F516F34DA}"/>
              </a:ext>
            </a:extLst>
          </p:cNvPr>
          <p:cNvSpPr txBox="1"/>
          <p:nvPr/>
        </p:nvSpPr>
        <p:spPr>
          <a:xfrm>
            <a:off x="6486791" y="1648291"/>
            <a:ext cx="2686050" cy="369332"/>
          </a:xfrm>
          <a:prstGeom prst="rect">
            <a:avLst/>
          </a:prstGeom>
          <a:noFill/>
        </p:spPr>
        <p:txBody>
          <a:bodyPr wrap="square" rtlCol="0">
            <a:spAutoFit/>
          </a:bodyPr>
          <a:lstStyle/>
          <a:p>
            <a:r>
              <a:rPr kumimoji="1" lang="ja-JP" altLang="en-US">
                <a:solidFill>
                  <a:schemeClr val="accent1"/>
                </a:solidFill>
              </a:rPr>
              <a:t>ポリ</a:t>
            </a:r>
            <a:r>
              <a:rPr kumimoji="1" lang="en-US" altLang="ja-JP">
                <a:solidFill>
                  <a:schemeClr val="accent1"/>
                </a:solidFill>
              </a:rPr>
              <a:t>(</a:t>
            </a:r>
            <a:r>
              <a:rPr kumimoji="1" lang="ja-JP" altLang="en-US">
                <a:solidFill>
                  <a:schemeClr val="accent1"/>
                </a:solidFill>
              </a:rPr>
              <a:t>多結晶</a:t>
            </a:r>
            <a:r>
              <a:rPr kumimoji="1" lang="en-US" altLang="ja-JP">
                <a:solidFill>
                  <a:schemeClr val="accent1"/>
                </a:solidFill>
              </a:rPr>
              <a:t>)</a:t>
            </a:r>
            <a:r>
              <a:rPr kumimoji="1" lang="ja-JP" altLang="en-US">
                <a:solidFill>
                  <a:schemeClr val="accent1"/>
                </a:solidFill>
              </a:rPr>
              <a:t>シリコン</a:t>
            </a:r>
          </a:p>
        </p:txBody>
      </p:sp>
      <p:sp>
        <p:nvSpPr>
          <p:cNvPr id="8" name="テキスト ボックス 7">
            <a:extLst>
              <a:ext uri="{FF2B5EF4-FFF2-40B4-BE49-F238E27FC236}">
                <a16:creationId xmlns:a16="http://schemas.microsoft.com/office/drawing/2014/main" id="{29AE32CB-7FCA-116A-E4D1-58E29C0902D0}"/>
              </a:ext>
            </a:extLst>
          </p:cNvPr>
          <p:cNvSpPr txBox="1"/>
          <p:nvPr/>
        </p:nvSpPr>
        <p:spPr>
          <a:xfrm>
            <a:off x="6486791" y="2870474"/>
            <a:ext cx="758093" cy="369332"/>
          </a:xfrm>
          <a:prstGeom prst="rect">
            <a:avLst/>
          </a:prstGeom>
          <a:noFill/>
        </p:spPr>
        <p:txBody>
          <a:bodyPr wrap="none" rtlCol="0">
            <a:spAutoFit/>
          </a:bodyPr>
          <a:lstStyle/>
          <a:p>
            <a:r>
              <a:rPr kumimoji="1" lang="en-US" altLang="ja-JP">
                <a:solidFill>
                  <a:schemeClr val="accent1"/>
                </a:solidFill>
              </a:rPr>
              <a:t>P-well</a:t>
            </a:r>
            <a:endParaRPr kumimoji="1" lang="ja-JP" altLang="en-US">
              <a:solidFill>
                <a:schemeClr val="accent1"/>
              </a:solidFill>
            </a:endParaRPr>
          </a:p>
        </p:txBody>
      </p:sp>
      <p:cxnSp>
        <p:nvCxnSpPr>
          <p:cNvPr id="9" name="直線矢印コネクタ 8">
            <a:extLst>
              <a:ext uri="{FF2B5EF4-FFF2-40B4-BE49-F238E27FC236}">
                <a16:creationId xmlns:a16="http://schemas.microsoft.com/office/drawing/2014/main" id="{AF0BDF82-F1D6-7A0F-D6B7-402BFA630676}"/>
              </a:ext>
            </a:extLst>
          </p:cNvPr>
          <p:cNvCxnSpPr>
            <a:cxnSpLocks/>
          </p:cNvCxnSpPr>
          <p:nvPr/>
        </p:nvCxnSpPr>
        <p:spPr>
          <a:xfrm flipH="1">
            <a:off x="5324741" y="2660136"/>
            <a:ext cx="1162050" cy="3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82C162A3-CA66-AD49-4D75-4D1BA421C6A9}"/>
              </a:ext>
            </a:extLst>
          </p:cNvPr>
          <p:cNvSpPr txBox="1"/>
          <p:nvPr/>
        </p:nvSpPr>
        <p:spPr>
          <a:xfrm>
            <a:off x="6486791" y="2479036"/>
            <a:ext cx="5314076" cy="369332"/>
          </a:xfrm>
          <a:prstGeom prst="rect">
            <a:avLst/>
          </a:prstGeom>
          <a:noFill/>
        </p:spPr>
        <p:txBody>
          <a:bodyPr wrap="square" rtlCol="0">
            <a:spAutoFit/>
          </a:bodyPr>
          <a:lstStyle/>
          <a:p>
            <a:r>
              <a:rPr lang="ja-JP" altLang="en-US"/>
              <a:t>シャロートレンチアイソレーション</a:t>
            </a:r>
          </a:p>
        </p:txBody>
      </p:sp>
      <p:cxnSp>
        <p:nvCxnSpPr>
          <p:cNvPr id="11" name="直線矢印コネクタ 10">
            <a:extLst>
              <a:ext uri="{FF2B5EF4-FFF2-40B4-BE49-F238E27FC236}">
                <a16:creationId xmlns:a16="http://schemas.microsoft.com/office/drawing/2014/main" id="{49AFFBC3-CD11-B73E-E0AE-D5C192FA7EF8}"/>
              </a:ext>
            </a:extLst>
          </p:cNvPr>
          <p:cNvCxnSpPr>
            <a:cxnSpLocks/>
            <a:stCxn id="7" idx="1"/>
          </p:cNvCxnSpPr>
          <p:nvPr/>
        </p:nvCxnSpPr>
        <p:spPr>
          <a:xfrm flipH="1">
            <a:off x="3438791" y="1832957"/>
            <a:ext cx="3048000" cy="358153"/>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2" name="テキスト ボックス 11">
            <a:extLst>
              <a:ext uri="{FF2B5EF4-FFF2-40B4-BE49-F238E27FC236}">
                <a16:creationId xmlns:a16="http://schemas.microsoft.com/office/drawing/2014/main" id="{7A801B5B-6CFF-0E40-7A17-6BE9DBFFFE31}"/>
              </a:ext>
            </a:extLst>
          </p:cNvPr>
          <p:cNvSpPr txBox="1"/>
          <p:nvPr/>
        </p:nvSpPr>
        <p:spPr>
          <a:xfrm>
            <a:off x="1747812" y="831341"/>
            <a:ext cx="3019425" cy="369332"/>
          </a:xfrm>
          <a:prstGeom prst="rect">
            <a:avLst/>
          </a:prstGeom>
          <a:noFill/>
          <a:ln>
            <a:noFill/>
          </a:ln>
        </p:spPr>
        <p:txBody>
          <a:bodyPr wrap="square" rtlCol="0">
            <a:spAutoFit/>
          </a:bodyPr>
          <a:lstStyle/>
          <a:p>
            <a:pPr algn="ctr"/>
            <a:r>
              <a:rPr kumimoji="1" lang="en-US" altLang="ja-JP">
                <a:solidFill>
                  <a:schemeClr val="accent1"/>
                </a:solidFill>
              </a:rPr>
              <a:t>N+ </a:t>
            </a:r>
            <a:r>
              <a:rPr kumimoji="1" lang="ja-JP" altLang="en-US">
                <a:solidFill>
                  <a:schemeClr val="accent1"/>
                </a:solidFill>
              </a:rPr>
              <a:t>層</a:t>
            </a:r>
          </a:p>
        </p:txBody>
      </p:sp>
      <p:cxnSp>
        <p:nvCxnSpPr>
          <p:cNvPr id="13" name="直線矢印コネクタ 12">
            <a:extLst>
              <a:ext uri="{FF2B5EF4-FFF2-40B4-BE49-F238E27FC236}">
                <a16:creationId xmlns:a16="http://schemas.microsoft.com/office/drawing/2014/main" id="{38DB39EC-6386-BF51-4F38-42226B958D26}"/>
              </a:ext>
            </a:extLst>
          </p:cNvPr>
          <p:cNvCxnSpPr>
            <a:stCxn id="12" idx="2"/>
          </p:cNvCxnSpPr>
          <p:nvPr/>
        </p:nvCxnSpPr>
        <p:spPr>
          <a:xfrm flipH="1">
            <a:off x="1648091" y="1200673"/>
            <a:ext cx="1609434" cy="120864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B0948D7E-EEC8-DC6E-FF65-CE2A5ABFC026}"/>
              </a:ext>
            </a:extLst>
          </p:cNvPr>
          <p:cNvCxnSpPr>
            <a:cxnSpLocks/>
            <a:stCxn id="12" idx="2"/>
          </p:cNvCxnSpPr>
          <p:nvPr/>
        </p:nvCxnSpPr>
        <p:spPr>
          <a:xfrm>
            <a:off x="3257525" y="1200673"/>
            <a:ext cx="1609433" cy="120864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08F9CBAB-AF0B-0763-82FA-EC81F01C9DEA}"/>
              </a:ext>
            </a:extLst>
          </p:cNvPr>
          <p:cNvCxnSpPr>
            <a:cxnSpLocks/>
          </p:cNvCxnSpPr>
          <p:nvPr/>
        </p:nvCxnSpPr>
        <p:spPr>
          <a:xfrm flipH="1" flipV="1">
            <a:off x="3438791" y="2932551"/>
            <a:ext cx="2923369" cy="12258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B2E75985-ADCD-2C64-AF07-FAB7EBCABE13}"/>
              </a:ext>
            </a:extLst>
          </p:cNvPr>
          <p:cNvCxnSpPr>
            <a:cxnSpLocks/>
          </p:cNvCxnSpPr>
          <p:nvPr/>
        </p:nvCxnSpPr>
        <p:spPr>
          <a:xfrm flipH="1">
            <a:off x="5572392" y="1282234"/>
            <a:ext cx="904000" cy="5327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2054C9D0-C296-EF19-4A30-EF852B63A3A1}"/>
              </a:ext>
            </a:extLst>
          </p:cNvPr>
          <p:cNvSpPr txBox="1"/>
          <p:nvPr/>
        </p:nvSpPr>
        <p:spPr>
          <a:xfrm>
            <a:off x="6476392" y="1086515"/>
            <a:ext cx="5324475" cy="369332"/>
          </a:xfrm>
          <a:prstGeom prst="rect">
            <a:avLst/>
          </a:prstGeom>
          <a:noFill/>
        </p:spPr>
        <p:txBody>
          <a:bodyPr wrap="square" rtlCol="0">
            <a:spAutoFit/>
          </a:bodyPr>
          <a:lstStyle/>
          <a:p>
            <a:r>
              <a:rPr lang="ja-JP" altLang="en-US"/>
              <a:t>リン</a:t>
            </a:r>
            <a:r>
              <a:rPr lang="en-US" altLang="ja-JP"/>
              <a:t>-</a:t>
            </a:r>
            <a:r>
              <a:rPr lang="ja-JP" altLang="en-US"/>
              <a:t>ケイ酸ガラス</a:t>
            </a:r>
            <a:r>
              <a:rPr lang="en-US" altLang="ja-JP"/>
              <a:t>; </a:t>
            </a:r>
            <a:r>
              <a:rPr lang="ja-JP" altLang="en-US"/>
              <a:t>レイヤ間を埋める絶縁物質</a:t>
            </a:r>
          </a:p>
        </p:txBody>
      </p:sp>
      <p:sp>
        <p:nvSpPr>
          <p:cNvPr id="22" name="テキスト ボックス 21">
            <a:extLst>
              <a:ext uri="{FF2B5EF4-FFF2-40B4-BE49-F238E27FC236}">
                <a16:creationId xmlns:a16="http://schemas.microsoft.com/office/drawing/2014/main" id="{67271CAF-675A-4F22-0514-77DEADA90691}"/>
              </a:ext>
            </a:extLst>
          </p:cNvPr>
          <p:cNvSpPr txBox="1"/>
          <p:nvPr/>
        </p:nvSpPr>
        <p:spPr>
          <a:xfrm>
            <a:off x="6486791" y="3546524"/>
            <a:ext cx="5467341" cy="369332"/>
          </a:xfrm>
          <a:prstGeom prst="rect">
            <a:avLst/>
          </a:prstGeom>
          <a:noFill/>
        </p:spPr>
        <p:txBody>
          <a:bodyPr wrap="square" rtlCol="0">
            <a:spAutoFit/>
          </a:bodyPr>
          <a:lstStyle/>
          <a:p>
            <a:r>
              <a:rPr kumimoji="1" lang="en-US" altLang="ja-JP"/>
              <a:t>Deep N-well</a:t>
            </a:r>
            <a:endParaRPr kumimoji="1" lang="ja-JP" altLang="en-US"/>
          </a:p>
        </p:txBody>
      </p:sp>
      <p:sp>
        <p:nvSpPr>
          <p:cNvPr id="23" name="テキスト ボックス 22">
            <a:extLst>
              <a:ext uri="{FF2B5EF4-FFF2-40B4-BE49-F238E27FC236}">
                <a16:creationId xmlns:a16="http://schemas.microsoft.com/office/drawing/2014/main" id="{D37AFB2C-8A51-A51B-945E-816358044B9F}"/>
              </a:ext>
            </a:extLst>
          </p:cNvPr>
          <p:cNvSpPr txBox="1"/>
          <p:nvPr/>
        </p:nvSpPr>
        <p:spPr>
          <a:xfrm>
            <a:off x="6486791" y="4054749"/>
            <a:ext cx="4953579" cy="369332"/>
          </a:xfrm>
          <a:prstGeom prst="rect">
            <a:avLst/>
          </a:prstGeom>
          <a:noFill/>
        </p:spPr>
        <p:txBody>
          <a:bodyPr wrap="square" rtlCol="0">
            <a:spAutoFit/>
          </a:bodyPr>
          <a:lstStyle/>
          <a:p>
            <a:r>
              <a:rPr kumimoji="1" lang="en-US" altLang="ja-JP"/>
              <a:t>p-</a:t>
            </a:r>
            <a:r>
              <a:rPr kumimoji="1" lang="ja-JP" altLang="en-US"/>
              <a:t>サブストレート</a:t>
            </a:r>
            <a:r>
              <a:rPr kumimoji="1" lang="en-US" altLang="ja-JP"/>
              <a:t>, </a:t>
            </a:r>
            <a:r>
              <a:rPr kumimoji="1" lang="ja-JP" altLang="en-US"/>
              <a:t>基板</a:t>
            </a:r>
          </a:p>
        </p:txBody>
      </p:sp>
      <p:sp>
        <p:nvSpPr>
          <p:cNvPr id="24" name="テキスト ボックス 23">
            <a:extLst>
              <a:ext uri="{FF2B5EF4-FFF2-40B4-BE49-F238E27FC236}">
                <a16:creationId xmlns:a16="http://schemas.microsoft.com/office/drawing/2014/main" id="{63407FB4-9D3E-A65C-5160-7A4B4B6C10A7}"/>
              </a:ext>
            </a:extLst>
          </p:cNvPr>
          <p:cNvSpPr txBox="1"/>
          <p:nvPr/>
        </p:nvSpPr>
        <p:spPr>
          <a:xfrm>
            <a:off x="6486791" y="2180872"/>
            <a:ext cx="5324475" cy="369332"/>
          </a:xfrm>
          <a:prstGeom prst="rect">
            <a:avLst/>
          </a:prstGeom>
          <a:noFill/>
        </p:spPr>
        <p:txBody>
          <a:bodyPr wrap="square" rtlCol="0">
            <a:spAutoFit/>
          </a:bodyPr>
          <a:lstStyle/>
          <a:p>
            <a:r>
              <a:rPr lang="ja-JP" altLang="en-US">
                <a:solidFill>
                  <a:schemeClr val="accent1"/>
                </a:solidFill>
              </a:rPr>
              <a:t>酸化膜絶縁層</a:t>
            </a:r>
          </a:p>
        </p:txBody>
      </p:sp>
      <p:cxnSp>
        <p:nvCxnSpPr>
          <p:cNvPr id="25" name="直線矢印コネクタ 24">
            <a:extLst>
              <a:ext uri="{FF2B5EF4-FFF2-40B4-BE49-F238E27FC236}">
                <a16:creationId xmlns:a16="http://schemas.microsoft.com/office/drawing/2014/main" id="{F4D80BA3-D496-1D5A-EDEF-83412B096CBF}"/>
              </a:ext>
            </a:extLst>
          </p:cNvPr>
          <p:cNvCxnSpPr>
            <a:cxnSpLocks/>
          </p:cNvCxnSpPr>
          <p:nvPr/>
        </p:nvCxnSpPr>
        <p:spPr>
          <a:xfrm flipH="1">
            <a:off x="5677166" y="2393241"/>
            <a:ext cx="809625" cy="0"/>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26" name="テキスト ボックス 25">
            <a:extLst>
              <a:ext uri="{FF2B5EF4-FFF2-40B4-BE49-F238E27FC236}">
                <a16:creationId xmlns:a16="http://schemas.microsoft.com/office/drawing/2014/main" id="{AF74425E-931B-8DA7-4273-6DDF6FFCC59D}"/>
              </a:ext>
            </a:extLst>
          </p:cNvPr>
          <p:cNvSpPr txBox="1"/>
          <p:nvPr/>
        </p:nvSpPr>
        <p:spPr>
          <a:xfrm>
            <a:off x="7914840" y="2824514"/>
            <a:ext cx="4005126" cy="830997"/>
          </a:xfrm>
          <a:prstGeom prst="rect">
            <a:avLst/>
          </a:prstGeom>
          <a:noFill/>
        </p:spPr>
        <p:txBody>
          <a:bodyPr wrap="square" rtlCol="0">
            <a:spAutoFit/>
          </a:bodyPr>
          <a:lstStyle/>
          <a:p>
            <a:r>
              <a:rPr kumimoji="1" lang="en-US" altLang="ja-JP" sz="1600"/>
              <a:t>STI</a:t>
            </a:r>
            <a:r>
              <a:rPr kumimoji="1" lang="ja-JP" altLang="en-US" sz="1600"/>
              <a:t>はリーク電流を回避するための構造</a:t>
            </a:r>
            <a:endParaRPr kumimoji="1" lang="en-US" altLang="ja-JP" sz="1600"/>
          </a:p>
          <a:p>
            <a:r>
              <a:rPr kumimoji="1" lang="ja-JP" altLang="en-US" sz="1600"/>
              <a:t>・耐圧向上</a:t>
            </a:r>
            <a:endParaRPr kumimoji="1" lang="en-US" altLang="ja-JP" sz="1600"/>
          </a:p>
          <a:p>
            <a:r>
              <a:rPr kumimoji="1" lang="ja-JP" altLang="en-US" sz="1600"/>
              <a:t>・</a:t>
            </a:r>
            <a:r>
              <a:rPr kumimoji="1" lang="en-US" altLang="ja-JP" sz="1600"/>
              <a:t>(PNPN</a:t>
            </a:r>
            <a:r>
              <a:rPr kumimoji="1" lang="ja-JP" altLang="en-US" sz="1600"/>
              <a:t>で発生する</a:t>
            </a:r>
            <a:r>
              <a:rPr kumimoji="1" lang="en-US" altLang="ja-JP" sz="1600"/>
              <a:t>)</a:t>
            </a:r>
            <a:r>
              <a:rPr kumimoji="1" lang="ja-JP" altLang="en-US" sz="1600"/>
              <a:t>ラッチアップ回避</a:t>
            </a:r>
            <a:endParaRPr kumimoji="1" lang="en-US" altLang="ja-JP" sz="1600"/>
          </a:p>
        </p:txBody>
      </p:sp>
    </p:spTree>
    <p:extLst>
      <p:ext uri="{BB962C8B-B14F-4D97-AF65-F5344CB8AC3E}">
        <p14:creationId xmlns:p14="http://schemas.microsoft.com/office/powerpoint/2010/main" val="226738351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E809D6-A606-A224-6B22-24E856AC89E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36AD00-80E7-F280-BDFF-3CFB30555F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4A75377-618C-F421-C54C-1623EE12D0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71531E90-7FC2-3CC8-8202-3E9D12ACF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0E3AC8F-4985-4252-0B9E-5BAAF1B94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87657938-C373-A58A-0EC3-CC40F2A65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C0FF879-9660-30AB-42E9-61E591F0C329}"/>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シミュレーション編</a:t>
            </a:r>
          </a:p>
        </p:txBody>
      </p:sp>
    </p:spTree>
    <p:extLst>
      <p:ext uri="{BB962C8B-B14F-4D97-AF65-F5344CB8AC3E}">
        <p14:creationId xmlns:p14="http://schemas.microsoft.com/office/powerpoint/2010/main" val="10729481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8413D7A9-D2DD-EF03-E08D-69DFFFD08B88}"/>
              </a:ext>
            </a:extLst>
          </p:cNvPr>
          <p:cNvSpPr>
            <a:spLocks noGrp="1"/>
          </p:cNvSpPr>
          <p:nvPr>
            <p:ph type="title"/>
          </p:nvPr>
        </p:nvSpPr>
        <p:spPr>
          <a:xfrm>
            <a:off x="838200" y="365125"/>
            <a:ext cx="10877550" cy="1325563"/>
          </a:xfrm>
        </p:spPr>
        <p:txBody>
          <a:bodyPr>
            <a:normAutofit/>
          </a:bodyPr>
          <a:lstStyle/>
          <a:p>
            <a:r>
              <a:rPr lang="ja-JP" altLang="en-US"/>
              <a:t>コーナーモデルシミュレーションについて</a:t>
            </a:r>
            <a:endParaRPr kumimoji="1" lang="ja-JP" alt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767C446-76B7-ABAF-6A8F-DA48D83A0262}"/>
              </a:ext>
            </a:extLst>
          </p:cNvPr>
          <p:cNvSpPr>
            <a:spLocks noGrp="1"/>
          </p:cNvSpPr>
          <p:nvPr>
            <p:ph idx="1"/>
          </p:nvPr>
        </p:nvSpPr>
        <p:spPr>
          <a:xfrm>
            <a:off x="838200" y="1825625"/>
            <a:ext cx="10515600" cy="4351338"/>
          </a:xfrm>
        </p:spPr>
        <p:txBody>
          <a:bodyPr>
            <a:normAutofit/>
          </a:bodyPr>
          <a:lstStyle/>
          <a:p>
            <a:r>
              <a:rPr lang="en-US" altLang="ja-JP"/>
              <a:t>ss</a:t>
            </a:r>
            <a:r>
              <a:rPr lang="ja-JP" altLang="en-US"/>
              <a:t>モデル </a:t>
            </a:r>
            <a:r>
              <a:rPr lang="en-US" altLang="ja-JP"/>
              <a:t>– </a:t>
            </a:r>
            <a:r>
              <a:rPr lang="ja-JP" altLang="en-US"/>
              <a:t>応答性が最悪</a:t>
            </a:r>
            <a:r>
              <a:rPr lang="en-US" altLang="ja-JP"/>
              <a:t>(slow-slow)</a:t>
            </a:r>
            <a:r>
              <a:rPr lang="ja-JP" altLang="en-US"/>
              <a:t>の時のモデル</a:t>
            </a:r>
            <a:endParaRPr lang="en-US" altLang="ja-JP"/>
          </a:p>
          <a:p>
            <a:r>
              <a:rPr lang="en-US" altLang="ja-JP" err="1"/>
              <a:t>tt</a:t>
            </a:r>
            <a:r>
              <a:rPr lang="ja-JP" altLang="en-US"/>
              <a:t>モデル </a:t>
            </a:r>
            <a:r>
              <a:rPr lang="en-US" altLang="ja-JP"/>
              <a:t>– </a:t>
            </a:r>
            <a:r>
              <a:rPr lang="ja-JP" altLang="en-US"/>
              <a:t>応答性が</a:t>
            </a:r>
            <a:r>
              <a:rPr lang="en-US" altLang="ja-JP"/>
              <a:t>typical-typical</a:t>
            </a:r>
            <a:r>
              <a:rPr lang="ja-JP" altLang="en-US"/>
              <a:t>なモデル</a:t>
            </a:r>
            <a:endParaRPr lang="en-US" altLang="ja-JP"/>
          </a:p>
          <a:p>
            <a:pPr lvl="1"/>
            <a:r>
              <a:rPr lang="en-US" altLang="ja-JP">
                <a:hlinkClick r:id="rId2"/>
              </a:rPr>
              <a:t>https://github.com/3zki/lsi1_analog1/</a:t>
            </a:r>
            <a:endParaRPr lang="en-US" altLang="ja-JP"/>
          </a:p>
          <a:p>
            <a:pPr lvl="1"/>
            <a:endParaRPr lang="en-US" altLang="ja-JP"/>
          </a:p>
        </p:txBody>
      </p:sp>
      <p:cxnSp>
        <p:nvCxnSpPr>
          <p:cNvPr id="4" name="直線矢印コネクタ 3">
            <a:extLst>
              <a:ext uri="{FF2B5EF4-FFF2-40B4-BE49-F238E27FC236}">
                <a16:creationId xmlns:a16="http://schemas.microsoft.com/office/drawing/2014/main" id="{C161BDE9-5C68-70E4-5C38-6EAEBED40F84}"/>
              </a:ext>
            </a:extLst>
          </p:cNvPr>
          <p:cNvCxnSpPr>
            <a:cxnSpLocks/>
          </p:cNvCxnSpPr>
          <p:nvPr/>
        </p:nvCxnSpPr>
        <p:spPr>
          <a:xfrm flipV="1">
            <a:off x="2799146" y="3285863"/>
            <a:ext cx="0" cy="32487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62C0075D-317E-3943-60B0-D9667B026E18}"/>
              </a:ext>
            </a:extLst>
          </p:cNvPr>
          <p:cNvCxnSpPr>
            <a:cxnSpLocks/>
          </p:cNvCxnSpPr>
          <p:nvPr/>
        </p:nvCxnSpPr>
        <p:spPr>
          <a:xfrm>
            <a:off x="2768882" y="6499814"/>
            <a:ext cx="4335764"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81CCC29F-E3D5-16A7-AB33-42FCA9047C4C}"/>
              </a:ext>
            </a:extLst>
          </p:cNvPr>
          <p:cNvSpPr txBox="1"/>
          <p:nvPr/>
        </p:nvSpPr>
        <p:spPr>
          <a:xfrm>
            <a:off x="2753751" y="6534560"/>
            <a:ext cx="4335764" cy="369332"/>
          </a:xfrm>
          <a:prstGeom prst="rect">
            <a:avLst/>
          </a:prstGeom>
          <a:noFill/>
        </p:spPr>
        <p:txBody>
          <a:bodyPr wrap="square" rtlCol="0">
            <a:spAutoFit/>
          </a:bodyPr>
          <a:lstStyle/>
          <a:p>
            <a:pPr algn="ctr"/>
            <a:r>
              <a:rPr kumimoji="1" lang="en-US" altLang="ja-JP"/>
              <a:t>NMOS</a:t>
            </a:r>
            <a:r>
              <a:rPr kumimoji="1" lang="ja-JP" altLang="en-US"/>
              <a:t>の</a:t>
            </a:r>
            <a:r>
              <a:rPr kumimoji="1" lang="en-US" altLang="ja-JP"/>
              <a:t>Vth</a:t>
            </a:r>
            <a:endParaRPr kumimoji="1" lang="ja-JP" altLang="en-US"/>
          </a:p>
        </p:txBody>
      </p:sp>
      <p:sp>
        <p:nvSpPr>
          <p:cNvPr id="7" name="テキスト ボックス 6">
            <a:extLst>
              <a:ext uri="{FF2B5EF4-FFF2-40B4-BE49-F238E27FC236}">
                <a16:creationId xmlns:a16="http://schemas.microsoft.com/office/drawing/2014/main" id="{8AE5F84C-6F8E-9B22-856B-AD131812716E}"/>
              </a:ext>
            </a:extLst>
          </p:cNvPr>
          <p:cNvSpPr txBox="1"/>
          <p:nvPr/>
        </p:nvSpPr>
        <p:spPr>
          <a:xfrm rot="16200000">
            <a:off x="944736" y="4725545"/>
            <a:ext cx="3248697" cy="369332"/>
          </a:xfrm>
          <a:prstGeom prst="rect">
            <a:avLst/>
          </a:prstGeom>
          <a:noFill/>
        </p:spPr>
        <p:txBody>
          <a:bodyPr wrap="square" rtlCol="0">
            <a:spAutoFit/>
          </a:bodyPr>
          <a:lstStyle/>
          <a:p>
            <a:pPr algn="ctr"/>
            <a:r>
              <a:rPr kumimoji="1" lang="en-US" altLang="ja-JP"/>
              <a:t>PMOS</a:t>
            </a:r>
            <a:r>
              <a:rPr kumimoji="1" lang="ja-JP" altLang="en-US"/>
              <a:t>の</a:t>
            </a:r>
            <a:r>
              <a:rPr kumimoji="1" lang="en-US" altLang="ja-JP"/>
              <a:t>Vth</a:t>
            </a:r>
            <a:endParaRPr kumimoji="1" lang="ja-JP" altLang="en-US"/>
          </a:p>
        </p:txBody>
      </p:sp>
      <p:sp>
        <p:nvSpPr>
          <p:cNvPr id="9" name="楕円 8">
            <a:extLst>
              <a:ext uri="{FF2B5EF4-FFF2-40B4-BE49-F238E27FC236}">
                <a16:creationId xmlns:a16="http://schemas.microsoft.com/office/drawing/2014/main" id="{759D0EEA-559E-3520-AF76-685502E75339}"/>
              </a:ext>
            </a:extLst>
          </p:cNvPr>
          <p:cNvSpPr/>
          <p:nvPr/>
        </p:nvSpPr>
        <p:spPr>
          <a:xfrm>
            <a:off x="3164936" y="5478034"/>
            <a:ext cx="948583" cy="500722"/>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a:solidFill>
                  <a:schemeClr val="tx1"/>
                </a:solidFill>
              </a:rPr>
              <a:t>ff</a:t>
            </a:r>
            <a:endParaRPr kumimoji="1" lang="ja-JP" altLang="en-US" sz="2800">
              <a:solidFill>
                <a:schemeClr val="tx1"/>
              </a:solidFill>
            </a:endParaRPr>
          </a:p>
        </p:txBody>
      </p:sp>
      <p:sp>
        <p:nvSpPr>
          <p:cNvPr id="11" name="楕円 10">
            <a:extLst>
              <a:ext uri="{FF2B5EF4-FFF2-40B4-BE49-F238E27FC236}">
                <a16:creationId xmlns:a16="http://schemas.microsoft.com/office/drawing/2014/main" id="{D3EAFE2F-D2CE-682A-4488-959D6BDE04E0}"/>
              </a:ext>
            </a:extLst>
          </p:cNvPr>
          <p:cNvSpPr/>
          <p:nvPr/>
        </p:nvSpPr>
        <p:spPr>
          <a:xfrm>
            <a:off x="5502876" y="5478034"/>
            <a:ext cx="948583" cy="500722"/>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a:solidFill>
                  <a:schemeClr val="tx1"/>
                </a:solidFill>
              </a:rPr>
              <a:t>fs</a:t>
            </a:r>
            <a:endParaRPr kumimoji="1" lang="ja-JP" altLang="en-US" sz="2800">
              <a:solidFill>
                <a:schemeClr val="tx1"/>
              </a:solidFill>
            </a:endParaRPr>
          </a:p>
        </p:txBody>
      </p:sp>
      <p:sp>
        <p:nvSpPr>
          <p:cNvPr id="13" name="楕円 12">
            <a:extLst>
              <a:ext uri="{FF2B5EF4-FFF2-40B4-BE49-F238E27FC236}">
                <a16:creationId xmlns:a16="http://schemas.microsoft.com/office/drawing/2014/main" id="{D03BB3FD-5ED2-7B59-266E-269332EF0EAD}"/>
              </a:ext>
            </a:extLst>
          </p:cNvPr>
          <p:cNvSpPr/>
          <p:nvPr/>
        </p:nvSpPr>
        <p:spPr>
          <a:xfrm>
            <a:off x="3787860" y="3603324"/>
            <a:ext cx="948583" cy="500722"/>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a:solidFill>
                  <a:schemeClr val="tx1"/>
                </a:solidFill>
              </a:rPr>
              <a:t>sf</a:t>
            </a:r>
            <a:endParaRPr kumimoji="1" lang="ja-JP" altLang="en-US" sz="2800">
              <a:solidFill>
                <a:schemeClr val="tx1"/>
              </a:solidFill>
            </a:endParaRPr>
          </a:p>
        </p:txBody>
      </p:sp>
      <p:sp>
        <p:nvSpPr>
          <p:cNvPr id="14" name="楕円 13">
            <a:extLst>
              <a:ext uri="{FF2B5EF4-FFF2-40B4-BE49-F238E27FC236}">
                <a16:creationId xmlns:a16="http://schemas.microsoft.com/office/drawing/2014/main" id="{5048F132-2C7B-586F-A71B-B2C1509BAAFF}"/>
              </a:ext>
            </a:extLst>
          </p:cNvPr>
          <p:cNvSpPr/>
          <p:nvPr/>
        </p:nvSpPr>
        <p:spPr>
          <a:xfrm>
            <a:off x="6125800" y="3603324"/>
            <a:ext cx="948583" cy="500722"/>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a:solidFill>
                  <a:schemeClr val="tx1"/>
                </a:solidFill>
              </a:rPr>
              <a:t>ss</a:t>
            </a:r>
            <a:endParaRPr kumimoji="1" lang="ja-JP" altLang="en-US" sz="2800">
              <a:solidFill>
                <a:schemeClr val="tx1"/>
              </a:solidFill>
            </a:endParaRPr>
          </a:p>
        </p:txBody>
      </p:sp>
      <p:cxnSp>
        <p:nvCxnSpPr>
          <p:cNvPr id="15" name="直線コネクタ 14">
            <a:extLst>
              <a:ext uri="{FF2B5EF4-FFF2-40B4-BE49-F238E27FC236}">
                <a16:creationId xmlns:a16="http://schemas.microsoft.com/office/drawing/2014/main" id="{E1C2AE80-08B6-A9A9-EE91-2B2C50CAF69C}"/>
              </a:ext>
            </a:extLst>
          </p:cNvPr>
          <p:cNvCxnSpPr>
            <a:stCxn id="9" idx="0"/>
            <a:endCxn id="13" idx="4"/>
          </p:cNvCxnSpPr>
          <p:nvPr/>
        </p:nvCxnSpPr>
        <p:spPr>
          <a:xfrm flipV="1">
            <a:off x="3639228" y="4104046"/>
            <a:ext cx="622924" cy="1373988"/>
          </a:xfrm>
          <a:prstGeom prst="line">
            <a:avLst/>
          </a:prstGeom>
          <a:ln w="28575"/>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2577A5D6-43F6-390C-9837-D055BBD5E9F8}"/>
              </a:ext>
            </a:extLst>
          </p:cNvPr>
          <p:cNvCxnSpPr>
            <a:stCxn id="13" idx="6"/>
            <a:endCxn id="14" idx="2"/>
          </p:cNvCxnSpPr>
          <p:nvPr/>
        </p:nvCxnSpPr>
        <p:spPr>
          <a:xfrm>
            <a:off x="4736443" y="3853685"/>
            <a:ext cx="138935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直線コネクタ 16">
            <a:extLst>
              <a:ext uri="{FF2B5EF4-FFF2-40B4-BE49-F238E27FC236}">
                <a16:creationId xmlns:a16="http://schemas.microsoft.com/office/drawing/2014/main" id="{D998DAF0-97F7-5E44-ABF8-EE27D475C0A1}"/>
              </a:ext>
            </a:extLst>
          </p:cNvPr>
          <p:cNvCxnSpPr>
            <a:stCxn id="14" idx="4"/>
            <a:endCxn id="11" idx="0"/>
          </p:cNvCxnSpPr>
          <p:nvPr/>
        </p:nvCxnSpPr>
        <p:spPr>
          <a:xfrm flipH="1">
            <a:off x="5977168" y="4104046"/>
            <a:ext cx="622924" cy="1373988"/>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直線コネクタ 17">
            <a:extLst>
              <a:ext uri="{FF2B5EF4-FFF2-40B4-BE49-F238E27FC236}">
                <a16:creationId xmlns:a16="http://schemas.microsoft.com/office/drawing/2014/main" id="{B79B213A-ABAA-F526-6ED2-184CA044EBC6}"/>
              </a:ext>
            </a:extLst>
          </p:cNvPr>
          <p:cNvCxnSpPr>
            <a:stCxn id="9" idx="6"/>
            <a:endCxn id="11" idx="2"/>
          </p:cNvCxnSpPr>
          <p:nvPr/>
        </p:nvCxnSpPr>
        <p:spPr>
          <a:xfrm>
            <a:off x="4113519" y="5728395"/>
            <a:ext cx="1389357" cy="0"/>
          </a:xfrm>
          <a:prstGeom prst="line">
            <a:avLst/>
          </a:prstGeom>
          <a:ln w="28575"/>
        </p:spPr>
        <p:style>
          <a:lnRef idx="1">
            <a:schemeClr val="dk1"/>
          </a:lnRef>
          <a:fillRef idx="0">
            <a:schemeClr val="dk1"/>
          </a:fillRef>
          <a:effectRef idx="0">
            <a:schemeClr val="dk1"/>
          </a:effectRef>
          <a:fontRef idx="minor">
            <a:schemeClr val="tx1"/>
          </a:fontRef>
        </p:style>
      </p:cxnSp>
      <p:sp>
        <p:nvSpPr>
          <p:cNvPr id="19" name="楕円 18">
            <a:extLst>
              <a:ext uri="{FF2B5EF4-FFF2-40B4-BE49-F238E27FC236}">
                <a16:creationId xmlns:a16="http://schemas.microsoft.com/office/drawing/2014/main" id="{7320E08A-2AE3-4FF1-96E1-7624CA43AC76}"/>
              </a:ext>
            </a:extLst>
          </p:cNvPr>
          <p:cNvSpPr/>
          <p:nvPr/>
        </p:nvSpPr>
        <p:spPr>
          <a:xfrm>
            <a:off x="4601041" y="4513066"/>
            <a:ext cx="948583" cy="500722"/>
          </a:xfrm>
          <a:prstGeom prst="ellipse">
            <a:avLst/>
          </a:prstGeom>
          <a:no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err="1">
                <a:solidFill>
                  <a:schemeClr val="accent1"/>
                </a:solidFill>
              </a:rPr>
              <a:t>tt</a:t>
            </a:r>
            <a:endParaRPr kumimoji="1" lang="ja-JP" altLang="en-US" sz="2800">
              <a:solidFill>
                <a:schemeClr val="accent1"/>
              </a:solidFill>
            </a:endParaRPr>
          </a:p>
        </p:txBody>
      </p:sp>
      <p:sp>
        <p:nvSpPr>
          <p:cNvPr id="20" name="テキスト ボックス 19">
            <a:extLst>
              <a:ext uri="{FF2B5EF4-FFF2-40B4-BE49-F238E27FC236}">
                <a16:creationId xmlns:a16="http://schemas.microsoft.com/office/drawing/2014/main" id="{36DF6DAE-F03A-A28F-4494-3C90E63ABCDB}"/>
              </a:ext>
            </a:extLst>
          </p:cNvPr>
          <p:cNvSpPr txBox="1"/>
          <p:nvPr/>
        </p:nvSpPr>
        <p:spPr>
          <a:xfrm>
            <a:off x="7074381" y="3664040"/>
            <a:ext cx="4913831" cy="369332"/>
          </a:xfrm>
          <a:prstGeom prst="rect">
            <a:avLst/>
          </a:prstGeom>
          <a:noFill/>
        </p:spPr>
        <p:txBody>
          <a:bodyPr wrap="square" rtlCol="0">
            <a:spAutoFit/>
          </a:bodyPr>
          <a:lstStyle/>
          <a:p>
            <a:r>
              <a:rPr kumimoji="1" lang="ja-JP" altLang="en-US"/>
              <a:t>スレッショルド電圧が高いと応答性は遅い </a:t>
            </a:r>
            <a:r>
              <a:rPr kumimoji="1" lang="en-US" altLang="ja-JP"/>
              <a:t>(slow)</a:t>
            </a:r>
            <a:endParaRPr kumimoji="1" lang="ja-JP" altLang="en-US"/>
          </a:p>
        </p:txBody>
      </p:sp>
      <p:sp>
        <p:nvSpPr>
          <p:cNvPr id="21" name="テキスト ボックス 20">
            <a:extLst>
              <a:ext uri="{FF2B5EF4-FFF2-40B4-BE49-F238E27FC236}">
                <a16:creationId xmlns:a16="http://schemas.microsoft.com/office/drawing/2014/main" id="{0985AE90-1F9F-E842-0B48-224F58CA6D8B}"/>
              </a:ext>
            </a:extLst>
          </p:cNvPr>
          <p:cNvSpPr txBox="1"/>
          <p:nvPr/>
        </p:nvSpPr>
        <p:spPr>
          <a:xfrm>
            <a:off x="7074382" y="5543729"/>
            <a:ext cx="4913831" cy="369332"/>
          </a:xfrm>
          <a:prstGeom prst="rect">
            <a:avLst/>
          </a:prstGeom>
          <a:noFill/>
        </p:spPr>
        <p:txBody>
          <a:bodyPr wrap="square" rtlCol="0">
            <a:spAutoFit/>
          </a:bodyPr>
          <a:lstStyle/>
          <a:p>
            <a:r>
              <a:rPr kumimoji="1" lang="ja-JP" altLang="en-US"/>
              <a:t>スレッショルド電圧が低いと応答性は速い </a:t>
            </a:r>
            <a:r>
              <a:rPr kumimoji="1" lang="en-US" altLang="ja-JP"/>
              <a:t>(fast)</a:t>
            </a:r>
            <a:endParaRPr kumimoji="1" lang="ja-JP" altLang="en-US"/>
          </a:p>
        </p:txBody>
      </p:sp>
    </p:spTree>
    <p:extLst>
      <p:ext uri="{BB962C8B-B14F-4D97-AF65-F5344CB8AC3E}">
        <p14:creationId xmlns:p14="http://schemas.microsoft.com/office/powerpoint/2010/main" val="639347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4DEAF22-922F-BC3C-D0BD-7BF6360D60F1}"/>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kumimoji="1" lang="ja-JP" altLang="en-US" sz="4000" kern="1200">
                <a:solidFill>
                  <a:srgbClr val="FFFFFF"/>
                </a:solidFill>
                <a:latin typeface="+mj-lt"/>
                <a:ea typeface="+mj-ea"/>
                <a:cs typeface="+mj-cs"/>
              </a:rPr>
              <a:t>モデル変更</a:t>
            </a:r>
          </a:p>
        </p:txBody>
      </p:sp>
      <p:pic>
        <p:nvPicPr>
          <p:cNvPr id="12" name="コンテンツ プレースホルダー 11">
            <a:extLst>
              <a:ext uri="{FF2B5EF4-FFF2-40B4-BE49-F238E27FC236}">
                <a16:creationId xmlns:a16="http://schemas.microsoft.com/office/drawing/2014/main" id="{3789A9C8-C6EC-FAB1-FCD4-30D10C91BFF1}"/>
              </a:ext>
            </a:extLst>
          </p:cNvPr>
          <p:cNvPicPr>
            <a:picLocks noGrp="1" noChangeAspect="1"/>
          </p:cNvPicPr>
          <p:nvPr>
            <p:ph sz="quarter" idx="13"/>
          </p:nvPr>
        </p:nvPicPr>
        <p:blipFill>
          <a:blip r:embed="rId3"/>
          <a:stretch>
            <a:fillRect/>
          </a:stretch>
        </p:blipFill>
        <p:spPr>
          <a:xfrm>
            <a:off x="880148" y="1966293"/>
            <a:ext cx="10431703" cy="4452160"/>
          </a:xfrm>
          <a:prstGeom prst="rect">
            <a:avLst/>
          </a:prstGeom>
        </p:spPr>
      </p:pic>
      <p:pic>
        <p:nvPicPr>
          <p:cNvPr id="10" name="図 9">
            <a:extLst>
              <a:ext uri="{FF2B5EF4-FFF2-40B4-BE49-F238E27FC236}">
                <a16:creationId xmlns:a16="http://schemas.microsoft.com/office/drawing/2014/main" id="{6BE9FDB6-826C-5009-044E-C29CEA456198}"/>
              </a:ext>
            </a:extLst>
          </p:cNvPr>
          <p:cNvPicPr>
            <a:picLocks noChangeAspect="1"/>
          </p:cNvPicPr>
          <p:nvPr/>
        </p:nvPicPr>
        <p:blipFill>
          <a:blip r:embed="rId4"/>
          <a:stretch>
            <a:fillRect/>
          </a:stretch>
        </p:blipFill>
        <p:spPr>
          <a:xfrm>
            <a:off x="3299995" y="2083158"/>
            <a:ext cx="7858320" cy="4184823"/>
          </a:xfrm>
          <a:prstGeom prst="rect">
            <a:avLst/>
          </a:prstGeom>
        </p:spPr>
      </p:pic>
      <p:sp>
        <p:nvSpPr>
          <p:cNvPr id="3" name="楕円 2">
            <a:extLst>
              <a:ext uri="{FF2B5EF4-FFF2-40B4-BE49-F238E27FC236}">
                <a16:creationId xmlns:a16="http://schemas.microsoft.com/office/drawing/2014/main" id="{F3DE0153-E8EE-8FBE-2274-519A73FB2B6A}"/>
              </a:ext>
            </a:extLst>
          </p:cNvPr>
          <p:cNvSpPr/>
          <p:nvPr/>
        </p:nvSpPr>
        <p:spPr>
          <a:xfrm>
            <a:off x="7019895" y="4428792"/>
            <a:ext cx="567941" cy="32154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2B3D241A-EE44-8B76-602C-264DDC7D04D3}"/>
              </a:ext>
            </a:extLst>
          </p:cNvPr>
          <p:cNvSpPr txBox="1"/>
          <p:nvPr/>
        </p:nvSpPr>
        <p:spPr>
          <a:xfrm>
            <a:off x="7725756" y="4391190"/>
            <a:ext cx="3432559" cy="369332"/>
          </a:xfrm>
          <a:prstGeom prst="rect">
            <a:avLst/>
          </a:prstGeom>
          <a:noFill/>
        </p:spPr>
        <p:txBody>
          <a:bodyPr wrap="square" rtlCol="0">
            <a:spAutoFit/>
          </a:bodyPr>
          <a:lstStyle/>
          <a:p>
            <a:r>
              <a:rPr kumimoji="1" lang="ja-JP" altLang="en-US">
                <a:solidFill>
                  <a:srgbClr val="FF0000"/>
                </a:solidFill>
              </a:rPr>
              <a:t>ここの</a:t>
            </a:r>
            <a:r>
              <a:rPr kumimoji="1" lang="en-US" altLang="ja-JP">
                <a:solidFill>
                  <a:srgbClr val="FF0000"/>
                </a:solidFill>
              </a:rPr>
              <a:t>”</a:t>
            </a:r>
            <a:r>
              <a:rPr kumimoji="1" lang="en-US" altLang="ja-JP" err="1">
                <a:solidFill>
                  <a:srgbClr val="FF0000"/>
                </a:solidFill>
              </a:rPr>
              <a:t>tt</a:t>
            </a:r>
            <a:r>
              <a:rPr kumimoji="1" lang="en-US" altLang="ja-JP">
                <a:solidFill>
                  <a:srgbClr val="FF0000"/>
                </a:solidFill>
              </a:rPr>
              <a:t>”</a:t>
            </a:r>
            <a:r>
              <a:rPr kumimoji="1" lang="ja-JP" altLang="en-US">
                <a:solidFill>
                  <a:srgbClr val="FF0000"/>
                </a:solidFill>
              </a:rPr>
              <a:t>を</a:t>
            </a:r>
            <a:r>
              <a:rPr kumimoji="1" lang="en-US" altLang="ja-JP">
                <a:solidFill>
                  <a:srgbClr val="FF0000"/>
                </a:solidFill>
              </a:rPr>
              <a:t>”ss”</a:t>
            </a:r>
            <a:r>
              <a:rPr kumimoji="1" lang="ja-JP" altLang="en-US">
                <a:solidFill>
                  <a:srgbClr val="FF0000"/>
                </a:solidFill>
              </a:rPr>
              <a:t>や</a:t>
            </a:r>
            <a:r>
              <a:rPr kumimoji="1" lang="en-US" altLang="ja-JP">
                <a:solidFill>
                  <a:srgbClr val="FF0000"/>
                </a:solidFill>
              </a:rPr>
              <a:t>”ff”</a:t>
            </a:r>
            <a:r>
              <a:rPr kumimoji="1" lang="ja-JP" altLang="en-US">
                <a:solidFill>
                  <a:srgbClr val="FF0000"/>
                </a:solidFill>
              </a:rPr>
              <a:t>にする</a:t>
            </a:r>
          </a:p>
        </p:txBody>
      </p:sp>
    </p:spTree>
    <p:extLst>
      <p:ext uri="{BB962C8B-B14F-4D97-AF65-F5344CB8AC3E}">
        <p14:creationId xmlns:p14="http://schemas.microsoft.com/office/powerpoint/2010/main" val="22843422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A131BF8-BA96-E817-BF0F-228C4123EEE3}"/>
              </a:ext>
            </a:extLst>
          </p:cNvPr>
          <p:cNvSpPr>
            <a:spLocks noGrp="1"/>
          </p:cNvSpPr>
          <p:nvPr>
            <p:ph type="title"/>
          </p:nvPr>
        </p:nvSpPr>
        <p:spPr>
          <a:xfrm>
            <a:off x="808638" y="386930"/>
            <a:ext cx="9236700" cy="1188950"/>
          </a:xfrm>
        </p:spPr>
        <p:txBody>
          <a:bodyPr vert="horz" lIns="91440" tIns="45720" rIns="91440" bIns="45720" rtlCol="0" anchor="b">
            <a:normAutofit fontScale="90000"/>
          </a:bodyPr>
          <a:lstStyle/>
          <a:p>
            <a:r>
              <a:rPr lang="ja-JP" altLang="en-US" sz="5400"/>
              <a:t>最低限</a:t>
            </a:r>
            <a:r>
              <a:rPr lang="ja-JP" altLang="en-US" sz="5400" kern="1200">
                <a:solidFill>
                  <a:schemeClr val="tx1"/>
                </a:solidFill>
                <a:latin typeface="+mj-lt"/>
                <a:ea typeface="+mj-ea"/>
                <a:cs typeface="+mj-cs"/>
              </a:rPr>
              <a:t>必要な</a:t>
            </a:r>
            <a:r>
              <a:rPr lang="ja-JP" altLang="en-US" sz="5400"/>
              <a:t>シミュレーション</a:t>
            </a:r>
            <a:endParaRPr kumimoji="1" lang="en-US" altLang="ja-JP" sz="5400" kern="1200">
              <a:solidFill>
                <a:schemeClr val="tx1"/>
              </a:solidFill>
              <a:latin typeface="+mj-lt"/>
              <a:ea typeface="+mj-ea"/>
              <a:cs typeface="+mj-cs"/>
            </a:endParaRP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コンテンツ プレースホルダー 2">
            <a:extLst>
              <a:ext uri="{FF2B5EF4-FFF2-40B4-BE49-F238E27FC236}">
                <a16:creationId xmlns:a16="http://schemas.microsoft.com/office/drawing/2014/main" id="{FD044B63-2DAF-E979-03E3-28C5C6CEA84C}"/>
              </a:ext>
            </a:extLst>
          </p:cNvPr>
          <p:cNvGraphicFramePr>
            <a:graphicFrameLocks noGrp="1"/>
          </p:cNvGraphicFramePr>
          <p:nvPr>
            <p:ph sz="quarter" idx="13"/>
            <p:extLst>
              <p:ext uri="{D42A27DB-BD31-4B8C-83A1-F6EECF244321}">
                <p14:modId xmlns:p14="http://schemas.microsoft.com/office/powerpoint/2010/main" val="3571747925"/>
              </p:ext>
            </p:extLst>
          </p:nvPr>
        </p:nvGraphicFramePr>
        <p:xfrm>
          <a:off x="793660" y="2599509"/>
          <a:ext cx="10143668" cy="32853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図 4">
            <a:extLst>
              <a:ext uri="{FF2B5EF4-FFF2-40B4-BE49-F238E27FC236}">
                <a16:creationId xmlns:a16="http://schemas.microsoft.com/office/drawing/2014/main" id="{1545BFE7-ED6F-5259-A9E2-F92FC0445807}"/>
              </a:ext>
            </a:extLst>
          </p:cNvPr>
          <p:cNvPicPr>
            <a:picLocks noChangeAspect="1"/>
          </p:cNvPicPr>
          <p:nvPr/>
        </p:nvPicPr>
        <p:blipFill>
          <a:blip r:embed="rId7"/>
          <a:stretch>
            <a:fillRect/>
          </a:stretch>
        </p:blipFill>
        <p:spPr>
          <a:xfrm>
            <a:off x="8506068" y="2325272"/>
            <a:ext cx="2799963" cy="2071595"/>
          </a:xfrm>
          <a:prstGeom prst="rect">
            <a:avLst/>
          </a:prstGeom>
        </p:spPr>
      </p:pic>
      <p:sp>
        <p:nvSpPr>
          <p:cNvPr id="6" name="楕円 5">
            <a:extLst>
              <a:ext uri="{FF2B5EF4-FFF2-40B4-BE49-F238E27FC236}">
                <a16:creationId xmlns:a16="http://schemas.microsoft.com/office/drawing/2014/main" id="{F619D5A4-AE62-A876-05AF-374F534D2FBE}"/>
              </a:ext>
            </a:extLst>
          </p:cNvPr>
          <p:cNvSpPr/>
          <p:nvPr/>
        </p:nvSpPr>
        <p:spPr>
          <a:xfrm>
            <a:off x="8696324" y="2767364"/>
            <a:ext cx="1127126" cy="31281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802381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5C3B5BA-FE4D-9CFD-AEA1-CF0E05B2585E}"/>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069DE040-4578-4981-A606-1ABB4BDD1DE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1821061-A544-91B2-C0FB-5DAB9A0CDD0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1EF3EAD9-E76D-B95A-1FE7-32905006A99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3388B76C-D58C-D114-9E7F-51DE3D9F86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796BF9C6-DBA4-1888-3981-3A79ACC89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40C1C5AB-08AA-87A6-E8B7-7777F743BAF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モンテカルロシミュレーション</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766648845"/>
      </p:ext>
    </p:extLst>
  </p:cSld>
  <p:clrMapOvr>
    <a:overrideClrMapping bg1="dk1" tx1="lt1" bg2="dk2" tx2="lt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AF5D5E-1A50-A120-5A8A-05D38FB4CE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6CB61B-73D8-8F13-BAAE-C8687D169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8B06D90-3C24-1EF8-0B29-B8EA5E36A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17D250EA-0A1D-24E1-B428-CC8088194DCB}"/>
              </a:ext>
            </a:extLst>
          </p:cNvPr>
          <p:cNvSpPr>
            <a:spLocks noGrp="1"/>
          </p:cNvSpPr>
          <p:nvPr>
            <p:ph type="title"/>
          </p:nvPr>
        </p:nvSpPr>
        <p:spPr>
          <a:xfrm>
            <a:off x="838200" y="365125"/>
            <a:ext cx="10515600" cy="1325563"/>
          </a:xfrm>
        </p:spPr>
        <p:txBody>
          <a:bodyPr>
            <a:normAutofit/>
          </a:bodyPr>
          <a:lstStyle/>
          <a:p>
            <a:r>
              <a:rPr lang="ja-JP" altLang="en-US"/>
              <a:t>モンテカルロシミュレーション</a:t>
            </a:r>
            <a:endParaRPr kumimoji="1" lang="ja-JP" altLang="en-US"/>
          </a:p>
        </p:txBody>
      </p:sp>
      <p:sp>
        <p:nvSpPr>
          <p:cNvPr id="12" name="Arc 11">
            <a:extLst>
              <a:ext uri="{FF2B5EF4-FFF2-40B4-BE49-F238E27FC236}">
                <a16:creationId xmlns:a16="http://schemas.microsoft.com/office/drawing/2014/main" id="{FF49606A-636A-FF44-FDEE-F70194D91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4C06EAF-9202-FEAB-2901-AB4599FEC1C4}"/>
              </a:ext>
            </a:extLst>
          </p:cNvPr>
          <p:cNvSpPr>
            <a:spLocks noGrp="1"/>
          </p:cNvSpPr>
          <p:nvPr>
            <p:ph idx="1"/>
          </p:nvPr>
        </p:nvSpPr>
        <p:spPr>
          <a:xfrm>
            <a:off x="838200" y="1825625"/>
            <a:ext cx="10515600" cy="4351338"/>
          </a:xfrm>
        </p:spPr>
        <p:txBody>
          <a:bodyPr>
            <a:normAutofit/>
          </a:bodyPr>
          <a:lstStyle/>
          <a:p>
            <a:r>
              <a:rPr lang="ja-JP" altLang="en-US" sz="2000"/>
              <a:t>シミュレーションを実行する際、どのコーナのモデルを使用するか指定する必要アリ</a:t>
            </a:r>
            <a:endParaRPr lang="en-US" altLang="ja-JP" sz="2000"/>
          </a:p>
          <a:p>
            <a:r>
              <a:rPr lang="ja-JP" altLang="en-US" sz="2000"/>
              <a:t>モンテカルロシミュレーションではランダムなコーナでシミュレーションを複数回行う</a:t>
            </a:r>
            <a:endParaRPr lang="en-US" altLang="ja-JP" sz="2000"/>
          </a:p>
          <a:p>
            <a:pPr lvl="1"/>
            <a:r>
              <a:rPr lang="ja-JP" altLang="en-US" sz="2000"/>
              <a:t>シミュレーションモデルは </a:t>
            </a:r>
            <a:r>
              <a:rPr lang="en-US" altLang="ja-JP" sz="2000"/>
              <a:t>“mm”</a:t>
            </a:r>
            <a:r>
              <a:rPr lang="ja-JP" altLang="en-US" sz="2000"/>
              <a:t>　を利用する</a:t>
            </a:r>
            <a:endParaRPr lang="en-US" altLang="ja-JP" sz="2000"/>
          </a:p>
          <a:p>
            <a:pPr lvl="2"/>
            <a:r>
              <a:rPr lang="en-US" altLang="ja-JP" sz="1800">
                <a:hlinkClick r:id="rId2"/>
              </a:rPr>
              <a:t>https://github.com/3zki/lsi1_analog1/</a:t>
            </a:r>
            <a:endParaRPr lang="en-US" altLang="ja-JP" sz="1800"/>
          </a:p>
          <a:p>
            <a:pPr lvl="1"/>
            <a:endParaRPr lang="en-US" altLang="ja-JP" sz="2000"/>
          </a:p>
        </p:txBody>
      </p:sp>
      <p:cxnSp>
        <p:nvCxnSpPr>
          <p:cNvPr id="4" name="直線矢印コネクタ 3">
            <a:extLst>
              <a:ext uri="{FF2B5EF4-FFF2-40B4-BE49-F238E27FC236}">
                <a16:creationId xmlns:a16="http://schemas.microsoft.com/office/drawing/2014/main" id="{C6CFDA04-39E2-6DBB-02CC-D814D8D88A50}"/>
              </a:ext>
            </a:extLst>
          </p:cNvPr>
          <p:cNvCxnSpPr>
            <a:cxnSpLocks/>
          </p:cNvCxnSpPr>
          <p:nvPr/>
        </p:nvCxnSpPr>
        <p:spPr>
          <a:xfrm flipV="1">
            <a:off x="2799146" y="3285863"/>
            <a:ext cx="0" cy="32487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EC84D586-7AE3-D6AD-7D67-C4EC5A1F052D}"/>
              </a:ext>
            </a:extLst>
          </p:cNvPr>
          <p:cNvCxnSpPr>
            <a:cxnSpLocks/>
          </p:cNvCxnSpPr>
          <p:nvPr/>
        </p:nvCxnSpPr>
        <p:spPr>
          <a:xfrm>
            <a:off x="2768882" y="6499814"/>
            <a:ext cx="4335764"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153C8C9-4699-1795-D95C-DAABCA0BB888}"/>
              </a:ext>
            </a:extLst>
          </p:cNvPr>
          <p:cNvSpPr txBox="1"/>
          <p:nvPr/>
        </p:nvSpPr>
        <p:spPr>
          <a:xfrm>
            <a:off x="2753751" y="6534560"/>
            <a:ext cx="4335764" cy="369332"/>
          </a:xfrm>
          <a:prstGeom prst="rect">
            <a:avLst/>
          </a:prstGeom>
          <a:noFill/>
        </p:spPr>
        <p:txBody>
          <a:bodyPr wrap="square" rtlCol="0">
            <a:spAutoFit/>
          </a:bodyPr>
          <a:lstStyle/>
          <a:p>
            <a:pPr algn="ctr"/>
            <a:r>
              <a:rPr kumimoji="1" lang="en-US" altLang="ja-JP"/>
              <a:t>NMOS</a:t>
            </a:r>
            <a:r>
              <a:rPr kumimoji="1" lang="ja-JP" altLang="en-US"/>
              <a:t>の</a:t>
            </a:r>
            <a:r>
              <a:rPr kumimoji="1" lang="en-US" altLang="ja-JP"/>
              <a:t>Vth</a:t>
            </a:r>
            <a:endParaRPr kumimoji="1" lang="ja-JP" altLang="en-US"/>
          </a:p>
        </p:txBody>
      </p:sp>
      <p:sp>
        <p:nvSpPr>
          <p:cNvPr id="7" name="テキスト ボックス 6">
            <a:extLst>
              <a:ext uri="{FF2B5EF4-FFF2-40B4-BE49-F238E27FC236}">
                <a16:creationId xmlns:a16="http://schemas.microsoft.com/office/drawing/2014/main" id="{AF0C77E7-7D49-EF5B-13F9-A1C8E19065A0}"/>
              </a:ext>
            </a:extLst>
          </p:cNvPr>
          <p:cNvSpPr txBox="1"/>
          <p:nvPr/>
        </p:nvSpPr>
        <p:spPr>
          <a:xfrm rot="16200000">
            <a:off x="944736" y="4725545"/>
            <a:ext cx="3248697" cy="369332"/>
          </a:xfrm>
          <a:prstGeom prst="rect">
            <a:avLst/>
          </a:prstGeom>
          <a:noFill/>
        </p:spPr>
        <p:txBody>
          <a:bodyPr wrap="square" rtlCol="0">
            <a:spAutoFit/>
          </a:bodyPr>
          <a:lstStyle/>
          <a:p>
            <a:pPr algn="ctr"/>
            <a:r>
              <a:rPr kumimoji="1" lang="en-US" altLang="ja-JP"/>
              <a:t>PMOS</a:t>
            </a:r>
            <a:r>
              <a:rPr kumimoji="1" lang="ja-JP" altLang="en-US"/>
              <a:t>の</a:t>
            </a:r>
            <a:r>
              <a:rPr kumimoji="1" lang="en-US" altLang="ja-JP"/>
              <a:t>Vth</a:t>
            </a:r>
            <a:endParaRPr kumimoji="1" lang="ja-JP" altLang="en-US"/>
          </a:p>
        </p:txBody>
      </p:sp>
      <p:sp>
        <p:nvSpPr>
          <p:cNvPr id="9" name="楕円 8">
            <a:extLst>
              <a:ext uri="{FF2B5EF4-FFF2-40B4-BE49-F238E27FC236}">
                <a16:creationId xmlns:a16="http://schemas.microsoft.com/office/drawing/2014/main" id="{7A92F6D2-169E-B118-B7F1-B8D9C2EAB1E2}"/>
              </a:ext>
            </a:extLst>
          </p:cNvPr>
          <p:cNvSpPr/>
          <p:nvPr/>
        </p:nvSpPr>
        <p:spPr>
          <a:xfrm>
            <a:off x="3164936" y="5478034"/>
            <a:ext cx="948583" cy="500722"/>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a:solidFill>
                  <a:schemeClr val="tx1"/>
                </a:solidFill>
              </a:rPr>
              <a:t>ff</a:t>
            </a:r>
            <a:endParaRPr kumimoji="1" lang="ja-JP" altLang="en-US" sz="2800">
              <a:solidFill>
                <a:schemeClr val="tx1"/>
              </a:solidFill>
            </a:endParaRPr>
          </a:p>
        </p:txBody>
      </p:sp>
      <p:sp>
        <p:nvSpPr>
          <p:cNvPr id="11" name="楕円 10">
            <a:extLst>
              <a:ext uri="{FF2B5EF4-FFF2-40B4-BE49-F238E27FC236}">
                <a16:creationId xmlns:a16="http://schemas.microsoft.com/office/drawing/2014/main" id="{944536A4-3B71-64E5-8D4C-5DF432ADB93B}"/>
              </a:ext>
            </a:extLst>
          </p:cNvPr>
          <p:cNvSpPr/>
          <p:nvPr/>
        </p:nvSpPr>
        <p:spPr>
          <a:xfrm>
            <a:off x="5502876" y="5478034"/>
            <a:ext cx="948583" cy="500722"/>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a:solidFill>
                  <a:schemeClr val="tx1"/>
                </a:solidFill>
              </a:rPr>
              <a:t>fs</a:t>
            </a:r>
            <a:endParaRPr kumimoji="1" lang="ja-JP" altLang="en-US" sz="2800">
              <a:solidFill>
                <a:schemeClr val="tx1"/>
              </a:solidFill>
            </a:endParaRPr>
          </a:p>
        </p:txBody>
      </p:sp>
      <p:sp>
        <p:nvSpPr>
          <p:cNvPr id="13" name="楕円 12">
            <a:extLst>
              <a:ext uri="{FF2B5EF4-FFF2-40B4-BE49-F238E27FC236}">
                <a16:creationId xmlns:a16="http://schemas.microsoft.com/office/drawing/2014/main" id="{1D7F5A87-BE7F-5C2B-9C73-9606D7EE324D}"/>
              </a:ext>
            </a:extLst>
          </p:cNvPr>
          <p:cNvSpPr/>
          <p:nvPr/>
        </p:nvSpPr>
        <p:spPr>
          <a:xfrm>
            <a:off x="3787860" y="3603324"/>
            <a:ext cx="948583" cy="500722"/>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a:solidFill>
                  <a:schemeClr val="tx1"/>
                </a:solidFill>
              </a:rPr>
              <a:t>sf</a:t>
            </a:r>
            <a:endParaRPr kumimoji="1" lang="ja-JP" altLang="en-US" sz="2800">
              <a:solidFill>
                <a:schemeClr val="tx1"/>
              </a:solidFill>
            </a:endParaRPr>
          </a:p>
        </p:txBody>
      </p:sp>
      <p:sp>
        <p:nvSpPr>
          <p:cNvPr id="14" name="楕円 13">
            <a:extLst>
              <a:ext uri="{FF2B5EF4-FFF2-40B4-BE49-F238E27FC236}">
                <a16:creationId xmlns:a16="http://schemas.microsoft.com/office/drawing/2014/main" id="{DF49314C-BFB3-36FF-11E7-DF30E4E1D97D}"/>
              </a:ext>
            </a:extLst>
          </p:cNvPr>
          <p:cNvSpPr/>
          <p:nvPr/>
        </p:nvSpPr>
        <p:spPr>
          <a:xfrm>
            <a:off x="6125800" y="3603324"/>
            <a:ext cx="948583" cy="500722"/>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a:solidFill>
                  <a:schemeClr val="tx1"/>
                </a:solidFill>
              </a:rPr>
              <a:t>ss</a:t>
            </a:r>
            <a:endParaRPr kumimoji="1" lang="ja-JP" altLang="en-US" sz="2800">
              <a:solidFill>
                <a:schemeClr val="tx1"/>
              </a:solidFill>
            </a:endParaRPr>
          </a:p>
        </p:txBody>
      </p:sp>
      <p:cxnSp>
        <p:nvCxnSpPr>
          <p:cNvPr id="15" name="直線コネクタ 14">
            <a:extLst>
              <a:ext uri="{FF2B5EF4-FFF2-40B4-BE49-F238E27FC236}">
                <a16:creationId xmlns:a16="http://schemas.microsoft.com/office/drawing/2014/main" id="{E0FE704F-40B0-04E2-4BA7-D0326C9F46B7}"/>
              </a:ext>
            </a:extLst>
          </p:cNvPr>
          <p:cNvCxnSpPr>
            <a:stCxn id="9" idx="0"/>
            <a:endCxn id="13" idx="4"/>
          </p:cNvCxnSpPr>
          <p:nvPr/>
        </p:nvCxnSpPr>
        <p:spPr>
          <a:xfrm flipV="1">
            <a:off x="3639228" y="4104046"/>
            <a:ext cx="622924" cy="1373988"/>
          </a:xfrm>
          <a:prstGeom prst="line">
            <a:avLst/>
          </a:prstGeom>
          <a:ln w="28575"/>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40D18C9E-C905-FB5F-913F-92B6DDD67517}"/>
              </a:ext>
            </a:extLst>
          </p:cNvPr>
          <p:cNvCxnSpPr>
            <a:stCxn id="13" idx="6"/>
            <a:endCxn id="14" idx="2"/>
          </p:cNvCxnSpPr>
          <p:nvPr/>
        </p:nvCxnSpPr>
        <p:spPr>
          <a:xfrm>
            <a:off x="4736443" y="3853685"/>
            <a:ext cx="138935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直線コネクタ 16">
            <a:extLst>
              <a:ext uri="{FF2B5EF4-FFF2-40B4-BE49-F238E27FC236}">
                <a16:creationId xmlns:a16="http://schemas.microsoft.com/office/drawing/2014/main" id="{41B13D1F-412B-B867-C11E-EF5391970A01}"/>
              </a:ext>
            </a:extLst>
          </p:cNvPr>
          <p:cNvCxnSpPr>
            <a:stCxn id="14" idx="4"/>
            <a:endCxn id="11" idx="0"/>
          </p:cNvCxnSpPr>
          <p:nvPr/>
        </p:nvCxnSpPr>
        <p:spPr>
          <a:xfrm flipH="1">
            <a:off x="5977168" y="4104046"/>
            <a:ext cx="622924" cy="1373988"/>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直線コネクタ 17">
            <a:extLst>
              <a:ext uri="{FF2B5EF4-FFF2-40B4-BE49-F238E27FC236}">
                <a16:creationId xmlns:a16="http://schemas.microsoft.com/office/drawing/2014/main" id="{CBD13C7B-EA96-4861-1E33-85C537DAD663}"/>
              </a:ext>
            </a:extLst>
          </p:cNvPr>
          <p:cNvCxnSpPr>
            <a:stCxn id="9" idx="6"/>
            <a:endCxn id="11" idx="2"/>
          </p:cNvCxnSpPr>
          <p:nvPr/>
        </p:nvCxnSpPr>
        <p:spPr>
          <a:xfrm>
            <a:off x="4113519" y="5728395"/>
            <a:ext cx="1389357" cy="0"/>
          </a:xfrm>
          <a:prstGeom prst="line">
            <a:avLst/>
          </a:prstGeom>
          <a:ln w="28575"/>
        </p:spPr>
        <p:style>
          <a:lnRef idx="1">
            <a:schemeClr val="dk1"/>
          </a:lnRef>
          <a:fillRef idx="0">
            <a:schemeClr val="dk1"/>
          </a:fillRef>
          <a:effectRef idx="0">
            <a:schemeClr val="dk1"/>
          </a:effectRef>
          <a:fontRef idx="minor">
            <a:schemeClr val="tx1"/>
          </a:fontRef>
        </p:style>
      </p:cxnSp>
      <p:sp>
        <p:nvSpPr>
          <p:cNvPr id="19" name="楕円 18">
            <a:extLst>
              <a:ext uri="{FF2B5EF4-FFF2-40B4-BE49-F238E27FC236}">
                <a16:creationId xmlns:a16="http://schemas.microsoft.com/office/drawing/2014/main" id="{0ABCE17E-07FC-3717-1477-76F0F91E46F3}"/>
              </a:ext>
            </a:extLst>
          </p:cNvPr>
          <p:cNvSpPr/>
          <p:nvPr/>
        </p:nvSpPr>
        <p:spPr>
          <a:xfrm>
            <a:off x="4601041" y="4513066"/>
            <a:ext cx="948583" cy="500722"/>
          </a:xfrm>
          <a:prstGeom prst="ellipse">
            <a:avLst/>
          </a:prstGeom>
          <a:no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2800" err="1">
                <a:solidFill>
                  <a:schemeClr val="accent1"/>
                </a:solidFill>
              </a:rPr>
              <a:t>tt</a:t>
            </a:r>
            <a:endParaRPr kumimoji="1" lang="ja-JP" altLang="en-US" sz="2800">
              <a:solidFill>
                <a:schemeClr val="accent1"/>
              </a:solidFill>
            </a:endParaRPr>
          </a:p>
        </p:txBody>
      </p:sp>
      <p:sp>
        <p:nvSpPr>
          <p:cNvPr id="20" name="テキスト ボックス 19">
            <a:extLst>
              <a:ext uri="{FF2B5EF4-FFF2-40B4-BE49-F238E27FC236}">
                <a16:creationId xmlns:a16="http://schemas.microsoft.com/office/drawing/2014/main" id="{F884A41A-2EA1-98BE-CB7B-47711BC97AEA}"/>
              </a:ext>
            </a:extLst>
          </p:cNvPr>
          <p:cNvSpPr txBox="1"/>
          <p:nvPr/>
        </p:nvSpPr>
        <p:spPr>
          <a:xfrm>
            <a:off x="7074381" y="3664040"/>
            <a:ext cx="4913831" cy="369332"/>
          </a:xfrm>
          <a:prstGeom prst="rect">
            <a:avLst/>
          </a:prstGeom>
          <a:noFill/>
        </p:spPr>
        <p:txBody>
          <a:bodyPr wrap="square" rtlCol="0">
            <a:spAutoFit/>
          </a:bodyPr>
          <a:lstStyle/>
          <a:p>
            <a:r>
              <a:rPr kumimoji="1" lang="ja-JP" altLang="en-US"/>
              <a:t>スレッショルド電圧が高いと応答性は遅い </a:t>
            </a:r>
            <a:r>
              <a:rPr kumimoji="1" lang="en-US" altLang="ja-JP"/>
              <a:t>(slow)</a:t>
            </a:r>
            <a:endParaRPr kumimoji="1" lang="ja-JP" altLang="en-US"/>
          </a:p>
        </p:txBody>
      </p:sp>
      <p:sp>
        <p:nvSpPr>
          <p:cNvPr id="21" name="テキスト ボックス 20">
            <a:extLst>
              <a:ext uri="{FF2B5EF4-FFF2-40B4-BE49-F238E27FC236}">
                <a16:creationId xmlns:a16="http://schemas.microsoft.com/office/drawing/2014/main" id="{6537C6B7-999F-FAAC-864A-4CF845EFFC7F}"/>
              </a:ext>
            </a:extLst>
          </p:cNvPr>
          <p:cNvSpPr txBox="1"/>
          <p:nvPr/>
        </p:nvSpPr>
        <p:spPr>
          <a:xfrm>
            <a:off x="7074382" y="5543729"/>
            <a:ext cx="4913831" cy="369332"/>
          </a:xfrm>
          <a:prstGeom prst="rect">
            <a:avLst/>
          </a:prstGeom>
          <a:noFill/>
        </p:spPr>
        <p:txBody>
          <a:bodyPr wrap="square" rtlCol="0">
            <a:spAutoFit/>
          </a:bodyPr>
          <a:lstStyle/>
          <a:p>
            <a:r>
              <a:rPr kumimoji="1" lang="ja-JP" altLang="en-US"/>
              <a:t>スレッショルド電圧が低いと応答性は速い </a:t>
            </a:r>
            <a:r>
              <a:rPr kumimoji="1" lang="en-US" altLang="ja-JP"/>
              <a:t>(fast)</a:t>
            </a:r>
            <a:endParaRPr kumimoji="1" lang="ja-JP" altLang="en-US"/>
          </a:p>
        </p:txBody>
      </p:sp>
    </p:spTree>
    <p:extLst>
      <p:ext uri="{BB962C8B-B14F-4D97-AF65-F5344CB8AC3E}">
        <p14:creationId xmlns:p14="http://schemas.microsoft.com/office/powerpoint/2010/main" val="2246730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EEB3334-6487-D7DC-FA6B-19F94E02C92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ltLang="ja-JP" sz="3700" kern="1200">
                <a:solidFill>
                  <a:srgbClr val="FFFFFF"/>
                </a:solidFill>
                <a:latin typeface="+mj-lt"/>
                <a:ea typeface="+mj-ea"/>
                <a:cs typeface="+mj-cs"/>
              </a:rPr>
              <a:t>Xschem </a:t>
            </a:r>
            <a:r>
              <a:rPr lang="ja-JP" altLang="en-US" sz="3700" kern="1200">
                <a:solidFill>
                  <a:srgbClr val="FFFFFF"/>
                </a:solidFill>
                <a:latin typeface="+mj-lt"/>
                <a:ea typeface="+mj-ea"/>
                <a:cs typeface="+mj-cs"/>
              </a:rPr>
              <a:t>構成</a:t>
            </a:r>
            <a:r>
              <a:rPr kumimoji="1" lang="ja-JP" altLang="en-US" sz="3700" kern="1200">
                <a:solidFill>
                  <a:srgbClr val="FFFFFF"/>
                </a:solidFill>
                <a:latin typeface="+mj-lt"/>
                <a:ea typeface="+mj-ea"/>
                <a:cs typeface="+mj-cs"/>
              </a:rPr>
              <a:t>例　</a:t>
            </a:r>
            <a:r>
              <a:rPr kumimoji="1" lang="en-US" altLang="ja-JP" sz="3700" kern="1200">
                <a:solidFill>
                  <a:srgbClr val="FFFFFF"/>
                </a:solidFill>
                <a:latin typeface="+mj-lt"/>
                <a:ea typeface="+mj-ea"/>
                <a:cs typeface="+mj-cs"/>
              </a:rPr>
              <a:t>10</a:t>
            </a:r>
            <a:r>
              <a:rPr kumimoji="1" lang="ja-JP" altLang="en-US" sz="3700" kern="1200">
                <a:solidFill>
                  <a:srgbClr val="FFFFFF"/>
                </a:solidFill>
                <a:latin typeface="+mj-lt"/>
                <a:ea typeface="+mj-ea"/>
                <a:cs typeface="+mj-cs"/>
              </a:rPr>
              <a:t>回 </a:t>
            </a:r>
            <a:r>
              <a:rPr kumimoji="1" lang="en-US" altLang="ja-JP" sz="3700" kern="1200">
                <a:solidFill>
                  <a:srgbClr val="FFFFFF"/>
                </a:solidFill>
                <a:latin typeface="+mj-lt"/>
                <a:ea typeface="+mj-ea"/>
                <a:cs typeface="+mj-cs"/>
              </a:rPr>
              <a:t>(L=0.15μm)</a:t>
            </a:r>
          </a:p>
        </p:txBody>
      </p:sp>
      <p:pic>
        <p:nvPicPr>
          <p:cNvPr id="8" name="コンテンツ プレースホルダー 7">
            <a:extLst>
              <a:ext uri="{FF2B5EF4-FFF2-40B4-BE49-F238E27FC236}">
                <a16:creationId xmlns:a16="http://schemas.microsoft.com/office/drawing/2014/main" id="{242B22AA-E861-1D3E-32A3-C79445062770}"/>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432225" y="2110937"/>
            <a:ext cx="11327549" cy="4162872"/>
          </a:xfrm>
          <a:prstGeom prst="rect">
            <a:avLst/>
          </a:prstGeom>
        </p:spPr>
      </p:pic>
    </p:spTree>
    <p:extLst>
      <p:ext uri="{BB962C8B-B14F-4D97-AF65-F5344CB8AC3E}">
        <p14:creationId xmlns:p14="http://schemas.microsoft.com/office/powerpoint/2010/main" val="37503796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1FDBD7-5D54-24E1-2B20-9AE167986B38}"/>
            </a:ext>
          </a:extLst>
        </p:cNvPr>
        <p:cNvGrpSpPr/>
        <p:nvPr/>
      </p:nvGrpSpPr>
      <p:grpSpPr>
        <a:xfrm>
          <a:off x="0" y="0"/>
          <a:ext cx="0" cy="0"/>
          <a:chOff x="0" y="0"/>
          <a:chExt cx="0" cy="0"/>
        </a:xfrm>
      </p:grpSpPr>
      <p:sp useBgFill="1">
        <p:nvSpPr>
          <p:cNvPr id="20" name="Rectangle 16">
            <a:extLst>
              <a:ext uri="{FF2B5EF4-FFF2-40B4-BE49-F238E27FC236}">
                <a16:creationId xmlns:a16="http://schemas.microsoft.com/office/drawing/2014/main" id="{EF4374B8-A5D9-A1F6-2E70-F17E4FBF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EC4BA7-2FFD-7B01-36A3-04C97EC6F5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ED93ACC-FFAF-7212-7647-16707727A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B66013-323D-D697-792B-1AAEED2F0F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14A6A96-4B7E-7CA4-9222-4A952AD7D57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kumimoji="1" lang="ja-JP" altLang="en-US" sz="4000" kern="1200">
                <a:solidFill>
                  <a:srgbClr val="FFFFFF"/>
                </a:solidFill>
                <a:latin typeface="+mj-lt"/>
                <a:ea typeface="+mj-ea"/>
                <a:cs typeface="+mj-cs"/>
              </a:rPr>
              <a:t>モデル変更</a:t>
            </a:r>
          </a:p>
        </p:txBody>
      </p:sp>
      <p:pic>
        <p:nvPicPr>
          <p:cNvPr id="12" name="コンテンツ プレースホルダー 11">
            <a:extLst>
              <a:ext uri="{FF2B5EF4-FFF2-40B4-BE49-F238E27FC236}">
                <a16:creationId xmlns:a16="http://schemas.microsoft.com/office/drawing/2014/main" id="{5DB11255-7DE4-C2FC-DC28-E1F2A5B254BB}"/>
              </a:ext>
            </a:extLst>
          </p:cNvPr>
          <p:cNvPicPr>
            <a:picLocks noGrp="1" noChangeAspect="1"/>
          </p:cNvPicPr>
          <p:nvPr>
            <p:ph sz="quarter" idx="13"/>
          </p:nvPr>
        </p:nvPicPr>
        <p:blipFill>
          <a:blip r:embed="rId3"/>
          <a:stretch>
            <a:fillRect/>
          </a:stretch>
        </p:blipFill>
        <p:spPr>
          <a:xfrm>
            <a:off x="880148" y="1966293"/>
            <a:ext cx="10431703" cy="4452160"/>
          </a:xfrm>
          <a:prstGeom prst="rect">
            <a:avLst/>
          </a:prstGeom>
        </p:spPr>
      </p:pic>
      <p:pic>
        <p:nvPicPr>
          <p:cNvPr id="6" name="図 5">
            <a:extLst>
              <a:ext uri="{FF2B5EF4-FFF2-40B4-BE49-F238E27FC236}">
                <a16:creationId xmlns:a16="http://schemas.microsoft.com/office/drawing/2014/main" id="{CB9F22F1-00C0-AD73-19AC-D61BC86D6E0F}"/>
              </a:ext>
            </a:extLst>
          </p:cNvPr>
          <p:cNvPicPr>
            <a:picLocks noChangeAspect="1"/>
          </p:cNvPicPr>
          <p:nvPr/>
        </p:nvPicPr>
        <p:blipFill>
          <a:blip r:embed="rId4"/>
          <a:stretch>
            <a:fillRect/>
          </a:stretch>
        </p:blipFill>
        <p:spPr>
          <a:xfrm>
            <a:off x="3184426" y="2114868"/>
            <a:ext cx="8110248" cy="4188872"/>
          </a:xfrm>
          <a:prstGeom prst="rect">
            <a:avLst/>
          </a:prstGeom>
        </p:spPr>
      </p:pic>
      <p:sp>
        <p:nvSpPr>
          <p:cNvPr id="3" name="楕円 2">
            <a:extLst>
              <a:ext uri="{FF2B5EF4-FFF2-40B4-BE49-F238E27FC236}">
                <a16:creationId xmlns:a16="http://schemas.microsoft.com/office/drawing/2014/main" id="{B921EE70-79B9-D3F8-0B16-5B62306802A8}"/>
              </a:ext>
            </a:extLst>
          </p:cNvPr>
          <p:cNvSpPr/>
          <p:nvPr/>
        </p:nvSpPr>
        <p:spPr>
          <a:xfrm>
            <a:off x="7121082" y="4484984"/>
            <a:ext cx="701733" cy="32154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D2A0132-CA2B-8A9D-ACD6-BF536B845D1B}"/>
              </a:ext>
            </a:extLst>
          </p:cNvPr>
          <p:cNvSpPr txBox="1"/>
          <p:nvPr/>
        </p:nvSpPr>
        <p:spPr>
          <a:xfrm>
            <a:off x="7822815" y="4322591"/>
            <a:ext cx="3432559" cy="646331"/>
          </a:xfrm>
          <a:prstGeom prst="rect">
            <a:avLst/>
          </a:prstGeom>
          <a:noFill/>
        </p:spPr>
        <p:txBody>
          <a:bodyPr wrap="square" rtlCol="0">
            <a:spAutoFit/>
          </a:bodyPr>
          <a:lstStyle/>
          <a:p>
            <a:r>
              <a:rPr kumimoji="1" lang="ja-JP" altLang="en-US">
                <a:solidFill>
                  <a:srgbClr val="FF0000"/>
                </a:solidFill>
              </a:rPr>
              <a:t>ここの</a:t>
            </a:r>
            <a:r>
              <a:rPr kumimoji="1" lang="en-US" altLang="ja-JP">
                <a:solidFill>
                  <a:srgbClr val="FF0000"/>
                </a:solidFill>
              </a:rPr>
              <a:t>”</a:t>
            </a:r>
            <a:r>
              <a:rPr kumimoji="1" lang="en-US" altLang="ja-JP" err="1">
                <a:solidFill>
                  <a:srgbClr val="FF0000"/>
                </a:solidFill>
              </a:rPr>
              <a:t>tt</a:t>
            </a:r>
            <a:r>
              <a:rPr kumimoji="1" lang="en-US" altLang="ja-JP">
                <a:solidFill>
                  <a:srgbClr val="FF0000"/>
                </a:solidFill>
              </a:rPr>
              <a:t>”</a:t>
            </a:r>
            <a:r>
              <a:rPr kumimoji="1" lang="ja-JP" altLang="en-US">
                <a:solidFill>
                  <a:srgbClr val="FF0000"/>
                </a:solidFill>
              </a:rPr>
              <a:t>を</a:t>
            </a:r>
            <a:r>
              <a:rPr kumimoji="1" lang="en-US" altLang="ja-JP">
                <a:solidFill>
                  <a:srgbClr val="FF0000"/>
                </a:solidFill>
              </a:rPr>
              <a:t>”</a:t>
            </a:r>
            <a:r>
              <a:rPr lang="en-US" altLang="ja-JP" err="1">
                <a:solidFill>
                  <a:srgbClr val="FF0000"/>
                </a:solidFill>
              </a:rPr>
              <a:t>tt_mm</a:t>
            </a:r>
            <a:r>
              <a:rPr kumimoji="1" lang="en-US" altLang="ja-JP">
                <a:solidFill>
                  <a:srgbClr val="FF0000"/>
                </a:solidFill>
              </a:rPr>
              <a:t>”</a:t>
            </a:r>
            <a:r>
              <a:rPr kumimoji="1" lang="ja-JP" altLang="en-US">
                <a:solidFill>
                  <a:srgbClr val="FF0000"/>
                </a:solidFill>
              </a:rPr>
              <a:t>や</a:t>
            </a:r>
            <a:r>
              <a:rPr kumimoji="1" lang="en-US" altLang="ja-JP">
                <a:solidFill>
                  <a:srgbClr val="FF0000"/>
                </a:solidFill>
              </a:rPr>
              <a:t>”</a:t>
            </a:r>
            <a:r>
              <a:rPr kumimoji="1" lang="en-US" altLang="ja-JP" err="1">
                <a:solidFill>
                  <a:srgbClr val="FF0000"/>
                </a:solidFill>
              </a:rPr>
              <a:t>ff_mm</a:t>
            </a:r>
            <a:r>
              <a:rPr kumimoji="1" lang="en-US" altLang="ja-JP">
                <a:solidFill>
                  <a:srgbClr val="FF0000"/>
                </a:solidFill>
              </a:rPr>
              <a:t>”</a:t>
            </a:r>
            <a:r>
              <a:rPr kumimoji="1" lang="ja-JP" altLang="en-US">
                <a:solidFill>
                  <a:srgbClr val="FF0000"/>
                </a:solidFill>
              </a:rPr>
              <a:t>にする</a:t>
            </a:r>
          </a:p>
        </p:txBody>
      </p:sp>
    </p:spTree>
    <p:extLst>
      <p:ext uri="{BB962C8B-B14F-4D97-AF65-F5344CB8AC3E}">
        <p14:creationId xmlns:p14="http://schemas.microsoft.com/office/powerpoint/2010/main" val="40249065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コンテンツ プレースホルダー 7">
            <a:extLst>
              <a:ext uri="{FF2B5EF4-FFF2-40B4-BE49-F238E27FC236}">
                <a16:creationId xmlns:a16="http://schemas.microsoft.com/office/drawing/2014/main" id="{EF06DE0D-0B77-CFB4-7FA0-79D9E9B438AA}"/>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
        <p:nvSpPr>
          <p:cNvPr id="16" name="Rectangle 12">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C638CBD-0D4F-3FDB-0A20-0C097B553B68}"/>
              </a:ext>
            </a:extLst>
          </p:cNvPr>
          <p:cNvSpPr>
            <a:spLocks noGrp="1"/>
          </p:cNvSpPr>
          <p:nvPr>
            <p:ph type="title"/>
          </p:nvPr>
        </p:nvSpPr>
        <p:spPr>
          <a:xfrm>
            <a:off x="523875" y="425950"/>
            <a:ext cx="11210925" cy="744836"/>
          </a:xfrm>
        </p:spPr>
        <p:txBody>
          <a:bodyPr vert="horz" lIns="91440" tIns="45720" rIns="91440" bIns="45720" rtlCol="0" anchor="ctr">
            <a:normAutofit/>
          </a:bodyPr>
          <a:lstStyle/>
          <a:p>
            <a:pPr algn="ctr"/>
            <a:r>
              <a:rPr kumimoji="1" lang="ja-JP" altLang="en-US" sz="3600">
                <a:solidFill>
                  <a:schemeClr val="tx1">
                    <a:lumMod val="85000"/>
                    <a:lumOff val="15000"/>
                  </a:schemeClr>
                </a:solidFill>
              </a:rPr>
              <a:t>シミュレーション結果 </a:t>
            </a:r>
            <a:r>
              <a:rPr kumimoji="1" lang="en-US" altLang="ja-JP" sz="3600">
                <a:solidFill>
                  <a:schemeClr val="tx1">
                    <a:lumMod val="85000"/>
                    <a:lumOff val="15000"/>
                  </a:schemeClr>
                </a:solidFill>
              </a:rPr>
              <a:t>(mm)</a:t>
            </a:r>
          </a:p>
        </p:txBody>
      </p:sp>
      <p:cxnSp>
        <p:nvCxnSpPr>
          <p:cNvPr id="15" name="Straight Connector 14">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6816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87DD318-130D-ABC2-DE02-213941E963DE}"/>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1766CDED-C47B-5316-1643-C9AACBB319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6AE5017-FFAE-A579-4989-546B56A505A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045E11E4-3587-9B15-27C7-48F1E74E673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360BEAAA-B144-CE0A-F388-2C7C2BB7A6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424F6F97-97BF-BB6D-2337-DABDAC7B08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82C64DD5-CB5E-62A7-92F2-D2187A519C38}"/>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SAR-ADC</a:t>
            </a:r>
            <a:r>
              <a:rPr lang="ja-JP" altLang="en-US" sz="4000">
                <a:solidFill>
                  <a:schemeClr val="bg2"/>
                </a:solidFill>
              </a:rPr>
              <a:t>のシミュレーション</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573560924"/>
      </p:ext>
    </p:extLst>
  </p:cSld>
  <p:clrMapOvr>
    <a:overrideClrMapping bg1="dk1" tx1="lt1" bg2="dk2" tx2="lt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6F6BE7-4FE9-AC7E-9EC0-F234E537C17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CFB6275-9832-458E-CCA7-7EA9F7184559}"/>
              </a:ext>
            </a:extLst>
          </p:cNvPr>
          <p:cNvSpPr>
            <a:spLocks noGrp="1"/>
          </p:cNvSpPr>
          <p:nvPr>
            <p:ph type="title"/>
          </p:nvPr>
        </p:nvSpPr>
        <p:spPr>
          <a:xfrm>
            <a:off x="1043631" y="809898"/>
            <a:ext cx="9942716" cy="1554480"/>
          </a:xfrm>
        </p:spPr>
        <p:txBody>
          <a:bodyPr anchor="ctr">
            <a:normAutofit/>
          </a:bodyPr>
          <a:lstStyle/>
          <a:p>
            <a:r>
              <a:rPr lang="ja-JP" altLang="en-US" sz="4800"/>
              <a:t>最低限必要なシミュレーション</a:t>
            </a:r>
            <a:endParaRPr kumimoji="1" lang="ja-JP" altLang="en-US" sz="48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 name="コンテンツ プレースホルダー 2">
            <a:extLst>
              <a:ext uri="{FF2B5EF4-FFF2-40B4-BE49-F238E27FC236}">
                <a16:creationId xmlns:a16="http://schemas.microsoft.com/office/drawing/2014/main" id="{18B2F441-F226-4B38-4CB3-5F7C61F6DE5B}"/>
              </a:ext>
            </a:extLst>
          </p:cNvPr>
          <p:cNvGraphicFramePr>
            <a:graphicFrameLocks noGrp="1"/>
          </p:cNvGraphicFramePr>
          <p:nvPr>
            <p:ph idx="1"/>
            <p:extLst>
              <p:ext uri="{D42A27DB-BD31-4B8C-83A1-F6EECF244321}">
                <p14:modId xmlns:p14="http://schemas.microsoft.com/office/powerpoint/2010/main" val="2601944731"/>
              </p:ext>
            </p:extLst>
          </p:nvPr>
        </p:nvGraphicFramePr>
        <p:xfrm>
          <a:off x="838200" y="2610381"/>
          <a:ext cx="10515600" cy="38749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129749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AD03F22-D9DD-21A2-289B-A0E107EEF9C8}"/>
              </a:ext>
            </a:extLst>
          </p:cNvPr>
          <p:cNvSpPr>
            <a:spLocks noGrp="1"/>
          </p:cNvSpPr>
          <p:nvPr>
            <p:ph type="title"/>
          </p:nvPr>
        </p:nvSpPr>
        <p:spPr>
          <a:xfrm>
            <a:off x="793662" y="386930"/>
            <a:ext cx="10066122" cy="1298448"/>
          </a:xfrm>
        </p:spPr>
        <p:txBody>
          <a:bodyPr anchor="b">
            <a:normAutofit/>
          </a:bodyPr>
          <a:lstStyle/>
          <a:p>
            <a:r>
              <a:rPr lang="ja-JP" altLang="en-US" sz="4800" dirty="0"/>
              <a:t>オフセットとノイズ</a:t>
            </a:r>
            <a:endParaRPr kumimoji="1" lang="ja-JP" altLang="en-US" sz="4800" dirty="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F2F73E7-65C0-5825-8E37-C6C465864761}"/>
              </a:ext>
            </a:extLst>
          </p:cNvPr>
          <p:cNvSpPr>
            <a:spLocks noGrp="1"/>
          </p:cNvSpPr>
          <p:nvPr>
            <p:ph idx="1"/>
          </p:nvPr>
        </p:nvSpPr>
        <p:spPr>
          <a:xfrm>
            <a:off x="793660" y="2599509"/>
            <a:ext cx="5117871" cy="3639450"/>
          </a:xfrm>
        </p:spPr>
        <p:txBody>
          <a:bodyPr anchor="ctr">
            <a:normAutofit/>
          </a:bodyPr>
          <a:lstStyle/>
          <a:p>
            <a:r>
              <a:rPr kumimoji="1" lang="ja-JP" altLang="en-US" sz="2000" dirty="0"/>
              <a:t>各ビットに対応する電圧に対して何</a:t>
            </a:r>
            <a:r>
              <a:rPr kumimoji="1" lang="en-US" altLang="ja-JP" sz="2000" dirty="0"/>
              <a:t>V</a:t>
            </a:r>
            <a:r>
              <a:rPr kumimoji="1" lang="ja-JP" altLang="en-US" sz="2000" dirty="0"/>
              <a:t>のズレで</a:t>
            </a:r>
            <a:r>
              <a:rPr kumimoji="1" lang="en-US" altLang="ja-JP" sz="2000" dirty="0"/>
              <a:t>On</a:t>
            </a:r>
            <a:r>
              <a:rPr kumimoji="1" lang="ja-JP" altLang="en-US" sz="2000" dirty="0"/>
              <a:t>になるかチェックする</a:t>
            </a:r>
            <a:endParaRPr kumimoji="1" lang="en-US" altLang="ja-JP" sz="2000" dirty="0"/>
          </a:p>
          <a:p>
            <a:pPr lvl="1"/>
            <a:r>
              <a:rPr kumimoji="1" lang="en-US" altLang="ja-JP" sz="2000" dirty="0"/>
              <a:t>3.3V/6bit = 0.0515625V</a:t>
            </a:r>
            <a:r>
              <a:rPr kumimoji="1" lang="ja-JP" altLang="en-US" sz="2000" dirty="0"/>
              <a:t>ごと</a:t>
            </a:r>
            <a:endParaRPr kumimoji="1" lang="en-US" altLang="ja-JP" sz="2000" dirty="0"/>
          </a:p>
          <a:p>
            <a:pPr lvl="2"/>
            <a:r>
              <a:rPr lang="ja-JP" altLang="en-US" sz="1600" dirty="0"/>
              <a:t>後述の</a:t>
            </a:r>
            <a:r>
              <a:rPr lang="en-US" altLang="ja-JP" sz="1600" dirty="0"/>
              <a:t>AI</a:t>
            </a:r>
            <a:r>
              <a:rPr lang="ja-JP" altLang="en-US" sz="1600" dirty="0"/>
              <a:t>の章を参照</a:t>
            </a:r>
            <a:endParaRPr lang="en-US" altLang="ja-JP" sz="1600" dirty="0"/>
          </a:p>
          <a:p>
            <a:pPr lvl="1"/>
            <a:r>
              <a:rPr lang="ja-JP" altLang="en-US" sz="2000" dirty="0"/>
              <a:t>目標： </a:t>
            </a:r>
            <a:r>
              <a:rPr lang="en-US" altLang="ja-JP" sz="2000" dirty="0"/>
              <a:t>N = 6bit </a:t>
            </a:r>
            <a:r>
              <a:rPr lang="ja-JP" altLang="en-US" sz="2000" dirty="0"/>
              <a:t>で </a:t>
            </a:r>
            <a:r>
              <a:rPr lang="en-US" altLang="ja-JP" sz="2000" dirty="0"/>
              <a:t>ENOB = 5.5</a:t>
            </a:r>
            <a:r>
              <a:rPr lang="ja-JP" altLang="en-US" sz="2000" dirty="0"/>
              <a:t>を目指す場合、</a:t>
            </a:r>
            <a:endParaRPr lang="en-US" altLang="ja-JP" sz="2000" dirty="0"/>
          </a:p>
          <a:p>
            <a:pPr lvl="2"/>
            <a:r>
              <a:rPr lang="en-US" altLang="ja-JP" sz="1600" dirty="0"/>
              <a:t>α ≒ 0.25</a:t>
            </a:r>
            <a:r>
              <a:rPr lang="ja-JP" altLang="en-US" sz="1600" dirty="0"/>
              <a:t>となり、</a:t>
            </a:r>
            <a:r>
              <a:rPr lang="en-US" altLang="ja-JP" sz="1600" dirty="0" err="1"/>
              <a:t>Vq</a:t>
            </a:r>
            <a:r>
              <a:rPr lang="en-US" altLang="ja-JP" sz="1600" dirty="0"/>
              <a:t> = 0.0515625V</a:t>
            </a:r>
            <a:r>
              <a:rPr lang="ja-JP" altLang="en-US" sz="1600" dirty="0"/>
              <a:t>なので、</a:t>
            </a:r>
            <a:r>
              <a:rPr lang="en-US" altLang="ja-JP" sz="1600" dirty="0"/>
              <a:t>Voff≒0.0129V</a:t>
            </a:r>
            <a:endParaRPr kumimoji="1" lang="en-US" altLang="ja-JP" sz="1600" dirty="0"/>
          </a:p>
          <a:p>
            <a:pPr lvl="1"/>
            <a:r>
              <a:rPr kumimoji="1" lang="ja-JP" altLang="en-US" sz="2000" dirty="0"/>
              <a:t>対策：</a:t>
            </a:r>
            <a:r>
              <a:rPr kumimoji="1" lang="en-US" altLang="ja-JP" sz="2000" dirty="0"/>
              <a:t>W/L</a:t>
            </a:r>
            <a:r>
              <a:rPr kumimoji="1" lang="ja-JP" altLang="en-US" sz="2000" dirty="0"/>
              <a:t>サイズを大きくする</a:t>
            </a:r>
            <a:endParaRPr kumimoji="1" lang="en-US" altLang="ja-JP" sz="2000" dirty="0"/>
          </a:p>
          <a:p>
            <a:r>
              <a:rPr kumimoji="1" lang="en-US" altLang="ja-JP" sz="2000" dirty="0"/>
              <a:t>PEX</a:t>
            </a:r>
            <a:r>
              <a:rPr kumimoji="1" lang="ja-JP" altLang="en-US" sz="2000" dirty="0"/>
              <a:t>後もやること</a:t>
            </a:r>
          </a:p>
        </p:txBody>
      </p:sp>
      <p:pic>
        <p:nvPicPr>
          <p:cNvPr id="5" name="図 4">
            <a:extLst>
              <a:ext uri="{FF2B5EF4-FFF2-40B4-BE49-F238E27FC236}">
                <a16:creationId xmlns:a16="http://schemas.microsoft.com/office/drawing/2014/main" id="{C7930A45-67C6-F1AE-4200-CE7DAA0F9092}"/>
              </a:ext>
            </a:extLst>
          </p:cNvPr>
          <p:cNvPicPr>
            <a:picLocks noChangeAspect="1"/>
          </p:cNvPicPr>
          <p:nvPr/>
        </p:nvPicPr>
        <p:blipFill>
          <a:blip r:embed="rId2"/>
          <a:stretch>
            <a:fillRect/>
          </a:stretch>
        </p:blipFill>
        <p:spPr>
          <a:xfrm>
            <a:off x="5911532" y="2950802"/>
            <a:ext cx="5150277" cy="2781150"/>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93943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3991F-ED1A-A9DF-1CC7-6F1BCB4E74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95AA37E-3899-D828-75CB-F38646363598}"/>
              </a:ext>
            </a:extLst>
          </p:cNvPr>
          <p:cNvSpPr>
            <a:spLocks noGrp="1"/>
          </p:cNvSpPr>
          <p:nvPr>
            <p:ph type="title"/>
          </p:nvPr>
        </p:nvSpPr>
        <p:spPr>
          <a:xfrm>
            <a:off x="1043631" y="809898"/>
            <a:ext cx="9942716" cy="1554480"/>
          </a:xfrm>
        </p:spPr>
        <p:txBody>
          <a:bodyPr anchor="ctr">
            <a:normAutofit/>
          </a:bodyPr>
          <a:lstStyle/>
          <a:p>
            <a:r>
              <a:rPr kumimoji="1" lang="ja-JP" altLang="en-US" sz="4800" dirty="0"/>
              <a:t>スルーレート（</a:t>
            </a:r>
            <a:r>
              <a:rPr kumimoji="1" lang="en-US" altLang="ja-JP" sz="4800" dirty="0"/>
              <a:t>OPAMP</a:t>
            </a:r>
            <a:r>
              <a:rPr kumimoji="1" lang="ja-JP" altLang="en-US" sz="4800" dirty="0"/>
              <a:t>より）</a:t>
            </a:r>
          </a:p>
        </p:txBody>
      </p:sp>
      <p:sp>
        <p:nvSpPr>
          <p:cNvPr id="3" name="コンテンツ プレースホルダー 2">
            <a:extLst>
              <a:ext uri="{FF2B5EF4-FFF2-40B4-BE49-F238E27FC236}">
                <a16:creationId xmlns:a16="http://schemas.microsoft.com/office/drawing/2014/main" id="{97308E02-3231-B0E9-F2E0-A2F63579A63B}"/>
              </a:ext>
            </a:extLst>
          </p:cNvPr>
          <p:cNvSpPr>
            <a:spLocks noGrp="1"/>
          </p:cNvSpPr>
          <p:nvPr>
            <p:ph idx="1"/>
          </p:nvPr>
        </p:nvSpPr>
        <p:spPr>
          <a:xfrm>
            <a:off x="1045028" y="3017522"/>
            <a:ext cx="9941319" cy="3124658"/>
          </a:xfrm>
        </p:spPr>
        <p:txBody>
          <a:bodyPr anchor="ctr">
            <a:normAutofit/>
          </a:bodyPr>
          <a:lstStyle/>
          <a:p>
            <a:r>
              <a:rPr lang="ja-JP" altLang="en-US" sz="2400"/>
              <a:t>出力電圧が単位時間あたりに変化できる最大速度</a:t>
            </a:r>
            <a:endParaRPr lang="en-US" altLang="ja-JP" sz="2400"/>
          </a:p>
          <a:p>
            <a:pPr lvl="1"/>
            <a:r>
              <a:rPr lang="ja-JP" altLang="en-US"/>
              <a:t>テール電流の大きさに影響される</a:t>
            </a:r>
            <a:endParaRPr lang="en-US" altLang="ja-JP"/>
          </a:p>
          <a:p>
            <a:r>
              <a:rPr lang="ja-JP" altLang="en-US" sz="2400"/>
              <a:t>オーディオ用であるのであれば、可聴周波数の</a:t>
            </a:r>
            <a:r>
              <a:rPr lang="en-US" altLang="ja-JP" sz="2400"/>
              <a:t>20kHz</a:t>
            </a:r>
            <a:r>
              <a:rPr lang="ja-JP" altLang="en-US" sz="2400"/>
              <a:t>でナイキスト周波数を考えて</a:t>
            </a:r>
            <a:r>
              <a:rPr lang="en-US" altLang="ja-JP" sz="2400"/>
              <a:t>2</a:t>
            </a:r>
            <a:r>
              <a:rPr lang="ja-JP" altLang="en-US" sz="2400"/>
              <a:t>倍の</a:t>
            </a:r>
            <a:r>
              <a:rPr lang="en-US" altLang="ja-JP" sz="2400"/>
              <a:t>40kHz</a:t>
            </a:r>
            <a:r>
              <a:rPr lang="ja-JP" altLang="en-US" sz="2400"/>
              <a:t>あれば最低限の要求は満たせる</a:t>
            </a:r>
            <a:r>
              <a:rPr lang="ja-JP" altLang="en-US"/>
              <a:t>ので、それほど気にしなくとも良い</a:t>
            </a:r>
            <a:endParaRPr lang="en-US" altLang="ja-JP"/>
          </a:p>
          <a:p>
            <a:pPr lvl="1"/>
            <a:r>
              <a:rPr lang="ja-JP" altLang="en-US"/>
              <a:t>性能劣化を考慮しても、</a:t>
            </a:r>
            <a:r>
              <a:rPr lang="en-US" altLang="ja-JP"/>
              <a:t>100kHz</a:t>
            </a:r>
            <a:r>
              <a:rPr lang="ja-JP" altLang="en-US"/>
              <a:t>を超えていれば十分である</a:t>
            </a:r>
            <a:endParaRPr lang="en-US" altLang="ja-JP"/>
          </a:p>
          <a:p>
            <a:endParaRPr kumimoji="1" lang="ja-JP" alt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865736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FD427AD-CC2B-F307-2400-884736D761EE}"/>
              </a:ext>
            </a:extLst>
          </p:cNvPr>
          <p:cNvSpPr>
            <a:spLocks noGrp="1"/>
          </p:cNvSpPr>
          <p:nvPr>
            <p:ph type="title"/>
          </p:nvPr>
        </p:nvSpPr>
        <p:spPr>
          <a:xfrm>
            <a:off x="589560" y="856180"/>
            <a:ext cx="4560584" cy="1128068"/>
          </a:xfrm>
        </p:spPr>
        <p:txBody>
          <a:bodyPr anchor="ctr">
            <a:normAutofit/>
          </a:bodyPr>
          <a:lstStyle/>
          <a:p>
            <a:r>
              <a:rPr kumimoji="1" lang="ja-JP" altLang="en-US" sz="4000" dirty="0"/>
              <a:t>スルーレートの例</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19AA2A6-23F7-8DF0-259B-8AF6860628F8}"/>
              </a:ext>
            </a:extLst>
          </p:cNvPr>
          <p:cNvSpPr>
            <a:spLocks noGrp="1"/>
          </p:cNvSpPr>
          <p:nvPr>
            <p:ph idx="1"/>
          </p:nvPr>
        </p:nvSpPr>
        <p:spPr>
          <a:xfrm>
            <a:off x="590719" y="2330505"/>
            <a:ext cx="4559425" cy="3979585"/>
          </a:xfrm>
        </p:spPr>
        <p:txBody>
          <a:bodyPr anchor="ctr">
            <a:normAutofit/>
          </a:bodyPr>
          <a:lstStyle/>
          <a:p>
            <a:r>
              <a:rPr kumimoji="1" lang="ja-JP" altLang="en-US" sz="2000" dirty="0"/>
              <a:t>ダメな例</a:t>
            </a:r>
            <a:endParaRPr kumimoji="1" lang="en-US" altLang="ja-JP" sz="2000" dirty="0"/>
          </a:p>
          <a:p>
            <a:pPr lvl="1"/>
            <a:r>
              <a:rPr lang="ja-JP" altLang="en-US" sz="1600" dirty="0"/>
              <a:t>目標値：目標とするクロック</a:t>
            </a:r>
            <a:endParaRPr lang="en-US" altLang="ja-JP" sz="1600" dirty="0"/>
          </a:p>
          <a:p>
            <a:pPr lvl="2"/>
            <a:r>
              <a:rPr kumimoji="1" lang="en-US" altLang="ja-JP" sz="1200" dirty="0"/>
              <a:t>PEX</a:t>
            </a:r>
            <a:r>
              <a:rPr kumimoji="1" lang="ja-JP" altLang="en-US" sz="1200" dirty="0"/>
              <a:t>後はかなり遅くなるので</a:t>
            </a:r>
            <a:r>
              <a:rPr kumimoji="1" lang="en-US" altLang="ja-JP" sz="1200" dirty="0"/>
              <a:t>20</a:t>
            </a:r>
            <a:r>
              <a:rPr kumimoji="1" lang="ja-JP" altLang="en-US" sz="1200" dirty="0"/>
              <a:t>～</a:t>
            </a:r>
            <a:r>
              <a:rPr kumimoji="1" lang="en-US" altLang="ja-JP" sz="1200" dirty="0"/>
              <a:t>30%</a:t>
            </a:r>
            <a:r>
              <a:rPr kumimoji="1" lang="ja-JP" altLang="en-US" sz="1200" dirty="0"/>
              <a:t>は余裕が欲しい</a:t>
            </a:r>
            <a:endParaRPr kumimoji="1" lang="en-US" altLang="ja-JP" sz="1200" dirty="0"/>
          </a:p>
          <a:p>
            <a:pPr lvl="1"/>
            <a:r>
              <a:rPr lang="ja-JP" altLang="en-US" sz="1600" dirty="0"/>
              <a:t>対策：</a:t>
            </a:r>
            <a:r>
              <a:rPr lang="en-US" altLang="ja-JP" sz="1600" dirty="0"/>
              <a:t>W/L</a:t>
            </a:r>
            <a:r>
              <a:rPr lang="ja-JP" altLang="en-US" sz="1600" dirty="0"/>
              <a:t>のサイズを大きくする</a:t>
            </a:r>
            <a:endParaRPr kumimoji="1" lang="en-US" altLang="ja-JP" sz="1600" dirty="0"/>
          </a:p>
          <a:p>
            <a:r>
              <a:rPr kumimoji="1" lang="en-US" altLang="ja-JP" sz="2000" dirty="0"/>
              <a:t>PEX</a:t>
            </a:r>
            <a:r>
              <a:rPr kumimoji="1" lang="ja-JP" altLang="en-US" sz="2000" dirty="0"/>
              <a:t>後もやること</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DF1681F9-D23B-189F-F090-C1B3E861FA1F}"/>
              </a:ext>
            </a:extLst>
          </p:cNvPr>
          <p:cNvPicPr>
            <a:picLocks noChangeAspect="1"/>
          </p:cNvPicPr>
          <p:nvPr/>
        </p:nvPicPr>
        <p:blipFill>
          <a:blip r:embed="rId2"/>
          <a:srcRect l="21731" r="11732" b="1"/>
          <a:stretch>
            <a:fillRect/>
          </a:stretch>
        </p:blipFill>
        <p:spPr>
          <a:xfrm>
            <a:off x="5977788" y="799352"/>
            <a:ext cx="5425410" cy="5259296"/>
          </a:xfrm>
          <a:prstGeom prst="rect">
            <a:avLst/>
          </a:prstGeom>
        </p:spPr>
      </p:pic>
      <p:sp>
        <p:nvSpPr>
          <p:cNvPr id="4" name="正方形/長方形 3">
            <a:extLst>
              <a:ext uri="{FF2B5EF4-FFF2-40B4-BE49-F238E27FC236}">
                <a16:creationId xmlns:a16="http://schemas.microsoft.com/office/drawing/2014/main" id="{330DF650-AA0C-88DF-5F6A-2FBDFFD35CE0}"/>
              </a:ext>
            </a:extLst>
          </p:cNvPr>
          <p:cNvSpPr/>
          <p:nvPr/>
        </p:nvSpPr>
        <p:spPr>
          <a:xfrm>
            <a:off x="8346233" y="33848"/>
            <a:ext cx="3803953" cy="6064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ファイル名：</a:t>
            </a:r>
            <a:r>
              <a:rPr lang="en-US" altLang="ja-JP" dirty="0" err="1"/>
              <a:t>cap_array.sch</a:t>
            </a:r>
            <a:endParaRPr lang="en-US" altLang="ja-JP" dirty="0"/>
          </a:p>
          <a:p>
            <a:pPr algn="ctr"/>
            <a:r>
              <a:rPr lang="en-US" altLang="ja-JP" dirty="0" err="1"/>
              <a:t>m</a:t>
            </a:r>
            <a:r>
              <a:rPr kumimoji="1" lang="en-US" altLang="ja-JP" dirty="0" err="1"/>
              <a:t>im</a:t>
            </a:r>
            <a:r>
              <a:rPr kumimoji="1" lang="en-US" altLang="ja-JP" dirty="0"/>
              <a:t>=MIM</a:t>
            </a:r>
            <a:r>
              <a:rPr kumimoji="1" lang="ja-JP" altLang="en-US" dirty="0"/>
              <a:t>キャパ、</a:t>
            </a:r>
            <a:r>
              <a:rPr kumimoji="1" lang="en-US" altLang="ja-JP" dirty="0"/>
              <a:t>var=</a:t>
            </a:r>
            <a:r>
              <a:rPr kumimoji="1" lang="ja-JP" altLang="en-US" dirty="0"/>
              <a:t>バラクタ</a:t>
            </a:r>
          </a:p>
        </p:txBody>
      </p:sp>
    </p:spTree>
    <p:extLst>
      <p:ext uri="{BB962C8B-B14F-4D97-AF65-F5344CB8AC3E}">
        <p14:creationId xmlns:p14="http://schemas.microsoft.com/office/powerpoint/2010/main" val="7754596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704EAB0-CD73-3756-3146-87CF22976E93}"/>
              </a:ext>
            </a:extLst>
          </p:cNvPr>
          <p:cNvSpPr>
            <a:spLocks noGrp="1"/>
          </p:cNvSpPr>
          <p:nvPr>
            <p:ph type="title"/>
          </p:nvPr>
        </p:nvSpPr>
        <p:spPr>
          <a:xfrm>
            <a:off x="589560" y="856180"/>
            <a:ext cx="5279408" cy="1128068"/>
          </a:xfrm>
        </p:spPr>
        <p:txBody>
          <a:bodyPr anchor="ctr">
            <a:normAutofit/>
          </a:bodyPr>
          <a:lstStyle/>
          <a:p>
            <a:r>
              <a:rPr kumimoji="1" lang="en-US" altLang="ja-JP" sz="4000"/>
              <a:t>CDAC</a:t>
            </a:r>
            <a:r>
              <a:rPr kumimoji="1" lang="ja-JP" altLang="en-US" sz="4000"/>
              <a:t>の</a:t>
            </a:r>
            <a:r>
              <a:rPr lang="ja-JP" altLang="en-US" sz="4000"/>
              <a:t>雑音</a:t>
            </a:r>
            <a:endParaRPr kumimoji="1" lang="ja-JP" altLang="en-US" sz="4000"/>
          </a:p>
        </p:txBody>
      </p:sp>
      <p:grpSp>
        <p:nvGrpSpPr>
          <p:cNvPr id="35" name="Group 3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6" name="Rectangle 3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E4E13B3-85D2-17CB-FE6C-1E188D4CB559}"/>
              </a:ext>
            </a:extLst>
          </p:cNvPr>
          <p:cNvSpPr>
            <a:spLocks noGrp="1"/>
          </p:cNvSpPr>
          <p:nvPr>
            <p:ph idx="1"/>
          </p:nvPr>
        </p:nvSpPr>
        <p:spPr>
          <a:xfrm>
            <a:off x="590719" y="2330505"/>
            <a:ext cx="5278066" cy="3979585"/>
          </a:xfrm>
        </p:spPr>
        <p:txBody>
          <a:bodyPr anchor="ctr">
            <a:normAutofit/>
          </a:bodyPr>
          <a:lstStyle/>
          <a:p>
            <a:endParaRPr kumimoji="1" lang="en-US" altLang="ja-JP" sz="2000" dirty="0"/>
          </a:p>
          <a:p>
            <a:r>
              <a:rPr kumimoji="1" lang="ja-JP" altLang="en-US" sz="2000" dirty="0"/>
              <a:t>計算で必要容量が求められる</a:t>
            </a:r>
            <a:endParaRPr kumimoji="1" lang="en-US" altLang="ja-JP" sz="2000" dirty="0"/>
          </a:p>
          <a:p>
            <a:pPr lvl="1"/>
            <a:r>
              <a:rPr lang="en-US" altLang="ja-JP" sz="1600" dirty="0"/>
              <a:t>6bit</a:t>
            </a:r>
            <a:r>
              <a:rPr lang="ja-JP" altLang="en-US" sz="1600" dirty="0"/>
              <a:t>なので、</a:t>
            </a:r>
            <a:r>
              <a:rPr lang="en-US" altLang="ja-JP" sz="1600" dirty="0"/>
              <a:t>100fF</a:t>
            </a:r>
            <a:r>
              <a:rPr lang="ja-JP" altLang="en-US" sz="1600" dirty="0"/>
              <a:t>が安全圏となる</a:t>
            </a:r>
            <a:endParaRPr lang="en-US" altLang="ja-JP" sz="1600" dirty="0"/>
          </a:p>
          <a:p>
            <a:pPr lvl="1"/>
            <a:r>
              <a:rPr kumimoji="1" lang="ja-JP" altLang="en-US" sz="1600" dirty="0"/>
              <a:t>対策：容量を大きくする</a:t>
            </a:r>
            <a:endParaRPr kumimoji="1" lang="en-US" altLang="ja-JP" sz="1600" dirty="0"/>
          </a:p>
        </p:txBody>
      </p:sp>
      <p:sp>
        <p:nvSpPr>
          <p:cNvPr id="41" name="Rectangle 4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3AA46BDD-C704-607B-91A8-6FDCFEAD62DB}"/>
              </a:ext>
            </a:extLst>
          </p:cNvPr>
          <p:cNvPicPr>
            <a:picLocks noChangeAspect="1"/>
          </p:cNvPicPr>
          <p:nvPr/>
        </p:nvPicPr>
        <p:blipFill>
          <a:blip r:embed="rId2"/>
          <a:stretch>
            <a:fillRect/>
          </a:stretch>
        </p:blipFill>
        <p:spPr>
          <a:xfrm>
            <a:off x="7283128" y="581892"/>
            <a:ext cx="3998023" cy="2518756"/>
          </a:xfrm>
          <a:prstGeom prst="rect">
            <a:avLst/>
          </a:prstGeom>
        </p:spPr>
      </p:pic>
      <p:sp>
        <p:nvSpPr>
          <p:cNvPr id="45" name="Rectangle 4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図 7">
            <a:extLst>
              <a:ext uri="{FF2B5EF4-FFF2-40B4-BE49-F238E27FC236}">
                <a16:creationId xmlns:a16="http://schemas.microsoft.com/office/drawing/2014/main" id="{FC5DA401-399A-01BA-6163-98B22454EB73}"/>
              </a:ext>
            </a:extLst>
          </p:cNvPr>
          <p:cNvPicPr>
            <a:picLocks noChangeAspect="1"/>
          </p:cNvPicPr>
          <p:nvPr/>
        </p:nvPicPr>
        <p:blipFill>
          <a:blip r:embed="rId3"/>
          <a:stretch>
            <a:fillRect/>
          </a:stretch>
        </p:blipFill>
        <p:spPr>
          <a:xfrm>
            <a:off x="7790819" y="3707894"/>
            <a:ext cx="2980777" cy="2518756"/>
          </a:xfrm>
          <a:prstGeom prst="rect">
            <a:avLst/>
          </a:prstGeom>
        </p:spPr>
      </p:pic>
    </p:spTree>
    <p:extLst>
      <p:ext uri="{BB962C8B-B14F-4D97-AF65-F5344CB8AC3E}">
        <p14:creationId xmlns:p14="http://schemas.microsoft.com/office/powerpoint/2010/main" val="36177551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44FB999-F02F-3BE8-C726-FDBD39049883}"/>
              </a:ext>
            </a:extLst>
          </p:cNvPr>
          <p:cNvSpPr>
            <a:spLocks noGrp="1"/>
          </p:cNvSpPr>
          <p:nvPr>
            <p:ph type="title"/>
          </p:nvPr>
        </p:nvSpPr>
        <p:spPr>
          <a:xfrm>
            <a:off x="589560" y="856180"/>
            <a:ext cx="5279408" cy="1128068"/>
          </a:xfrm>
        </p:spPr>
        <p:txBody>
          <a:bodyPr anchor="ctr">
            <a:normAutofit/>
          </a:bodyPr>
          <a:lstStyle/>
          <a:p>
            <a:r>
              <a:rPr kumimoji="1" lang="en-US" altLang="ja-JP" sz="4000"/>
              <a:t>CDAC</a:t>
            </a:r>
            <a:r>
              <a:rPr kumimoji="1" lang="ja-JP" altLang="en-US" sz="4000"/>
              <a:t>の許容誤差</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B4D20AF-0BA1-1D89-9FA4-E4C1DE187861}"/>
              </a:ext>
            </a:extLst>
          </p:cNvPr>
          <p:cNvSpPr>
            <a:spLocks noGrp="1"/>
          </p:cNvSpPr>
          <p:nvPr>
            <p:ph idx="1"/>
          </p:nvPr>
        </p:nvSpPr>
        <p:spPr>
          <a:xfrm>
            <a:off x="590719" y="2330505"/>
            <a:ext cx="5278066" cy="3979585"/>
          </a:xfrm>
        </p:spPr>
        <p:txBody>
          <a:bodyPr anchor="ctr">
            <a:normAutofit/>
          </a:bodyPr>
          <a:lstStyle/>
          <a:p>
            <a:r>
              <a:rPr lang="ja-JP" altLang="en-US" dirty="0"/>
              <a:t>計算で許容誤差が求められる</a:t>
            </a:r>
            <a:endParaRPr lang="en-US" altLang="ja-JP" dirty="0"/>
          </a:p>
          <a:p>
            <a:pPr lvl="1"/>
            <a:r>
              <a:rPr kumimoji="1" lang="en-US" altLang="ja-JP" sz="2000" dirty="0"/>
              <a:t>6bit</a:t>
            </a:r>
            <a:r>
              <a:rPr kumimoji="1" lang="ja-JP" altLang="en-US" sz="2000" dirty="0"/>
              <a:t>で</a:t>
            </a:r>
            <a:r>
              <a:rPr kumimoji="1" lang="en-US" altLang="ja-JP" sz="2000" dirty="0"/>
              <a:t>100fF</a:t>
            </a:r>
            <a:r>
              <a:rPr kumimoji="1" lang="ja-JP" altLang="en-US" sz="2000" dirty="0"/>
              <a:t>の場合</a:t>
            </a:r>
            <a:endParaRPr kumimoji="1" lang="en-US" altLang="ja-JP" sz="2000" dirty="0"/>
          </a:p>
          <a:p>
            <a:pPr lvl="2"/>
            <a:r>
              <a:rPr kumimoji="1" lang="en-US" altLang="ja-JP" sz="1800" dirty="0"/>
              <a:t>1σ</a:t>
            </a:r>
            <a:r>
              <a:rPr kumimoji="1" lang="ja-JP" altLang="en-US" sz="1800" dirty="0"/>
              <a:t>：</a:t>
            </a:r>
            <a:r>
              <a:rPr kumimoji="1" lang="en-US" altLang="ja-JP" sz="1800" dirty="0"/>
              <a:t>2.08%=2.08fF</a:t>
            </a:r>
          </a:p>
          <a:p>
            <a:pPr lvl="2"/>
            <a:r>
              <a:rPr lang="en-US" altLang="ja-JP" sz="1800" dirty="0"/>
              <a:t>3σ</a:t>
            </a:r>
            <a:r>
              <a:rPr lang="ja-JP" altLang="en-US" sz="1800" dirty="0"/>
              <a:t>：</a:t>
            </a:r>
            <a:r>
              <a:rPr lang="en-US" altLang="ja-JP" sz="1800" dirty="0"/>
              <a:t>6.24%=6.24fF</a:t>
            </a:r>
          </a:p>
          <a:p>
            <a:pPr lvl="2"/>
            <a:endParaRPr kumimoji="1" lang="en-US" altLang="ja-JP" sz="1200" dirty="0"/>
          </a:p>
          <a:p>
            <a:pPr lvl="2"/>
            <a:endParaRPr kumimoji="1" lang="ja-JP" altLang="en-US" sz="1200" dirty="0"/>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A2F57EEC-A834-B28C-5889-0B2B4285B3F9}"/>
              </a:ext>
            </a:extLst>
          </p:cNvPr>
          <p:cNvPicPr>
            <a:picLocks noChangeAspect="1"/>
          </p:cNvPicPr>
          <p:nvPr/>
        </p:nvPicPr>
        <p:blipFill>
          <a:blip r:embed="rId2"/>
          <a:stretch>
            <a:fillRect/>
          </a:stretch>
        </p:blipFill>
        <p:spPr>
          <a:xfrm>
            <a:off x="7352059" y="581892"/>
            <a:ext cx="3860161" cy="2518756"/>
          </a:xfrm>
          <a:prstGeom prst="rect">
            <a:avLst/>
          </a:prstGeom>
        </p:spPr>
      </p:pic>
      <p:sp>
        <p:nvSpPr>
          <p:cNvPr id="24" name="Rectangle 23">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684EE717-E6E9-2327-F206-5C848E209C97}"/>
              </a:ext>
            </a:extLst>
          </p:cNvPr>
          <p:cNvPicPr>
            <a:picLocks noChangeAspect="1"/>
          </p:cNvPicPr>
          <p:nvPr/>
        </p:nvPicPr>
        <p:blipFill>
          <a:blip r:embed="rId3"/>
          <a:stretch>
            <a:fillRect/>
          </a:stretch>
        </p:blipFill>
        <p:spPr>
          <a:xfrm>
            <a:off x="7429182" y="3707894"/>
            <a:ext cx="3704051" cy="2518756"/>
          </a:xfrm>
          <a:prstGeom prst="rect">
            <a:avLst/>
          </a:prstGeom>
        </p:spPr>
      </p:pic>
    </p:spTree>
    <p:extLst>
      <p:ext uri="{BB962C8B-B14F-4D97-AF65-F5344CB8AC3E}">
        <p14:creationId xmlns:p14="http://schemas.microsoft.com/office/powerpoint/2010/main" val="84582918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04486D-48B3-A42D-2DC1-F6C5178F631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D34D42-60BA-B6A9-3488-20E501FF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CC68422-E086-3491-59CE-886AF57D14DF}"/>
              </a:ext>
            </a:extLst>
          </p:cNvPr>
          <p:cNvSpPr>
            <a:spLocks noGrp="1"/>
          </p:cNvSpPr>
          <p:nvPr>
            <p:ph type="title"/>
          </p:nvPr>
        </p:nvSpPr>
        <p:spPr>
          <a:xfrm>
            <a:off x="517889" y="4883544"/>
            <a:ext cx="3876086" cy="1556907"/>
          </a:xfrm>
        </p:spPr>
        <p:txBody>
          <a:bodyPr anchor="ctr">
            <a:normAutofit/>
          </a:bodyPr>
          <a:lstStyle/>
          <a:p>
            <a:r>
              <a:rPr kumimoji="1" lang="en-US" altLang="ja-JP" sz="3200" dirty="0"/>
              <a:t>CDAC</a:t>
            </a:r>
            <a:r>
              <a:rPr kumimoji="1" lang="ja-JP" altLang="en-US" sz="3200" dirty="0"/>
              <a:t>の許容誤差</a:t>
            </a:r>
          </a:p>
        </p:txBody>
      </p:sp>
      <p:sp>
        <p:nvSpPr>
          <p:cNvPr id="11" name="Rectangle 10">
            <a:extLst>
              <a:ext uri="{FF2B5EF4-FFF2-40B4-BE49-F238E27FC236}">
                <a16:creationId xmlns:a16="http://schemas.microsoft.com/office/drawing/2014/main" id="{D21C8C43-5EB3-E694-89FC-BEB4457DF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0731E8F-BC61-5F7A-BB0C-F9E580954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4004AE35-CF66-3824-A159-09B716C1CA75}"/>
              </a:ext>
            </a:extLst>
          </p:cNvPr>
          <p:cNvPicPr>
            <a:picLocks noChangeAspect="1"/>
          </p:cNvPicPr>
          <p:nvPr/>
        </p:nvPicPr>
        <p:blipFill>
          <a:blip r:embed="rId2"/>
          <a:stretch>
            <a:fillRect/>
          </a:stretch>
        </p:blipFill>
        <p:spPr>
          <a:xfrm>
            <a:off x="986703" y="364142"/>
            <a:ext cx="10314648" cy="3867993"/>
          </a:xfrm>
          <a:prstGeom prst="rect">
            <a:avLst/>
          </a:prstGeom>
        </p:spPr>
      </p:pic>
      <p:sp>
        <p:nvSpPr>
          <p:cNvPr id="15" name="Rectangle 14">
            <a:extLst>
              <a:ext uri="{FF2B5EF4-FFF2-40B4-BE49-F238E27FC236}">
                <a16:creationId xmlns:a16="http://schemas.microsoft.com/office/drawing/2014/main" id="{9E0A30DF-CE62-62C4-3315-ACA4817E6B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4892891-2CE0-B403-AAFC-2456D5C50BAB}"/>
              </a:ext>
            </a:extLst>
          </p:cNvPr>
          <p:cNvSpPr>
            <a:spLocks noGrp="1"/>
          </p:cNvSpPr>
          <p:nvPr>
            <p:ph idx="1"/>
          </p:nvPr>
        </p:nvSpPr>
        <p:spPr>
          <a:xfrm>
            <a:off x="5162719" y="4883544"/>
            <a:ext cx="6586915" cy="1556907"/>
          </a:xfrm>
        </p:spPr>
        <p:txBody>
          <a:bodyPr anchor="ctr">
            <a:normAutofit/>
          </a:bodyPr>
          <a:lstStyle/>
          <a:p>
            <a:r>
              <a:rPr lang="ja-JP" altLang="en-US" sz="1800" dirty="0"/>
              <a:t>シミュレーション</a:t>
            </a:r>
            <a:r>
              <a:rPr kumimoji="1" lang="ja-JP" altLang="en-US" sz="1800" dirty="0"/>
              <a:t>する場合は、</a:t>
            </a:r>
            <a:r>
              <a:rPr kumimoji="1" lang="en-US" altLang="ja-JP" sz="1800" dirty="0"/>
              <a:t>PEX</a:t>
            </a:r>
            <a:r>
              <a:rPr kumimoji="1" lang="ja-JP" altLang="en-US" sz="1800" dirty="0"/>
              <a:t>しないとほぼ意味は無い</a:t>
            </a:r>
            <a:endParaRPr kumimoji="1" lang="en-US" altLang="ja-JP" sz="1800" dirty="0"/>
          </a:p>
          <a:p>
            <a:pPr lvl="1"/>
            <a:r>
              <a:rPr lang="ja-JP" altLang="en-US" sz="1800" dirty="0"/>
              <a:t>そのため、実施する場合はすべてのレイアウト後となる</a:t>
            </a:r>
            <a:endParaRPr lang="en-US" altLang="ja-JP" sz="1800" dirty="0"/>
          </a:p>
          <a:p>
            <a:pPr lvl="1"/>
            <a:r>
              <a:rPr lang="ja-JP" altLang="en-US" sz="1800" dirty="0"/>
              <a:t>対策：レイアウトに対称性を持たせる</a:t>
            </a:r>
            <a:endParaRPr lang="en-US" altLang="ja-JP" sz="1800" dirty="0"/>
          </a:p>
        </p:txBody>
      </p:sp>
    </p:spTree>
    <p:extLst>
      <p:ext uri="{BB962C8B-B14F-4D97-AF65-F5344CB8AC3E}">
        <p14:creationId xmlns:p14="http://schemas.microsoft.com/office/powerpoint/2010/main" val="42889079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8634C85-455E-291B-34B7-084CBD8D81CA}"/>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17F9B8C7-49D8-B59A-61EE-49D5DFCF5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43D53EC9-0BE4-A5EB-CAA1-7FB90F4EA7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98EF5EFB-9152-6C88-8158-C703F427739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E940256-2F07-626D-DDF6-987E781497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2AAF18B-B158-6E96-CB1B-162C0FEB4D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B1B94BD0-8C9B-74C2-1D08-5B683416BED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1"/>
                </a:solidFill>
              </a:rPr>
              <a:t>3.3V</a:t>
            </a:r>
            <a:r>
              <a:rPr lang="ja-JP" altLang="en-US" sz="4000" dirty="0">
                <a:solidFill>
                  <a:schemeClr val="bg1"/>
                </a:solidFill>
              </a:rPr>
              <a:t>や</a:t>
            </a:r>
            <a:r>
              <a:rPr lang="en-US" altLang="ja-JP" sz="4000" dirty="0">
                <a:solidFill>
                  <a:schemeClr val="bg1"/>
                </a:solidFill>
              </a:rPr>
              <a:t>5.0V</a:t>
            </a:r>
            <a:r>
              <a:rPr lang="ja-JP" altLang="en-US" sz="4000" dirty="0">
                <a:solidFill>
                  <a:schemeClr val="bg1"/>
                </a:solidFill>
              </a:rPr>
              <a:t>で使いたい場合</a:t>
            </a:r>
            <a:endParaRPr kumimoji="1" lang="ja-JP" altLang="en-US" sz="4000" kern="1200" dirty="0">
              <a:solidFill>
                <a:schemeClr val="bg1"/>
              </a:solidFill>
              <a:latin typeface="+mj-lt"/>
              <a:ea typeface="+mj-ea"/>
              <a:cs typeface="+mj-cs"/>
            </a:endParaRPr>
          </a:p>
        </p:txBody>
      </p:sp>
    </p:spTree>
    <p:extLst>
      <p:ext uri="{BB962C8B-B14F-4D97-AF65-F5344CB8AC3E}">
        <p14:creationId xmlns:p14="http://schemas.microsoft.com/office/powerpoint/2010/main" val="2649483386"/>
      </p:ext>
    </p:extLst>
  </p:cSld>
  <p:clrMapOvr>
    <a:overrideClrMapping bg1="dk1" tx1="lt1" bg2="dk2" tx2="lt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EDB6BD7-6889-7F06-6321-19A55127BDFA}"/>
              </a:ext>
            </a:extLst>
          </p:cNvPr>
          <p:cNvSpPr>
            <a:spLocks noGrp="1"/>
          </p:cNvSpPr>
          <p:nvPr>
            <p:ph type="title"/>
          </p:nvPr>
        </p:nvSpPr>
        <p:spPr>
          <a:xfrm>
            <a:off x="645064" y="525982"/>
            <a:ext cx="4995291" cy="1200361"/>
          </a:xfrm>
        </p:spPr>
        <p:txBody>
          <a:bodyPr anchor="b">
            <a:normAutofit fontScale="90000"/>
          </a:bodyPr>
          <a:lstStyle/>
          <a:p>
            <a:r>
              <a:rPr lang="en-US" altLang="ja-JP" sz="3300" dirty="0"/>
              <a:t>FET</a:t>
            </a:r>
            <a:r>
              <a:rPr lang="ja-JP" altLang="en-US" sz="3300" dirty="0"/>
              <a:t>の種類：</a:t>
            </a:r>
            <a:br>
              <a:rPr lang="en-US" altLang="ja-JP" sz="3300" dirty="0"/>
            </a:br>
            <a:r>
              <a:rPr lang="en-US" altLang="ja-JP" sz="3300" dirty="0"/>
              <a:t>1.8V</a:t>
            </a:r>
            <a:r>
              <a:rPr lang="ja-JP" altLang="en-US" sz="3300" dirty="0"/>
              <a:t>低圧</a:t>
            </a:r>
            <a:r>
              <a:rPr lang="en-US" altLang="ja-JP" sz="3300" dirty="0"/>
              <a:t>FET</a:t>
            </a:r>
            <a:r>
              <a:rPr lang="ja-JP" altLang="en-US" sz="3300" dirty="0"/>
              <a:t>と</a:t>
            </a:r>
            <a:r>
              <a:rPr lang="en-US" altLang="ja-JP" sz="3300" dirty="0"/>
              <a:t>5.0V</a:t>
            </a:r>
            <a:r>
              <a:rPr lang="ja-JP" altLang="en-US" sz="3300" dirty="0"/>
              <a:t>耐圧</a:t>
            </a:r>
            <a:r>
              <a:rPr lang="en-US" altLang="ja-JP" sz="3300" dirty="0"/>
              <a:t>FET</a:t>
            </a:r>
            <a:endParaRPr kumimoji="1" lang="ja-JP" altLang="en-US" sz="3300" dirty="0"/>
          </a:p>
        </p:txBody>
      </p:sp>
      <p:sp>
        <p:nvSpPr>
          <p:cNvPr id="23" name="Rectangle 2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CDE035CD-F3F0-B165-4D8E-22F3C01BB760}"/>
              </a:ext>
            </a:extLst>
          </p:cNvPr>
          <p:cNvSpPr>
            <a:spLocks noGrp="1"/>
          </p:cNvSpPr>
          <p:nvPr>
            <p:ph idx="1"/>
          </p:nvPr>
        </p:nvSpPr>
        <p:spPr>
          <a:xfrm>
            <a:off x="645066" y="2031101"/>
            <a:ext cx="4282984" cy="3511943"/>
          </a:xfrm>
        </p:spPr>
        <p:txBody>
          <a:bodyPr anchor="ctr">
            <a:normAutofit/>
          </a:bodyPr>
          <a:lstStyle/>
          <a:p>
            <a:r>
              <a:rPr kumimoji="1" lang="en-US" altLang="ja-JP" sz="1800"/>
              <a:t>Sky130nm</a:t>
            </a:r>
            <a:r>
              <a:rPr kumimoji="1" lang="ja-JP" altLang="en-US" sz="1800"/>
              <a:t>は耐圧によって</a:t>
            </a:r>
            <a:r>
              <a:rPr kumimoji="1" lang="en-US" altLang="ja-JP" sz="1800"/>
              <a:t>FET</a:t>
            </a:r>
            <a:r>
              <a:rPr kumimoji="1" lang="ja-JP" altLang="en-US" sz="1800"/>
              <a:t>の種類が違う</a:t>
            </a:r>
            <a:endParaRPr kumimoji="1" lang="en-US" altLang="ja-JP" sz="1800"/>
          </a:p>
          <a:p>
            <a:pPr lvl="1"/>
            <a:r>
              <a:rPr kumimoji="1" lang="ja-JP" altLang="en-US" sz="1800"/>
              <a:t>下記は</a:t>
            </a:r>
            <a:r>
              <a:rPr kumimoji="1" lang="en-US" altLang="ja-JP" sz="1800"/>
              <a:t>1.8V</a:t>
            </a:r>
            <a:r>
              <a:rPr kumimoji="1" lang="ja-JP" altLang="en-US" sz="1800"/>
              <a:t>と</a:t>
            </a:r>
            <a:r>
              <a:rPr kumimoji="1" lang="en-US" altLang="ja-JP" sz="1800"/>
              <a:t>5.0V</a:t>
            </a:r>
            <a:r>
              <a:rPr kumimoji="1" lang="ja-JP" altLang="en-US" sz="1800"/>
              <a:t>の</a:t>
            </a:r>
            <a:r>
              <a:rPr kumimoji="1" lang="en-US" altLang="ja-JP" sz="1800"/>
              <a:t>FET</a:t>
            </a:r>
            <a:r>
              <a:rPr kumimoji="1" lang="ja-JP" altLang="en-US" sz="1800"/>
              <a:t>の回路シンボルと</a:t>
            </a:r>
            <a:r>
              <a:rPr kumimoji="1" lang="en-US" altLang="ja-JP" sz="1800"/>
              <a:t>PCell</a:t>
            </a:r>
            <a:endParaRPr kumimoji="1" lang="ja-JP" altLang="en-US" sz="1800"/>
          </a:p>
        </p:txBody>
      </p:sp>
      <p:sp>
        <p:nvSpPr>
          <p:cNvPr id="25" name="Rectangle 2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グループ化 16">
            <a:extLst>
              <a:ext uri="{FF2B5EF4-FFF2-40B4-BE49-F238E27FC236}">
                <a16:creationId xmlns:a16="http://schemas.microsoft.com/office/drawing/2014/main" id="{76D7C6FE-D71C-A27D-A511-1C93D3E8C916}"/>
              </a:ext>
            </a:extLst>
          </p:cNvPr>
          <p:cNvGrpSpPr/>
          <p:nvPr/>
        </p:nvGrpSpPr>
        <p:grpSpPr>
          <a:xfrm>
            <a:off x="6179660" y="0"/>
            <a:ext cx="5084345" cy="3602231"/>
            <a:chOff x="513184" y="3255768"/>
            <a:chExt cx="5084345" cy="3602231"/>
          </a:xfrm>
        </p:grpSpPr>
        <p:pic>
          <p:nvPicPr>
            <p:cNvPr id="18" name="図 17">
              <a:extLst>
                <a:ext uri="{FF2B5EF4-FFF2-40B4-BE49-F238E27FC236}">
                  <a16:creationId xmlns:a16="http://schemas.microsoft.com/office/drawing/2014/main" id="{C0A174D8-A928-1AE6-7E1A-E9889150617C}"/>
                </a:ext>
              </a:extLst>
            </p:cNvPr>
            <p:cNvPicPr>
              <a:picLocks noChangeAspect="1"/>
            </p:cNvPicPr>
            <p:nvPr/>
          </p:nvPicPr>
          <p:blipFill>
            <a:blip r:embed="rId2"/>
            <a:stretch>
              <a:fillRect/>
            </a:stretch>
          </p:blipFill>
          <p:spPr>
            <a:xfrm>
              <a:off x="513184" y="3255768"/>
              <a:ext cx="2379306" cy="1519992"/>
            </a:xfrm>
            <a:prstGeom prst="rect">
              <a:avLst/>
            </a:prstGeom>
          </p:spPr>
        </p:pic>
        <p:pic>
          <p:nvPicPr>
            <p:cNvPr id="19" name="図 18">
              <a:extLst>
                <a:ext uri="{FF2B5EF4-FFF2-40B4-BE49-F238E27FC236}">
                  <a16:creationId xmlns:a16="http://schemas.microsoft.com/office/drawing/2014/main" id="{329763C0-B330-57C5-2BD0-E330CF731103}"/>
                </a:ext>
              </a:extLst>
            </p:cNvPr>
            <p:cNvPicPr>
              <a:picLocks noChangeAspect="1"/>
            </p:cNvPicPr>
            <p:nvPr/>
          </p:nvPicPr>
          <p:blipFill>
            <a:blip r:embed="rId3"/>
            <a:stretch>
              <a:fillRect/>
            </a:stretch>
          </p:blipFill>
          <p:spPr>
            <a:xfrm>
              <a:off x="2892490" y="3256984"/>
              <a:ext cx="2705039" cy="1506498"/>
            </a:xfrm>
            <a:prstGeom prst="rect">
              <a:avLst/>
            </a:prstGeom>
          </p:spPr>
        </p:pic>
        <p:pic>
          <p:nvPicPr>
            <p:cNvPr id="20" name="図 19">
              <a:extLst>
                <a:ext uri="{FF2B5EF4-FFF2-40B4-BE49-F238E27FC236}">
                  <a16:creationId xmlns:a16="http://schemas.microsoft.com/office/drawing/2014/main" id="{5855AF17-92D7-D251-E962-AB63A1BC3866}"/>
                </a:ext>
              </a:extLst>
            </p:cNvPr>
            <p:cNvPicPr>
              <a:picLocks noChangeAspect="1"/>
            </p:cNvPicPr>
            <p:nvPr/>
          </p:nvPicPr>
          <p:blipFill>
            <a:blip r:embed="rId4"/>
            <a:stretch>
              <a:fillRect/>
            </a:stretch>
          </p:blipFill>
          <p:spPr>
            <a:xfrm>
              <a:off x="513185" y="4754152"/>
              <a:ext cx="2379306" cy="2103847"/>
            </a:xfrm>
            <a:prstGeom prst="rect">
              <a:avLst/>
            </a:prstGeom>
          </p:spPr>
        </p:pic>
        <p:pic>
          <p:nvPicPr>
            <p:cNvPr id="22" name="図 21">
              <a:extLst>
                <a:ext uri="{FF2B5EF4-FFF2-40B4-BE49-F238E27FC236}">
                  <a16:creationId xmlns:a16="http://schemas.microsoft.com/office/drawing/2014/main" id="{AEB6C547-996E-F182-DA4D-748E61E186FC}"/>
                </a:ext>
              </a:extLst>
            </p:cNvPr>
            <p:cNvPicPr>
              <a:picLocks noChangeAspect="1"/>
            </p:cNvPicPr>
            <p:nvPr/>
          </p:nvPicPr>
          <p:blipFill>
            <a:blip r:embed="rId5"/>
            <a:stretch>
              <a:fillRect/>
            </a:stretch>
          </p:blipFill>
          <p:spPr>
            <a:xfrm>
              <a:off x="2848400" y="4747089"/>
              <a:ext cx="2749129" cy="2110910"/>
            </a:xfrm>
            <a:prstGeom prst="rect">
              <a:avLst/>
            </a:prstGeom>
          </p:spPr>
        </p:pic>
      </p:grpSp>
      <p:grpSp>
        <p:nvGrpSpPr>
          <p:cNvPr id="24" name="グループ化 23">
            <a:extLst>
              <a:ext uri="{FF2B5EF4-FFF2-40B4-BE49-F238E27FC236}">
                <a16:creationId xmlns:a16="http://schemas.microsoft.com/office/drawing/2014/main" id="{7C283E92-D4A0-DE38-76D4-1D9B4EB1E7F0}"/>
              </a:ext>
            </a:extLst>
          </p:cNvPr>
          <p:cNvGrpSpPr/>
          <p:nvPr/>
        </p:nvGrpSpPr>
        <p:grpSpPr>
          <a:xfrm>
            <a:off x="6179660" y="3609295"/>
            <a:ext cx="5084345" cy="3255134"/>
            <a:chOff x="6033423" y="3245461"/>
            <a:chExt cx="5645392" cy="3644825"/>
          </a:xfrm>
        </p:grpSpPr>
        <p:pic>
          <p:nvPicPr>
            <p:cNvPr id="26" name="図 25">
              <a:extLst>
                <a:ext uri="{FF2B5EF4-FFF2-40B4-BE49-F238E27FC236}">
                  <a16:creationId xmlns:a16="http://schemas.microsoft.com/office/drawing/2014/main" id="{BC365257-0198-F424-968D-1C60446A3711}"/>
                </a:ext>
              </a:extLst>
            </p:cNvPr>
            <p:cNvPicPr>
              <a:picLocks noChangeAspect="1"/>
            </p:cNvPicPr>
            <p:nvPr/>
          </p:nvPicPr>
          <p:blipFill>
            <a:blip r:embed="rId6"/>
            <a:stretch>
              <a:fillRect/>
            </a:stretch>
          </p:blipFill>
          <p:spPr>
            <a:xfrm>
              <a:off x="6033423" y="3245461"/>
              <a:ext cx="2615291" cy="1573428"/>
            </a:xfrm>
            <a:prstGeom prst="rect">
              <a:avLst/>
            </a:prstGeom>
          </p:spPr>
        </p:pic>
        <p:pic>
          <p:nvPicPr>
            <p:cNvPr id="28" name="図 27">
              <a:extLst>
                <a:ext uri="{FF2B5EF4-FFF2-40B4-BE49-F238E27FC236}">
                  <a16:creationId xmlns:a16="http://schemas.microsoft.com/office/drawing/2014/main" id="{828ED20E-1813-0DB6-7EEA-1409EB4005EA}"/>
                </a:ext>
              </a:extLst>
            </p:cNvPr>
            <p:cNvPicPr>
              <a:picLocks noChangeAspect="1"/>
            </p:cNvPicPr>
            <p:nvPr/>
          </p:nvPicPr>
          <p:blipFill>
            <a:blip r:embed="rId7"/>
            <a:stretch>
              <a:fillRect/>
            </a:stretch>
          </p:blipFill>
          <p:spPr>
            <a:xfrm>
              <a:off x="8648714" y="3247972"/>
              <a:ext cx="3030101" cy="1612904"/>
            </a:xfrm>
            <a:prstGeom prst="rect">
              <a:avLst/>
            </a:prstGeom>
          </p:spPr>
        </p:pic>
        <p:pic>
          <p:nvPicPr>
            <p:cNvPr id="30" name="図 29">
              <a:extLst>
                <a:ext uri="{FF2B5EF4-FFF2-40B4-BE49-F238E27FC236}">
                  <a16:creationId xmlns:a16="http://schemas.microsoft.com/office/drawing/2014/main" id="{515FBBBC-A126-B9BE-93AB-BE642437B69A}"/>
                </a:ext>
              </a:extLst>
            </p:cNvPr>
            <p:cNvPicPr>
              <a:picLocks noChangeAspect="1"/>
            </p:cNvPicPr>
            <p:nvPr/>
          </p:nvPicPr>
          <p:blipFill>
            <a:blip r:embed="rId8"/>
            <a:stretch>
              <a:fillRect/>
            </a:stretch>
          </p:blipFill>
          <p:spPr>
            <a:xfrm>
              <a:off x="6033423" y="4818889"/>
              <a:ext cx="2615291" cy="2071396"/>
            </a:xfrm>
            <a:prstGeom prst="rect">
              <a:avLst/>
            </a:prstGeom>
          </p:spPr>
        </p:pic>
        <p:pic>
          <p:nvPicPr>
            <p:cNvPr id="31" name="図 30">
              <a:extLst>
                <a:ext uri="{FF2B5EF4-FFF2-40B4-BE49-F238E27FC236}">
                  <a16:creationId xmlns:a16="http://schemas.microsoft.com/office/drawing/2014/main" id="{B0539DB8-A320-A27C-CC93-13F18CAB03C8}"/>
                </a:ext>
              </a:extLst>
            </p:cNvPr>
            <p:cNvPicPr>
              <a:picLocks noChangeAspect="1"/>
            </p:cNvPicPr>
            <p:nvPr/>
          </p:nvPicPr>
          <p:blipFill>
            <a:blip r:embed="rId9"/>
            <a:stretch>
              <a:fillRect/>
            </a:stretch>
          </p:blipFill>
          <p:spPr>
            <a:xfrm>
              <a:off x="8648714" y="4782125"/>
              <a:ext cx="3030101" cy="2108161"/>
            </a:xfrm>
            <a:prstGeom prst="rect">
              <a:avLst/>
            </a:prstGeom>
          </p:spPr>
        </p:pic>
      </p:grpSp>
    </p:spTree>
    <p:extLst>
      <p:ext uri="{BB962C8B-B14F-4D97-AF65-F5344CB8AC3E}">
        <p14:creationId xmlns:p14="http://schemas.microsoft.com/office/powerpoint/2010/main" val="136433307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6" name="Rectangle 104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C3A6E4A-6B18-8271-9CC1-2C7F0685F20C}"/>
              </a:ext>
            </a:extLst>
          </p:cNvPr>
          <p:cNvSpPr>
            <a:spLocks noGrp="1"/>
          </p:cNvSpPr>
          <p:nvPr>
            <p:ph type="title"/>
          </p:nvPr>
        </p:nvSpPr>
        <p:spPr>
          <a:xfrm>
            <a:off x="589560" y="856180"/>
            <a:ext cx="4560584" cy="1128068"/>
          </a:xfrm>
        </p:spPr>
        <p:txBody>
          <a:bodyPr anchor="ctr">
            <a:normAutofit/>
          </a:bodyPr>
          <a:lstStyle/>
          <a:p>
            <a:r>
              <a:rPr kumimoji="1" lang="ja-JP" altLang="en-US" sz="3700"/>
              <a:t>混載回路での注意点</a:t>
            </a:r>
          </a:p>
        </p:txBody>
      </p:sp>
      <p:grpSp>
        <p:nvGrpSpPr>
          <p:cNvPr id="1048" name="Group 104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49" name="Rectangle 104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52" name="Rectangle 105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74FEBC0-BD8D-49A9-B8F5-62224CD8599F}"/>
              </a:ext>
            </a:extLst>
          </p:cNvPr>
          <p:cNvSpPr>
            <a:spLocks noGrp="1"/>
          </p:cNvSpPr>
          <p:nvPr>
            <p:ph idx="1"/>
          </p:nvPr>
        </p:nvSpPr>
        <p:spPr>
          <a:xfrm>
            <a:off x="590719" y="2330505"/>
            <a:ext cx="4559425" cy="3979585"/>
          </a:xfrm>
        </p:spPr>
        <p:txBody>
          <a:bodyPr anchor="ctr">
            <a:normAutofit/>
          </a:bodyPr>
          <a:lstStyle/>
          <a:p>
            <a:r>
              <a:rPr kumimoji="1" lang="ja-JP" altLang="en-US" sz="2000" dirty="0"/>
              <a:t>デジタル（ロジック）回路部分が</a:t>
            </a:r>
            <a:r>
              <a:rPr kumimoji="1" lang="en-US" altLang="ja-JP" sz="2000" dirty="0"/>
              <a:t>1.8V</a:t>
            </a:r>
            <a:r>
              <a:rPr kumimoji="1" lang="ja-JP" altLang="en-US" sz="2000" dirty="0"/>
              <a:t>ロジックである</a:t>
            </a:r>
            <a:endParaRPr kumimoji="1" lang="en-US" altLang="ja-JP" sz="2000" dirty="0"/>
          </a:p>
          <a:p>
            <a:pPr lvl="1"/>
            <a:r>
              <a:rPr kumimoji="1" lang="en-US" altLang="ja-JP" sz="2000" dirty="0"/>
              <a:t>3.3V</a:t>
            </a:r>
            <a:r>
              <a:rPr kumimoji="1" lang="ja-JP" altLang="en-US" sz="2000" dirty="0"/>
              <a:t>や</a:t>
            </a:r>
            <a:r>
              <a:rPr kumimoji="1" lang="en-US" altLang="ja-JP" sz="2000" dirty="0"/>
              <a:t>5.0V</a:t>
            </a:r>
            <a:r>
              <a:rPr kumimoji="1" lang="ja-JP" altLang="en-US" sz="2000" dirty="0"/>
              <a:t>を利用するにはレベルシフタ回路が必要となる</a:t>
            </a:r>
            <a:endParaRPr kumimoji="1" lang="en-US" altLang="ja-JP" sz="2000" dirty="0"/>
          </a:p>
          <a:p>
            <a:pPr lvl="1"/>
            <a:endParaRPr lang="en-US" altLang="ja-JP" sz="2000" dirty="0"/>
          </a:p>
          <a:p>
            <a:r>
              <a:rPr lang="ja-JP" altLang="en-US" sz="2000" dirty="0"/>
              <a:t>回路例</a:t>
            </a:r>
            <a:endParaRPr lang="en-US" altLang="ja-JP" sz="2000" dirty="0"/>
          </a:p>
          <a:p>
            <a:pPr lvl="1"/>
            <a:r>
              <a:rPr lang="ja-JP" altLang="en-US" sz="2000" dirty="0"/>
              <a:t>差動型レベルシフタ（</a:t>
            </a:r>
            <a:r>
              <a:rPr lang="en-US" altLang="ja-JP" sz="2000" dirty="0"/>
              <a:t>Cross-coupled Level Shifter</a:t>
            </a:r>
            <a:r>
              <a:rPr lang="ja-JP" altLang="en-US" sz="2000" dirty="0"/>
              <a:t>）</a:t>
            </a:r>
            <a:endParaRPr lang="en-US" altLang="ja-JP" sz="2000" dirty="0"/>
          </a:p>
          <a:p>
            <a:pPr lvl="2"/>
            <a:r>
              <a:rPr lang="ja-JP" altLang="en-US" sz="1600" dirty="0"/>
              <a:t>可変電圧にする場合、バランスをミスると動かない可能性あり</a:t>
            </a:r>
          </a:p>
          <a:p>
            <a:pPr lvl="1"/>
            <a:endParaRPr kumimoji="1" lang="ja-JP" altLang="en-US" sz="2000" dirty="0"/>
          </a:p>
        </p:txBody>
      </p:sp>
      <p:sp>
        <p:nvSpPr>
          <p:cNvPr id="1054" name="Rectangle 105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mplification-based level converter structures. (a) Conventional cross-coupled level converter (CCLC); (b) current mirror-based level converter (CMLC); (c) subthreshold level converter with a Wilson current mirror (WCMLC).  ">
            <a:extLst>
              <a:ext uri="{FF2B5EF4-FFF2-40B4-BE49-F238E27FC236}">
                <a16:creationId xmlns:a16="http://schemas.microsoft.com/office/drawing/2014/main" id="{65EE63B3-6107-BF0C-8823-F32FAF66E6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675" r="6188" b="1"/>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982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4525C-02DC-FACD-0857-71FB0CB21086}"/>
              </a:ext>
            </a:extLst>
          </p:cNvPr>
          <p:cNvSpPr>
            <a:spLocks noGrp="1"/>
          </p:cNvSpPr>
          <p:nvPr>
            <p:ph type="title"/>
          </p:nvPr>
        </p:nvSpPr>
        <p:spPr>
          <a:xfrm>
            <a:off x="762001" y="5074024"/>
            <a:ext cx="10109199" cy="598032"/>
          </a:xfrm>
        </p:spPr>
        <p:txBody>
          <a:bodyPr vert="horz" lIns="91440" tIns="45720" rIns="91440" bIns="45720" rtlCol="0" anchor="ctr">
            <a:normAutofit/>
          </a:bodyPr>
          <a:lstStyle/>
          <a:p>
            <a:r>
              <a:rPr kumimoji="1" lang="ja-JP" altLang="en-US" sz="3600" kern="1200" dirty="0">
                <a:solidFill>
                  <a:schemeClr val="tx1"/>
                </a:solidFill>
                <a:latin typeface="+mj-lt"/>
                <a:ea typeface="+mj-ea"/>
                <a:cs typeface="+mj-cs"/>
              </a:rPr>
              <a:t>安全策：インバータ回路レベルシフタ</a:t>
            </a:r>
          </a:p>
        </p:txBody>
      </p:sp>
      <p:sp>
        <p:nvSpPr>
          <p:cNvPr id="3" name="コンテンツ プレースホルダー 2">
            <a:extLst>
              <a:ext uri="{FF2B5EF4-FFF2-40B4-BE49-F238E27FC236}">
                <a16:creationId xmlns:a16="http://schemas.microsoft.com/office/drawing/2014/main" id="{BA3023AD-9326-2395-5B1B-67C522F47368}"/>
              </a:ext>
            </a:extLst>
          </p:cNvPr>
          <p:cNvSpPr>
            <a:spLocks noGrp="1"/>
          </p:cNvSpPr>
          <p:nvPr>
            <p:ph idx="1"/>
          </p:nvPr>
        </p:nvSpPr>
        <p:spPr>
          <a:xfrm>
            <a:off x="762001" y="5672059"/>
            <a:ext cx="10109199" cy="1090589"/>
          </a:xfrm>
        </p:spPr>
        <p:txBody>
          <a:bodyPr vert="horz" lIns="91440" tIns="45720" rIns="91440" bIns="45720" rtlCol="0" anchor="t">
            <a:normAutofit fontScale="92500" lnSpcReduction="10000"/>
          </a:bodyPr>
          <a:lstStyle/>
          <a:p>
            <a:r>
              <a:rPr kumimoji="1" lang="en-US" altLang="ja-JP" sz="1800" kern="1200" dirty="0" err="1">
                <a:solidFill>
                  <a:schemeClr val="tx1"/>
                </a:solidFill>
                <a:latin typeface="+mn-lt"/>
                <a:ea typeface="+mn-ea"/>
                <a:cs typeface="+mn-cs"/>
              </a:rPr>
              <a:t>TinyTapeout</a:t>
            </a:r>
            <a:r>
              <a:rPr kumimoji="1" lang="ja-JP" altLang="en-US" sz="1800" kern="1200" dirty="0">
                <a:solidFill>
                  <a:schemeClr val="tx1"/>
                </a:solidFill>
                <a:latin typeface="+mn-lt"/>
                <a:ea typeface="+mn-ea"/>
                <a:cs typeface="+mn-cs"/>
              </a:rPr>
              <a:t>は</a:t>
            </a:r>
            <a:r>
              <a:rPr kumimoji="1" lang="en-US" altLang="ja-JP" sz="1800" kern="1200" dirty="0">
                <a:solidFill>
                  <a:schemeClr val="tx1"/>
                </a:solidFill>
                <a:latin typeface="+mn-lt"/>
                <a:ea typeface="+mn-ea"/>
                <a:cs typeface="+mn-cs"/>
              </a:rPr>
              <a:t>3.3V</a:t>
            </a:r>
            <a:r>
              <a:rPr kumimoji="1" lang="ja-JP" altLang="en-US" sz="1800" kern="1200" dirty="0">
                <a:solidFill>
                  <a:schemeClr val="tx1"/>
                </a:solidFill>
                <a:latin typeface="+mn-lt"/>
                <a:ea typeface="+mn-ea"/>
                <a:cs typeface="+mn-cs"/>
              </a:rPr>
              <a:t>電源</a:t>
            </a:r>
            <a:r>
              <a:rPr kumimoji="1" lang="en-US" altLang="ja-JP" sz="1800" kern="1200" dirty="0">
                <a:solidFill>
                  <a:schemeClr val="tx1"/>
                </a:solidFill>
                <a:latin typeface="+mn-lt"/>
                <a:ea typeface="+mn-ea"/>
                <a:cs typeface="+mn-cs"/>
              </a:rPr>
              <a:t>(</a:t>
            </a:r>
            <a:r>
              <a:rPr kumimoji="1" lang="ja-JP" altLang="en-US" sz="1800" kern="1200" dirty="0">
                <a:solidFill>
                  <a:schemeClr val="tx1"/>
                </a:solidFill>
                <a:latin typeface="+mn-lt"/>
                <a:ea typeface="+mn-ea"/>
                <a:cs typeface="+mn-cs"/>
              </a:rPr>
              <a:t>＝中間電圧</a:t>
            </a:r>
            <a:r>
              <a:rPr kumimoji="1" lang="en-US" altLang="ja-JP" sz="1800" kern="1200" dirty="0">
                <a:solidFill>
                  <a:schemeClr val="tx1"/>
                </a:solidFill>
                <a:latin typeface="+mn-lt"/>
                <a:ea typeface="+mn-ea"/>
                <a:cs typeface="+mn-cs"/>
              </a:rPr>
              <a:t>)</a:t>
            </a:r>
            <a:r>
              <a:rPr kumimoji="1" lang="ja-JP" altLang="en-US" sz="1800" kern="1200" dirty="0">
                <a:solidFill>
                  <a:schemeClr val="tx1"/>
                </a:solidFill>
                <a:latin typeface="+mn-lt"/>
                <a:ea typeface="+mn-ea"/>
                <a:cs typeface="+mn-cs"/>
              </a:rPr>
              <a:t>ピンがある</a:t>
            </a:r>
            <a:endParaRPr kumimoji="1" lang="en-US" altLang="ja-JP" sz="1800" kern="1200" dirty="0">
              <a:solidFill>
                <a:schemeClr val="tx1"/>
              </a:solidFill>
              <a:latin typeface="+mn-lt"/>
              <a:ea typeface="+mn-ea"/>
              <a:cs typeface="+mn-cs"/>
            </a:endParaRPr>
          </a:p>
          <a:p>
            <a:pPr lvl="1"/>
            <a:r>
              <a:rPr kumimoji="1" lang="en-US" altLang="ja-JP" sz="1400" kern="1200" dirty="0">
                <a:solidFill>
                  <a:schemeClr val="tx1"/>
                </a:solidFill>
                <a:latin typeface="+mn-lt"/>
                <a:ea typeface="+mn-ea"/>
                <a:cs typeface="+mn-cs"/>
              </a:rPr>
              <a:t>1.8V = VDPWR</a:t>
            </a:r>
            <a:r>
              <a:rPr kumimoji="1" lang="ja-JP" altLang="en-US" sz="1400" kern="1200" dirty="0">
                <a:solidFill>
                  <a:schemeClr val="tx1"/>
                </a:solidFill>
                <a:latin typeface="+mn-lt"/>
                <a:ea typeface="+mn-ea"/>
                <a:cs typeface="+mn-cs"/>
              </a:rPr>
              <a:t>ピン、</a:t>
            </a:r>
            <a:r>
              <a:rPr kumimoji="1" lang="en-US" altLang="ja-JP" sz="1400" kern="1200" dirty="0">
                <a:solidFill>
                  <a:schemeClr val="tx1"/>
                </a:solidFill>
                <a:latin typeface="+mn-lt"/>
                <a:ea typeface="+mn-ea"/>
                <a:cs typeface="+mn-cs"/>
              </a:rPr>
              <a:t>3.3V = VAPWR</a:t>
            </a:r>
            <a:r>
              <a:rPr kumimoji="1" lang="ja-JP" altLang="en-US" sz="1400" kern="1200" dirty="0">
                <a:solidFill>
                  <a:schemeClr val="tx1"/>
                </a:solidFill>
                <a:latin typeface="+mn-lt"/>
                <a:ea typeface="+mn-ea"/>
                <a:cs typeface="+mn-cs"/>
              </a:rPr>
              <a:t>ピンから供給する</a:t>
            </a:r>
            <a:endParaRPr kumimoji="1" lang="en-US" altLang="ja-JP" sz="1400" kern="1200" dirty="0">
              <a:solidFill>
                <a:schemeClr val="tx1"/>
              </a:solidFill>
              <a:latin typeface="+mn-lt"/>
              <a:ea typeface="+mn-ea"/>
              <a:cs typeface="+mn-cs"/>
            </a:endParaRPr>
          </a:p>
          <a:p>
            <a:r>
              <a:rPr kumimoji="1" lang="en-US" altLang="ja-JP" sz="1800" kern="1200" dirty="0">
                <a:solidFill>
                  <a:schemeClr val="tx1"/>
                </a:solidFill>
                <a:latin typeface="+mn-lt"/>
                <a:ea typeface="+mn-ea"/>
                <a:cs typeface="+mn-cs"/>
              </a:rPr>
              <a:t>Pad</a:t>
            </a:r>
            <a:r>
              <a:rPr kumimoji="1" lang="ja-JP" altLang="en-US" sz="1800" kern="1200" dirty="0">
                <a:solidFill>
                  <a:schemeClr val="tx1"/>
                </a:solidFill>
                <a:latin typeface="+mn-lt"/>
                <a:ea typeface="+mn-ea"/>
                <a:cs typeface="+mn-cs"/>
              </a:rPr>
              <a:t>が使える</a:t>
            </a:r>
            <a:endParaRPr kumimoji="1" lang="en-US" altLang="ja-JP" sz="1800" kern="1200" dirty="0">
              <a:solidFill>
                <a:schemeClr val="tx1"/>
              </a:solidFill>
              <a:latin typeface="+mn-lt"/>
              <a:ea typeface="+mn-ea"/>
              <a:cs typeface="+mn-cs"/>
            </a:endParaRPr>
          </a:p>
          <a:p>
            <a:pPr lvl="1"/>
            <a:r>
              <a:rPr kumimoji="1" lang="ja-JP" altLang="en-US" sz="1400" kern="1200" dirty="0">
                <a:solidFill>
                  <a:schemeClr val="tx1"/>
                </a:solidFill>
                <a:latin typeface="+mn-lt"/>
                <a:ea typeface="+mn-ea"/>
                <a:cs typeface="+mn-cs"/>
              </a:rPr>
              <a:t>アナログ電源</a:t>
            </a:r>
            <a:r>
              <a:rPr kumimoji="1" lang="en-US" altLang="ja-JP" sz="1400" kern="1200" dirty="0">
                <a:solidFill>
                  <a:schemeClr val="tx1"/>
                </a:solidFill>
                <a:latin typeface="+mn-lt"/>
                <a:ea typeface="+mn-ea"/>
                <a:cs typeface="+mn-cs"/>
              </a:rPr>
              <a:t>(1.8-5.0V)</a:t>
            </a:r>
            <a:r>
              <a:rPr kumimoji="1" lang="ja-JP" altLang="en-US" sz="1400" kern="1200" dirty="0">
                <a:solidFill>
                  <a:schemeClr val="tx1"/>
                </a:solidFill>
                <a:latin typeface="+mn-lt"/>
                <a:ea typeface="+mn-ea"/>
                <a:cs typeface="+mn-cs"/>
              </a:rPr>
              <a:t>はピンから入力する</a:t>
            </a:r>
          </a:p>
        </p:txBody>
      </p:sp>
      <p:sp>
        <p:nvSpPr>
          <p:cNvPr id="10" name="Rectangle 9">
            <a:extLst>
              <a:ext uri="{FF2B5EF4-FFF2-40B4-BE49-F238E27FC236}">
                <a16:creationId xmlns:a16="http://schemas.microsoft.com/office/drawing/2014/main" id="{5E395AE0-8789-FAD6-A987-32E65C185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4390253"/>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78E226E9-2DE8-C6D7-A16A-9E416DEBCF4F}"/>
              </a:ext>
            </a:extLst>
          </p:cNvPr>
          <p:cNvPicPr>
            <a:picLocks noChangeAspect="1"/>
          </p:cNvPicPr>
          <p:nvPr/>
        </p:nvPicPr>
        <p:blipFill>
          <a:blip r:embed="rId2"/>
          <a:stretch>
            <a:fillRect/>
          </a:stretch>
        </p:blipFill>
        <p:spPr>
          <a:xfrm>
            <a:off x="865141" y="751046"/>
            <a:ext cx="10488660" cy="2884381"/>
          </a:xfrm>
          <a:prstGeom prst="rect">
            <a:avLst/>
          </a:prstGeom>
        </p:spPr>
      </p:pic>
      <p:cxnSp>
        <p:nvCxnSpPr>
          <p:cNvPr id="12" name="Straight Connector 11">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正方形/長方形 3">
            <a:extLst>
              <a:ext uri="{FF2B5EF4-FFF2-40B4-BE49-F238E27FC236}">
                <a16:creationId xmlns:a16="http://schemas.microsoft.com/office/drawing/2014/main" id="{38B0606D-B6F6-2F40-C823-D2BC6DAC0052}"/>
              </a:ext>
            </a:extLst>
          </p:cNvPr>
          <p:cNvSpPr/>
          <p:nvPr/>
        </p:nvSpPr>
        <p:spPr>
          <a:xfrm>
            <a:off x="7352522" y="33848"/>
            <a:ext cx="4797664" cy="6064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ファイル名：</a:t>
            </a:r>
            <a:r>
              <a:rPr lang="en-US" altLang="ja-JP" dirty="0"/>
              <a:t>LV_SHIF_A2D.sch&amp;LV_SHIF_D2A.sch</a:t>
            </a:r>
            <a:endParaRPr kumimoji="1" lang="ja-JP" altLang="en-US" dirty="0"/>
          </a:p>
        </p:txBody>
      </p:sp>
    </p:spTree>
    <p:extLst>
      <p:ext uri="{BB962C8B-B14F-4D97-AF65-F5344CB8AC3E}">
        <p14:creationId xmlns:p14="http://schemas.microsoft.com/office/powerpoint/2010/main" val="67012458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620C51F-24CA-8CFE-7165-1F81055CD316}"/>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ADF9BF48-1415-396D-C086-058F15F4C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163487A5-E1AB-A681-BE6A-747E5373E8E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CC3A8D98-7100-0952-DEEC-9A887551EB9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AB47E98-2CBD-9AC7-9AF0-6CA3506CBE3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1303212-800A-D62C-EE6F-1ECF1174E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07171E7F-8246-472B-338A-0B8BD4FFD3C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dirty="0">
                <a:solidFill>
                  <a:schemeClr val="bg1"/>
                </a:solidFill>
                <a:latin typeface="+mj-lt"/>
                <a:ea typeface="+mj-ea"/>
                <a:cs typeface="+mj-cs"/>
              </a:rPr>
              <a:t>全統合シミュレーション</a:t>
            </a:r>
          </a:p>
        </p:txBody>
      </p:sp>
    </p:spTree>
    <p:extLst>
      <p:ext uri="{BB962C8B-B14F-4D97-AF65-F5344CB8AC3E}">
        <p14:creationId xmlns:p14="http://schemas.microsoft.com/office/powerpoint/2010/main" val="1534322481"/>
      </p:ext>
    </p:extLst>
  </p:cSld>
  <p:clrMapOvr>
    <a:overrideClrMapping bg1="dk1" tx1="lt1" bg2="dk2" tx2="lt2" accent1="accent1" accent2="accent2" accent3="accent3" accent4="accent4" accent5="accent5" accent6="accent6" hlink="hlink" folHlink="folHlink"/>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0DB821B-9862-03F6-0FA0-3F3523B21C7B}"/>
              </a:ext>
            </a:extLst>
          </p:cNvPr>
          <p:cNvSpPr>
            <a:spLocks noGrp="1"/>
          </p:cNvSpPr>
          <p:nvPr>
            <p:ph type="title"/>
          </p:nvPr>
        </p:nvSpPr>
        <p:spPr>
          <a:xfrm>
            <a:off x="1285240" y="1050595"/>
            <a:ext cx="9961391" cy="1618489"/>
          </a:xfrm>
        </p:spPr>
        <p:txBody>
          <a:bodyPr anchor="ctr">
            <a:normAutofit/>
          </a:bodyPr>
          <a:lstStyle/>
          <a:p>
            <a:r>
              <a:rPr lang="ja-JP" altLang="en-US" sz="5000" dirty="0"/>
              <a:t>シミュレーションで確認すること</a:t>
            </a:r>
            <a:endParaRPr kumimoji="1" lang="ja-JP" altLang="en-US" sz="5000" dirty="0"/>
          </a:p>
        </p:txBody>
      </p:sp>
      <p:sp>
        <p:nvSpPr>
          <p:cNvPr id="3" name="コンテンツ プレースホルダー 2">
            <a:extLst>
              <a:ext uri="{FF2B5EF4-FFF2-40B4-BE49-F238E27FC236}">
                <a16:creationId xmlns:a16="http://schemas.microsoft.com/office/drawing/2014/main" id="{B9949D3D-14C8-42D0-07EA-27D3F8654606}"/>
              </a:ext>
            </a:extLst>
          </p:cNvPr>
          <p:cNvSpPr>
            <a:spLocks noGrp="1"/>
          </p:cNvSpPr>
          <p:nvPr>
            <p:ph idx="1"/>
          </p:nvPr>
        </p:nvSpPr>
        <p:spPr>
          <a:xfrm>
            <a:off x="1285240" y="2969469"/>
            <a:ext cx="8074815" cy="2800395"/>
          </a:xfrm>
        </p:spPr>
        <p:txBody>
          <a:bodyPr anchor="t">
            <a:normAutofit/>
          </a:bodyPr>
          <a:lstStyle/>
          <a:p>
            <a:r>
              <a:rPr kumimoji="1" lang="en-US" altLang="ja-JP" sz="2400" dirty="0"/>
              <a:t>6bit(64)</a:t>
            </a:r>
            <a:r>
              <a:rPr kumimoji="1" lang="ja-JP" altLang="en-US" sz="2400" dirty="0"/>
              <a:t>分の電圧を</a:t>
            </a:r>
            <a:r>
              <a:rPr kumimoji="1" lang="en-US" altLang="ja-JP" sz="2400" dirty="0"/>
              <a:t>vin</a:t>
            </a:r>
            <a:r>
              <a:rPr kumimoji="1" lang="ja-JP" altLang="en-US" sz="2400" dirty="0"/>
              <a:t>に入力して、正しい</a:t>
            </a:r>
            <a:r>
              <a:rPr kumimoji="1" lang="en-US" altLang="ja-JP" sz="2400" dirty="0"/>
              <a:t>bit</a:t>
            </a:r>
            <a:r>
              <a:rPr kumimoji="1" lang="ja-JP" altLang="en-US" sz="2400" dirty="0"/>
              <a:t>の</a:t>
            </a:r>
            <a:r>
              <a:rPr lang="en-US" altLang="ja-JP" sz="2400" dirty="0"/>
              <a:t>DIGITAL_OUT[0-5]</a:t>
            </a:r>
            <a:r>
              <a:rPr lang="ja-JP" altLang="en-US" sz="2400" dirty="0"/>
              <a:t>が出力されること</a:t>
            </a:r>
            <a:endParaRPr lang="en-US" altLang="ja-JP" sz="2400" dirty="0"/>
          </a:p>
          <a:p>
            <a:pPr lvl="1"/>
            <a:r>
              <a:rPr lang="en-US" altLang="ja-JP" dirty="0"/>
              <a:t>0V~5V(</a:t>
            </a:r>
            <a:r>
              <a:rPr lang="ja-JP" altLang="en-US" dirty="0"/>
              <a:t>リファレンス電圧</a:t>
            </a:r>
            <a:r>
              <a:rPr lang="en-US" altLang="ja-JP" dirty="0"/>
              <a:t>)</a:t>
            </a:r>
            <a:r>
              <a:rPr lang="ja-JP" altLang="en-US" dirty="0"/>
              <a:t>まで</a:t>
            </a:r>
            <a:r>
              <a:rPr lang="en-US" altLang="ja-JP" dirty="0"/>
              <a:t>6bit</a:t>
            </a:r>
            <a:r>
              <a:rPr lang="en-US" altLang="ja-JP"/>
              <a:t>(64)</a:t>
            </a:r>
            <a:r>
              <a:rPr lang="ja-JP" altLang="en-US" dirty="0"/>
              <a:t>分、</a:t>
            </a:r>
            <a:r>
              <a:rPr lang="en-US" altLang="ja-JP" dirty="0"/>
              <a:t>0V</a:t>
            </a:r>
            <a:r>
              <a:rPr lang="ja-JP" altLang="en-US" dirty="0"/>
              <a:t>に</a:t>
            </a:r>
            <a:r>
              <a:rPr lang="en-US" altLang="ja-JP" dirty="0"/>
              <a:t>LSB</a:t>
            </a:r>
            <a:r>
              <a:rPr lang="ja-JP" altLang="en-US" dirty="0"/>
              <a:t>電圧を足した値を</a:t>
            </a:r>
            <a:r>
              <a:rPr lang="en-US" altLang="ja-JP" dirty="0"/>
              <a:t>vin</a:t>
            </a:r>
            <a:r>
              <a:rPr lang="ja-JP" altLang="en-US" dirty="0"/>
              <a:t>として入力して、それぞれの結果を出力するシミュレーションをすればよい</a:t>
            </a:r>
            <a:endParaRPr kumimoji="1" lang="ja-JP" altLang="en-US" dirty="0"/>
          </a:p>
        </p:txBody>
      </p:sp>
    </p:spTree>
    <p:extLst>
      <p:ext uri="{BB962C8B-B14F-4D97-AF65-F5344CB8AC3E}">
        <p14:creationId xmlns:p14="http://schemas.microsoft.com/office/powerpoint/2010/main" val="212375573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EE6056F-F270-FF6F-254F-59AE9B752DD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a:solidFill>
                  <a:schemeClr val="bg1"/>
                </a:solidFill>
                <a:latin typeface="+mj-lt"/>
                <a:ea typeface="+mj-ea"/>
                <a:cs typeface="+mj-cs"/>
              </a:rPr>
              <a:t>シミュレーション全体例</a:t>
            </a:r>
          </a:p>
        </p:txBody>
      </p:sp>
      <p:pic>
        <p:nvPicPr>
          <p:cNvPr id="5" name="コンテンツ プレースホルダー 4">
            <a:extLst>
              <a:ext uri="{FF2B5EF4-FFF2-40B4-BE49-F238E27FC236}">
                <a16:creationId xmlns:a16="http://schemas.microsoft.com/office/drawing/2014/main" id="{C7179845-3B28-52E5-6E2A-BEF3015BB9D1}"/>
              </a:ext>
            </a:extLst>
          </p:cNvPr>
          <p:cNvPicPr>
            <a:picLocks noGrp="1" noChangeAspect="1"/>
          </p:cNvPicPr>
          <p:nvPr>
            <p:ph idx="1"/>
          </p:nvPr>
        </p:nvPicPr>
        <p:blipFill>
          <a:blip r:embed="rId2"/>
          <a:stretch>
            <a:fillRect/>
          </a:stretch>
        </p:blipFill>
        <p:spPr>
          <a:xfrm>
            <a:off x="801786" y="1675227"/>
            <a:ext cx="10588428" cy="4394199"/>
          </a:xfrm>
          <a:prstGeom prst="rect">
            <a:avLst/>
          </a:prstGeom>
        </p:spPr>
      </p:pic>
      <p:sp>
        <p:nvSpPr>
          <p:cNvPr id="3" name="正方形/長方形 2">
            <a:extLst>
              <a:ext uri="{FF2B5EF4-FFF2-40B4-BE49-F238E27FC236}">
                <a16:creationId xmlns:a16="http://schemas.microsoft.com/office/drawing/2014/main" id="{E36C0285-F385-6DA0-C50A-2461D371CD50}"/>
              </a:ext>
            </a:extLst>
          </p:cNvPr>
          <p:cNvSpPr/>
          <p:nvPr/>
        </p:nvSpPr>
        <p:spPr>
          <a:xfrm>
            <a:off x="7469155" y="33848"/>
            <a:ext cx="4681031" cy="6064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ファイル名：</a:t>
            </a:r>
            <a:r>
              <a:rPr lang="en-US" altLang="ja-JP" dirty="0" err="1"/>
              <a:t>tran_sar_adc.sch&amp;tran_sar_adc_pex.sch</a:t>
            </a:r>
            <a:endParaRPr kumimoji="1" lang="ja-JP" altLang="en-US" dirty="0"/>
          </a:p>
        </p:txBody>
      </p:sp>
    </p:spTree>
    <p:extLst>
      <p:ext uri="{BB962C8B-B14F-4D97-AF65-F5344CB8AC3E}">
        <p14:creationId xmlns:p14="http://schemas.microsoft.com/office/powerpoint/2010/main" val="2554684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FE8D930-E3EB-686B-4748-096C56948AB8}"/>
              </a:ext>
            </a:extLst>
          </p:cNvPr>
          <p:cNvSpPr>
            <a:spLocks noGrp="1"/>
          </p:cNvSpPr>
          <p:nvPr>
            <p:ph type="title"/>
          </p:nvPr>
        </p:nvSpPr>
        <p:spPr>
          <a:xfrm>
            <a:off x="645064" y="525982"/>
            <a:ext cx="4282983" cy="1200361"/>
          </a:xfrm>
        </p:spPr>
        <p:txBody>
          <a:bodyPr anchor="b">
            <a:normAutofit/>
          </a:bodyPr>
          <a:lstStyle/>
          <a:p>
            <a:r>
              <a:rPr lang="ja-JP" altLang="en-US" sz="3600"/>
              <a:t>全部の回路を統合</a:t>
            </a:r>
            <a:endParaRPr kumimoji="1" lang="ja-JP" altLang="en-US" sz="3600"/>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5422AFB-7978-F9E4-6188-C678DC7A7AD4}"/>
              </a:ext>
            </a:extLst>
          </p:cNvPr>
          <p:cNvSpPr>
            <a:spLocks noGrp="1"/>
          </p:cNvSpPr>
          <p:nvPr>
            <p:ph idx="1"/>
          </p:nvPr>
        </p:nvSpPr>
        <p:spPr>
          <a:xfrm>
            <a:off x="645065" y="2031101"/>
            <a:ext cx="4499045" cy="3511943"/>
          </a:xfrm>
        </p:spPr>
        <p:txBody>
          <a:bodyPr anchor="ctr">
            <a:normAutofit/>
          </a:bodyPr>
          <a:lstStyle/>
          <a:p>
            <a:r>
              <a:rPr kumimoji="1" lang="ja-JP" altLang="en-US" sz="1800" dirty="0"/>
              <a:t>問題点</a:t>
            </a:r>
            <a:endParaRPr kumimoji="1" lang="en-US" altLang="ja-JP" sz="1800" dirty="0"/>
          </a:p>
          <a:p>
            <a:pPr lvl="1"/>
            <a:r>
              <a:rPr kumimoji="1" lang="en-US" altLang="ja-JP" sz="1800" dirty="0"/>
              <a:t>SAR-LOGIC</a:t>
            </a:r>
            <a:r>
              <a:rPr kumimoji="1" lang="ja-JP" altLang="en-US" sz="1800" dirty="0"/>
              <a:t>の回路図が存在しない</a:t>
            </a:r>
            <a:endParaRPr kumimoji="1" lang="en-US" altLang="ja-JP" sz="1800" dirty="0"/>
          </a:p>
          <a:p>
            <a:pPr lvl="2"/>
            <a:r>
              <a:rPr lang="en-US" altLang="ja-JP" sz="1800" dirty="0"/>
              <a:t>spice</a:t>
            </a:r>
            <a:r>
              <a:rPr lang="ja-JP" altLang="en-US" sz="1800" dirty="0"/>
              <a:t>ファイルを直接読み込むことで対応する</a:t>
            </a:r>
            <a:endParaRPr kumimoji="1" lang="ja-JP" altLang="en-US" sz="1800" dirty="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コンテンツ プレースホルダー 6">
            <a:extLst>
              <a:ext uri="{FF2B5EF4-FFF2-40B4-BE49-F238E27FC236}">
                <a16:creationId xmlns:a16="http://schemas.microsoft.com/office/drawing/2014/main" id="{7FC673C7-3E41-2CA7-001D-F0013AD548CF}"/>
              </a:ext>
            </a:extLst>
          </p:cNvPr>
          <p:cNvPicPr>
            <a:picLocks noChangeAspect="1"/>
          </p:cNvPicPr>
          <p:nvPr/>
        </p:nvPicPr>
        <p:blipFill>
          <a:blip r:embed="rId2"/>
          <a:stretch>
            <a:fillRect/>
          </a:stretch>
        </p:blipFill>
        <p:spPr>
          <a:xfrm>
            <a:off x="5987738" y="1511599"/>
            <a:ext cx="5628018" cy="3601932"/>
          </a:xfrm>
          <a:prstGeom prst="rect">
            <a:avLst/>
          </a:prstGeom>
        </p:spPr>
      </p:pic>
    </p:spTree>
    <p:extLst>
      <p:ext uri="{BB962C8B-B14F-4D97-AF65-F5344CB8AC3E}">
        <p14:creationId xmlns:p14="http://schemas.microsoft.com/office/powerpoint/2010/main" val="345186208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3" name="Rectangle 12">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391FFA2-7A8F-5873-7E30-21A316CB563B}"/>
              </a:ext>
            </a:extLst>
          </p:cNvPr>
          <p:cNvSpPr>
            <a:spLocks noGrp="1"/>
          </p:cNvSpPr>
          <p:nvPr>
            <p:ph type="title"/>
          </p:nvPr>
        </p:nvSpPr>
        <p:spPr>
          <a:xfrm>
            <a:off x="1057025" y="922644"/>
            <a:ext cx="5040285" cy="1169585"/>
          </a:xfrm>
        </p:spPr>
        <p:txBody>
          <a:bodyPr anchor="b">
            <a:normAutofit/>
          </a:bodyPr>
          <a:lstStyle/>
          <a:p>
            <a:r>
              <a:rPr kumimoji="1" lang="en-US" altLang="ja-JP" sz="3700" dirty="0"/>
              <a:t>Spice</a:t>
            </a:r>
            <a:r>
              <a:rPr kumimoji="1" lang="ja-JP" altLang="en-US" sz="3700" dirty="0"/>
              <a:t>ファイルから</a:t>
            </a:r>
            <a:br>
              <a:rPr kumimoji="1" lang="en-US" altLang="ja-JP" sz="3700" dirty="0"/>
            </a:br>
            <a:r>
              <a:rPr kumimoji="1" lang="ja-JP" altLang="en-US" sz="3700" dirty="0"/>
              <a:t>読みだす方法</a:t>
            </a:r>
            <a:r>
              <a:rPr kumimoji="1" lang="en-US" altLang="ja-JP" sz="3700" dirty="0"/>
              <a:t>1/2</a:t>
            </a:r>
            <a:endParaRPr kumimoji="1" lang="ja-JP" altLang="en-US" sz="3700" dirty="0"/>
          </a:p>
        </p:txBody>
      </p:sp>
      <p:sp>
        <p:nvSpPr>
          <p:cNvPr id="18" name="Rectangle 17">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CAD5A82-FD28-1171-C1A5-668003F52B91}"/>
              </a:ext>
            </a:extLst>
          </p:cNvPr>
          <p:cNvSpPr>
            <a:spLocks noGrp="1"/>
          </p:cNvSpPr>
          <p:nvPr>
            <p:ph idx="1"/>
          </p:nvPr>
        </p:nvSpPr>
        <p:spPr>
          <a:xfrm>
            <a:off x="1055715" y="2508105"/>
            <a:ext cx="5040285" cy="3632493"/>
          </a:xfrm>
        </p:spPr>
        <p:txBody>
          <a:bodyPr anchor="ctr">
            <a:normAutofit/>
          </a:bodyPr>
          <a:lstStyle/>
          <a:p>
            <a:r>
              <a:rPr kumimoji="1" lang="en-US" altLang="ja-JP" sz="2000" dirty="0"/>
              <a:t>Sch</a:t>
            </a:r>
            <a:r>
              <a:rPr kumimoji="1" lang="ja-JP" altLang="en-US" sz="2000" dirty="0"/>
              <a:t>ファイル</a:t>
            </a:r>
            <a:r>
              <a:rPr lang="ja-JP" altLang="en-US" sz="2000" dirty="0"/>
              <a:t>（</a:t>
            </a:r>
            <a:r>
              <a:rPr kumimoji="1" lang="ja-JP" altLang="en-US" sz="2000" dirty="0"/>
              <a:t>上側の図</a:t>
            </a:r>
            <a:r>
              <a:rPr lang="ja-JP" altLang="en-US" sz="2000" dirty="0"/>
              <a:t>）</a:t>
            </a:r>
            <a:endParaRPr kumimoji="1" lang="en-US" altLang="ja-JP" sz="2000" dirty="0"/>
          </a:p>
          <a:p>
            <a:pPr lvl="1"/>
            <a:r>
              <a:rPr lang="ja-JP" altLang="en-US" sz="2000" dirty="0"/>
              <a:t>ピン情報のみ</a:t>
            </a:r>
            <a:endParaRPr lang="en-US" altLang="ja-JP" sz="2000" dirty="0"/>
          </a:p>
          <a:p>
            <a:r>
              <a:rPr kumimoji="1" lang="en-US" altLang="ja-JP" sz="2000" dirty="0"/>
              <a:t>Sym</a:t>
            </a:r>
            <a:r>
              <a:rPr kumimoji="1" lang="ja-JP" altLang="en-US" sz="2000" dirty="0"/>
              <a:t>ファイル（下側の図）</a:t>
            </a:r>
            <a:endParaRPr kumimoji="1" lang="en-US" altLang="ja-JP" sz="2000" dirty="0"/>
          </a:p>
          <a:p>
            <a:pPr lvl="1"/>
            <a:r>
              <a:rPr lang="en-US" altLang="ja-JP" sz="2000" dirty="0"/>
              <a:t>sch</a:t>
            </a:r>
            <a:r>
              <a:rPr lang="ja-JP" altLang="en-US" sz="2000" dirty="0"/>
              <a:t>のピン情報からシンボルを作る</a:t>
            </a:r>
            <a:endParaRPr lang="en-US" altLang="ja-JP" sz="2000" dirty="0"/>
          </a:p>
        </p:txBody>
      </p:sp>
      <p:pic>
        <p:nvPicPr>
          <p:cNvPr id="4" name="図 3">
            <a:extLst>
              <a:ext uri="{FF2B5EF4-FFF2-40B4-BE49-F238E27FC236}">
                <a16:creationId xmlns:a16="http://schemas.microsoft.com/office/drawing/2014/main" id="{F7FAF73B-4267-C9A0-DE13-8E7C04973605}"/>
              </a:ext>
            </a:extLst>
          </p:cNvPr>
          <p:cNvPicPr>
            <a:picLocks noChangeAspect="1"/>
          </p:cNvPicPr>
          <p:nvPr/>
        </p:nvPicPr>
        <p:blipFill>
          <a:blip r:embed="rId2"/>
          <a:stretch>
            <a:fillRect/>
          </a:stretch>
        </p:blipFill>
        <p:spPr>
          <a:xfrm>
            <a:off x="6892878" y="3491263"/>
            <a:ext cx="4389120" cy="2117749"/>
          </a:xfrm>
          <a:prstGeom prst="rect">
            <a:avLst/>
          </a:prstGeom>
        </p:spPr>
      </p:pic>
      <p:pic>
        <p:nvPicPr>
          <p:cNvPr id="5" name="図 4">
            <a:extLst>
              <a:ext uri="{FF2B5EF4-FFF2-40B4-BE49-F238E27FC236}">
                <a16:creationId xmlns:a16="http://schemas.microsoft.com/office/drawing/2014/main" id="{83C9B910-93C9-8A1F-B804-0FCBC24A07CD}"/>
              </a:ext>
            </a:extLst>
          </p:cNvPr>
          <p:cNvPicPr>
            <a:picLocks noChangeAspect="1"/>
          </p:cNvPicPr>
          <p:nvPr/>
        </p:nvPicPr>
        <p:blipFill>
          <a:blip r:embed="rId3"/>
          <a:stretch>
            <a:fillRect/>
          </a:stretch>
        </p:blipFill>
        <p:spPr>
          <a:xfrm>
            <a:off x="6892878" y="996218"/>
            <a:ext cx="4389120" cy="1865376"/>
          </a:xfrm>
          <a:prstGeom prst="rect">
            <a:avLst/>
          </a:prstGeom>
        </p:spPr>
      </p:pic>
    </p:spTree>
    <p:extLst>
      <p:ext uri="{BB962C8B-B14F-4D97-AF65-F5344CB8AC3E}">
        <p14:creationId xmlns:p14="http://schemas.microsoft.com/office/powerpoint/2010/main" val="10033487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91CE62-2E05-6090-50AE-6BC542EA1CC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61507F7-47A5-C394-ACCF-0141421AB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DF81D1F-0BB9-953E-4CAC-7D17C52BA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3" name="Rectangle 12">
              <a:extLst>
                <a:ext uri="{FF2B5EF4-FFF2-40B4-BE49-F238E27FC236}">
                  <a16:creationId xmlns:a16="http://schemas.microsoft.com/office/drawing/2014/main" id="{58EE75C1-5032-888F-80A0-D1490EBB9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C3D169B-D055-3023-C1CA-B1EFDFDDC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F4DB2B51-55DC-54AD-9D43-08D5ED5B2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8F7E6D5-E2A9-C379-D639-1FA7FAB87601}"/>
              </a:ext>
            </a:extLst>
          </p:cNvPr>
          <p:cNvSpPr>
            <a:spLocks noGrp="1"/>
          </p:cNvSpPr>
          <p:nvPr>
            <p:ph type="title"/>
          </p:nvPr>
        </p:nvSpPr>
        <p:spPr>
          <a:xfrm>
            <a:off x="1057025" y="922644"/>
            <a:ext cx="5040285" cy="1169585"/>
          </a:xfrm>
        </p:spPr>
        <p:txBody>
          <a:bodyPr anchor="b">
            <a:normAutofit/>
          </a:bodyPr>
          <a:lstStyle/>
          <a:p>
            <a:r>
              <a:rPr kumimoji="1" lang="en-US" altLang="ja-JP" sz="3700" dirty="0"/>
              <a:t>Spice</a:t>
            </a:r>
            <a:r>
              <a:rPr kumimoji="1" lang="ja-JP" altLang="en-US" sz="3700" dirty="0"/>
              <a:t>ファイルから</a:t>
            </a:r>
            <a:br>
              <a:rPr kumimoji="1" lang="en-US" altLang="ja-JP" sz="3700" dirty="0"/>
            </a:br>
            <a:r>
              <a:rPr kumimoji="1" lang="ja-JP" altLang="en-US" sz="3700" dirty="0"/>
              <a:t>読みだす方法</a:t>
            </a:r>
            <a:r>
              <a:rPr lang="en-US" altLang="ja-JP" sz="3700" dirty="0"/>
              <a:t>2</a:t>
            </a:r>
            <a:r>
              <a:rPr kumimoji="1" lang="en-US" altLang="ja-JP" sz="3700" dirty="0"/>
              <a:t>/2</a:t>
            </a:r>
            <a:endParaRPr kumimoji="1" lang="ja-JP" altLang="en-US" sz="3700" dirty="0"/>
          </a:p>
        </p:txBody>
      </p:sp>
      <p:sp>
        <p:nvSpPr>
          <p:cNvPr id="18" name="Rectangle 17">
            <a:extLst>
              <a:ext uri="{FF2B5EF4-FFF2-40B4-BE49-F238E27FC236}">
                <a16:creationId xmlns:a16="http://schemas.microsoft.com/office/drawing/2014/main" id="{A964BF43-63B8-9F78-98B9-3A371302A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FDE2395-D3D8-1E26-A555-B873F550B49F}"/>
              </a:ext>
            </a:extLst>
          </p:cNvPr>
          <p:cNvSpPr>
            <a:spLocks noGrp="1"/>
          </p:cNvSpPr>
          <p:nvPr>
            <p:ph idx="1"/>
          </p:nvPr>
        </p:nvSpPr>
        <p:spPr>
          <a:xfrm>
            <a:off x="1055715" y="2508105"/>
            <a:ext cx="5040285" cy="1437751"/>
          </a:xfrm>
        </p:spPr>
        <p:txBody>
          <a:bodyPr anchor="ctr">
            <a:normAutofit/>
          </a:bodyPr>
          <a:lstStyle/>
          <a:p>
            <a:r>
              <a:rPr kumimoji="1" lang="en-US" altLang="ja-JP" sz="2000" dirty="0"/>
              <a:t>Sym</a:t>
            </a:r>
            <a:r>
              <a:rPr kumimoji="1" lang="ja-JP" altLang="en-US" sz="2000" dirty="0"/>
              <a:t>ファイルの設定</a:t>
            </a:r>
            <a:endParaRPr kumimoji="1" lang="en-US" altLang="ja-JP" sz="2000" dirty="0"/>
          </a:p>
          <a:p>
            <a:pPr lvl="1"/>
            <a:r>
              <a:rPr lang="ja-JP" altLang="en-US" sz="2000" dirty="0"/>
              <a:t>右上の図を参照</a:t>
            </a:r>
            <a:endParaRPr lang="en-US" altLang="ja-JP" sz="2000" dirty="0"/>
          </a:p>
          <a:p>
            <a:pPr lvl="1"/>
            <a:endParaRPr lang="en-US" altLang="ja-JP" sz="2000" dirty="0"/>
          </a:p>
          <a:p>
            <a:pPr lvl="1"/>
            <a:endParaRPr lang="en-US" altLang="ja-JP" sz="2000" dirty="0"/>
          </a:p>
        </p:txBody>
      </p:sp>
      <p:pic>
        <p:nvPicPr>
          <p:cNvPr id="7" name="図 6">
            <a:extLst>
              <a:ext uri="{FF2B5EF4-FFF2-40B4-BE49-F238E27FC236}">
                <a16:creationId xmlns:a16="http://schemas.microsoft.com/office/drawing/2014/main" id="{8B367629-4C66-5D96-CA24-BE728E298A86}"/>
              </a:ext>
            </a:extLst>
          </p:cNvPr>
          <p:cNvPicPr>
            <a:picLocks noChangeAspect="1"/>
          </p:cNvPicPr>
          <p:nvPr/>
        </p:nvPicPr>
        <p:blipFill>
          <a:blip r:embed="rId2"/>
          <a:stretch>
            <a:fillRect/>
          </a:stretch>
        </p:blipFill>
        <p:spPr>
          <a:xfrm>
            <a:off x="6238046" y="681038"/>
            <a:ext cx="5500123" cy="1415177"/>
          </a:xfrm>
          <a:prstGeom prst="rect">
            <a:avLst/>
          </a:prstGeom>
        </p:spPr>
      </p:pic>
      <p:graphicFrame>
        <p:nvGraphicFramePr>
          <p:cNvPr id="20" name="コンテンツ プレースホルダー 2">
            <a:extLst>
              <a:ext uri="{FF2B5EF4-FFF2-40B4-BE49-F238E27FC236}">
                <a16:creationId xmlns:a16="http://schemas.microsoft.com/office/drawing/2014/main" id="{4CB24894-E71B-319F-0180-5E6FA8E07B53}"/>
              </a:ext>
            </a:extLst>
          </p:cNvPr>
          <p:cNvGraphicFramePr/>
          <p:nvPr/>
        </p:nvGraphicFramePr>
        <p:xfrm>
          <a:off x="838200" y="3923265"/>
          <a:ext cx="10515600" cy="22536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コンテンツ プレースホルダー 2">
            <a:extLst>
              <a:ext uri="{FF2B5EF4-FFF2-40B4-BE49-F238E27FC236}">
                <a16:creationId xmlns:a16="http://schemas.microsoft.com/office/drawing/2014/main" id="{79831AC7-67EB-AC4F-2B85-91E5B9B6F4B7}"/>
              </a:ext>
            </a:extLst>
          </p:cNvPr>
          <p:cNvSpPr txBox="1">
            <a:spLocks/>
          </p:cNvSpPr>
          <p:nvPr/>
        </p:nvSpPr>
        <p:spPr>
          <a:xfrm>
            <a:off x="6238046" y="2461934"/>
            <a:ext cx="5040285" cy="1220116"/>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000" dirty="0"/>
              <a:t>format</a:t>
            </a:r>
            <a:r>
              <a:rPr lang="ja-JP" altLang="en-US" sz="2000" dirty="0"/>
              <a:t>の内容</a:t>
            </a:r>
            <a:endParaRPr lang="en-US" altLang="ja-JP" sz="2000" dirty="0"/>
          </a:p>
          <a:p>
            <a:pPr lvl="1"/>
            <a:r>
              <a:rPr lang="en-US" altLang="ja-JP" sz="2000" dirty="0"/>
              <a:t>Spice</a:t>
            </a:r>
            <a:r>
              <a:rPr lang="ja-JP" altLang="en-US" sz="2000" dirty="0"/>
              <a:t>ファイルの「</a:t>
            </a:r>
            <a:r>
              <a:rPr lang="en-US" altLang="ja-JP" sz="2000" dirty="0"/>
              <a:t>.</a:t>
            </a:r>
            <a:r>
              <a:rPr lang="en-US" altLang="ja-JP" sz="2000" dirty="0" err="1"/>
              <a:t>subket</a:t>
            </a:r>
            <a:r>
              <a:rPr lang="en-US" altLang="ja-JP" sz="2000" dirty="0"/>
              <a:t> SAR_LOGIC</a:t>
            </a:r>
            <a:r>
              <a:rPr lang="ja-JP" altLang="en-US" sz="2000" dirty="0"/>
              <a:t>」の後のピンと同じ並びで記述する</a:t>
            </a:r>
            <a:endParaRPr lang="en-US" altLang="ja-JP" sz="2000" dirty="0"/>
          </a:p>
        </p:txBody>
      </p:sp>
    </p:spTree>
    <p:extLst>
      <p:ext uri="{BB962C8B-B14F-4D97-AF65-F5344CB8AC3E}">
        <p14:creationId xmlns:p14="http://schemas.microsoft.com/office/powerpoint/2010/main" val="164001813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1F7B363-E72F-C07A-3B23-F93AAB346938}"/>
              </a:ext>
            </a:extLst>
          </p:cNvPr>
          <p:cNvSpPr>
            <a:spLocks noGrp="1"/>
          </p:cNvSpPr>
          <p:nvPr>
            <p:ph type="title"/>
          </p:nvPr>
        </p:nvSpPr>
        <p:spPr>
          <a:xfrm>
            <a:off x="793662" y="386930"/>
            <a:ext cx="10066122" cy="1298448"/>
          </a:xfrm>
        </p:spPr>
        <p:txBody>
          <a:bodyPr anchor="b">
            <a:normAutofit/>
          </a:bodyPr>
          <a:lstStyle/>
          <a:p>
            <a:r>
              <a:rPr lang="en-US" altLang="ja-JP" sz="4800" dirty="0"/>
              <a:t>s</a:t>
            </a:r>
            <a:r>
              <a:rPr kumimoji="1" lang="en-US" altLang="ja-JP" sz="4800" dirty="0"/>
              <a:t>pice</a:t>
            </a:r>
            <a:r>
              <a:rPr kumimoji="1" lang="ja-JP" altLang="en-US" sz="4800" dirty="0"/>
              <a:t>ファイルの読み込み</a:t>
            </a:r>
            <a:r>
              <a:rPr lang="ja-JP" altLang="en-US" sz="4800" dirty="0"/>
              <a:t>設定</a:t>
            </a:r>
            <a:endParaRPr kumimoji="1" lang="ja-JP" altLang="en-US" sz="4800" dirty="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8B6B193-1FF9-12D0-B022-C156A9AD0327}"/>
              </a:ext>
            </a:extLst>
          </p:cNvPr>
          <p:cNvSpPr>
            <a:spLocks noGrp="1"/>
          </p:cNvSpPr>
          <p:nvPr>
            <p:ph idx="1"/>
          </p:nvPr>
        </p:nvSpPr>
        <p:spPr>
          <a:xfrm>
            <a:off x="793661" y="2599509"/>
            <a:ext cx="4530898" cy="3639450"/>
          </a:xfrm>
        </p:spPr>
        <p:txBody>
          <a:bodyPr anchor="ctr">
            <a:normAutofit/>
          </a:bodyPr>
          <a:lstStyle/>
          <a:p>
            <a:r>
              <a:rPr kumimoji="1" lang="en-US" altLang="ja-JP" sz="2000"/>
              <a:t>Spice</a:t>
            </a:r>
            <a:r>
              <a:rPr kumimoji="1" lang="ja-JP" altLang="en-US" sz="2000"/>
              <a:t>コマンド内</a:t>
            </a:r>
            <a:endParaRPr kumimoji="1" lang="en-US" altLang="ja-JP" sz="2000"/>
          </a:p>
          <a:p>
            <a:pPr lvl="1"/>
            <a:r>
              <a:rPr lang="en-US" altLang="ja-JP" sz="2000"/>
              <a:t>.include [spice</a:t>
            </a:r>
            <a:r>
              <a:rPr lang="ja-JP" altLang="en-US" sz="2000"/>
              <a:t>ファイルへの絶対</a:t>
            </a:r>
            <a:r>
              <a:rPr lang="en-US" altLang="ja-JP" sz="2000"/>
              <a:t>path]</a:t>
            </a:r>
            <a:endParaRPr kumimoji="1" lang="ja-JP" altLang="en-US" sz="2000"/>
          </a:p>
        </p:txBody>
      </p:sp>
      <p:pic>
        <p:nvPicPr>
          <p:cNvPr id="5" name="図 4">
            <a:extLst>
              <a:ext uri="{FF2B5EF4-FFF2-40B4-BE49-F238E27FC236}">
                <a16:creationId xmlns:a16="http://schemas.microsoft.com/office/drawing/2014/main" id="{6B83CF77-CCAE-2478-5129-33669817475B}"/>
              </a:ext>
            </a:extLst>
          </p:cNvPr>
          <p:cNvPicPr>
            <a:picLocks noChangeAspect="1"/>
          </p:cNvPicPr>
          <p:nvPr/>
        </p:nvPicPr>
        <p:blipFill>
          <a:blip r:embed="rId2"/>
          <a:stretch>
            <a:fillRect/>
          </a:stretch>
        </p:blipFill>
        <p:spPr>
          <a:xfrm>
            <a:off x="5911532" y="3543084"/>
            <a:ext cx="5150277" cy="1596585"/>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45147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DD0D3C-A62D-F884-8B9E-04E57FCFFF7E}"/>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4" name="Rectangle 3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60CDEE6-D71C-9D74-8866-D48A24CE14EC}"/>
              </a:ext>
            </a:extLst>
          </p:cNvPr>
          <p:cNvSpPr>
            <a:spLocks noGrp="1"/>
          </p:cNvSpPr>
          <p:nvPr>
            <p:ph type="title"/>
          </p:nvPr>
        </p:nvSpPr>
        <p:spPr>
          <a:xfrm>
            <a:off x="1043631" y="809898"/>
            <a:ext cx="9942716" cy="1554480"/>
          </a:xfrm>
        </p:spPr>
        <p:txBody>
          <a:bodyPr anchor="ctr">
            <a:normAutofit/>
          </a:bodyPr>
          <a:lstStyle/>
          <a:p>
            <a:r>
              <a:rPr kumimoji="1" lang="ja-JP" altLang="en-US" sz="4800" dirty="0"/>
              <a:t>シミュレーション</a:t>
            </a:r>
            <a:br>
              <a:rPr kumimoji="1" lang="en-US" altLang="ja-JP" sz="4800" dirty="0"/>
            </a:br>
            <a:r>
              <a:rPr kumimoji="1" lang="ja-JP" altLang="en-US" sz="4800" dirty="0"/>
              <a:t>コマンド</a:t>
            </a:r>
            <a:r>
              <a:rPr kumimoji="1" lang="en-US" altLang="ja-JP" sz="4800" dirty="0"/>
              <a:t>1/2</a:t>
            </a:r>
            <a:endParaRPr kumimoji="1" lang="ja-JP" altLang="en-US" sz="4800" dirty="0"/>
          </a:p>
        </p:txBody>
      </p:sp>
      <p:sp>
        <p:nvSpPr>
          <p:cNvPr id="3" name="コンテンツ プレースホルダー 2">
            <a:extLst>
              <a:ext uri="{FF2B5EF4-FFF2-40B4-BE49-F238E27FC236}">
                <a16:creationId xmlns:a16="http://schemas.microsoft.com/office/drawing/2014/main" id="{527989BB-6A0A-6453-EC49-10A60E2107E5}"/>
              </a:ext>
            </a:extLst>
          </p:cNvPr>
          <p:cNvSpPr>
            <a:spLocks noGrp="1"/>
          </p:cNvSpPr>
          <p:nvPr>
            <p:ph idx="1"/>
          </p:nvPr>
        </p:nvSpPr>
        <p:spPr>
          <a:xfrm>
            <a:off x="1045029" y="3017522"/>
            <a:ext cx="5050972" cy="3124658"/>
          </a:xfrm>
        </p:spPr>
        <p:txBody>
          <a:bodyPr anchor="ctr">
            <a:normAutofit/>
          </a:bodyPr>
          <a:lstStyle/>
          <a:p>
            <a:r>
              <a:rPr lang="en-US" altLang="ja-JP" sz="2400" dirty="0"/>
              <a:t>let</a:t>
            </a:r>
            <a:r>
              <a:rPr lang="ja-JP" altLang="en-US" sz="2400" dirty="0"/>
              <a:t>コマンド</a:t>
            </a:r>
            <a:endParaRPr lang="en-US" altLang="ja-JP" sz="2400" dirty="0"/>
          </a:p>
          <a:p>
            <a:pPr lvl="1"/>
            <a:r>
              <a:rPr lang="ja-JP" altLang="en-US" sz="2000" dirty="0"/>
              <a:t>変数を定義する</a:t>
            </a:r>
            <a:endParaRPr lang="en-US" altLang="ja-JP" sz="2000" dirty="0"/>
          </a:p>
          <a:p>
            <a:r>
              <a:rPr lang="ja-JP" altLang="en-US" sz="2400" dirty="0"/>
              <a:t>マジックナンバー</a:t>
            </a:r>
            <a:endParaRPr lang="en-US" altLang="ja-JP" sz="2400" dirty="0"/>
          </a:p>
          <a:p>
            <a:pPr lvl="1"/>
            <a:r>
              <a:rPr lang="en-US" altLang="ja-JP" sz="2000" dirty="0"/>
              <a:t>5.0</a:t>
            </a:r>
            <a:r>
              <a:rPr lang="ja-JP" altLang="en-US" sz="2000" dirty="0"/>
              <a:t> </a:t>
            </a:r>
            <a:r>
              <a:rPr lang="en-US" altLang="ja-JP" sz="2000" dirty="0"/>
              <a:t>= </a:t>
            </a:r>
            <a:r>
              <a:rPr lang="ja-JP" altLang="en-US" sz="2000" dirty="0"/>
              <a:t>リファレンス電圧</a:t>
            </a:r>
            <a:endParaRPr lang="en-US" altLang="ja-JP" sz="2000" dirty="0"/>
          </a:p>
          <a:p>
            <a:pPr lvl="1"/>
            <a:r>
              <a:rPr lang="en-US" altLang="ja-JP" sz="2000" dirty="0"/>
              <a:t>0.078125 = LSB</a:t>
            </a:r>
            <a:r>
              <a:rPr lang="ja-JP" altLang="en-US" sz="2000" dirty="0"/>
              <a:t>電圧</a:t>
            </a:r>
            <a:endParaRPr lang="en-US" altLang="ja-JP" sz="2000" dirty="0"/>
          </a:p>
          <a:p>
            <a:pPr lvl="2"/>
            <a:r>
              <a:rPr lang="en-US" altLang="ja-JP" sz="1600" dirty="0"/>
              <a:t>5.0V / 6bit(64)</a:t>
            </a:r>
          </a:p>
          <a:p>
            <a:pPr lvl="2"/>
            <a:r>
              <a:rPr lang="en-US" altLang="ja-JP" sz="1600" dirty="0"/>
              <a:t>1/2</a:t>
            </a:r>
            <a:r>
              <a:rPr lang="ja-JP" altLang="en-US" sz="1600" dirty="0"/>
              <a:t>は閾値</a:t>
            </a:r>
            <a:endParaRPr lang="en-US" altLang="ja-JP" sz="1600" dirty="0"/>
          </a:p>
          <a:p>
            <a:endParaRPr lang="en-US" altLang="ja-JP" sz="2400" dirty="0"/>
          </a:p>
        </p:txBody>
      </p:sp>
      <p:cxnSp>
        <p:nvCxnSpPr>
          <p:cNvPr id="40" name="Straight Connector 3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594D8C2B-B023-D350-C0FD-86E6FDA456A2}"/>
              </a:ext>
            </a:extLst>
          </p:cNvPr>
          <p:cNvSpPr txBox="1"/>
          <p:nvPr/>
        </p:nvSpPr>
        <p:spPr>
          <a:xfrm>
            <a:off x="6192829" y="420166"/>
            <a:ext cx="5999171" cy="6017032"/>
          </a:xfrm>
          <a:prstGeom prst="rect">
            <a:avLst/>
          </a:prstGeom>
          <a:solidFill>
            <a:schemeClr val="tx1"/>
          </a:solidFill>
        </p:spPr>
        <p:txBody>
          <a:bodyPr wrap="square" rtlCol="0">
            <a:spAutoFit/>
          </a:bodyPr>
          <a:lstStyle/>
          <a:p>
            <a:r>
              <a:rPr lang="en-US" altLang="ja-JP" sz="1100" dirty="0">
                <a:solidFill>
                  <a:schemeClr val="bg1"/>
                </a:solidFill>
              </a:rPr>
              <a:t>.include ~/</a:t>
            </a:r>
            <a:r>
              <a:rPr lang="en-US" altLang="ja-JP" sz="1100" dirty="0" err="1">
                <a:solidFill>
                  <a:schemeClr val="bg1"/>
                </a:solidFill>
              </a:rPr>
              <a:t>sar-adc</a:t>
            </a:r>
            <a:r>
              <a:rPr lang="en-US" altLang="ja-JP" sz="1100" dirty="0">
                <a:solidFill>
                  <a:schemeClr val="bg1"/>
                </a:solidFill>
              </a:rPr>
              <a:t>/</a:t>
            </a:r>
            <a:r>
              <a:rPr lang="en-US" altLang="ja-JP" sz="1100" dirty="0" err="1">
                <a:solidFill>
                  <a:schemeClr val="bg1"/>
                </a:solidFill>
              </a:rPr>
              <a:t>SAR_LOGIC.spice</a:t>
            </a:r>
            <a:endParaRPr lang="en-US" altLang="ja-JP" sz="1100" dirty="0">
              <a:solidFill>
                <a:schemeClr val="bg1"/>
              </a:solidFill>
            </a:endParaRPr>
          </a:p>
          <a:p>
            <a:r>
              <a:rPr lang="en-US" altLang="ja-JP" sz="1100" dirty="0">
                <a:solidFill>
                  <a:schemeClr val="bg1"/>
                </a:solidFill>
              </a:rPr>
              <a:t>.temp 27</a:t>
            </a:r>
          </a:p>
          <a:p>
            <a:r>
              <a:rPr lang="en-US" altLang="ja-JP" sz="1100" dirty="0">
                <a:solidFill>
                  <a:schemeClr val="bg1"/>
                </a:solidFill>
              </a:rPr>
              <a:t>.option </a:t>
            </a:r>
            <a:r>
              <a:rPr lang="en-US" altLang="ja-JP" sz="1100" dirty="0" err="1">
                <a:solidFill>
                  <a:schemeClr val="bg1"/>
                </a:solidFill>
              </a:rPr>
              <a:t>savecurrent</a:t>
            </a:r>
            <a:endParaRPr lang="en-US" altLang="ja-JP" sz="1100" dirty="0">
              <a:solidFill>
                <a:schemeClr val="bg1"/>
              </a:solidFill>
            </a:endParaRPr>
          </a:p>
          <a:p>
            <a:r>
              <a:rPr lang="en-US" altLang="ja-JP" sz="1100" dirty="0">
                <a:solidFill>
                  <a:schemeClr val="bg1"/>
                </a:solidFill>
              </a:rPr>
              <a:t>.control</a:t>
            </a:r>
          </a:p>
          <a:p>
            <a:r>
              <a:rPr lang="en-US" altLang="ja-JP" sz="1100" dirty="0">
                <a:solidFill>
                  <a:schemeClr val="bg1"/>
                </a:solidFill>
              </a:rPr>
              <a:t>save all</a:t>
            </a:r>
          </a:p>
          <a:p>
            <a:r>
              <a:rPr lang="en-US" altLang="ja-JP" sz="1100" dirty="0">
                <a:solidFill>
                  <a:schemeClr val="bg1"/>
                </a:solidFill>
              </a:rPr>
              <a:t>alter VREF 5.0</a:t>
            </a:r>
          </a:p>
          <a:p>
            <a:endParaRPr lang="en-US" altLang="ja-JP" sz="1100" dirty="0">
              <a:solidFill>
                <a:schemeClr val="bg1"/>
              </a:solidFill>
            </a:endParaRPr>
          </a:p>
          <a:p>
            <a:r>
              <a:rPr lang="en-US" altLang="ja-JP" sz="1100" dirty="0">
                <a:solidFill>
                  <a:schemeClr val="bg1"/>
                </a:solidFill>
              </a:rPr>
              <a:t>let </a:t>
            </a:r>
            <a:r>
              <a:rPr lang="en-US" altLang="ja-JP" sz="1100" dirty="0" err="1">
                <a:solidFill>
                  <a:schemeClr val="bg1"/>
                </a:solidFill>
              </a:rPr>
              <a:t>start_vin</a:t>
            </a:r>
            <a:r>
              <a:rPr lang="en-US" altLang="ja-JP" sz="1100" dirty="0">
                <a:solidFill>
                  <a:schemeClr val="bg1"/>
                </a:solidFill>
              </a:rPr>
              <a:t> = 0.078125 / 2</a:t>
            </a:r>
          </a:p>
          <a:p>
            <a:r>
              <a:rPr lang="en-US" altLang="ja-JP" sz="1100" dirty="0">
                <a:solidFill>
                  <a:schemeClr val="bg1"/>
                </a:solidFill>
              </a:rPr>
              <a:t>let </a:t>
            </a:r>
            <a:r>
              <a:rPr lang="en-US" altLang="ja-JP" sz="1100" dirty="0" err="1">
                <a:solidFill>
                  <a:schemeClr val="bg1"/>
                </a:solidFill>
              </a:rPr>
              <a:t>stop_vin</a:t>
            </a:r>
            <a:r>
              <a:rPr lang="en-US" altLang="ja-JP" sz="1100" dirty="0">
                <a:solidFill>
                  <a:schemeClr val="bg1"/>
                </a:solidFill>
              </a:rPr>
              <a:t> = 5.0</a:t>
            </a:r>
          </a:p>
          <a:p>
            <a:r>
              <a:rPr lang="en-US" altLang="ja-JP" sz="1100" dirty="0">
                <a:solidFill>
                  <a:schemeClr val="bg1"/>
                </a:solidFill>
              </a:rPr>
              <a:t>let </a:t>
            </a:r>
            <a:r>
              <a:rPr lang="en-US" altLang="ja-JP" sz="1100" dirty="0" err="1">
                <a:solidFill>
                  <a:schemeClr val="bg1"/>
                </a:solidFill>
              </a:rPr>
              <a:t>delta_vin</a:t>
            </a:r>
            <a:r>
              <a:rPr lang="en-US" altLang="ja-JP" sz="1100" dirty="0">
                <a:solidFill>
                  <a:schemeClr val="bg1"/>
                </a:solidFill>
              </a:rPr>
              <a:t> = 0.078125</a:t>
            </a:r>
          </a:p>
          <a:p>
            <a:r>
              <a:rPr lang="en-US" altLang="ja-JP" sz="1100" dirty="0">
                <a:solidFill>
                  <a:schemeClr val="bg1"/>
                </a:solidFill>
              </a:rPr>
              <a:t>let </a:t>
            </a:r>
            <a:r>
              <a:rPr lang="en-US" altLang="ja-JP" sz="1100" dirty="0" err="1">
                <a:solidFill>
                  <a:schemeClr val="bg1"/>
                </a:solidFill>
              </a:rPr>
              <a:t>vin_act</a:t>
            </a:r>
            <a:r>
              <a:rPr lang="en-US" altLang="ja-JP" sz="1100" dirty="0">
                <a:solidFill>
                  <a:schemeClr val="bg1"/>
                </a:solidFill>
              </a:rPr>
              <a:t> = </a:t>
            </a:r>
            <a:r>
              <a:rPr lang="en-US" altLang="ja-JP" sz="1100" dirty="0" err="1">
                <a:solidFill>
                  <a:schemeClr val="bg1"/>
                </a:solidFill>
              </a:rPr>
              <a:t>start_vin</a:t>
            </a:r>
            <a:endParaRPr lang="en-US" altLang="ja-JP" sz="1100" dirty="0">
              <a:solidFill>
                <a:schemeClr val="bg1"/>
              </a:solidFill>
            </a:endParaRPr>
          </a:p>
          <a:p>
            <a:r>
              <a:rPr lang="en-US" altLang="ja-JP" sz="1100" dirty="0">
                <a:solidFill>
                  <a:schemeClr val="bg1"/>
                </a:solidFill>
              </a:rPr>
              <a:t>alter Vin </a:t>
            </a:r>
            <a:r>
              <a:rPr lang="en-US" altLang="ja-JP" sz="1100" dirty="0" err="1">
                <a:solidFill>
                  <a:schemeClr val="bg1"/>
                </a:solidFill>
              </a:rPr>
              <a:t>vin_act</a:t>
            </a:r>
            <a:endParaRPr lang="en-US" altLang="ja-JP" sz="1100" dirty="0">
              <a:solidFill>
                <a:schemeClr val="bg1"/>
              </a:solidFill>
            </a:endParaRPr>
          </a:p>
          <a:p>
            <a:endParaRPr lang="en-US" altLang="ja-JP" sz="1100" dirty="0">
              <a:solidFill>
                <a:schemeClr val="bg1"/>
              </a:solidFill>
            </a:endParaRPr>
          </a:p>
          <a:p>
            <a:r>
              <a:rPr lang="en-US" altLang="ja-JP" sz="1100" dirty="0">
                <a:solidFill>
                  <a:schemeClr val="bg1"/>
                </a:solidFill>
              </a:rPr>
              <a:t>while </a:t>
            </a:r>
            <a:r>
              <a:rPr lang="en-US" altLang="ja-JP" sz="1100" dirty="0" err="1">
                <a:solidFill>
                  <a:schemeClr val="bg1"/>
                </a:solidFill>
              </a:rPr>
              <a:t>vin_act</a:t>
            </a:r>
            <a:r>
              <a:rPr lang="en-US" altLang="ja-JP" sz="1100" dirty="0">
                <a:solidFill>
                  <a:schemeClr val="bg1"/>
                </a:solidFill>
              </a:rPr>
              <a:t> le </a:t>
            </a:r>
            <a:r>
              <a:rPr lang="en-US" altLang="ja-JP" sz="1100" dirty="0" err="1">
                <a:solidFill>
                  <a:schemeClr val="bg1"/>
                </a:solidFill>
              </a:rPr>
              <a:t>stop_vin</a:t>
            </a:r>
            <a:endParaRPr lang="en-US" altLang="ja-JP" sz="1100" dirty="0">
              <a:solidFill>
                <a:schemeClr val="bg1"/>
              </a:solidFill>
            </a:endParaRPr>
          </a:p>
          <a:p>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100n 1u</a:t>
            </a:r>
          </a:p>
          <a:p>
            <a:r>
              <a:rPr lang="en-US" altLang="ja-JP" sz="1100" dirty="0">
                <a:solidFill>
                  <a:schemeClr val="bg1"/>
                </a:solidFill>
              </a:rPr>
              <a:t>	write </a:t>
            </a:r>
            <a:r>
              <a:rPr lang="en-US" altLang="ja-JP" sz="1100" dirty="0" err="1">
                <a:solidFill>
                  <a:schemeClr val="bg1"/>
                </a:solidFill>
              </a:rPr>
              <a:t>tran_sar_adc.raw</a:t>
            </a:r>
            <a:endParaRPr lang="en-US" altLang="ja-JP" sz="1100" dirty="0">
              <a:solidFill>
                <a:schemeClr val="bg1"/>
              </a:solidFill>
            </a:endParaRP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vin FIND v(VIN)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vout5 FIND v(DIGITAL_OUT[5])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vout4 FIND v(DIGITAL_OUT[4])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vout3 FIND v(DIGITAL_OUT[3])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vout2 FIND v(DIGITAL_OUT[2])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vout1 FIND v(DIGITAL_OUT[1])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vout0 FIND v(DIGITAL_OUT[0]) WHEN v(EOC)=0.9 FALL=LAST</a:t>
            </a:r>
          </a:p>
          <a:p>
            <a:r>
              <a:rPr lang="en-US" altLang="ja-JP" sz="1100" dirty="0">
                <a:solidFill>
                  <a:schemeClr val="bg1"/>
                </a:solidFill>
              </a:rPr>
              <a:t>	print vin &gt;&gt; tran_sar_adc_out_typ.txt</a:t>
            </a:r>
          </a:p>
          <a:p>
            <a:r>
              <a:rPr lang="en-US" altLang="ja-JP" sz="1100" dirty="0">
                <a:solidFill>
                  <a:schemeClr val="bg1"/>
                </a:solidFill>
              </a:rPr>
              <a:t>	print vout5 &gt;&gt; tran_sar_adc_out_typ.txt</a:t>
            </a:r>
          </a:p>
          <a:p>
            <a:r>
              <a:rPr lang="en-US" altLang="ja-JP" sz="1100" dirty="0">
                <a:solidFill>
                  <a:schemeClr val="bg1"/>
                </a:solidFill>
              </a:rPr>
              <a:t>	print vout4 &gt;&gt; tran_sar_adc_out_typ.txt</a:t>
            </a:r>
          </a:p>
          <a:p>
            <a:r>
              <a:rPr lang="en-US" altLang="ja-JP" sz="1100" dirty="0">
                <a:solidFill>
                  <a:schemeClr val="bg1"/>
                </a:solidFill>
              </a:rPr>
              <a:t>	print vout3 &gt;&gt; tran_sar_adc_out_typ.txt</a:t>
            </a:r>
          </a:p>
          <a:p>
            <a:r>
              <a:rPr lang="en-US" altLang="ja-JP" sz="1100" dirty="0">
                <a:solidFill>
                  <a:schemeClr val="bg1"/>
                </a:solidFill>
              </a:rPr>
              <a:t>	print vout2 &gt;&gt; tran_sar_adc_out_typ.txt</a:t>
            </a:r>
          </a:p>
          <a:p>
            <a:r>
              <a:rPr lang="en-US" altLang="ja-JP" sz="1100" dirty="0">
                <a:solidFill>
                  <a:schemeClr val="bg1"/>
                </a:solidFill>
              </a:rPr>
              <a:t>	print vout1 &gt;&gt; tran_sar_adc_out_typ.txt</a:t>
            </a:r>
          </a:p>
          <a:p>
            <a:r>
              <a:rPr lang="en-US" altLang="ja-JP" sz="1100" dirty="0">
                <a:solidFill>
                  <a:schemeClr val="bg1"/>
                </a:solidFill>
              </a:rPr>
              <a:t>	print vout0 &gt;&gt; tran_sar_adc_out_typ.txt</a:t>
            </a:r>
          </a:p>
          <a:p>
            <a:r>
              <a:rPr lang="en-US" altLang="ja-JP" sz="1100" dirty="0">
                <a:solidFill>
                  <a:schemeClr val="bg1"/>
                </a:solidFill>
              </a:rPr>
              <a:t>	let </a:t>
            </a:r>
            <a:r>
              <a:rPr lang="en-US" altLang="ja-JP" sz="1100" dirty="0" err="1">
                <a:solidFill>
                  <a:schemeClr val="bg1"/>
                </a:solidFill>
              </a:rPr>
              <a:t>vin_act</a:t>
            </a:r>
            <a:r>
              <a:rPr lang="en-US" altLang="ja-JP" sz="1100" dirty="0">
                <a:solidFill>
                  <a:schemeClr val="bg1"/>
                </a:solidFill>
              </a:rPr>
              <a:t> = </a:t>
            </a:r>
            <a:r>
              <a:rPr lang="en-US" altLang="ja-JP" sz="1100" dirty="0" err="1">
                <a:solidFill>
                  <a:schemeClr val="bg1"/>
                </a:solidFill>
              </a:rPr>
              <a:t>vin_act</a:t>
            </a:r>
            <a:r>
              <a:rPr lang="en-US" altLang="ja-JP" sz="1100" dirty="0">
                <a:solidFill>
                  <a:schemeClr val="bg1"/>
                </a:solidFill>
              </a:rPr>
              <a:t> + </a:t>
            </a:r>
            <a:r>
              <a:rPr lang="en-US" altLang="ja-JP" sz="1100" dirty="0" err="1">
                <a:solidFill>
                  <a:schemeClr val="bg1"/>
                </a:solidFill>
              </a:rPr>
              <a:t>delta_vin</a:t>
            </a:r>
            <a:endParaRPr lang="en-US" altLang="ja-JP" sz="1100" dirty="0">
              <a:solidFill>
                <a:schemeClr val="bg1"/>
              </a:solidFill>
            </a:endParaRPr>
          </a:p>
          <a:p>
            <a:r>
              <a:rPr lang="en-US" altLang="ja-JP" sz="1100" dirty="0">
                <a:solidFill>
                  <a:schemeClr val="bg1"/>
                </a:solidFill>
              </a:rPr>
              <a:t>	alter Vin </a:t>
            </a:r>
            <a:r>
              <a:rPr lang="en-US" altLang="ja-JP" sz="1100" dirty="0" err="1">
                <a:solidFill>
                  <a:schemeClr val="bg1"/>
                </a:solidFill>
              </a:rPr>
              <a:t>vin_act</a:t>
            </a:r>
            <a:endParaRPr lang="en-US" altLang="ja-JP" sz="1100" dirty="0">
              <a:solidFill>
                <a:schemeClr val="bg1"/>
              </a:solidFill>
            </a:endParaRPr>
          </a:p>
          <a:p>
            <a:r>
              <a:rPr lang="en-US" altLang="ja-JP" sz="1100" dirty="0">
                <a:solidFill>
                  <a:schemeClr val="bg1"/>
                </a:solidFill>
              </a:rPr>
              <a:t>end</a:t>
            </a:r>
          </a:p>
          <a:p>
            <a:endParaRPr lang="en-US" altLang="ja-JP" sz="1100" dirty="0">
              <a:solidFill>
                <a:schemeClr val="bg1"/>
              </a:solidFill>
            </a:endParaRPr>
          </a:p>
          <a:p>
            <a:r>
              <a:rPr lang="en-US" altLang="ja-JP" sz="1100" dirty="0">
                <a:solidFill>
                  <a:schemeClr val="bg1"/>
                </a:solidFill>
              </a:rPr>
              <a:t>.</a:t>
            </a:r>
            <a:r>
              <a:rPr lang="en-US" altLang="ja-JP" sz="1100" dirty="0" err="1">
                <a:solidFill>
                  <a:schemeClr val="bg1"/>
                </a:solidFill>
              </a:rPr>
              <a:t>endc</a:t>
            </a:r>
            <a:endParaRPr lang="en-US" altLang="ja-JP" sz="1100" dirty="0">
              <a:solidFill>
                <a:schemeClr val="bg1"/>
              </a:solidFill>
            </a:endParaRPr>
          </a:p>
        </p:txBody>
      </p:sp>
    </p:spTree>
    <p:extLst>
      <p:ext uri="{BB962C8B-B14F-4D97-AF65-F5344CB8AC3E}">
        <p14:creationId xmlns:p14="http://schemas.microsoft.com/office/powerpoint/2010/main" val="181264812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5BFDD7-02EA-16C6-019A-8F0D3BC4A6D2}"/>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5EFBCD9F-B7B0-1040-C448-6EAE28BA9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9E3D26EE-E861-449B-F16C-B2AFE79633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4" name="Rectangle 33">
              <a:extLst>
                <a:ext uri="{FF2B5EF4-FFF2-40B4-BE49-F238E27FC236}">
                  <a16:creationId xmlns:a16="http://schemas.microsoft.com/office/drawing/2014/main" id="{6DD01A0D-4B29-8DC6-CFCC-71E1CAB88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D083E78-D785-2B0F-B3CA-09DC15646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3A1430D-99E7-4EC1-8584-908DF4422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2113ABBB-9715-49DD-BF9D-F9A3373B1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533A5CC-92D3-E1B0-2662-870622003C2F}"/>
              </a:ext>
            </a:extLst>
          </p:cNvPr>
          <p:cNvSpPr>
            <a:spLocks noGrp="1"/>
          </p:cNvSpPr>
          <p:nvPr>
            <p:ph type="title"/>
          </p:nvPr>
        </p:nvSpPr>
        <p:spPr>
          <a:xfrm>
            <a:off x="1043631" y="809898"/>
            <a:ext cx="9942716" cy="1554480"/>
          </a:xfrm>
        </p:spPr>
        <p:txBody>
          <a:bodyPr anchor="ctr">
            <a:normAutofit/>
          </a:bodyPr>
          <a:lstStyle/>
          <a:p>
            <a:r>
              <a:rPr kumimoji="1" lang="ja-JP" altLang="en-US" sz="4800" dirty="0"/>
              <a:t>シミュレーション</a:t>
            </a:r>
            <a:br>
              <a:rPr kumimoji="1" lang="en-US" altLang="ja-JP" sz="4800" dirty="0"/>
            </a:br>
            <a:r>
              <a:rPr kumimoji="1" lang="ja-JP" altLang="en-US" sz="4800" dirty="0"/>
              <a:t>コマンド</a:t>
            </a:r>
            <a:r>
              <a:rPr lang="en-US" altLang="ja-JP" sz="4800" dirty="0"/>
              <a:t>2</a:t>
            </a:r>
            <a:r>
              <a:rPr kumimoji="1" lang="en-US" altLang="ja-JP" sz="4800" dirty="0"/>
              <a:t>/2</a:t>
            </a:r>
            <a:endParaRPr kumimoji="1" lang="ja-JP" altLang="en-US" sz="4800" dirty="0"/>
          </a:p>
        </p:txBody>
      </p:sp>
      <p:sp>
        <p:nvSpPr>
          <p:cNvPr id="3" name="コンテンツ プレースホルダー 2">
            <a:extLst>
              <a:ext uri="{FF2B5EF4-FFF2-40B4-BE49-F238E27FC236}">
                <a16:creationId xmlns:a16="http://schemas.microsoft.com/office/drawing/2014/main" id="{92FBD0C7-4E62-946F-39D4-35D76D04E7EC}"/>
              </a:ext>
            </a:extLst>
          </p:cNvPr>
          <p:cNvSpPr>
            <a:spLocks noGrp="1"/>
          </p:cNvSpPr>
          <p:nvPr>
            <p:ph idx="1"/>
          </p:nvPr>
        </p:nvSpPr>
        <p:spPr>
          <a:xfrm>
            <a:off x="1045029" y="3017521"/>
            <a:ext cx="5050972" cy="3275977"/>
          </a:xfrm>
        </p:spPr>
        <p:txBody>
          <a:bodyPr anchor="ctr">
            <a:normAutofit lnSpcReduction="10000"/>
          </a:bodyPr>
          <a:lstStyle/>
          <a:p>
            <a:r>
              <a:rPr lang="en-US" altLang="ja-JP" sz="2400" dirty="0" err="1"/>
              <a:t>meas</a:t>
            </a:r>
            <a:r>
              <a:rPr lang="ja-JP" altLang="en-US" sz="2400" dirty="0"/>
              <a:t>行</a:t>
            </a:r>
            <a:endParaRPr lang="en-US" altLang="ja-JP" sz="2400" dirty="0"/>
          </a:p>
          <a:p>
            <a:pPr lvl="1"/>
            <a:r>
              <a:rPr lang="en-US" altLang="ja-JP" sz="2000" dirty="0"/>
              <a:t>EOC</a:t>
            </a:r>
            <a:r>
              <a:rPr lang="ja-JP" altLang="en-US" sz="2000" dirty="0"/>
              <a:t>に変化があったら、その時の各ポートの電圧を変数に保存する</a:t>
            </a:r>
            <a:endParaRPr lang="en-US" altLang="ja-JP" sz="2000" dirty="0"/>
          </a:p>
          <a:p>
            <a:r>
              <a:rPr lang="en-US" altLang="ja-JP" sz="2400" dirty="0"/>
              <a:t>print</a:t>
            </a:r>
            <a:r>
              <a:rPr lang="ja-JP" altLang="en-US" sz="2400" dirty="0"/>
              <a:t>行</a:t>
            </a:r>
            <a:endParaRPr lang="en-US" altLang="ja-JP" sz="2400" dirty="0"/>
          </a:p>
          <a:p>
            <a:pPr lvl="1"/>
            <a:r>
              <a:rPr lang="ja-JP" altLang="en-US" sz="2000" dirty="0"/>
              <a:t>上記の電圧をファイルに保存する</a:t>
            </a:r>
            <a:endParaRPr lang="en-US" altLang="ja-JP" sz="2000" dirty="0"/>
          </a:p>
          <a:p>
            <a:r>
              <a:rPr lang="en-US" altLang="ja-JP" sz="2400" dirty="0"/>
              <a:t>while</a:t>
            </a:r>
            <a:r>
              <a:rPr lang="ja-JP" altLang="en-US" sz="2400" dirty="0"/>
              <a:t>行</a:t>
            </a:r>
            <a:endParaRPr lang="en-US" altLang="ja-JP" sz="2400" dirty="0"/>
          </a:p>
          <a:p>
            <a:pPr lvl="1"/>
            <a:r>
              <a:rPr lang="en-US" altLang="ja-JP" sz="2000" dirty="0" err="1"/>
              <a:t>vin_act</a:t>
            </a:r>
            <a:r>
              <a:rPr lang="ja-JP" altLang="en-US" sz="2000" dirty="0"/>
              <a:t>が</a:t>
            </a:r>
            <a:r>
              <a:rPr lang="en-US" altLang="ja-JP" sz="2000" dirty="0" err="1"/>
              <a:t>stop_vin</a:t>
            </a:r>
            <a:r>
              <a:rPr lang="ja-JP" altLang="en-US" sz="2000" dirty="0"/>
              <a:t>まで繰り返す</a:t>
            </a:r>
            <a:endParaRPr lang="en-US" altLang="ja-JP" sz="2000" dirty="0"/>
          </a:p>
          <a:p>
            <a:pPr lvl="1"/>
            <a:r>
              <a:rPr lang="ja-JP" altLang="en-US" sz="2000" dirty="0"/>
              <a:t>一回ごとに</a:t>
            </a:r>
            <a:r>
              <a:rPr lang="en-US" altLang="ja-JP" sz="2000" dirty="0" err="1"/>
              <a:t>vin_act</a:t>
            </a:r>
            <a:r>
              <a:rPr lang="ja-JP" altLang="en-US" sz="2000" dirty="0"/>
              <a:t>に</a:t>
            </a:r>
            <a:r>
              <a:rPr lang="en-US" altLang="ja-JP" sz="2000" dirty="0"/>
              <a:t>LBS</a:t>
            </a:r>
            <a:r>
              <a:rPr lang="ja-JP" altLang="en-US" sz="2000" dirty="0"/>
              <a:t>電圧を足す</a:t>
            </a:r>
            <a:endParaRPr lang="en-US" altLang="ja-JP" sz="2000" dirty="0"/>
          </a:p>
          <a:p>
            <a:pPr lvl="1"/>
            <a:r>
              <a:rPr lang="en-US" altLang="ja-JP" sz="2000" dirty="0" err="1"/>
              <a:t>vin_act</a:t>
            </a:r>
            <a:r>
              <a:rPr lang="ja-JP" altLang="en-US" sz="2000" dirty="0"/>
              <a:t>を</a:t>
            </a:r>
            <a:r>
              <a:rPr lang="en-US" altLang="ja-JP" sz="2000" dirty="0"/>
              <a:t>vin</a:t>
            </a:r>
            <a:r>
              <a:rPr lang="ja-JP" altLang="en-US" sz="2000" dirty="0"/>
              <a:t>に設定する</a:t>
            </a:r>
            <a:r>
              <a:rPr lang="en-US" altLang="ja-JP" sz="2000" dirty="0"/>
              <a:t> </a:t>
            </a:r>
            <a:endParaRPr lang="en-US" altLang="ja-JP" sz="2400" dirty="0"/>
          </a:p>
        </p:txBody>
      </p:sp>
      <p:cxnSp>
        <p:nvCxnSpPr>
          <p:cNvPr id="40" name="Straight Connector 39">
            <a:extLst>
              <a:ext uri="{FF2B5EF4-FFF2-40B4-BE49-F238E27FC236}">
                <a16:creationId xmlns:a16="http://schemas.microsoft.com/office/drawing/2014/main" id="{D8784A3F-9B06-6C1F-13DB-9DB5155AF9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D25E961D-C3BD-BDC7-D35A-1BFDD15A622A}"/>
              </a:ext>
            </a:extLst>
          </p:cNvPr>
          <p:cNvSpPr txBox="1"/>
          <p:nvPr/>
        </p:nvSpPr>
        <p:spPr>
          <a:xfrm>
            <a:off x="6192829" y="420166"/>
            <a:ext cx="5999171" cy="6017032"/>
          </a:xfrm>
          <a:prstGeom prst="rect">
            <a:avLst/>
          </a:prstGeom>
          <a:solidFill>
            <a:schemeClr val="tx1"/>
          </a:solidFill>
        </p:spPr>
        <p:txBody>
          <a:bodyPr wrap="square" rtlCol="0">
            <a:spAutoFit/>
          </a:bodyPr>
          <a:lstStyle/>
          <a:p>
            <a:r>
              <a:rPr lang="en-US" altLang="ja-JP" sz="1100" dirty="0">
                <a:solidFill>
                  <a:schemeClr val="bg1"/>
                </a:solidFill>
              </a:rPr>
              <a:t>.include ~/</a:t>
            </a:r>
            <a:r>
              <a:rPr lang="en-US" altLang="ja-JP" sz="1100" dirty="0" err="1">
                <a:solidFill>
                  <a:schemeClr val="bg1"/>
                </a:solidFill>
              </a:rPr>
              <a:t>sar-adc</a:t>
            </a:r>
            <a:r>
              <a:rPr lang="en-US" altLang="ja-JP" sz="1100" dirty="0">
                <a:solidFill>
                  <a:schemeClr val="bg1"/>
                </a:solidFill>
              </a:rPr>
              <a:t>/</a:t>
            </a:r>
            <a:r>
              <a:rPr lang="en-US" altLang="ja-JP" sz="1100" dirty="0" err="1">
                <a:solidFill>
                  <a:schemeClr val="bg1"/>
                </a:solidFill>
              </a:rPr>
              <a:t>SAR_LOGIC.spice</a:t>
            </a:r>
            <a:endParaRPr lang="en-US" altLang="ja-JP" sz="1100" dirty="0">
              <a:solidFill>
                <a:schemeClr val="bg1"/>
              </a:solidFill>
            </a:endParaRPr>
          </a:p>
          <a:p>
            <a:r>
              <a:rPr lang="en-US" altLang="ja-JP" sz="1100" dirty="0">
                <a:solidFill>
                  <a:schemeClr val="bg1"/>
                </a:solidFill>
              </a:rPr>
              <a:t>.temp 27</a:t>
            </a:r>
          </a:p>
          <a:p>
            <a:r>
              <a:rPr lang="en-US" altLang="ja-JP" sz="1100" dirty="0">
                <a:solidFill>
                  <a:schemeClr val="bg1"/>
                </a:solidFill>
              </a:rPr>
              <a:t>.option </a:t>
            </a:r>
            <a:r>
              <a:rPr lang="en-US" altLang="ja-JP" sz="1100" dirty="0" err="1">
                <a:solidFill>
                  <a:schemeClr val="bg1"/>
                </a:solidFill>
              </a:rPr>
              <a:t>savecurrent</a:t>
            </a:r>
            <a:endParaRPr lang="en-US" altLang="ja-JP" sz="1100" dirty="0">
              <a:solidFill>
                <a:schemeClr val="bg1"/>
              </a:solidFill>
            </a:endParaRPr>
          </a:p>
          <a:p>
            <a:r>
              <a:rPr lang="en-US" altLang="ja-JP" sz="1100" dirty="0">
                <a:solidFill>
                  <a:schemeClr val="bg1"/>
                </a:solidFill>
              </a:rPr>
              <a:t>.control</a:t>
            </a:r>
          </a:p>
          <a:p>
            <a:r>
              <a:rPr lang="en-US" altLang="ja-JP" sz="1100" dirty="0">
                <a:solidFill>
                  <a:schemeClr val="bg1"/>
                </a:solidFill>
              </a:rPr>
              <a:t>save all</a:t>
            </a:r>
          </a:p>
          <a:p>
            <a:r>
              <a:rPr lang="en-US" altLang="ja-JP" sz="1100" dirty="0">
                <a:solidFill>
                  <a:schemeClr val="bg1"/>
                </a:solidFill>
              </a:rPr>
              <a:t>alter VREF 5.0</a:t>
            </a:r>
          </a:p>
          <a:p>
            <a:endParaRPr lang="en-US" altLang="ja-JP" sz="1100" dirty="0">
              <a:solidFill>
                <a:schemeClr val="bg1"/>
              </a:solidFill>
            </a:endParaRPr>
          </a:p>
          <a:p>
            <a:r>
              <a:rPr lang="en-US" altLang="ja-JP" sz="1100" dirty="0">
                <a:solidFill>
                  <a:schemeClr val="bg1"/>
                </a:solidFill>
              </a:rPr>
              <a:t>let </a:t>
            </a:r>
            <a:r>
              <a:rPr lang="en-US" altLang="ja-JP" sz="1100" dirty="0" err="1">
                <a:solidFill>
                  <a:schemeClr val="bg1"/>
                </a:solidFill>
              </a:rPr>
              <a:t>start_vin</a:t>
            </a:r>
            <a:r>
              <a:rPr lang="en-US" altLang="ja-JP" sz="1100" dirty="0">
                <a:solidFill>
                  <a:schemeClr val="bg1"/>
                </a:solidFill>
              </a:rPr>
              <a:t> = 0.078125 / 2</a:t>
            </a:r>
          </a:p>
          <a:p>
            <a:r>
              <a:rPr lang="en-US" altLang="ja-JP" sz="1100" dirty="0">
                <a:solidFill>
                  <a:schemeClr val="bg1"/>
                </a:solidFill>
              </a:rPr>
              <a:t>let </a:t>
            </a:r>
            <a:r>
              <a:rPr lang="en-US" altLang="ja-JP" sz="1100" dirty="0" err="1">
                <a:solidFill>
                  <a:schemeClr val="bg1"/>
                </a:solidFill>
              </a:rPr>
              <a:t>stop_vin</a:t>
            </a:r>
            <a:r>
              <a:rPr lang="en-US" altLang="ja-JP" sz="1100" dirty="0">
                <a:solidFill>
                  <a:schemeClr val="bg1"/>
                </a:solidFill>
              </a:rPr>
              <a:t> = 5.0</a:t>
            </a:r>
          </a:p>
          <a:p>
            <a:r>
              <a:rPr lang="en-US" altLang="ja-JP" sz="1100" dirty="0">
                <a:solidFill>
                  <a:schemeClr val="bg1"/>
                </a:solidFill>
              </a:rPr>
              <a:t>let </a:t>
            </a:r>
            <a:r>
              <a:rPr lang="en-US" altLang="ja-JP" sz="1100" dirty="0" err="1">
                <a:solidFill>
                  <a:schemeClr val="bg1"/>
                </a:solidFill>
              </a:rPr>
              <a:t>delta_vin</a:t>
            </a:r>
            <a:r>
              <a:rPr lang="en-US" altLang="ja-JP" sz="1100" dirty="0">
                <a:solidFill>
                  <a:schemeClr val="bg1"/>
                </a:solidFill>
              </a:rPr>
              <a:t> = 0.078125</a:t>
            </a:r>
          </a:p>
          <a:p>
            <a:r>
              <a:rPr lang="en-US" altLang="ja-JP" sz="1100" dirty="0">
                <a:solidFill>
                  <a:schemeClr val="bg1"/>
                </a:solidFill>
              </a:rPr>
              <a:t>let </a:t>
            </a:r>
            <a:r>
              <a:rPr lang="en-US" altLang="ja-JP" sz="1100" dirty="0" err="1">
                <a:solidFill>
                  <a:schemeClr val="bg1"/>
                </a:solidFill>
              </a:rPr>
              <a:t>vin_act</a:t>
            </a:r>
            <a:r>
              <a:rPr lang="en-US" altLang="ja-JP" sz="1100" dirty="0">
                <a:solidFill>
                  <a:schemeClr val="bg1"/>
                </a:solidFill>
              </a:rPr>
              <a:t> = </a:t>
            </a:r>
            <a:r>
              <a:rPr lang="en-US" altLang="ja-JP" sz="1100" dirty="0" err="1">
                <a:solidFill>
                  <a:schemeClr val="bg1"/>
                </a:solidFill>
              </a:rPr>
              <a:t>start_vin</a:t>
            </a:r>
            <a:endParaRPr lang="en-US" altLang="ja-JP" sz="1100" dirty="0">
              <a:solidFill>
                <a:schemeClr val="bg1"/>
              </a:solidFill>
            </a:endParaRPr>
          </a:p>
          <a:p>
            <a:r>
              <a:rPr lang="en-US" altLang="ja-JP" sz="1100" dirty="0">
                <a:solidFill>
                  <a:schemeClr val="bg1"/>
                </a:solidFill>
              </a:rPr>
              <a:t>alter Vin </a:t>
            </a:r>
            <a:r>
              <a:rPr lang="en-US" altLang="ja-JP" sz="1100" dirty="0" err="1">
                <a:solidFill>
                  <a:schemeClr val="bg1"/>
                </a:solidFill>
              </a:rPr>
              <a:t>vin_act</a:t>
            </a:r>
            <a:endParaRPr lang="en-US" altLang="ja-JP" sz="1100" dirty="0">
              <a:solidFill>
                <a:schemeClr val="bg1"/>
              </a:solidFill>
            </a:endParaRPr>
          </a:p>
          <a:p>
            <a:endParaRPr lang="en-US" altLang="ja-JP" sz="1100" dirty="0">
              <a:solidFill>
                <a:schemeClr val="bg1"/>
              </a:solidFill>
            </a:endParaRPr>
          </a:p>
          <a:p>
            <a:r>
              <a:rPr lang="en-US" altLang="ja-JP" sz="1100" dirty="0">
                <a:solidFill>
                  <a:schemeClr val="bg1"/>
                </a:solidFill>
              </a:rPr>
              <a:t>while </a:t>
            </a:r>
            <a:r>
              <a:rPr lang="en-US" altLang="ja-JP" sz="1100" dirty="0" err="1">
                <a:solidFill>
                  <a:schemeClr val="bg1"/>
                </a:solidFill>
              </a:rPr>
              <a:t>vin_act</a:t>
            </a:r>
            <a:r>
              <a:rPr lang="en-US" altLang="ja-JP" sz="1100" dirty="0">
                <a:solidFill>
                  <a:schemeClr val="bg1"/>
                </a:solidFill>
              </a:rPr>
              <a:t> le </a:t>
            </a:r>
            <a:r>
              <a:rPr lang="en-US" altLang="ja-JP" sz="1100" dirty="0" err="1">
                <a:solidFill>
                  <a:schemeClr val="bg1"/>
                </a:solidFill>
              </a:rPr>
              <a:t>stop_vin</a:t>
            </a:r>
            <a:endParaRPr lang="en-US" altLang="ja-JP" sz="1100" dirty="0">
              <a:solidFill>
                <a:schemeClr val="bg1"/>
              </a:solidFill>
            </a:endParaRPr>
          </a:p>
          <a:p>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100n 1u</a:t>
            </a:r>
          </a:p>
          <a:p>
            <a:r>
              <a:rPr lang="en-US" altLang="ja-JP" sz="1100" dirty="0">
                <a:solidFill>
                  <a:schemeClr val="bg1"/>
                </a:solidFill>
              </a:rPr>
              <a:t>	write </a:t>
            </a:r>
            <a:r>
              <a:rPr lang="en-US" altLang="ja-JP" sz="1100" dirty="0" err="1">
                <a:solidFill>
                  <a:schemeClr val="bg1"/>
                </a:solidFill>
              </a:rPr>
              <a:t>tran_sar_adc.raw</a:t>
            </a:r>
            <a:endParaRPr lang="en-US" altLang="ja-JP" sz="1100" dirty="0">
              <a:solidFill>
                <a:schemeClr val="bg1"/>
              </a:solidFill>
            </a:endParaRP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vin FIND v(VIN)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vout5 FIND v(DIGITAL_OUT[5])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vout4 FIND v(DIGITAL_OUT[4])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vout3 FIND v(DIGITAL_OUT[3])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vout2 FIND v(DIGITAL_OUT[2])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vout1 FIND v(DIGITAL_OUT[1]) WHEN v(EOC)=0.9 FALL=LAST</a:t>
            </a:r>
          </a:p>
          <a:p>
            <a:r>
              <a:rPr lang="en-US" altLang="ja-JP" sz="1100" dirty="0">
                <a:solidFill>
                  <a:schemeClr val="bg1"/>
                </a:solidFill>
              </a:rPr>
              <a:t>	</a:t>
            </a:r>
            <a:r>
              <a:rPr lang="en-US" altLang="ja-JP" sz="1100" dirty="0" err="1">
                <a:solidFill>
                  <a:schemeClr val="bg1"/>
                </a:solidFill>
              </a:rPr>
              <a:t>meas</a:t>
            </a:r>
            <a:r>
              <a:rPr lang="en-US" altLang="ja-JP" sz="1100" dirty="0">
                <a:solidFill>
                  <a:schemeClr val="bg1"/>
                </a:solidFill>
              </a:rPr>
              <a:t> </a:t>
            </a:r>
            <a:r>
              <a:rPr lang="en-US" altLang="ja-JP" sz="1100" dirty="0" err="1">
                <a:solidFill>
                  <a:schemeClr val="bg1"/>
                </a:solidFill>
              </a:rPr>
              <a:t>tran</a:t>
            </a:r>
            <a:r>
              <a:rPr lang="en-US" altLang="ja-JP" sz="1100" dirty="0">
                <a:solidFill>
                  <a:schemeClr val="bg1"/>
                </a:solidFill>
              </a:rPr>
              <a:t> vout0 FIND v(DIGITAL_OUT[0]) WHEN v(EOC)=0.9 FALL=LAST</a:t>
            </a:r>
          </a:p>
          <a:p>
            <a:r>
              <a:rPr lang="en-US" altLang="ja-JP" sz="1100" dirty="0">
                <a:solidFill>
                  <a:schemeClr val="bg1"/>
                </a:solidFill>
              </a:rPr>
              <a:t>	print vin &gt;&gt; tran_sar_adc_out_typ.txt</a:t>
            </a:r>
          </a:p>
          <a:p>
            <a:r>
              <a:rPr lang="en-US" altLang="ja-JP" sz="1100" dirty="0">
                <a:solidFill>
                  <a:schemeClr val="bg1"/>
                </a:solidFill>
              </a:rPr>
              <a:t>	print vout5 &gt;&gt; tran_sar_adc_out_typ.txt</a:t>
            </a:r>
          </a:p>
          <a:p>
            <a:r>
              <a:rPr lang="en-US" altLang="ja-JP" sz="1100" dirty="0">
                <a:solidFill>
                  <a:schemeClr val="bg1"/>
                </a:solidFill>
              </a:rPr>
              <a:t>	print vout4 &gt;&gt; tran_sar_adc_out_typ.txt</a:t>
            </a:r>
          </a:p>
          <a:p>
            <a:r>
              <a:rPr lang="en-US" altLang="ja-JP" sz="1100" dirty="0">
                <a:solidFill>
                  <a:schemeClr val="bg1"/>
                </a:solidFill>
              </a:rPr>
              <a:t>	print vout3 &gt;&gt; tran_sar_adc_out_typ.txt</a:t>
            </a:r>
          </a:p>
          <a:p>
            <a:r>
              <a:rPr lang="en-US" altLang="ja-JP" sz="1100" dirty="0">
                <a:solidFill>
                  <a:schemeClr val="bg1"/>
                </a:solidFill>
              </a:rPr>
              <a:t>	print vout2 &gt;&gt; tran_sar_adc_out_typ.txt</a:t>
            </a:r>
          </a:p>
          <a:p>
            <a:r>
              <a:rPr lang="en-US" altLang="ja-JP" sz="1100" dirty="0">
                <a:solidFill>
                  <a:schemeClr val="bg1"/>
                </a:solidFill>
              </a:rPr>
              <a:t>	print vout1 &gt;&gt; tran_sar_adc_out_typ.txt</a:t>
            </a:r>
          </a:p>
          <a:p>
            <a:r>
              <a:rPr lang="en-US" altLang="ja-JP" sz="1100" dirty="0">
                <a:solidFill>
                  <a:schemeClr val="bg1"/>
                </a:solidFill>
              </a:rPr>
              <a:t>	print vout0 &gt;&gt; tran_sar_adc_out_typ.txt</a:t>
            </a:r>
          </a:p>
          <a:p>
            <a:r>
              <a:rPr lang="en-US" altLang="ja-JP" sz="1100" dirty="0">
                <a:solidFill>
                  <a:schemeClr val="bg1"/>
                </a:solidFill>
              </a:rPr>
              <a:t>	let </a:t>
            </a:r>
            <a:r>
              <a:rPr lang="en-US" altLang="ja-JP" sz="1100" dirty="0" err="1">
                <a:solidFill>
                  <a:schemeClr val="bg1"/>
                </a:solidFill>
              </a:rPr>
              <a:t>vin_act</a:t>
            </a:r>
            <a:r>
              <a:rPr lang="en-US" altLang="ja-JP" sz="1100" dirty="0">
                <a:solidFill>
                  <a:schemeClr val="bg1"/>
                </a:solidFill>
              </a:rPr>
              <a:t> = </a:t>
            </a:r>
            <a:r>
              <a:rPr lang="en-US" altLang="ja-JP" sz="1100" dirty="0" err="1">
                <a:solidFill>
                  <a:schemeClr val="bg1"/>
                </a:solidFill>
              </a:rPr>
              <a:t>vin_act</a:t>
            </a:r>
            <a:r>
              <a:rPr lang="en-US" altLang="ja-JP" sz="1100" dirty="0">
                <a:solidFill>
                  <a:schemeClr val="bg1"/>
                </a:solidFill>
              </a:rPr>
              <a:t> + </a:t>
            </a:r>
            <a:r>
              <a:rPr lang="en-US" altLang="ja-JP" sz="1100" dirty="0" err="1">
                <a:solidFill>
                  <a:schemeClr val="bg1"/>
                </a:solidFill>
              </a:rPr>
              <a:t>delta_vin</a:t>
            </a:r>
            <a:endParaRPr lang="en-US" altLang="ja-JP" sz="1100" dirty="0">
              <a:solidFill>
                <a:schemeClr val="bg1"/>
              </a:solidFill>
            </a:endParaRPr>
          </a:p>
          <a:p>
            <a:r>
              <a:rPr lang="en-US" altLang="ja-JP" sz="1100" dirty="0">
                <a:solidFill>
                  <a:schemeClr val="bg1"/>
                </a:solidFill>
              </a:rPr>
              <a:t>	alter Vin </a:t>
            </a:r>
            <a:r>
              <a:rPr lang="en-US" altLang="ja-JP" sz="1100" dirty="0" err="1">
                <a:solidFill>
                  <a:schemeClr val="bg1"/>
                </a:solidFill>
              </a:rPr>
              <a:t>vin_act</a:t>
            </a:r>
            <a:endParaRPr lang="en-US" altLang="ja-JP" sz="1100" dirty="0">
              <a:solidFill>
                <a:schemeClr val="bg1"/>
              </a:solidFill>
            </a:endParaRPr>
          </a:p>
          <a:p>
            <a:r>
              <a:rPr lang="en-US" altLang="ja-JP" sz="1100" dirty="0">
                <a:solidFill>
                  <a:schemeClr val="bg1"/>
                </a:solidFill>
              </a:rPr>
              <a:t>end</a:t>
            </a:r>
          </a:p>
          <a:p>
            <a:endParaRPr lang="en-US" altLang="ja-JP" sz="1100" dirty="0">
              <a:solidFill>
                <a:schemeClr val="bg1"/>
              </a:solidFill>
            </a:endParaRPr>
          </a:p>
          <a:p>
            <a:r>
              <a:rPr lang="en-US" altLang="ja-JP" sz="1100" dirty="0">
                <a:solidFill>
                  <a:schemeClr val="bg1"/>
                </a:solidFill>
              </a:rPr>
              <a:t>.</a:t>
            </a:r>
            <a:r>
              <a:rPr lang="en-US" altLang="ja-JP" sz="1100" dirty="0" err="1">
                <a:solidFill>
                  <a:schemeClr val="bg1"/>
                </a:solidFill>
              </a:rPr>
              <a:t>endc</a:t>
            </a:r>
            <a:endParaRPr lang="en-US" altLang="ja-JP" sz="1100" dirty="0">
              <a:solidFill>
                <a:schemeClr val="bg1"/>
              </a:solidFill>
            </a:endParaRPr>
          </a:p>
        </p:txBody>
      </p:sp>
    </p:spTree>
    <p:extLst>
      <p:ext uri="{BB962C8B-B14F-4D97-AF65-F5344CB8AC3E}">
        <p14:creationId xmlns:p14="http://schemas.microsoft.com/office/powerpoint/2010/main" val="38473502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2A10531-08BB-D821-2CF9-2BC2DBC30468}"/>
              </a:ext>
            </a:extLst>
          </p:cNvPr>
          <p:cNvSpPr>
            <a:spLocks noGrp="1"/>
          </p:cNvSpPr>
          <p:nvPr>
            <p:ph type="title"/>
          </p:nvPr>
        </p:nvSpPr>
        <p:spPr>
          <a:xfrm>
            <a:off x="793662" y="386930"/>
            <a:ext cx="10066122" cy="1298448"/>
          </a:xfrm>
        </p:spPr>
        <p:txBody>
          <a:bodyPr anchor="b">
            <a:normAutofit/>
          </a:bodyPr>
          <a:lstStyle/>
          <a:p>
            <a:r>
              <a:rPr kumimoji="1" lang="ja-JP" altLang="en-US" sz="4800"/>
              <a:t>結果の表示</a:t>
            </a:r>
          </a:p>
        </p:txBody>
      </p:sp>
      <p:sp>
        <p:nvSpPr>
          <p:cNvPr id="1033" name="Rectangle 103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83D2947-3401-35D4-1899-EA7D308B5D49}"/>
              </a:ext>
            </a:extLst>
          </p:cNvPr>
          <p:cNvSpPr>
            <a:spLocks noGrp="1"/>
          </p:cNvSpPr>
          <p:nvPr>
            <p:ph idx="1"/>
          </p:nvPr>
        </p:nvSpPr>
        <p:spPr>
          <a:xfrm>
            <a:off x="793660" y="2599509"/>
            <a:ext cx="4958535" cy="3639450"/>
          </a:xfrm>
        </p:spPr>
        <p:txBody>
          <a:bodyPr anchor="ctr">
            <a:normAutofit/>
          </a:bodyPr>
          <a:lstStyle/>
          <a:p>
            <a:r>
              <a:rPr kumimoji="1" lang="ja-JP" altLang="en-US" sz="1900" dirty="0"/>
              <a:t>結果表示スクリプト</a:t>
            </a:r>
            <a:endParaRPr kumimoji="1" lang="en-US" altLang="ja-JP" sz="1900" dirty="0"/>
          </a:p>
          <a:p>
            <a:pPr lvl="1"/>
            <a:r>
              <a:rPr lang="en-US" altLang="ja-JP" sz="1900" dirty="0"/>
              <a:t>tran_sar_adc_result_checker.py</a:t>
            </a:r>
          </a:p>
          <a:p>
            <a:pPr lvl="2"/>
            <a:r>
              <a:rPr kumimoji="1" lang="ja-JP" altLang="en-US" sz="1900" dirty="0"/>
              <a:t>シミュレーションにより作成された「</a:t>
            </a:r>
            <a:r>
              <a:rPr lang="en-US" altLang="ja-JP" sz="1900" dirty="0"/>
              <a:t>tran_sar_adc_out_typ.txt</a:t>
            </a:r>
            <a:r>
              <a:rPr kumimoji="1" lang="ja-JP" altLang="en-US" sz="1900" dirty="0"/>
              <a:t>」から「</a:t>
            </a:r>
            <a:r>
              <a:rPr lang="en-US" altLang="ja-JP" sz="1900" dirty="0"/>
              <a:t>tran_sar_adc_vin_vout_result.png</a:t>
            </a:r>
            <a:r>
              <a:rPr lang="ja-JP" altLang="en-US" sz="1900" dirty="0"/>
              <a:t>」のグラフを作成する</a:t>
            </a:r>
            <a:endParaRPr lang="en-US" altLang="ja-JP" sz="1900" dirty="0"/>
          </a:p>
          <a:p>
            <a:pPr lvl="3"/>
            <a:r>
              <a:rPr lang="ja-JP" altLang="en-US" sz="1900" dirty="0"/>
              <a:t>「</a:t>
            </a:r>
            <a:r>
              <a:rPr lang="en-US" altLang="ja-JP" sz="1900" dirty="0"/>
              <a:t>tran_sar_adc_out_typ.txt</a:t>
            </a:r>
            <a:r>
              <a:rPr lang="ja-JP" altLang="en-US" sz="1900" dirty="0"/>
              <a:t>」は「上書き」ではなく「追記」となる点に注意</a:t>
            </a:r>
            <a:endParaRPr kumimoji="1" lang="ja-JP" altLang="en-US" sz="1900" dirty="0"/>
          </a:p>
        </p:txBody>
      </p:sp>
      <p:pic>
        <p:nvPicPr>
          <p:cNvPr id="1026" name="Picture 2">
            <a:extLst>
              <a:ext uri="{FF2B5EF4-FFF2-40B4-BE49-F238E27FC236}">
                <a16:creationId xmlns:a16="http://schemas.microsoft.com/office/drawing/2014/main" id="{E65E73D2-1118-CEF3-521F-8C002C664E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3846"/>
          <a:stretch>
            <a:fillRect/>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088464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F8642E6-102A-C2BB-0610-8D4E8A407DAD}"/>
              </a:ext>
            </a:extLst>
          </p:cNvPr>
          <p:cNvSpPr>
            <a:spLocks noGrp="1"/>
          </p:cNvSpPr>
          <p:nvPr>
            <p:ph type="title"/>
          </p:nvPr>
        </p:nvSpPr>
        <p:spPr>
          <a:xfrm>
            <a:off x="1285240" y="1050595"/>
            <a:ext cx="8074815" cy="1618489"/>
          </a:xfrm>
        </p:spPr>
        <p:txBody>
          <a:bodyPr anchor="ctr">
            <a:normAutofit/>
          </a:bodyPr>
          <a:lstStyle/>
          <a:p>
            <a:r>
              <a:rPr kumimoji="1" lang="ja-JP" altLang="en-US" sz="6700"/>
              <a:t>並列実行スクリプト</a:t>
            </a:r>
          </a:p>
        </p:txBody>
      </p:sp>
      <p:sp>
        <p:nvSpPr>
          <p:cNvPr id="3" name="コンテンツ プレースホルダー 2">
            <a:extLst>
              <a:ext uri="{FF2B5EF4-FFF2-40B4-BE49-F238E27FC236}">
                <a16:creationId xmlns:a16="http://schemas.microsoft.com/office/drawing/2014/main" id="{D0226C22-4831-FE0E-0AEA-DFAFFBC2A080}"/>
              </a:ext>
            </a:extLst>
          </p:cNvPr>
          <p:cNvSpPr>
            <a:spLocks noGrp="1"/>
          </p:cNvSpPr>
          <p:nvPr>
            <p:ph idx="1"/>
          </p:nvPr>
        </p:nvSpPr>
        <p:spPr>
          <a:xfrm>
            <a:off x="1285240" y="2969469"/>
            <a:ext cx="8074815" cy="2800395"/>
          </a:xfrm>
        </p:spPr>
        <p:txBody>
          <a:bodyPr anchor="t">
            <a:normAutofit/>
          </a:bodyPr>
          <a:lstStyle/>
          <a:p>
            <a:r>
              <a:rPr kumimoji="1" lang="ja-JP" altLang="en-US" sz="1300" dirty="0"/>
              <a:t>このシミュレーションは、</a:t>
            </a:r>
            <a:r>
              <a:rPr kumimoji="1" lang="en-US" altLang="ja-JP" sz="1300" dirty="0"/>
              <a:t>6bit(64)</a:t>
            </a:r>
            <a:r>
              <a:rPr kumimoji="1" lang="ja-JP" altLang="en-US" sz="1300" dirty="0"/>
              <a:t>分実行されます。</a:t>
            </a:r>
            <a:r>
              <a:rPr lang="ja-JP" altLang="en-US" sz="1300" dirty="0"/>
              <a:t>並列で実行したい場合はこちらをお使いください。</a:t>
            </a:r>
            <a:endParaRPr lang="en-US" altLang="ja-JP" sz="1300" dirty="0"/>
          </a:p>
          <a:p>
            <a:r>
              <a:rPr lang="ja-JP" altLang="en-US" sz="1300" dirty="0"/>
              <a:t>ファイル群</a:t>
            </a:r>
            <a:endParaRPr lang="en-US" altLang="ja-JP" sz="1300" dirty="0"/>
          </a:p>
          <a:p>
            <a:pPr lvl="1"/>
            <a:r>
              <a:rPr lang="en-US" altLang="ja-JP" sz="1300" dirty="0"/>
              <a:t>tran_sar_adc_1loop_sp.sch</a:t>
            </a:r>
          </a:p>
          <a:p>
            <a:pPr lvl="2"/>
            <a:r>
              <a:rPr lang="ja-JP" altLang="en-US" sz="1300" dirty="0"/>
              <a:t>ベースとなるシミュレーションファイルです。</a:t>
            </a:r>
            <a:endParaRPr lang="en-US" altLang="ja-JP" sz="1300" dirty="0"/>
          </a:p>
          <a:p>
            <a:pPr lvl="3"/>
            <a:r>
              <a:rPr lang="en-US" altLang="ja-JP" sz="1300" dirty="0" err="1"/>
              <a:t>ngspice</a:t>
            </a:r>
            <a:r>
              <a:rPr lang="ja-JP" altLang="en-US" sz="1300" dirty="0"/>
              <a:t>コマンドは変更しないでください</a:t>
            </a:r>
            <a:endParaRPr lang="en-US" altLang="ja-JP" sz="1300" dirty="0"/>
          </a:p>
          <a:p>
            <a:pPr lvl="1"/>
            <a:r>
              <a:rPr lang="en-US" altLang="ja-JP" sz="1300" dirty="0"/>
              <a:t>tran_sar_adc_1loop_sp_create_spice.py</a:t>
            </a:r>
          </a:p>
          <a:p>
            <a:pPr lvl="2"/>
            <a:r>
              <a:rPr lang="ja-JP" altLang="en-US" sz="1300" dirty="0"/>
              <a:t>上記で生成された</a:t>
            </a:r>
            <a:r>
              <a:rPr lang="en-US" altLang="ja-JP" sz="1300" dirty="0"/>
              <a:t>spice</a:t>
            </a:r>
            <a:r>
              <a:rPr lang="ja-JP" altLang="en-US" sz="1300" dirty="0"/>
              <a:t>を</a:t>
            </a:r>
            <a:r>
              <a:rPr lang="en-US" altLang="ja-JP" sz="1300" dirty="0"/>
              <a:t>6bit</a:t>
            </a:r>
            <a:r>
              <a:rPr lang="ja-JP" altLang="en-US" sz="1300" dirty="0"/>
              <a:t>分の</a:t>
            </a:r>
            <a:r>
              <a:rPr lang="en-US" altLang="ja-JP" sz="1300" dirty="0"/>
              <a:t>spice</a:t>
            </a:r>
            <a:r>
              <a:rPr lang="ja-JP" altLang="en-US" sz="1300" dirty="0"/>
              <a:t>に変換します</a:t>
            </a:r>
            <a:endParaRPr lang="en-US" altLang="ja-JP" sz="1300" dirty="0"/>
          </a:p>
          <a:p>
            <a:pPr lvl="1"/>
            <a:r>
              <a:rPr lang="en-US" altLang="ja-JP" sz="1300" dirty="0"/>
              <a:t>tran_sar_adc_1loop_sp_sim.sh</a:t>
            </a:r>
          </a:p>
          <a:p>
            <a:pPr lvl="2"/>
            <a:r>
              <a:rPr lang="ja-JP" altLang="en-US" sz="1300" dirty="0"/>
              <a:t>上記の</a:t>
            </a:r>
            <a:r>
              <a:rPr lang="en-US" altLang="ja-JP" sz="1300" dirty="0"/>
              <a:t>spice</a:t>
            </a:r>
            <a:r>
              <a:rPr lang="ja-JP" altLang="en-US" sz="1300" dirty="0"/>
              <a:t>ファイルを</a:t>
            </a:r>
            <a:r>
              <a:rPr lang="en-US" altLang="ja-JP" sz="1300" dirty="0"/>
              <a:t>CPU</a:t>
            </a:r>
            <a:r>
              <a:rPr lang="ja-JP" altLang="en-US" sz="1300" dirty="0"/>
              <a:t>コアごとに並列実行します。</a:t>
            </a:r>
            <a:endParaRPr lang="en-US" altLang="ja-JP" sz="1300" dirty="0"/>
          </a:p>
          <a:p>
            <a:pPr lvl="1"/>
            <a:r>
              <a:rPr lang="en-US" altLang="ja-JP" sz="1300" dirty="0" err="1"/>
              <a:t>tran_sar_adc</a:t>
            </a:r>
            <a:r>
              <a:rPr lang="en-US" altLang="ja-JP" sz="1300" dirty="0"/>
              <a:t>_ 1loop_sp_result_checker.py</a:t>
            </a:r>
          </a:p>
          <a:p>
            <a:pPr lvl="2"/>
            <a:r>
              <a:rPr kumimoji="1" lang="ja-JP" altLang="en-US" sz="1300" dirty="0"/>
              <a:t>上記のシミュレーションで作成された結果ファイルから結果画像を作成します。</a:t>
            </a:r>
          </a:p>
        </p:txBody>
      </p:sp>
    </p:spTree>
    <p:extLst>
      <p:ext uri="{BB962C8B-B14F-4D97-AF65-F5344CB8AC3E}">
        <p14:creationId xmlns:p14="http://schemas.microsoft.com/office/powerpoint/2010/main" val="109910899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59E325B-4752-67A3-D2AE-379496B39043}"/>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C0B24DAE-BDBA-C87B-9E42-40ED6D8BCE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D4F0252-9AB6-A4C8-4AA8-CD3CBF1A86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475A95B0-D4CE-024B-44C8-87E16CF5CA0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96A675B2-5AE0-732E-40AF-F7F98A3DC6E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A9778F97-A80B-4C36-FF47-550EE8DB3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2ECBD22-6BEE-B952-896D-08B99513688C}"/>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en-US" altLang="ja-JP" sz="4000" kern="1200">
                <a:solidFill>
                  <a:schemeClr val="bg2"/>
                </a:solidFill>
                <a:latin typeface="+mj-lt"/>
                <a:ea typeface="+mj-ea"/>
                <a:cs typeface="+mj-cs"/>
              </a:rPr>
              <a:t>AI</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488736225"/>
      </p:ext>
    </p:extLst>
  </p:cSld>
  <p:clrMapOvr>
    <a:overrideClrMapping bg1="dk1" tx1="lt1" bg2="dk2" tx2="lt2" accent1="accent1" accent2="accent2" accent3="accent3" accent4="accent4" accent5="accent5" accent6="accent6" hlink="hlink" folHlink="folHlink"/>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76C78D-79AA-4609-5507-D226B716FE9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827C758-CD87-0FFD-E0B0-FD34B9ED905D}"/>
              </a:ext>
            </a:extLst>
          </p:cNvPr>
          <p:cNvSpPr>
            <a:spLocks noGrp="1"/>
          </p:cNvSpPr>
          <p:nvPr>
            <p:ph type="title"/>
          </p:nvPr>
        </p:nvSpPr>
        <p:spPr>
          <a:xfrm>
            <a:off x="808638" y="386930"/>
            <a:ext cx="9236700" cy="1188950"/>
          </a:xfrm>
        </p:spPr>
        <p:txBody>
          <a:bodyPr anchor="b">
            <a:normAutofit/>
          </a:bodyPr>
          <a:lstStyle/>
          <a:p>
            <a:r>
              <a:rPr kumimoji="1" lang="ja-JP" altLang="en-US" sz="5400"/>
              <a:t>シミュレーション</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CF8796AF-B52E-B593-882C-0ACDBFA582C5}"/>
              </a:ext>
            </a:extLst>
          </p:cNvPr>
          <p:cNvSpPr>
            <a:spLocks noGrp="1"/>
          </p:cNvSpPr>
          <p:nvPr>
            <p:ph idx="1"/>
          </p:nvPr>
        </p:nvSpPr>
        <p:spPr>
          <a:xfrm>
            <a:off x="793660" y="2599509"/>
            <a:ext cx="10143668" cy="3435531"/>
          </a:xfrm>
        </p:spPr>
        <p:txBody>
          <a:bodyPr anchor="ctr">
            <a:normAutofit/>
          </a:bodyPr>
          <a:lstStyle/>
          <a:p>
            <a:r>
              <a:rPr lang="en-US" altLang="ja-JP" sz="2000"/>
              <a:t>ngspice</a:t>
            </a:r>
            <a:r>
              <a:rPr lang="ja-JP" altLang="en-US" sz="2000"/>
              <a:t>用の</a:t>
            </a:r>
            <a:r>
              <a:rPr lang="en-US" altLang="ja-JP" sz="2000"/>
              <a:t>0V</a:t>
            </a:r>
            <a:r>
              <a:rPr lang="ja-JP" altLang="en-US" sz="2000"/>
              <a:t>と</a:t>
            </a:r>
            <a:r>
              <a:rPr lang="en-US" altLang="ja-JP" sz="2000"/>
              <a:t>3.3V</a:t>
            </a:r>
            <a:r>
              <a:rPr lang="ja-JP" altLang="en-US" sz="2000"/>
              <a:t>のパルス信号を</a:t>
            </a:r>
            <a:r>
              <a:rPr lang="en-US" altLang="ja-JP" sz="2000"/>
              <a:t>1ns</a:t>
            </a:r>
            <a:r>
              <a:rPr lang="ja-JP" altLang="en-US" sz="2000"/>
              <a:t>から</a:t>
            </a:r>
            <a:r>
              <a:rPr lang="en-US" altLang="ja-JP" sz="2000"/>
              <a:t>10ns</a:t>
            </a:r>
            <a:r>
              <a:rPr lang="ja-JP" altLang="en-US" sz="2000"/>
              <a:t>ごとに</a:t>
            </a:r>
            <a:r>
              <a:rPr lang="en-US" altLang="ja-JP" sz="2000"/>
              <a:t>100ns</a:t>
            </a:r>
            <a:r>
              <a:rPr lang="ja-JP" altLang="en-US" sz="2000"/>
              <a:t>まで上げ下げする電源を作ってください。</a:t>
            </a:r>
          </a:p>
          <a:p>
            <a:pPr lvl="1"/>
            <a:r>
              <a:rPr lang="en-US" altLang="ja-JP" sz="2000"/>
              <a:t>Vpulse vdd 0 PULSE(0 3.3 1n 100p 100p 10n 20n)</a:t>
            </a:r>
          </a:p>
          <a:p>
            <a:pPr lvl="1"/>
            <a:r>
              <a:rPr lang="en-US" altLang="ja-JP" sz="2000"/>
              <a:t>Vpulse vdd 0 PULSE(V1 V2 TD  TR   TF   PW  PER)</a:t>
            </a:r>
          </a:p>
          <a:p>
            <a:pPr lvl="2"/>
            <a:r>
              <a:rPr lang="ja-JP" altLang="en-US"/>
              <a:t>パラメータの意味：</a:t>
            </a:r>
            <a:r>
              <a:rPr lang="en-US" altLang="ja-JP"/>
              <a:t>V1=</a:t>
            </a:r>
            <a:r>
              <a:rPr lang="ja-JP" altLang="en-US"/>
              <a:t>初期値</a:t>
            </a:r>
            <a:r>
              <a:rPr lang="en-US" altLang="ja-JP"/>
              <a:t>(0V)</a:t>
            </a:r>
            <a:r>
              <a:rPr lang="ja-JP" altLang="en-US"/>
              <a:t>、</a:t>
            </a:r>
            <a:r>
              <a:rPr lang="en-US" altLang="ja-JP"/>
              <a:t>V2=</a:t>
            </a:r>
            <a:r>
              <a:rPr lang="ja-JP" altLang="en-US"/>
              <a:t>パルス値</a:t>
            </a:r>
            <a:r>
              <a:rPr lang="en-US" altLang="ja-JP"/>
              <a:t>(3.3V)</a:t>
            </a:r>
            <a:r>
              <a:rPr lang="ja-JP" altLang="en-US"/>
              <a:t>、</a:t>
            </a:r>
            <a:r>
              <a:rPr lang="en-US" altLang="ja-JP"/>
              <a:t>TD=</a:t>
            </a:r>
            <a:r>
              <a:rPr lang="ja-JP" altLang="en-US"/>
              <a:t>遅延</a:t>
            </a:r>
            <a:r>
              <a:rPr lang="en-US" altLang="ja-JP"/>
              <a:t>(1ns)</a:t>
            </a:r>
            <a:r>
              <a:rPr lang="ja-JP" altLang="en-US"/>
              <a:t>、</a:t>
            </a:r>
            <a:r>
              <a:rPr lang="en-US" altLang="ja-JP"/>
              <a:t>TR/TF=</a:t>
            </a:r>
            <a:r>
              <a:rPr lang="ja-JP" altLang="en-US"/>
              <a:t>立上り</a:t>
            </a:r>
            <a:r>
              <a:rPr lang="en-US" altLang="ja-JP"/>
              <a:t>/</a:t>
            </a:r>
            <a:r>
              <a:rPr lang="ja-JP" altLang="en-US"/>
              <a:t>立下り時間</a:t>
            </a:r>
            <a:r>
              <a:rPr lang="en-US" altLang="ja-JP"/>
              <a:t>(100ps)</a:t>
            </a:r>
            <a:r>
              <a:rPr lang="ja-JP" altLang="en-US"/>
              <a:t>、</a:t>
            </a:r>
            <a:r>
              <a:rPr lang="en-US" altLang="ja-JP"/>
              <a:t>PW=</a:t>
            </a:r>
            <a:r>
              <a:rPr lang="ja-JP" altLang="en-US"/>
              <a:t>パルス幅</a:t>
            </a:r>
            <a:r>
              <a:rPr lang="en-US" altLang="ja-JP"/>
              <a:t>(10ns)</a:t>
            </a:r>
            <a:r>
              <a:rPr lang="ja-JP" altLang="en-US"/>
              <a:t>、</a:t>
            </a:r>
            <a:r>
              <a:rPr lang="en-US" altLang="ja-JP"/>
              <a:t>PER=</a:t>
            </a:r>
            <a:r>
              <a:rPr lang="ja-JP" altLang="en-US"/>
              <a:t>周期</a:t>
            </a:r>
            <a:r>
              <a:rPr lang="en-US" altLang="ja-JP"/>
              <a:t>(20ns)</a:t>
            </a:r>
          </a:p>
          <a:p>
            <a:r>
              <a:rPr lang="ja-JP" altLang="en-US" sz="2000"/>
              <a:t>使い方</a:t>
            </a:r>
            <a:endParaRPr lang="en-US" altLang="ja-JP" sz="2000"/>
          </a:p>
          <a:p>
            <a:pPr lvl="1"/>
            <a:r>
              <a:rPr lang="ja-JP" altLang="en-US" sz="2000"/>
              <a:t>シミュレーション用の</a:t>
            </a:r>
            <a:r>
              <a:rPr lang="en-US" altLang="ja-JP" sz="2000"/>
              <a:t>spice</a:t>
            </a:r>
            <a:r>
              <a:rPr lang="ja-JP" altLang="en-US" sz="2000"/>
              <a:t>コマンドを自動生成させて、</a:t>
            </a:r>
            <a:r>
              <a:rPr lang="en-US" altLang="ja-JP" sz="2000"/>
              <a:t>xschem</a:t>
            </a:r>
            <a:r>
              <a:rPr lang="ja-JP" altLang="en-US" sz="2000"/>
              <a:t>に張り付ける使い方</a:t>
            </a:r>
            <a:endParaRPr lang="en-US" altLang="ja-JP" sz="2000"/>
          </a:p>
          <a:p>
            <a:endParaRPr lang="ja-JP" altLang="en-US" sz="2000"/>
          </a:p>
          <a:p>
            <a:endParaRPr lang="ja-JP" altLang="en-US" sz="2000"/>
          </a:p>
          <a:p>
            <a:endParaRPr kumimoji="1" lang="ja-JP" altLang="en-US" sz="2000"/>
          </a:p>
        </p:txBody>
      </p:sp>
    </p:spTree>
    <p:extLst>
      <p:ext uri="{BB962C8B-B14F-4D97-AF65-F5344CB8AC3E}">
        <p14:creationId xmlns:p14="http://schemas.microsoft.com/office/powerpoint/2010/main" val="264682078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4B1B666-6BB5-BA0D-E370-3339DC37F8C2}"/>
              </a:ext>
            </a:extLst>
          </p:cNvPr>
          <p:cNvSpPr>
            <a:spLocks noGrp="1"/>
          </p:cNvSpPr>
          <p:nvPr>
            <p:ph type="title"/>
          </p:nvPr>
        </p:nvSpPr>
        <p:spPr>
          <a:xfrm>
            <a:off x="793662" y="386930"/>
            <a:ext cx="10066122" cy="1298448"/>
          </a:xfrm>
        </p:spPr>
        <p:txBody>
          <a:bodyPr anchor="b">
            <a:normAutofit/>
          </a:bodyPr>
          <a:lstStyle/>
          <a:p>
            <a:r>
              <a:rPr kumimoji="1" lang="ja-JP" altLang="en-US" sz="4800"/>
              <a:t>回路図</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7484313-B3F2-788B-7902-3B5A26D7E807}"/>
              </a:ext>
            </a:extLst>
          </p:cNvPr>
          <p:cNvSpPr>
            <a:spLocks noGrp="1"/>
          </p:cNvSpPr>
          <p:nvPr>
            <p:ph idx="1"/>
          </p:nvPr>
        </p:nvSpPr>
        <p:spPr>
          <a:xfrm>
            <a:off x="793661" y="2599509"/>
            <a:ext cx="4530898" cy="3639450"/>
          </a:xfrm>
        </p:spPr>
        <p:txBody>
          <a:bodyPr anchor="ctr">
            <a:normAutofit/>
          </a:bodyPr>
          <a:lstStyle/>
          <a:p>
            <a:r>
              <a:rPr kumimoji="1" lang="ja-JP" altLang="en-US" sz="2000"/>
              <a:t>形はそれっぽい</a:t>
            </a:r>
            <a:endParaRPr kumimoji="1" lang="en-US" altLang="ja-JP" sz="2000"/>
          </a:p>
          <a:p>
            <a:r>
              <a:rPr lang="ja-JP" altLang="en-US" sz="2000"/>
              <a:t>問題点</a:t>
            </a:r>
            <a:endParaRPr lang="en-US" altLang="ja-JP" sz="2000"/>
          </a:p>
          <a:p>
            <a:pPr lvl="1"/>
            <a:r>
              <a:rPr kumimoji="1" lang="ja-JP" altLang="en-US" sz="2000"/>
              <a:t>微妙にあってない</a:t>
            </a:r>
            <a:endParaRPr kumimoji="1" lang="en-US" altLang="ja-JP" sz="2000"/>
          </a:p>
          <a:p>
            <a:pPr lvl="1"/>
            <a:endParaRPr lang="en-US" altLang="ja-JP" sz="2000"/>
          </a:p>
          <a:p>
            <a:r>
              <a:rPr kumimoji="1" lang="ja-JP" altLang="en-US" sz="2000"/>
              <a:t>使い方</a:t>
            </a:r>
            <a:endParaRPr kumimoji="1" lang="en-US" altLang="ja-JP" sz="2000"/>
          </a:p>
          <a:p>
            <a:pPr lvl="1"/>
            <a:r>
              <a:rPr lang="ja-JP" altLang="en-US" sz="2000"/>
              <a:t>だいたいの形を作らせる</a:t>
            </a:r>
            <a:endParaRPr kumimoji="1" lang="en-US" altLang="ja-JP" sz="2000"/>
          </a:p>
          <a:p>
            <a:pPr lvl="1"/>
            <a:r>
              <a:rPr kumimoji="1" lang="en-US" altLang="ja-JP" sz="2000"/>
              <a:t>Sym</a:t>
            </a:r>
            <a:r>
              <a:rPr kumimoji="1" lang="ja-JP" altLang="en-US" sz="2000"/>
              <a:t>を作らせる</a:t>
            </a:r>
          </a:p>
        </p:txBody>
      </p:sp>
      <p:pic>
        <p:nvPicPr>
          <p:cNvPr id="5" name="図 4">
            <a:extLst>
              <a:ext uri="{FF2B5EF4-FFF2-40B4-BE49-F238E27FC236}">
                <a16:creationId xmlns:a16="http://schemas.microsoft.com/office/drawing/2014/main" id="{AF823451-3683-9EDA-EBB0-FAA0754E4C7E}"/>
              </a:ext>
            </a:extLst>
          </p:cNvPr>
          <p:cNvPicPr>
            <a:picLocks noChangeAspect="1"/>
          </p:cNvPicPr>
          <p:nvPr/>
        </p:nvPicPr>
        <p:blipFill>
          <a:blip r:embed="rId2"/>
          <a:srcRect t="8712" r="2" b="2"/>
          <a:stretch>
            <a:fillRect/>
          </a:stretch>
        </p:blipFill>
        <p:spPr>
          <a:xfrm>
            <a:off x="5911532" y="2484255"/>
            <a:ext cx="5150277"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719343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49054D5-5C2F-BFB8-1BFE-A361956E0D6D}"/>
              </a:ext>
            </a:extLst>
          </p:cNvPr>
          <p:cNvSpPr>
            <a:spLocks noGrp="1"/>
          </p:cNvSpPr>
          <p:nvPr>
            <p:ph type="title"/>
          </p:nvPr>
        </p:nvSpPr>
        <p:spPr>
          <a:xfrm>
            <a:off x="793662" y="386930"/>
            <a:ext cx="10066122" cy="1298448"/>
          </a:xfrm>
        </p:spPr>
        <p:txBody>
          <a:bodyPr anchor="b">
            <a:normAutofit/>
          </a:bodyPr>
          <a:lstStyle/>
          <a:p>
            <a:r>
              <a:rPr kumimoji="1" lang="ja-JP" altLang="en-US" sz="4800"/>
              <a:t>レイアウト</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D14AFD1-83B0-0B54-AF7B-2F1A02A694D6}"/>
              </a:ext>
            </a:extLst>
          </p:cNvPr>
          <p:cNvSpPr>
            <a:spLocks noGrp="1"/>
          </p:cNvSpPr>
          <p:nvPr>
            <p:ph idx="1"/>
          </p:nvPr>
        </p:nvSpPr>
        <p:spPr>
          <a:xfrm>
            <a:off x="793661" y="2599509"/>
            <a:ext cx="4530898" cy="3639450"/>
          </a:xfrm>
        </p:spPr>
        <p:txBody>
          <a:bodyPr anchor="ctr">
            <a:normAutofit/>
          </a:bodyPr>
          <a:lstStyle/>
          <a:p>
            <a:r>
              <a:rPr kumimoji="1" lang="ja-JP" altLang="en-US" sz="2000"/>
              <a:t>形はほぼあっている</a:t>
            </a:r>
            <a:endParaRPr kumimoji="1" lang="en-US" altLang="ja-JP" sz="2000"/>
          </a:p>
          <a:p>
            <a:r>
              <a:rPr kumimoji="1" lang="ja-JP" altLang="en-US" sz="2000"/>
              <a:t>問題点</a:t>
            </a:r>
            <a:endParaRPr kumimoji="1" lang="en-US" altLang="ja-JP" sz="2000"/>
          </a:p>
          <a:p>
            <a:pPr lvl="1"/>
            <a:r>
              <a:rPr lang="en-US" altLang="ja-JP" sz="2000"/>
              <a:t>P-Cell</a:t>
            </a:r>
            <a:r>
              <a:rPr lang="ja-JP" altLang="en-US" sz="2000"/>
              <a:t>ではない</a:t>
            </a:r>
            <a:endParaRPr lang="en-US" altLang="ja-JP" sz="2000"/>
          </a:p>
          <a:p>
            <a:endParaRPr lang="en-US" altLang="ja-JP" sz="2000"/>
          </a:p>
          <a:p>
            <a:r>
              <a:rPr lang="ja-JP" altLang="en-US" sz="2000"/>
              <a:t>使い方</a:t>
            </a:r>
            <a:endParaRPr lang="en-US" altLang="ja-JP" sz="2000"/>
          </a:p>
          <a:p>
            <a:pPr lvl="1"/>
            <a:r>
              <a:rPr lang="ja-JP" altLang="en-US" sz="2000"/>
              <a:t>現状使えるイメージはない</a:t>
            </a:r>
            <a:endParaRPr lang="en-US" altLang="ja-JP" sz="2000"/>
          </a:p>
        </p:txBody>
      </p:sp>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A3A8037C-2D87-3A60-B3F4-5082A29B75A3}"/>
              </a:ext>
            </a:extLst>
          </p:cNvPr>
          <p:cNvPicPr>
            <a:picLocks noChangeAspect="1"/>
          </p:cNvPicPr>
          <p:nvPr/>
        </p:nvPicPr>
        <p:blipFill>
          <a:blip r:embed="rId2"/>
          <a:srcRect l="5229" r="13559" b="1"/>
          <a:stretch>
            <a:fillRect/>
          </a:stretch>
        </p:blipFill>
        <p:spPr>
          <a:xfrm>
            <a:off x="7338547" y="2253493"/>
            <a:ext cx="3401274" cy="4167162"/>
          </a:xfrm>
          <a:prstGeom prst="rect">
            <a:avLst/>
          </a:prstGeom>
        </p:spPr>
      </p:pic>
    </p:spTree>
    <p:extLst>
      <p:ext uri="{BB962C8B-B14F-4D97-AF65-F5344CB8AC3E}">
        <p14:creationId xmlns:p14="http://schemas.microsoft.com/office/powerpoint/2010/main" val="422691028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5210</TotalTime>
  <Words>7518</Words>
  <Application>Microsoft Office PowerPoint</Application>
  <PresentationFormat>ワイド画面</PresentationFormat>
  <Paragraphs>959</Paragraphs>
  <Slides>130</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130</vt:i4>
      </vt:variant>
    </vt:vector>
  </HeadingPairs>
  <TitlesOfParts>
    <vt:vector size="137" baseType="lpstr">
      <vt:lpstr>Google Sans Text</vt:lpstr>
      <vt:lpstr>游ゴシック</vt:lpstr>
      <vt:lpstr>游ゴシック Light</vt:lpstr>
      <vt:lpstr>Arial</vt:lpstr>
      <vt:lpstr>Calibri</vt:lpstr>
      <vt:lpstr>Cambria Math</vt:lpstr>
      <vt:lpstr>Office テーマ</vt:lpstr>
      <vt:lpstr>SAR-ADC（SKY130）</vt:lpstr>
      <vt:lpstr>今回のターゲットスペック</vt:lpstr>
      <vt:lpstr>もくじ： CDAC編 </vt:lpstr>
      <vt:lpstr>もくじ： ロジック編 </vt:lpstr>
      <vt:lpstr>もくじ： 比較器編 </vt:lpstr>
      <vt:lpstr>もくじ： シミュレーション編 </vt:lpstr>
      <vt:lpstr>スペック編</vt:lpstr>
      <vt:lpstr>CDAC編</vt:lpstr>
      <vt:lpstr>CDAC （Capacitive Digital-to-Analog Converter）</vt:lpstr>
      <vt:lpstr>CDACとは？</vt:lpstr>
      <vt:lpstr>簡単な 動作手順</vt:lpstr>
      <vt:lpstr>１，サンプリングフェーズ</vt:lpstr>
      <vt:lpstr>２，MSBの判定準備（テスト電圧の印加）</vt:lpstr>
      <vt:lpstr>３，コンパレータによる比較判定</vt:lpstr>
      <vt:lpstr>４，保持と次のビットへの移行</vt:lpstr>
      <vt:lpstr>４ー１，保持と次のビットへの移行</vt:lpstr>
      <vt:lpstr>４ー２，保持と次のビットへの移行</vt:lpstr>
      <vt:lpstr>５，変換終了までループ</vt:lpstr>
      <vt:lpstr>６，Sdはダミー</vt:lpstr>
      <vt:lpstr>設計方針</vt:lpstr>
      <vt:lpstr>性能指標：DNL,INL</vt:lpstr>
      <vt:lpstr>性能指標：電力効率</vt:lpstr>
      <vt:lpstr>サンプルでは・・・</vt:lpstr>
      <vt:lpstr>BGR （Band-Gap Reference）</vt:lpstr>
      <vt:lpstr>解説</vt:lpstr>
      <vt:lpstr>BGR</vt:lpstr>
      <vt:lpstr>トランスミッションゲート</vt:lpstr>
      <vt:lpstr>トランスミッションゲート</vt:lpstr>
      <vt:lpstr>動作内容</vt:lpstr>
      <vt:lpstr>設計方針</vt:lpstr>
      <vt:lpstr>トランスミッション設計：スペック例</vt:lpstr>
      <vt:lpstr>シミュレーション回路例</vt:lpstr>
      <vt:lpstr>設計ポイント： Wの値</vt:lpstr>
      <vt:lpstr>設計ポイント： Wの値</vt:lpstr>
      <vt:lpstr>設計のポイント： ファンアウト</vt:lpstr>
      <vt:lpstr>ロジック（デジタル）編</vt:lpstr>
      <vt:lpstr>制御器</vt:lpstr>
      <vt:lpstr>SAR-LOGIC.vの引数</vt:lpstr>
      <vt:lpstr>PowerPoint プレゼンテーション</vt:lpstr>
      <vt:lpstr>動作ステップ：1～5を6bit繰り返す</vt:lpstr>
      <vt:lpstr>Verilog -&gt; GDS変換の方法</vt:lpstr>
      <vt:lpstr>TT：GDSを生成する</vt:lpstr>
      <vt:lpstr>TT： GDSを表示する</vt:lpstr>
      <vt:lpstr>GDSの結果</vt:lpstr>
      <vt:lpstr>ChipIgnite：nix-shellのセットアップ</vt:lpstr>
      <vt:lpstr>ChipIgnite： LibreLaneのセットアップ</vt:lpstr>
      <vt:lpstr>ChipIgnite：ビルドする</vt:lpstr>
      <vt:lpstr>ChipIgnite：ビルドされたファイル</vt:lpstr>
      <vt:lpstr>GDSの結果</vt:lpstr>
      <vt:lpstr>各種検証を実施する方法</vt:lpstr>
      <vt:lpstr>比較器編</vt:lpstr>
      <vt:lpstr>ラッチ回路</vt:lpstr>
      <vt:lpstr>ラッチ回路</vt:lpstr>
      <vt:lpstr>Dラッチ 安藤さん記事より</vt:lpstr>
      <vt:lpstr>SRラッチ</vt:lpstr>
      <vt:lpstr>NOR回路</vt:lpstr>
      <vt:lpstr>インバータを使う パターン</vt:lpstr>
      <vt:lpstr>NORスタセル</vt:lpstr>
      <vt:lpstr>比較器（コンパレータ）</vt:lpstr>
      <vt:lpstr>一般的なコンパレータ</vt:lpstr>
      <vt:lpstr>問題点</vt:lpstr>
      <vt:lpstr>クロックドコンパレータ</vt:lpstr>
      <vt:lpstr>クロックドコンパレータ</vt:lpstr>
      <vt:lpstr>StrongARM型 クロックド コンパレータ</vt:lpstr>
      <vt:lpstr>動作内容：Clock=Low</vt:lpstr>
      <vt:lpstr>動作内容：Clock=High</vt:lpstr>
      <vt:lpstr>設計方針</vt:lpstr>
      <vt:lpstr>問題点</vt:lpstr>
      <vt:lpstr>Rail-to-Rail入力差動対 クロックドコンパレータ</vt:lpstr>
      <vt:lpstr>設計方針</vt:lpstr>
      <vt:lpstr>Rail-to-Rail入力差動対 クロックドコンパレータ設計：スペック</vt:lpstr>
      <vt:lpstr>シミュレーション回路例</vt:lpstr>
      <vt:lpstr>入力段： Rail-to-Rail入力差動対</vt:lpstr>
      <vt:lpstr>入力段：LongL</vt:lpstr>
      <vt:lpstr>入力段：PairのLの設計</vt:lpstr>
      <vt:lpstr>入力段： LongLのLの設計</vt:lpstr>
      <vt:lpstr>入力段：最小のL_minの決定</vt:lpstr>
      <vt:lpstr>入力段：LongLのWの設計</vt:lpstr>
      <vt:lpstr>入力段：LongLのWの設計</vt:lpstr>
      <vt:lpstr>入力段：PairのWの設計 周波数から求める</vt:lpstr>
      <vt:lpstr>入力段：PairのWの設計 精度から求める</vt:lpstr>
      <vt:lpstr>ラッチ部：Lの設計</vt:lpstr>
      <vt:lpstr>ラッチ部： クロス結合部のWの設計</vt:lpstr>
      <vt:lpstr>ラッチ部： プリチャージ部の設計</vt:lpstr>
      <vt:lpstr>ラッチ部： プリチャージ部のWの設計</vt:lpstr>
      <vt:lpstr>Rail-to-Rail OPAMP</vt:lpstr>
      <vt:lpstr>カスコード接続</vt:lpstr>
      <vt:lpstr>利点：短チャネル効果の改善</vt:lpstr>
      <vt:lpstr>応用：Rail-to-Rail</vt:lpstr>
      <vt:lpstr>Rail-to-Rail OPAMP型コンパレータ</vt:lpstr>
      <vt:lpstr>Rail-to-Rail OPAMP型コンパレータ</vt:lpstr>
      <vt:lpstr>基板バイアス効果 (body effect)</vt:lpstr>
      <vt:lpstr>PowerPoint プレゼンテーション</vt:lpstr>
      <vt:lpstr>PowerPoint プレゼンテーション</vt:lpstr>
      <vt:lpstr>シミュレーション編</vt:lpstr>
      <vt:lpstr>コーナーモデルシミュレーションについて</vt:lpstr>
      <vt:lpstr>モデル変更</vt:lpstr>
      <vt:lpstr>最低限必要なシミュレーション</vt:lpstr>
      <vt:lpstr>モンテカルロシミュレーション</vt:lpstr>
      <vt:lpstr>モンテカルロシミュレーション</vt:lpstr>
      <vt:lpstr>Xschem 構成例　10回 (L=0.15μm)</vt:lpstr>
      <vt:lpstr>モデル変更</vt:lpstr>
      <vt:lpstr>シミュレーション結果 (mm)</vt:lpstr>
      <vt:lpstr>SAR-ADCのシミュレーション</vt:lpstr>
      <vt:lpstr>最低限必要なシミュレーション</vt:lpstr>
      <vt:lpstr>オフセットとノイズ</vt:lpstr>
      <vt:lpstr>スルーレート（OPAMPより）</vt:lpstr>
      <vt:lpstr>スルーレートの例</vt:lpstr>
      <vt:lpstr>CDACの雑音</vt:lpstr>
      <vt:lpstr>CDACの許容誤差</vt:lpstr>
      <vt:lpstr>CDACの許容誤差</vt:lpstr>
      <vt:lpstr>3.3Vや5.0Vで使いたい場合</vt:lpstr>
      <vt:lpstr>FETの種類： 1.8V低圧FETと5.0V耐圧FET</vt:lpstr>
      <vt:lpstr>混載回路での注意点</vt:lpstr>
      <vt:lpstr>安全策：インバータ回路レベルシフタ</vt:lpstr>
      <vt:lpstr>全統合シミュレーション</vt:lpstr>
      <vt:lpstr>シミュレーションで確認すること</vt:lpstr>
      <vt:lpstr>シミュレーション全体例</vt:lpstr>
      <vt:lpstr>全部の回路を統合</vt:lpstr>
      <vt:lpstr>Spiceファイルから 読みだす方法1/2</vt:lpstr>
      <vt:lpstr>Spiceファイルから 読みだす方法2/2</vt:lpstr>
      <vt:lpstr>spiceファイルの読み込み設定</vt:lpstr>
      <vt:lpstr>シミュレーション コマンド1/2</vt:lpstr>
      <vt:lpstr>シミュレーション コマンド2/2</vt:lpstr>
      <vt:lpstr>結果の表示</vt:lpstr>
      <vt:lpstr>並列実行スクリプト</vt:lpstr>
      <vt:lpstr>AI</vt:lpstr>
      <vt:lpstr>シミュレーション</vt:lpstr>
      <vt:lpstr>回路図</vt:lpstr>
      <vt:lpstr>レイアウト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OPAMP_OR1</dc:title>
  <dc:creator>Noritsuna Imamura</dc:creator>
  <cp:lastModifiedBy>今村 謙之</cp:lastModifiedBy>
  <cp:revision>1</cp:revision>
  <dcterms:created xsi:type="dcterms:W3CDTF">2024-05-26T11:20:00Z</dcterms:created>
  <dcterms:modified xsi:type="dcterms:W3CDTF">2026-07-11T10:51:22Z</dcterms:modified>
</cp:coreProperties>
</file>